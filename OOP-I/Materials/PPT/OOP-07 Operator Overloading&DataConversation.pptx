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62"/>
  </p:notesMasterIdLst>
  <p:sldIdLst>
    <p:sldId id="505" r:id="rId3"/>
    <p:sldId id="506" r:id="rId4"/>
    <p:sldId id="508" r:id="rId5"/>
    <p:sldId id="459" r:id="rId6"/>
    <p:sldId id="586" r:id="rId7"/>
    <p:sldId id="587" r:id="rId8"/>
    <p:sldId id="582" r:id="rId9"/>
    <p:sldId id="588" r:id="rId10"/>
    <p:sldId id="589" r:id="rId11"/>
    <p:sldId id="583" r:id="rId12"/>
    <p:sldId id="295" r:id="rId13"/>
    <p:sldId id="281" r:id="rId14"/>
    <p:sldId id="600" r:id="rId15"/>
    <p:sldId id="601" r:id="rId16"/>
    <p:sldId id="619" r:id="rId17"/>
    <p:sldId id="621" r:id="rId18"/>
    <p:sldId id="585" r:id="rId19"/>
    <p:sldId id="460" r:id="rId20"/>
    <p:sldId id="507" r:id="rId21"/>
    <p:sldId id="622" r:id="rId22"/>
    <p:sldId id="592" r:id="rId23"/>
    <p:sldId id="593" r:id="rId24"/>
    <p:sldId id="514" r:id="rId25"/>
    <p:sldId id="516" r:id="rId26"/>
    <p:sldId id="594" r:id="rId27"/>
    <p:sldId id="595" r:id="rId28"/>
    <p:sldId id="513" r:id="rId29"/>
    <p:sldId id="603" r:id="rId30"/>
    <p:sldId id="604" r:id="rId31"/>
    <p:sldId id="461" r:id="rId32"/>
    <p:sldId id="266" r:id="rId33"/>
    <p:sldId id="267" r:id="rId34"/>
    <p:sldId id="261" r:id="rId35"/>
    <p:sldId id="256" r:id="rId36"/>
    <p:sldId id="608" r:id="rId37"/>
    <p:sldId id="519" r:id="rId38"/>
    <p:sldId id="469" r:id="rId39"/>
    <p:sldId id="470" r:id="rId40"/>
    <p:sldId id="257" r:id="rId41"/>
    <p:sldId id="471" r:id="rId42"/>
    <p:sldId id="272" r:id="rId43"/>
    <p:sldId id="472" r:id="rId44"/>
    <p:sldId id="273" r:id="rId45"/>
    <p:sldId id="260" r:id="rId46"/>
    <p:sldId id="275" r:id="rId47"/>
    <p:sldId id="611" r:id="rId48"/>
    <p:sldId id="474" r:id="rId49"/>
    <p:sldId id="264" r:id="rId50"/>
    <p:sldId id="262" r:id="rId51"/>
    <p:sldId id="617" r:id="rId52"/>
    <p:sldId id="616" r:id="rId53"/>
    <p:sldId id="263" r:id="rId54"/>
    <p:sldId id="265" r:id="rId55"/>
    <p:sldId id="614" r:id="rId56"/>
    <p:sldId id="612" r:id="rId57"/>
    <p:sldId id="271" r:id="rId58"/>
    <p:sldId id="269" r:id="rId59"/>
    <p:sldId id="268" r:id="rId60"/>
    <p:sldId id="572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6D9F1"/>
    <a:srgbClr val="DCE6F2"/>
    <a:srgbClr val="9CABDF"/>
    <a:srgbClr val="89D8FB"/>
    <a:srgbClr val="1F497D"/>
    <a:srgbClr val="008000"/>
    <a:srgbClr val="4F81BD"/>
    <a:srgbClr val="FD3018"/>
    <a:srgbClr val="4A7EBB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86" autoAdjust="0"/>
    <p:restoredTop sz="94107" autoAdjust="0"/>
  </p:normalViewPr>
  <p:slideViewPr>
    <p:cSldViewPr>
      <p:cViewPr varScale="1">
        <p:scale>
          <a:sx n="62" d="100"/>
          <a:sy n="62" d="100"/>
        </p:scale>
        <p:origin x="844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EC9C6-1CE4-4880-838A-FB85AC35DCB4}" type="datetimeFigureOut">
              <a:rPr lang="en-US" smtClean="0"/>
              <a:pPr/>
              <a:t>9/5/2024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A3D7D-4DD0-4519-9573-665089B6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36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To define an additional task</a:t>
            </a:r>
            <a:r>
              <a:rPr lang="en-IN" baseline="0" dirty="0"/>
              <a:t> to an operator , we must specify what it means in relation to class to which operator is applied. This is done with the help of special function is called operator function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C++ allows you to specify more than one definition for a </a:t>
            </a:r>
            <a:r>
              <a:rPr lang="en-IN" b="1" dirty="0"/>
              <a:t>function</a:t>
            </a:r>
            <a:r>
              <a:rPr lang="en-IN" dirty="0"/>
              <a:t> name or an </a:t>
            </a:r>
            <a:r>
              <a:rPr lang="en-IN" b="1" dirty="0"/>
              <a:t>operator</a:t>
            </a:r>
            <a:r>
              <a:rPr lang="en-IN" dirty="0"/>
              <a:t> in the same scope, which is called </a:t>
            </a:r>
            <a:r>
              <a:rPr lang="en-IN" b="1" dirty="0"/>
              <a:t>function overloading</a:t>
            </a:r>
            <a:r>
              <a:rPr lang="en-IN" dirty="0"/>
              <a:t> and </a:t>
            </a:r>
            <a:r>
              <a:rPr lang="en-IN" b="1" dirty="0"/>
              <a:t>operator overloading</a:t>
            </a:r>
            <a:r>
              <a:rPr lang="en-IN" dirty="0"/>
              <a:t> respectively.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can give special meaning to any operators in which program it is implemented.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662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561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330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0A51B3C-C3E7-4826-89FD-F0F330E11204}" type="slidenum">
              <a:rPr lang="en-US" smtClean="0"/>
              <a:pPr eaLnBrk="1" hangingPunct="1"/>
              <a:t>11</a:t>
            </a:fld>
            <a:endParaRPr lang="en-US"/>
          </a:p>
        </p:txBody>
      </p:sp>
      <p:sp>
        <p:nvSpPr>
          <p:cNvPr id="8909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07415CC7-3CD1-4496-9A3E-293F2BF2EE6A}" type="slidenum">
              <a:rPr lang="en-US" sz="1200"/>
              <a:pPr algn="r" eaLnBrk="1" hangingPunct="1"/>
              <a:t>11</a:t>
            </a:fld>
            <a:endParaRPr lang="en-US" sz="1200"/>
          </a:p>
        </p:txBody>
      </p:sp>
      <p:sp>
        <p:nvSpPr>
          <p:cNvPr id="890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909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268181C-D263-4ACA-A128-5774A0FBD12E}" type="slidenum">
              <a:rPr lang="en-US" smtClean="0"/>
              <a:pPr eaLnBrk="1" hangingPunct="1"/>
              <a:t>12</a:t>
            </a:fld>
            <a:endParaRPr lang="en-US"/>
          </a:p>
        </p:txBody>
      </p:sp>
      <p:sp>
        <p:nvSpPr>
          <p:cNvPr id="9011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D8453C8A-52AB-46B8-9B69-DE88CA3A4A47}" type="slidenum">
              <a:rPr lang="en-US" sz="1200"/>
              <a:pPr algn="r" eaLnBrk="1" hangingPunct="1"/>
              <a:t>12</a:t>
            </a:fld>
            <a:endParaRPr lang="en-US" sz="1200"/>
          </a:p>
        </p:txBody>
      </p:sp>
      <p:sp>
        <p:nvSpPr>
          <p:cNvPr id="901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011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Counter operator ++ () //increment count</a:t>
            </a:r>
          </a:p>
          <a:p>
            <a:r>
              <a:rPr lang="en-I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I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++count; //increment count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Counter temp; //make a temporary Counter</a:t>
            </a:r>
          </a:p>
          <a:p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temp.count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count; //give it same value as this obj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 temp; //return the copy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121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increment count, then return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 Counter(count); // an unnamed temporary object</a:t>
            </a:r>
          </a:p>
          <a:p>
            <a:r>
              <a:rPr lang="en-I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 // initialized to this count.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are more convenient ways to return temporary objects from functions and overloaded</a:t>
            </a:r>
          </a:p>
          <a:p>
            <a:r>
              <a:rPr lang="en-I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679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Alternatively, you can declare a member function operator </a:t>
            </a:r>
            <a:r>
              <a:rPr lang="en-US" dirty="0"/>
              <a:t>operator++()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one argument having type </a:t>
            </a:r>
            <a:r>
              <a:rPr lang="en-US" dirty="0"/>
              <a:t>int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compiler uses the </a:t>
            </a:r>
            <a:r>
              <a:rPr lang="en-US" dirty="0" err="1"/>
              <a:t>int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argument to distinguish between the prefix and postfix increment operators. For implicit calls, the default value is zero.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C++ uses a “dummy variable” or “dummy argument” for the postfix operators. This argument is a fake integer parameter that only serves to distinguish the postfix version of increment/decrement from the prefix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7852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7518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2135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idea of const functions is not to allow them to modify the object on which they are called.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0156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1079C0-B3DA-48CF-A152-23C9EEEE2AE0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40525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https://www.bccfalna.com/class-type-conversion-cpp/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978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km=</a:t>
            </a:r>
            <a:r>
              <a:rPr lang="en-US" dirty="0" err="1"/>
              <a:t>M.get_meter</a:t>
            </a:r>
            <a:r>
              <a:rPr lang="en-US" dirty="0"/>
              <a:t>()/1000;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7073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743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latin typeface="+mj-lt"/>
                <a:ea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/>
          <a:lstStyle>
            <a:lvl1pPr algn="l">
              <a:defRPr>
                <a:latin typeface="+mj-lt"/>
                <a:ea typeface="Open Sans Semibold" panose="020B0706030804020204"/>
                <a:cs typeface="Open Sans Semibold" panose="020B070603080402020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>
              <a:lnSpc>
                <a:spcPct val="114000"/>
              </a:lnSpc>
              <a:buClrTx/>
              <a:buFont typeface="Wingdings" panose="05000000000000000000" pitchFamily="2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114000"/>
              </a:lnSpc>
              <a:buClrTx/>
              <a:buFont typeface="Arial" panose="020B0604020202020204" pitchFamily="34" charset="0"/>
              <a:buChar char="•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14000"/>
              </a:lnSpc>
              <a:buClrTx/>
              <a:defRPr sz="18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14000"/>
              </a:lnSpc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14000"/>
              </a:lnSpc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2759630" y="2644170"/>
            <a:ext cx="66727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FFFE"/>
                </a:solidFill>
              </a:rPr>
              <a:t>I like</a:t>
            </a:r>
            <a:r>
              <a:rPr lang="en-US" sz="4800" baseline="0" dirty="0">
                <a:solidFill>
                  <a:srgbClr val="FFFFFE"/>
                </a:solidFill>
              </a:rPr>
              <a:t> C++ so much</a:t>
            </a:r>
          </a:p>
          <a:p>
            <a:r>
              <a:rPr lang="en-US" sz="4800" baseline="0" dirty="0">
                <a:solidFill>
                  <a:srgbClr val="FFFFFE"/>
                </a:solidFill>
              </a:rPr>
              <a:t>I like Rupesh sir</a:t>
            </a:r>
            <a:endParaRPr lang="en-US" sz="4800" dirty="0">
              <a:solidFill>
                <a:srgbClr val="FFFFFE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7CF45-1CAE-49D4-A3B8-82E3574B8E2A}" type="datetimeFigureOut">
              <a:rPr lang="en-IN" smtClean="0"/>
              <a:t>05-09-2024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59BA-0A72-4F1F-9E6D-B2F3100A0E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9145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7CF45-1CAE-49D4-A3B8-82E3574B8E2A}" type="datetimeFigureOut">
              <a:rPr lang="en-IN" smtClean="0"/>
              <a:t>05-09-2024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59BA-0A72-4F1F-9E6D-B2F3100A0E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004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7CF45-1CAE-49D4-A3B8-82E3574B8E2A}" type="datetimeFigureOut">
              <a:rPr lang="en-IN" smtClean="0"/>
              <a:t>05-09-2024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59BA-0A72-4F1F-9E6D-B2F3100A0E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1342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7CF45-1CAE-49D4-A3B8-82E3574B8E2A}" type="datetimeFigureOut">
              <a:rPr lang="en-IN" smtClean="0"/>
              <a:t>05-09-2024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59BA-0A72-4F1F-9E6D-B2F3100A0E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0848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7CF45-1CAE-49D4-A3B8-82E3574B8E2A}" type="datetimeFigureOut">
              <a:rPr lang="en-IN" smtClean="0"/>
              <a:t>05-09-2024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59BA-0A72-4F1F-9E6D-B2F3100A0E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829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7CF45-1CAE-49D4-A3B8-82E3574B8E2A}" type="datetimeFigureOut">
              <a:rPr lang="en-IN" smtClean="0"/>
              <a:t>05-09-2024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59BA-0A72-4F1F-9E6D-B2F3100A0E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2661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7CF45-1CAE-49D4-A3B8-82E3574B8E2A}" type="datetimeFigureOut">
              <a:rPr lang="en-IN" smtClean="0"/>
              <a:t>05-09-2024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59BA-0A72-4F1F-9E6D-B2F3100A0E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2424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7CF45-1CAE-49D4-A3B8-82E3574B8E2A}" type="datetimeFigureOut">
              <a:rPr lang="en-IN" smtClean="0"/>
              <a:t>05-09-2024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59BA-0A72-4F1F-9E6D-B2F3100A0E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705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7CF45-1CAE-49D4-A3B8-82E3574B8E2A}" type="datetimeFigureOut">
              <a:rPr lang="en-IN" smtClean="0"/>
              <a:t>05-09-2024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59BA-0A72-4F1F-9E6D-B2F3100A0E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7521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7CF45-1CAE-49D4-A3B8-82E3574B8E2A}" type="datetimeFigureOut">
              <a:rPr lang="en-IN" smtClean="0"/>
              <a:t>05-09-2024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59BA-0A72-4F1F-9E6D-B2F3100A0E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4597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7CF45-1CAE-49D4-A3B8-82E3574B8E2A}" type="datetimeFigureOut">
              <a:rPr lang="en-IN" smtClean="0"/>
              <a:t>05-09-2024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59BA-0A72-4F1F-9E6D-B2F3100A0E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917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7CF45-1CAE-49D4-A3B8-82E3574B8E2A}" type="datetimeFigureOut">
              <a:rPr lang="en-IN" smtClean="0"/>
              <a:t>05-09-2024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F59BA-0A72-4F1F-9E6D-B2F3100A0E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006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9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412796"/>
            <a:ext cx="7772400" cy="1470025"/>
          </a:xfrm>
        </p:spPr>
        <p:txBody>
          <a:bodyPr>
            <a:normAutofit/>
          </a:bodyPr>
          <a:lstStyle/>
          <a:p>
            <a:r>
              <a:rPr lang="en-IN" sz="6000" dirty="0"/>
              <a:t>Operator Overloading</a:t>
            </a:r>
          </a:p>
        </p:txBody>
      </p:sp>
      <p:pic>
        <p:nvPicPr>
          <p:cNvPr id="2050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6650" y="2286001"/>
            <a:ext cx="4838700" cy="4838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1591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 Overloading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590800" y="1066801"/>
            <a:ext cx="3505200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240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40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a=5, b=10,c;</a:t>
            </a:r>
            <a:endParaRPr lang="en-IN" sz="120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40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c = a + b;</a:t>
            </a:r>
            <a:endParaRPr lang="en-IN" sz="120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Rectangular Callout 7"/>
          <p:cNvSpPr/>
          <p:nvPr/>
        </p:nvSpPr>
        <p:spPr>
          <a:xfrm>
            <a:off x="6972300" y="990600"/>
            <a:ext cx="3505200" cy="1219200"/>
          </a:xfrm>
          <a:prstGeom prst="wedgeRectCallout">
            <a:avLst>
              <a:gd name="adj1" fmla="val -74328"/>
              <a:gd name="adj2" fmla="val -25791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Operator </a:t>
            </a:r>
            <a:r>
              <a:rPr lang="en-IN" sz="2400" b="1" dirty="0">
                <a:solidFill>
                  <a:srgbClr val="C00000"/>
                </a:solidFill>
              </a:rPr>
              <a:t>+</a:t>
            </a:r>
            <a:r>
              <a:rPr lang="en-IN" sz="2400" dirty="0">
                <a:solidFill>
                  <a:schemeClr val="tx1"/>
                </a:solidFill>
              </a:rPr>
              <a:t> performs </a:t>
            </a:r>
            <a:r>
              <a:rPr lang="en-IN" sz="2400" b="1" dirty="0">
                <a:solidFill>
                  <a:srgbClr val="C00000"/>
                </a:solidFill>
              </a:rPr>
              <a:t>addition</a:t>
            </a:r>
            <a:r>
              <a:rPr lang="en-IN" sz="2400" dirty="0">
                <a:solidFill>
                  <a:schemeClr val="tx1"/>
                </a:solidFill>
              </a:rPr>
              <a:t> of  </a:t>
            </a:r>
          </a:p>
          <a:p>
            <a:pPr algn="ctr"/>
            <a:r>
              <a:rPr lang="en-IN" sz="2400" b="1" dirty="0">
                <a:solidFill>
                  <a:srgbClr val="C00000"/>
                </a:solidFill>
              </a:rPr>
              <a:t>integer operands</a:t>
            </a:r>
            <a:r>
              <a:rPr lang="en-IN" sz="2400" dirty="0">
                <a:solidFill>
                  <a:schemeClr val="tx1"/>
                </a:solidFill>
              </a:rPr>
              <a:t> a, b</a:t>
            </a:r>
          </a:p>
        </p:txBody>
      </p:sp>
      <p:sp>
        <p:nvSpPr>
          <p:cNvPr id="9" name="Rectangle 8"/>
          <p:cNvSpPr/>
          <p:nvPr/>
        </p:nvSpPr>
        <p:spPr>
          <a:xfrm>
            <a:off x="2590800" y="2861102"/>
            <a:ext cx="3505200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2400" dirty="0">
                <a:latin typeface="Consolas" pitchFamily="49" charset="0"/>
              </a:rPr>
              <a:t>time t1,t2,t3;</a:t>
            </a:r>
          </a:p>
          <a:p>
            <a:r>
              <a:rPr lang="en-IN" sz="2400" dirty="0">
                <a:latin typeface="Consolas" pitchFamily="49" charset="0"/>
              </a:rPr>
              <a:t>t3 = t1 + t2;</a:t>
            </a:r>
          </a:p>
        </p:txBody>
      </p:sp>
      <p:sp>
        <p:nvSpPr>
          <p:cNvPr id="10" name="Rectangular Callout 9"/>
          <p:cNvSpPr/>
          <p:nvPr/>
        </p:nvSpPr>
        <p:spPr>
          <a:xfrm>
            <a:off x="6972300" y="2861101"/>
            <a:ext cx="3505200" cy="1219200"/>
          </a:xfrm>
          <a:prstGeom prst="wedgeRectCallout">
            <a:avLst>
              <a:gd name="adj1" fmla="val -74328"/>
              <a:gd name="adj2" fmla="val -2531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Operator </a:t>
            </a:r>
            <a:r>
              <a:rPr lang="en-IN" sz="2400" b="1" dirty="0">
                <a:solidFill>
                  <a:srgbClr val="C00000"/>
                </a:solidFill>
              </a:rPr>
              <a:t>+</a:t>
            </a:r>
            <a:r>
              <a:rPr lang="en-IN" sz="2400" dirty="0">
                <a:solidFill>
                  <a:schemeClr val="tx1"/>
                </a:solidFill>
              </a:rPr>
              <a:t> performs </a:t>
            </a:r>
            <a:r>
              <a:rPr lang="en-IN" sz="2400" b="1" dirty="0">
                <a:solidFill>
                  <a:srgbClr val="C00000"/>
                </a:solidFill>
              </a:rPr>
              <a:t>addition</a:t>
            </a:r>
            <a:r>
              <a:rPr lang="en-IN" sz="2400" dirty="0">
                <a:solidFill>
                  <a:schemeClr val="tx1"/>
                </a:solidFill>
              </a:rPr>
              <a:t> of </a:t>
            </a:r>
          </a:p>
          <a:p>
            <a:pPr algn="ctr"/>
            <a:r>
              <a:rPr lang="en-IN" sz="2400" b="1" dirty="0">
                <a:solidFill>
                  <a:srgbClr val="C00000"/>
                </a:solidFill>
              </a:rPr>
              <a:t>objects</a:t>
            </a:r>
            <a:r>
              <a:rPr lang="en-IN" sz="2400" dirty="0">
                <a:solidFill>
                  <a:schemeClr val="tx1"/>
                </a:solidFill>
              </a:rPr>
              <a:t> of type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1200" y="4724400"/>
            <a:ext cx="4114800" cy="15696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Consolas" pitchFamily="49" charset="0"/>
              </a:rPr>
              <a:t>string str1=“Hello”</a:t>
            </a:r>
          </a:p>
          <a:p>
            <a:r>
              <a:rPr lang="en-IN" sz="2400" dirty="0">
                <a:latin typeface="Consolas" pitchFamily="49" charset="0"/>
              </a:rPr>
              <a:t>string str2=“Good Day”;</a:t>
            </a:r>
          </a:p>
          <a:p>
            <a:r>
              <a:rPr lang="en-IN" sz="2400" dirty="0">
                <a:latin typeface="Consolas" pitchFamily="49" charset="0"/>
              </a:rPr>
              <a:t>string str3;</a:t>
            </a:r>
          </a:p>
          <a:p>
            <a:r>
              <a:rPr lang="en-IN" sz="2400" dirty="0">
                <a:latin typeface="Consolas" pitchFamily="49" charset="0"/>
              </a:rPr>
              <a:t>str3 = str1 + str2;</a:t>
            </a:r>
          </a:p>
        </p:txBody>
      </p:sp>
      <p:sp>
        <p:nvSpPr>
          <p:cNvPr id="12" name="Rectangular Callout 11"/>
          <p:cNvSpPr/>
          <p:nvPr/>
        </p:nvSpPr>
        <p:spPr>
          <a:xfrm>
            <a:off x="6934200" y="4724400"/>
            <a:ext cx="3505200" cy="838200"/>
          </a:xfrm>
          <a:prstGeom prst="wedgeRectCallout">
            <a:avLst>
              <a:gd name="adj1" fmla="val -73833"/>
              <a:gd name="adj2" fmla="val -28768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Operator </a:t>
            </a:r>
            <a:r>
              <a:rPr lang="en-IN" sz="2400" b="1" dirty="0">
                <a:solidFill>
                  <a:srgbClr val="C00000"/>
                </a:solidFill>
              </a:rPr>
              <a:t>+</a:t>
            </a:r>
            <a:r>
              <a:rPr lang="en-IN" sz="2400" dirty="0">
                <a:solidFill>
                  <a:schemeClr val="tx1"/>
                </a:solidFill>
              </a:rPr>
              <a:t> </a:t>
            </a:r>
            <a:r>
              <a:rPr lang="en-IN" sz="2400" b="1" dirty="0">
                <a:solidFill>
                  <a:srgbClr val="C00000"/>
                </a:solidFill>
              </a:rPr>
              <a:t>concatenates</a:t>
            </a:r>
            <a:r>
              <a:rPr lang="en-IN" sz="2400" dirty="0">
                <a:solidFill>
                  <a:schemeClr val="tx1"/>
                </a:solidFill>
              </a:rPr>
              <a:t> two strings str1,str2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1524000" y="2454796"/>
            <a:ext cx="914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524000" y="4419600"/>
            <a:ext cx="914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589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 overloading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00" y="990600"/>
            <a:ext cx="8763000" cy="2971800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algn="just">
              <a:buClr>
                <a:schemeClr val="tx1"/>
              </a:buClr>
            </a:pPr>
            <a:r>
              <a:rPr lang="en-IN" b="1" dirty="0">
                <a:solidFill>
                  <a:srgbClr val="C00000"/>
                </a:solidFill>
              </a:rPr>
              <a:t>Function overloading</a:t>
            </a:r>
            <a:r>
              <a:rPr lang="en-IN" dirty="0"/>
              <a:t> allow you to use same function name for different definition.</a:t>
            </a:r>
          </a:p>
          <a:p>
            <a:pPr algn="just">
              <a:buClr>
                <a:schemeClr val="tx1"/>
              </a:buClr>
            </a:pPr>
            <a:r>
              <a:rPr lang="en-IN" b="1">
                <a:solidFill>
                  <a:srgbClr val="C00000"/>
                </a:solidFill>
              </a:rPr>
              <a:t>Operator overloading</a:t>
            </a:r>
            <a:r>
              <a:rPr lang="en-IN"/>
              <a:t> extends the overloading concept to operators, letting you assign multiple meanings to C++ operators</a:t>
            </a:r>
          </a:p>
          <a:p>
            <a:pPr algn="just">
              <a:buClr>
                <a:schemeClr val="tx1"/>
              </a:buClr>
            </a:pPr>
            <a:r>
              <a:rPr lang="en-IN" b="1">
                <a:solidFill>
                  <a:srgbClr val="C00000"/>
                </a:solidFill>
              </a:rPr>
              <a:t>Operator </a:t>
            </a:r>
            <a:r>
              <a:rPr lang="en-IN" b="1" dirty="0">
                <a:solidFill>
                  <a:srgbClr val="C00000"/>
                </a:solidFill>
              </a:rPr>
              <a:t>overloading </a:t>
            </a:r>
            <a:r>
              <a:rPr lang="en-IN" dirty="0"/>
              <a:t>giving the normal C++ operators such as +, * and == additional meanings when they are applied with </a:t>
            </a:r>
            <a:r>
              <a:rPr lang="en-IN" b="1" dirty="0">
                <a:solidFill>
                  <a:srgbClr val="C00000"/>
                </a:solidFill>
              </a:rPr>
              <a:t>user defined data types</a:t>
            </a:r>
            <a:r>
              <a:rPr lang="en-IN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126" y="4597333"/>
            <a:ext cx="990600" cy="990600"/>
          </a:xfrm>
          <a:prstGeom prst="rect">
            <a:avLst/>
          </a:prstGeom>
        </p:spPr>
      </p:pic>
      <p:sp>
        <p:nvSpPr>
          <p:cNvPr id="6" name="Wave 5"/>
          <p:cNvSpPr/>
          <p:nvPr/>
        </p:nvSpPr>
        <p:spPr>
          <a:xfrm>
            <a:off x="2583727" y="4273483"/>
            <a:ext cx="2857249" cy="1638300"/>
          </a:xfrm>
          <a:prstGeom prst="wave">
            <a:avLst/>
          </a:prstGeom>
          <a:noFill/>
          <a:ln>
            <a:solidFill>
              <a:srgbClr val="FD30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Some of C++ Operators are already overloaded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875775"/>
              </p:ext>
            </p:extLst>
          </p:nvPr>
        </p:nvGraphicFramePr>
        <p:xfrm>
          <a:off x="5639804" y="4093656"/>
          <a:ext cx="48006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820">
                  <a:extLst>
                    <a:ext uri="{9D8B030D-6E8A-4147-A177-3AD203B41FA5}">
                      <a16:colId xmlns:a16="http://schemas.microsoft.com/office/drawing/2014/main" val="4122143512"/>
                    </a:ext>
                  </a:extLst>
                </a:gridCol>
                <a:gridCol w="3707780">
                  <a:extLst>
                    <a:ext uri="{9D8B030D-6E8A-4147-A177-3AD203B41FA5}">
                      <a16:colId xmlns:a16="http://schemas.microsoft.com/office/drawing/2014/main" val="35989762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IN" b="1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8767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790949"/>
              </p:ext>
            </p:extLst>
          </p:nvPr>
        </p:nvGraphicFramePr>
        <p:xfrm>
          <a:off x="5639804" y="4625340"/>
          <a:ext cx="4800600" cy="457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92820">
                  <a:extLst>
                    <a:ext uri="{9D8B030D-6E8A-4147-A177-3AD203B41FA5}">
                      <a16:colId xmlns:a16="http://schemas.microsoft.com/office/drawing/2014/main" val="4122143512"/>
                    </a:ext>
                  </a:extLst>
                </a:gridCol>
                <a:gridCol w="3707780">
                  <a:extLst>
                    <a:ext uri="{9D8B030D-6E8A-4147-A177-3AD203B41FA5}">
                      <a16:colId xmlns:a16="http://schemas.microsoft.com/office/drawing/2014/main" val="3598976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Consolas" panose="020B0609020204030204" pitchFamily="49" charset="0"/>
                        </a:rPr>
                        <a:t>*</a:t>
                      </a:r>
                      <a:endParaRPr lang="en-IN" sz="1600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/>
                        <a:t>As pointer,</a:t>
                      </a:r>
                      <a:r>
                        <a:rPr lang="en-IN" sz="2000" b="0" baseline="0" dirty="0"/>
                        <a:t> As multiplication</a:t>
                      </a:r>
                      <a:endParaRPr lang="en-IN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87670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186101"/>
              </p:ext>
            </p:extLst>
          </p:nvPr>
        </p:nvGraphicFramePr>
        <p:xfrm>
          <a:off x="5639804" y="5143500"/>
          <a:ext cx="4800600" cy="457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92820">
                  <a:extLst>
                    <a:ext uri="{9D8B030D-6E8A-4147-A177-3AD203B41FA5}">
                      <a16:colId xmlns:a16="http://schemas.microsoft.com/office/drawing/2014/main" val="4122143512"/>
                    </a:ext>
                  </a:extLst>
                </a:gridCol>
                <a:gridCol w="3707780">
                  <a:extLst>
                    <a:ext uri="{9D8B030D-6E8A-4147-A177-3AD203B41FA5}">
                      <a16:colId xmlns:a16="http://schemas.microsoft.com/office/drawing/2014/main" val="3598976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Consolas" panose="020B0609020204030204" pitchFamily="49" charset="0"/>
                        </a:rPr>
                        <a:t>&lt;&lt;</a:t>
                      </a:r>
                      <a:endParaRPr lang="en-IN" sz="1600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/>
                        <a:t>As insertion,</a:t>
                      </a:r>
                      <a:r>
                        <a:rPr lang="en-IN" sz="2000" b="0" baseline="0" dirty="0"/>
                        <a:t> As bitwise shift left</a:t>
                      </a:r>
                      <a:endParaRPr lang="en-IN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876704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125406"/>
              </p:ext>
            </p:extLst>
          </p:nvPr>
        </p:nvGraphicFramePr>
        <p:xfrm>
          <a:off x="5639804" y="5673771"/>
          <a:ext cx="4800600" cy="457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92820">
                  <a:extLst>
                    <a:ext uri="{9D8B030D-6E8A-4147-A177-3AD203B41FA5}">
                      <a16:colId xmlns:a16="http://schemas.microsoft.com/office/drawing/2014/main" val="4122143512"/>
                    </a:ext>
                  </a:extLst>
                </a:gridCol>
                <a:gridCol w="3707780">
                  <a:extLst>
                    <a:ext uri="{9D8B030D-6E8A-4147-A177-3AD203B41FA5}">
                      <a16:colId xmlns:a16="http://schemas.microsoft.com/office/drawing/2014/main" val="3598976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Consolas" panose="020B0609020204030204" pitchFamily="49" charset="0"/>
                        </a:rPr>
                        <a:t>&amp;</a:t>
                      </a:r>
                      <a:endParaRPr lang="en-IN" sz="1600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/>
                        <a:t>As reference,</a:t>
                      </a:r>
                      <a:r>
                        <a:rPr lang="en-IN" sz="2000" b="0" baseline="0" dirty="0"/>
                        <a:t> As bitwise AND</a:t>
                      </a:r>
                      <a:endParaRPr lang="en-IN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876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684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 Overloading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00" y="990600"/>
            <a:ext cx="8763000" cy="1371600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lvl="0" algn="just"/>
            <a:r>
              <a:rPr lang="en-IN" dirty="0"/>
              <a:t>Specifying more than one definition for an </a:t>
            </a:r>
            <a:r>
              <a:rPr lang="en-IN" b="1" dirty="0">
                <a:solidFill>
                  <a:srgbClr val="C00000"/>
                </a:solidFill>
              </a:rPr>
              <a:t>operator</a:t>
            </a:r>
            <a:r>
              <a:rPr lang="en-IN" b="1" dirty="0"/>
              <a:t> </a:t>
            </a:r>
            <a:r>
              <a:rPr lang="en-IN" dirty="0"/>
              <a:t>in the same scope, is called </a:t>
            </a:r>
            <a:r>
              <a:rPr lang="en-IN" b="1" dirty="0">
                <a:solidFill>
                  <a:srgbClr val="C00000"/>
                </a:solidFill>
              </a:rPr>
              <a:t>operator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b="1" dirty="0">
                <a:solidFill>
                  <a:srgbClr val="C00000"/>
                </a:solidFill>
              </a:rPr>
              <a:t>overloading</a:t>
            </a:r>
            <a:r>
              <a:rPr lang="en-IN" dirty="0"/>
              <a:t>.</a:t>
            </a:r>
          </a:p>
          <a:p>
            <a:pPr algn="just"/>
            <a:r>
              <a:rPr lang="en-IN" dirty="0"/>
              <a:t>You can overload operators by creating </a:t>
            </a:r>
            <a:r>
              <a:rPr lang="en-IN" b="1" dirty="0">
                <a:solidFill>
                  <a:srgbClr val="C00000"/>
                </a:solidFill>
              </a:rPr>
              <a:t>“</a:t>
            </a:r>
            <a:r>
              <a:rPr lang="en-IN" b="1" i="1" dirty="0">
                <a:solidFill>
                  <a:srgbClr val="C00000"/>
                </a:solidFill>
              </a:rPr>
              <a:t>operator functions</a:t>
            </a:r>
            <a:r>
              <a:rPr lang="en-IN" b="1" dirty="0">
                <a:solidFill>
                  <a:srgbClr val="C00000"/>
                </a:solidFill>
              </a:rPr>
              <a:t>”</a:t>
            </a:r>
            <a:r>
              <a:rPr lang="en-IN" dirty="0"/>
              <a:t>. </a:t>
            </a:r>
          </a:p>
          <a:p>
            <a:pPr lvl="0" algn="just"/>
            <a:endParaRPr lang="en-IN" dirty="0"/>
          </a:p>
          <a:p>
            <a:pPr marL="0" indent="0" algn="just">
              <a:buClr>
                <a:schemeClr val="tx1"/>
              </a:buClr>
              <a:buNone/>
            </a:pPr>
            <a:endParaRPr lang="en-IN" dirty="0"/>
          </a:p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1714500" y="2425486"/>
            <a:ext cx="8763000" cy="18774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Shruti"/>
              </a:rPr>
              <a:t>Syntax:</a:t>
            </a:r>
            <a:endParaRPr lang="en-IN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3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Return_type</a:t>
            </a:r>
            <a:r>
              <a:rPr lang="en-IN" sz="23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</a:t>
            </a:r>
            <a:r>
              <a:rPr lang="en-IN" sz="2300" dirty="0">
                <a:solidFill>
                  <a:srgbClr val="C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operator</a:t>
            </a:r>
            <a:r>
              <a:rPr lang="en-IN" sz="23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</a:t>
            </a:r>
            <a:r>
              <a:rPr lang="en-IN" sz="23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op_symbol</a:t>
            </a:r>
            <a:r>
              <a:rPr lang="en-IN" sz="23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(</a:t>
            </a:r>
            <a:r>
              <a:rPr lang="en-IN" sz="23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argument_list</a:t>
            </a:r>
            <a:r>
              <a:rPr lang="en-IN" sz="23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)</a:t>
            </a:r>
            <a:endParaRPr lang="en-IN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3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{</a:t>
            </a:r>
            <a:endParaRPr lang="en-IN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3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 // statements </a:t>
            </a:r>
            <a:endParaRPr lang="en-IN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3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}</a:t>
            </a:r>
            <a:endParaRPr lang="en-IN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Rectangular Callout 12"/>
          <p:cNvSpPr/>
          <p:nvPr/>
        </p:nvSpPr>
        <p:spPr>
          <a:xfrm>
            <a:off x="4572000" y="3617913"/>
            <a:ext cx="1676400" cy="609600"/>
          </a:xfrm>
          <a:prstGeom prst="wedgeRectCallout">
            <a:avLst>
              <a:gd name="adj1" fmla="val -54321"/>
              <a:gd name="adj2" fmla="val -117880"/>
            </a:avLst>
          </a:prstGeom>
          <a:noFill/>
          <a:ln>
            <a:solidFill>
              <a:srgbClr val="4F81BD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Keyword</a:t>
            </a:r>
          </a:p>
        </p:txBody>
      </p:sp>
      <p:sp>
        <p:nvSpPr>
          <p:cNvPr id="14" name="Rectangular Callout 13"/>
          <p:cNvSpPr/>
          <p:nvPr/>
        </p:nvSpPr>
        <p:spPr>
          <a:xfrm>
            <a:off x="6705600" y="3624078"/>
            <a:ext cx="3657600" cy="609600"/>
          </a:xfrm>
          <a:prstGeom prst="wedgeRectCallout">
            <a:avLst>
              <a:gd name="adj1" fmla="val -68127"/>
              <a:gd name="adj2" fmla="val -122032"/>
            </a:avLst>
          </a:prstGeom>
          <a:noFill/>
          <a:ln>
            <a:solidFill>
              <a:srgbClr val="4F81BD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substitute the operator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1714500" y="4377983"/>
            <a:ext cx="8763000" cy="193899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Shruti"/>
              </a:rPr>
              <a:t>Example:</a:t>
            </a:r>
            <a:endParaRPr lang="en-IN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void</a:t>
            </a:r>
            <a:r>
              <a:rPr lang="en-IN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</a:t>
            </a:r>
            <a:r>
              <a:rPr lang="en-IN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operator</a:t>
            </a:r>
            <a:r>
              <a:rPr lang="en-IN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+ (arguments);</a:t>
            </a:r>
            <a:endParaRPr lang="en-IN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4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int</a:t>
            </a:r>
            <a:r>
              <a:rPr lang="en-IN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</a:t>
            </a:r>
            <a:r>
              <a:rPr lang="en-IN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operator</a:t>
            </a:r>
            <a:r>
              <a:rPr lang="en-IN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- (arguments);</a:t>
            </a:r>
            <a:endParaRPr lang="en-IN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4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Class_name</a:t>
            </a:r>
            <a:r>
              <a:rPr lang="en-IN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</a:t>
            </a:r>
            <a:r>
              <a:rPr lang="en-IN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operator</a:t>
            </a:r>
            <a:r>
              <a:rPr lang="en-IN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/ (arguments);</a:t>
            </a:r>
            <a:endParaRPr lang="en-IN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float</a:t>
            </a:r>
            <a:r>
              <a:rPr lang="en-IN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</a:t>
            </a:r>
            <a:r>
              <a:rPr lang="en-IN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operator</a:t>
            </a:r>
            <a:r>
              <a:rPr lang="en-IN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* (arguments);</a:t>
            </a:r>
            <a:endParaRPr lang="en-IN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910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8" grpId="0" animBg="1"/>
      <p:bldP spid="13" grpId="0" animBg="1"/>
      <p:bldP spid="14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Rules for operator overloading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00" y="990600"/>
            <a:ext cx="8763000" cy="1981200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just"/>
            <a:r>
              <a:rPr lang="en-IN" dirty="0"/>
              <a:t>Only existing operator can be overloaded.</a:t>
            </a:r>
          </a:p>
          <a:p>
            <a:pPr algn="just"/>
            <a:r>
              <a:rPr lang="en-IN" dirty="0"/>
              <a:t>The overloaded operator must have at least one operand that is user defined type.</a:t>
            </a:r>
          </a:p>
          <a:p>
            <a:pPr algn="just"/>
            <a:r>
              <a:rPr lang="en-IN" dirty="0"/>
              <a:t>We cannot change the basic meaning and syntax of an operator.</a:t>
            </a:r>
          </a:p>
        </p:txBody>
      </p:sp>
    </p:spTree>
    <p:extLst>
      <p:ext uri="{BB962C8B-B14F-4D97-AF65-F5344CB8AC3E}">
        <p14:creationId xmlns:p14="http://schemas.microsoft.com/office/powerpoint/2010/main" val="187378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Rules for operator overloading (</a:t>
            </a:r>
            <a:r>
              <a:rPr lang="en-IN" dirty="0" err="1"/>
              <a:t>Cont</a:t>
            </a:r>
            <a:r>
              <a:rPr lang="en-IN" dirty="0"/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When using binary operators overloaded through a member function, the left hand operand must be an object of the relevant class. </a:t>
            </a:r>
          </a:p>
          <a:p>
            <a:r>
              <a:rPr lang="en-IN" dirty="0"/>
              <a:t>We cannot overload following operators.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971800" y="2971800"/>
          <a:ext cx="6248400" cy="2916875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1539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8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Operator</a:t>
                      </a:r>
                      <a:endParaRPr lang="en-IN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Name</a:t>
                      </a:r>
                      <a:endParaRPr lang="en-IN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.  and  .*</a:t>
                      </a:r>
                      <a:endParaRPr lang="en-IN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Class member access operator</a:t>
                      </a:r>
                      <a:endParaRPr lang="en-IN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::</a:t>
                      </a:r>
                      <a:endParaRPr lang="en-IN" sz="24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Scope Resolution Operator</a:t>
                      </a:r>
                      <a:endParaRPr lang="en-IN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sizeof()</a:t>
                      </a:r>
                      <a:endParaRPr lang="en-IN" sz="24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Size Operator</a:t>
                      </a:r>
                      <a:endParaRPr lang="en-IN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?:</a:t>
                      </a:r>
                      <a:endParaRPr lang="en-IN" sz="24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Conditional Operator</a:t>
                      </a:r>
                      <a:endParaRPr lang="en-IN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5661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Overloading Unary Operator</a:t>
            </a:r>
          </a:p>
        </p:txBody>
      </p:sp>
    </p:spTree>
    <p:extLst>
      <p:ext uri="{BB962C8B-B14F-4D97-AF65-F5344CB8AC3E}">
        <p14:creationId xmlns:p14="http://schemas.microsoft.com/office/powerpoint/2010/main" val="2135884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676400" y="47266"/>
            <a:ext cx="4191000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+mj-lt"/>
              </a:rPr>
              <a:t>Overloading Unary operator −−</a:t>
            </a:r>
            <a:endParaRPr lang="en-IN" b="1" dirty="0">
              <a:latin typeface="+mj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676400" y="589082"/>
            <a:ext cx="739140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3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class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space {</a:t>
            </a:r>
          </a:p>
          <a:p>
            <a:r>
              <a:rPr lang="en-IN" sz="23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</a:t>
            </a:r>
            <a:r>
              <a:rPr lang="en-IN" sz="23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IN" sz="23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x,y,z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r>
              <a:rPr lang="en-IN" sz="23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public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: 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space(){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x=y=z=0;}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space(</a:t>
            </a:r>
            <a:r>
              <a:rPr lang="en-IN" sz="23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a, </a:t>
            </a:r>
            <a:r>
              <a:rPr lang="en-IN" sz="23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IN" sz="23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b,</a:t>
            </a:r>
            <a:r>
              <a:rPr lang="en-IN" sz="23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c){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x=a; y=b; z=c; }</a:t>
            </a:r>
          </a:p>
          <a:p>
            <a:r>
              <a:rPr lang="en-IN" sz="23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void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display(){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</a:t>
            </a:r>
            <a:r>
              <a:rPr lang="en-IN" sz="23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cout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&lt;&lt;</a:t>
            </a:r>
            <a:r>
              <a:rPr lang="en-IN" sz="23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"\</a:t>
            </a:r>
            <a:r>
              <a:rPr lang="en-IN" sz="230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nx</a:t>
            </a:r>
            <a:r>
              <a:rPr lang="en-IN" sz="23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="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&lt;&lt;x&lt;&lt;</a:t>
            </a:r>
            <a:r>
              <a:rPr lang="en-IN" sz="23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",y="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&lt;&lt;y&lt;&lt;</a:t>
            </a:r>
            <a:r>
              <a:rPr lang="en-IN" sz="23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",z="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&lt;&lt;z;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}</a:t>
            </a:r>
          </a:p>
          <a:p>
            <a:r>
              <a:rPr lang="en-IN" sz="23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void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IN" sz="23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operator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--();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};</a:t>
            </a:r>
            <a:endParaRPr lang="en-IN" sz="2300" dirty="0"/>
          </a:p>
        </p:txBody>
      </p:sp>
      <p:sp>
        <p:nvSpPr>
          <p:cNvPr id="3" name="Rectangle 2"/>
          <p:cNvSpPr/>
          <p:nvPr/>
        </p:nvSpPr>
        <p:spPr>
          <a:xfrm>
            <a:off x="1692797" y="4832039"/>
            <a:ext cx="4572000" cy="186204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3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space::</a:t>
            </a:r>
            <a:r>
              <a:rPr lang="en-IN" sz="23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operator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--() {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x--;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y--;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z--;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 lang="en-IN" sz="2300" dirty="0"/>
          </a:p>
        </p:txBody>
      </p:sp>
      <p:sp>
        <p:nvSpPr>
          <p:cNvPr id="4" name="Rectangle 3"/>
          <p:cNvSpPr/>
          <p:nvPr/>
        </p:nvSpPr>
        <p:spPr>
          <a:xfrm>
            <a:off x="7162801" y="138237"/>
            <a:ext cx="3285281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3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main()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space s1(5,4,3);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s1.display();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--s1;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s1.display();</a:t>
            </a:r>
          </a:p>
          <a:p>
            <a:r>
              <a:rPr lang="en-IN" sz="23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return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0;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}</a:t>
            </a:r>
            <a:endParaRPr lang="en-IN" sz="2300" dirty="0"/>
          </a:p>
        </p:txBody>
      </p:sp>
      <p:sp>
        <p:nvSpPr>
          <p:cNvPr id="5" name="Rectangle 4"/>
          <p:cNvSpPr/>
          <p:nvPr/>
        </p:nvSpPr>
        <p:spPr>
          <a:xfrm>
            <a:off x="2057400" y="4137948"/>
            <a:ext cx="29718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598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81400" y="152400"/>
            <a:ext cx="71301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Example: Unary operator overloading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0" y="5715000"/>
            <a:ext cx="3249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OUTPUT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EAC58B-7064-482C-863A-96D173294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569088"/>
            <a:ext cx="4944165" cy="46869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9F0C01-F24C-4D4C-873D-DBDCC16D3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768639"/>
            <a:ext cx="4115374" cy="20862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69A433-4C27-41DC-B4DC-C44491461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912565"/>
            <a:ext cx="5106113" cy="23148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568350-CDCA-4775-BFDE-FCD068EDE3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5906" y="5656783"/>
            <a:ext cx="2230826" cy="81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244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676400" y="47266"/>
            <a:ext cx="4191000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+mj-lt"/>
              </a:rPr>
              <a:t>Overloading Unary operator −</a:t>
            </a:r>
            <a:endParaRPr lang="en-IN" b="1" dirty="0">
              <a:latin typeface="+mj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676400" y="589082"/>
            <a:ext cx="739140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3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class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space {</a:t>
            </a:r>
          </a:p>
          <a:p>
            <a:r>
              <a:rPr lang="en-IN" sz="23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</a:t>
            </a:r>
            <a:r>
              <a:rPr lang="en-IN" sz="23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IN" sz="23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x,y,z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r>
              <a:rPr lang="en-IN" sz="23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public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: 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space(){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x=y=z=0;}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space(</a:t>
            </a:r>
            <a:r>
              <a:rPr lang="en-IN" sz="23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a, </a:t>
            </a:r>
            <a:r>
              <a:rPr lang="en-IN" sz="23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IN" sz="23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b,</a:t>
            </a:r>
            <a:r>
              <a:rPr lang="en-IN" sz="23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c){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x=a; y=b; z=c; }</a:t>
            </a:r>
          </a:p>
          <a:p>
            <a:r>
              <a:rPr lang="en-IN" sz="23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void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display(){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</a:t>
            </a:r>
            <a:r>
              <a:rPr lang="en-IN" sz="23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cout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&lt;&lt;</a:t>
            </a:r>
            <a:r>
              <a:rPr lang="en-IN" sz="23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"\</a:t>
            </a:r>
            <a:r>
              <a:rPr lang="en-IN" sz="230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nx</a:t>
            </a:r>
            <a:r>
              <a:rPr lang="en-IN" sz="23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="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&lt;&lt;x&lt;&lt;</a:t>
            </a:r>
            <a:r>
              <a:rPr lang="en-IN" sz="23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",y="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&lt;&lt;y&lt;&lt;</a:t>
            </a:r>
            <a:r>
              <a:rPr lang="en-IN" sz="23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",z="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&lt;&lt;z;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}</a:t>
            </a:r>
          </a:p>
          <a:p>
            <a:r>
              <a:rPr lang="en-IN" sz="23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void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IN" sz="23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operator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-();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};</a:t>
            </a:r>
            <a:endParaRPr lang="en-IN" sz="2300" dirty="0"/>
          </a:p>
        </p:txBody>
      </p:sp>
      <p:sp>
        <p:nvSpPr>
          <p:cNvPr id="3" name="Rectangle 2"/>
          <p:cNvSpPr/>
          <p:nvPr/>
        </p:nvSpPr>
        <p:spPr>
          <a:xfrm>
            <a:off x="1692797" y="4832039"/>
            <a:ext cx="4572000" cy="186204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3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space</a:t>
            </a:r>
            <a:r>
              <a:rPr lang="en-IN" sz="23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::</a:t>
            </a:r>
            <a:r>
              <a:rPr lang="en-IN" sz="23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operator</a:t>
            </a:r>
            <a:r>
              <a:rPr lang="en-IN" sz="23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-() 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x=-x;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y=-y;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z=-z;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 lang="en-IN" sz="2300" dirty="0"/>
          </a:p>
        </p:txBody>
      </p:sp>
      <p:sp>
        <p:nvSpPr>
          <p:cNvPr id="4" name="Rectangle 3"/>
          <p:cNvSpPr/>
          <p:nvPr/>
        </p:nvSpPr>
        <p:spPr>
          <a:xfrm>
            <a:off x="7162801" y="138237"/>
            <a:ext cx="3285281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3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main()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space s1(5,4,3);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s1.display();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-s1;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s1.display();</a:t>
            </a:r>
          </a:p>
          <a:p>
            <a:r>
              <a:rPr lang="en-IN" sz="23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return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0;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}</a:t>
            </a:r>
            <a:endParaRPr lang="en-IN" sz="2300" dirty="0"/>
          </a:p>
        </p:txBody>
      </p:sp>
      <p:sp>
        <p:nvSpPr>
          <p:cNvPr id="5" name="Rectangle 4"/>
          <p:cNvSpPr/>
          <p:nvPr/>
        </p:nvSpPr>
        <p:spPr>
          <a:xfrm>
            <a:off x="2057400" y="4137948"/>
            <a:ext cx="29718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136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600200"/>
            <a:ext cx="11506200" cy="4343400"/>
          </a:xfrm>
        </p:spPr>
        <p:txBody>
          <a:bodyPr anchor="ctr">
            <a:normAutofit fontScale="92500"/>
          </a:bodyPr>
          <a:lstStyle/>
          <a:p>
            <a:pPr algn="just" eaLnBrk="1" hangingPunct="1">
              <a:lnSpc>
                <a:spcPct val="120000"/>
              </a:lnSpc>
            </a:pPr>
            <a:r>
              <a:rPr lang="en-US" dirty="0"/>
              <a:t>When postfix (++ or --) is used with a variable in an expression, the expression is evaluated first using the original value of the variable and then the variable is incremented or decremented by one.</a:t>
            </a:r>
          </a:p>
          <a:p>
            <a:pPr algn="just" eaLnBrk="1" hangingPunct="1">
              <a:lnSpc>
                <a:spcPct val="120000"/>
              </a:lnSpc>
            </a:pPr>
            <a:endParaRPr lang="en-US" dirty="0"/>
          </a:p>
          <a:p>
            <a:pPr algn="just" eaLnBrk="1" hangingPunct="1">
              <a:lnSpc>
                <a:spcPct val="120000"/>
              </a:lnSpc>
            </a:pPr>
            <a:r>
              <a:rPr lang="en-US" dirty="0"/>
              <a:t>When prefix (++ or --) is used with a variable in an expression, variable is incremented or decremented first and then the  expression is evaluated  using the new value of the variable.</a:t>
            </a:r>
          </a:p>
        </p:txBody>
      </p:sp>
      <p:sp>
        <p:nvSpPr>
          <p:cNvPr id="39940" name="Text Box 9"/>
          <p:cNvSpPr txBox="1">
            <a:spLocks noChangeArrowheads="1"/>
          </p:cNvSpPr>
          <p:nvPr/>
        </p:nvSpPr>
        <p:spPr bwMode="ltGray">
          <a:xfrm>
            <a:off x="1524000" y="381000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3600" b="1" dirty="0">
                <a:solidFill>
                  <a:schemeClr val="accent1"/>
                </a:solidFill>
              </a:rPr>
              <a:t>Increment  and Decrement Operators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Text Box 5"/>
          <p:cNvSpPr txBox="1">
            <a:spLocks noChangeArrowheads="1"/>
          </p:cNvSpPr>
          <p:nvPr/>
        </p:nvSpPr>
        <p:spPr bwMode="auto">
          <a:xfrm>
            <a:off x="533400" y="1905000"/>
            <a:ext cx="10972800" cy="4174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en-US" sz="3200" b="1" dirty="0"/>
              <a:t>Examples:</a:t>
            </a:r>
          </a:p>
          <a:p>
            <a:pPr algn="ctr" eaLnBrk="1" hangingPunct="1">
              <a:lnSpc>
                <a:spcPct val="120000"/>
              </a:lnSpc>
            </a:pPr>
            <a:r>
              <a:rPr lang="en-US" sz="3200" b="1" dirty="0"/>
              <a:t>  	</a:t>
            </a:r>
            <a:r>
              <a:rPr lang="en-US" sz="3200" dirty="0"/>
              <a:t>m = 5;</a:t>
            </a:r>
          </a:p>
          <a:p>
            <a:pPr algn="ctr" eaLnBrk="1" hangingPunct="1">
              <a:lnSpc>
                <a:spcPct val="120000"/>
              </a:lnSpc>
            </a:pPr>
            <a:r>
              <a:rPr lang="en-US" sz="3200" dirty="0"/>
              <a:t>	y = ++m;</a:t>
            </a:r>
          </a:p>
          <a:p>
            <a:pPr algn="ctr" eaLnBrk="1" hangingPunct="1">
              <a:lnSpc>
                <a:spcPct val="120000"/>
              </a:lnSpc>
            </a:pPr>
            <a:r>
              <a:rPr lang="en-US" sz="3200" b="1" dirty="0">
                <a:solidFill>
                  <a:schemeClr val="accent1"/>
                </a:solidFill>
              </a:rPr>
              <a:t>In this case, the value of y and m would be 6.</a:t>
            </a:r>
          </a:p>
          <a:p>
            <a:pPr algn="ctr" eaLnBrk="1" hangingPunct="1">
              <a:lnSpc>
                <a:spcPct val="120000"/>
              </a:lnSpc>
            </a:pPr>
            <a:r>
              <a:rPr lang="en-US" sz="3200" dirty="0"/>
              <a:t>	m = 5;</a:t>
            </a:r>
          </a:p>
          <a:p>
            <a:pPr algn="ctr" eaLnBrk="1" hangingPunct="1">
              <a:lnSpc>
                <a:spcPct val="120000"/>
              </a:lnSpc>
            </a:pPr>
            <a:r>
              <a:rPr lang="en-US" sz="3200" dirty="0"/>
              <a:t>	y = m++;</a:t>
            </a:r>
          </a:p>
          <a:p>
            <a:pPr algn="ctr" eaLnBrk="1" hangingPunct="1">
              <a:lnSpc>
                <a:spcPct val="120000"/>
              </a:lnSpc>
            </a:pPr>
            <a:r>
              <a:rPr lang="en-US" sz="3200" b="1" dirty="0">
                <a:solidFill>
                  <a:schemeClr val="accent1"/>
                </a:solidFill>
              </a:rPr>
              <a:t>Here y continues to be 5. Only m changes to 6.</a:t>
            </a:r>
          </a:p>
        </p:txBody>
      </p:sp>
      <p:sp>
        <p:nvSpPr>
          <p:cNvPr id="40965" name="Text Box 9"/>
          <p:cNvSpPr txBox="1">
            <a:spLocks noChangeArrowheads="1"/>
          </p:cNvSpPr>
          <p:nvPr/>
        </p:nvSpPr>
        <p:spPr bwMode="ltGray">
          <a:xfrm>
            <a:off x="533400" y="457200"/>
            <a:ext cx="11506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3600" b="1" dirty="0">
                <a:solidFill>
                  <a:srgbClr val="CC6600"/>
                </a:solidFill>
              </a:rPr>
              <a:t>Increment  and Decrement Operators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EE66F8-6286-44B3-BE1A-21EB57E68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04800"/>
            <a:ext cx="5105620" cy="381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29C410-4079-4A6B-882E-E08600C870FB}"/>
              </a:ext>
            </a:extLst>
          </p:cNvPr>
          <p:cNvSpPr txBox="1"/>
          <p:nvPr/>
        </p:nvSpPr>
        <p:spPr>
          <a:xfrm>
            <a:off x="6941365" y="5333294"/>
            <a:ext cx="32496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31B1E5-2226-44F4-AF28-6406BC904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4267200"/>
            <a:ext cx="4741739" cy="182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146548-3599-45B2-9A4F-2B9E753451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3186" y="1447800"/>
            <a:ext cx="4885001" cy="30347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A3CA33-C2FD-4676-9284-1ECA01170A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6997" y="4843083"/>
            <a:ext cx="1214480" cy="150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886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EE66F8-6286-44B3-BE1A-21EB57E68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04800"/>
            <a:ext cx="5105620" cy="381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29C410-4079-4A6B-882E-E08600C870FB}"/>
              </a:ext>
            </a:extLst>
          </p:cNvPr>
          <p:cNvSpPr txBox="1"/>
          <p:nvPr/>
        </p:nvSpPr>
        <p:spPr>
          <a:xfrm>
            <a:off x="6941365" y="5333294"/>
            <a:ext cx="32496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OUTPUT: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146548-3599-45B2-9A4F-2B9E75345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3186" y="1447800"/>
            <a:ext cx="4885001" cy="30347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A3CA33-C2FD-4676-9284-1ECA01170A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997" y="4843083"/>
            <a:ext cx="1214480" cy="15036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A2CF5E0-8F3A-4DC5-B491-29C6BCEE95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" y="4364752"/>
            <a:ext cx="4825118" cy="1503641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F8B55E66-DD51-42E0-8608-E836730FFEB7}"/>
              </a:ext>
            </a:extLst>
          </p:cNvPr>
          <p:cNvSpPr/>
          <p:nvPr/>
        </p:nvSpPr>
        <p:spPr>
          <a:xfrm>
            <a:off x="2209800" y="5057472"/>
            <a:ext cx="2514600" cy="65752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A31A64-ABA0-4D48-B522-2270D708F9C4}"/>
              </a:ext>
            </a:extLst>
          </p:cNvPr>
          <p:cNvSpPr txBox="1"/>
          <p:nvPr/>
        </p:nvSpPr>
        <p:spPr>
          <a:xfrm>
            <a:off x="3733800" y="151407"/>
            <a:ext cx="7427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solidFill>
                  <a:srgbClr val="FF0000"/>
                </a:solidFill>
              </a:rPr>
              <a:t>Example: Nameless Temporary Objects</a:t>
            </a:r>
            <a:endParaRPr lang="en-IN" sz="3200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430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5A33DB-52C3-4D4F-8193-D88D68E1D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3597" y="457200"/>
            <a:ext cx="4067403" cy="43052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43A2AD-BA38-4923-A652-F025CABFB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3597" y="5181600"/>
            <a:ext cx="1671701" cy="13901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50495E-521D-41F2-8271-5EA50723E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09906"/>
            <a:ext cx="6050916" cy="62104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A685A2-9A67-4030-AE36-9F802B1DAE5F}"/>
              </a:ext>
            </a:extLst>
          </p:cNvPr>
          <p:cNvSpPr txBox="1"/>
          <p:nvPr/>
        </p:nvSpPr>
        <p:spPr>
          <a:xfrm>
            <a:off x="4386491" y="195590"/>
            <a:ext cx="220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Question-1:</a:t>
            </a:r>
          </a:p>
        </p:txBody>
      </p:sp>
    </p:spTree>
    <p:extLst>
      <p:ext uri="{BB962C8B-B14F-4D97-AF65-F5344CB8AC3E}">
        <p14:creationId xmlns:p14="http://schemas.microsoft.com/office/powerpoint/2010/main" val="2536259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2D3F58-3E7F-4ADF-B6B4-5843EB461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25497"/>
            <a:ext cx="5715000" cy="54070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5A33DB-52C3-4D4F-8193-D88D68E1D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3597" y="457200"/>
            <a:ext cx="4067403" cy="43052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43A2AD-BA38-4923-A652-F025CABFBD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3597" y="5181600"/>
            <a:ext cx="1671701" cy="139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518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sz="3200" b="1" u="sng" dirty="0">
                <a:solidFill>
                  <a:srgbClr val="C00000"/>
                </a:solidFill>
              </a:rPr>
              <a:t>Overloading Prefix and Postfix operator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222608"/>
            <a:ext cx="7581900" cy="6631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000" b="1" dirty="0">
                <a:solidFill>
                  <a:srgbClr val="8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class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demo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{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</a:t>
            </a:r>
            <a:r>
              <a:rPr lang="en-US" sz="2000" b="1" dirty="0" err="1">
                <a:solidFill>
                  <a:srgbClr val="8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int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m</a:t>
            </a:r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rgbClr val="8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public</a:t>
            </a:r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: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 demo</a:t>
            </a:r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(){ 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 </a:t>
            </a:r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=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FF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0</a:t>
            </a:r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;}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 demo</a:t>
            </a:r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</a:t>
            </a:r>
            <a:r>
              <a:rPr lang="en-US" sz="2000" b="1" dirty="0" err="1">
                <a:solidFill>
                  <a:srgbClr val="8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int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x</a:t>
            </a:r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)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 </a:t>
            </a:r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{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   m </a:t>
            </a:r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=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x</a:t>
            </a:r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 </a:t>
            </a:r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}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 </a:t>
            </a:r>
            <a:r>
              <a:rPr lang="en-US" sz="2000" b="1" dirty="0">
                <a:solidFill>
                  <a:srgbClr val="8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void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operator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++()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 </a:t>
            </a:r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{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++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</a:t>
            </a:r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   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cout</a:t>
            </a:r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&lt;&lt;</a:t>
            </a:r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"Pre Increment="</a:t>
            </a:r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&lt;&lt;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</a:t>
            </a:r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 </a:t>
            </a:r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}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 </a:t>
            </a:r>
            <a:r>
              <a:rPr lang="en-US" sz="2000" b="1" dirty="0">
                <a:solidFill>
                  <a:srgbClr val="8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void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operator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++(</a:t>
            </a:r>
            <a:r>
              <a:rPr lang="en-US" sz="2000" b="1" dirty="0" err="1">
                <a:solidFill>
                  <a:srgbClr val="8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int</a:t>
            </a:r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)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 </a:t>
            </a:r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{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    m</a:t>
            </a:r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++;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   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cout</a:t>
            </a:r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&lt;&lt;</a:t>
            </a:r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"Post Increment="</a:t>
            </a:r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&lt;&lt;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</a:t>
            </a:r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 </a:t>
            </a:r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}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sz="20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};</a:t>
            </a:r>
            <a:endParaRPr lang="en-US" sz="1750" b="1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0" y="1039207"/>
            <a:ext cx="3581400" cy="2443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400" b="1" dirty="0" err="1">
                <a:solidFill>
                  <a:srgbClr val="8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main</a:t>
            </a:r>
            <a:r>
              <a:rPr lang="en-US" sz="24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()</a:t>
            </a:r>
            <a:endParaRPr lang="en-US" sz="2400" b="1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sz="24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{</a:t>
            </a:r>
            <a:endParaRPr lang="en-US" sz="2400" b="1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demo d1</a:t>
            </a:r>
            <a:r>
              <a:rPr lang="en-US" sz="24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FF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5</a:t>
            </a:r>
            <a:r>
              <a:rPr lang="en-US" sz="24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);</a:t>
            </a:r>
            <a:endParaRPr lang="en-US" sz="2400" b="1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</a:t>
            </a:r>
            <a:r>
              <a:rPr lang="en-US" sz="24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++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d1</a:t>
            </a:r>
            <a:r>
              <a:rPr lang="en-US" sz="24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</a:t>
            </a:r>
            <a:endParaRPr lang="en-US" sz="2400" b="1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d1</a:t>
            </a:r>
            <a:r>
              <a:rPr lang="en-US" sz="24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++;</a:t>
            </a:r>
            <a:endParaRPr lang="en-US" sz="2400" b="1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US" sz="2400" b="1" dirty="0">
                <a:solidFill>
                  <a:srgbClr val="000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}</a:t>
            </a:r>
            <a:endParaRPr lang="en-US" b="1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61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00200" y="423719"/>
            <a:ext cx="86106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class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complex{</a:t>
            </a:r>
          </a:p>
          <a:p>
            <a:r>
              <a:rPr lang="en-IN" sz="20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</a:t>
            </a:r>
            <a:r>
              <a:rPr lang="en-IN" sz="20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IN" sz="20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real,imag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r>
              <a:rPr lang="en-IN" sz="20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public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:</a:t>
            </a:r>
          </a:p>
          <a:p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complex(){</a:t>
            </a:r>
          </a:p>
          <a:p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real=0; </a:t>
            </a:r>
            <a:r>
              <a:rPr lang="en-IN" sz="20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imag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=0;</a:t>
            </a:r>
          </a:p>
          <a:p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}</a:t>
            </a:r>
          </a:p>
          <a:p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complex(</a:t>
            </a:r>
            <a:r>
              <a:rPr lang="en-IN" sz="20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IN" sz="20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x,</a:t>
            </a:r>
            <a:r>
              <a:rPr lang="en-IN" sz="20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y){</a:t>
            </a:r>
          </a:p>
          <a:p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real=x; </a:t>
            </a:r>
            <a:r>
              <a:rPr lang="en-IN" sz="20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imag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=y;</a:t>
            </a:r>
          </a:p>
          <a:p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}</a:t>
            </a:r>
          </a:p>
          <a:p>
            <a:r>
              <a:rPr lang="en-IN" sz="20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  void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IN" sz="20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disp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(){</a:t>
            </a:r>
          </a:p>
          <a:p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</a:t>
            </a:r>
            <a:r>
              <a:rPr lang="en-IN" sz="20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cout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&lt;&lt;</a:t>
            </a:r>
            <a:r>
              <a:rPr lang="en-IN" sz="2000" b="1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"\</a:t>
            </a:r>
            <a:r>
              <a:rPr lang="en-IN" sz="20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nreal</a:t>
            </a:r>
            <a:r>
              <a:rPr lang="en-IN" sz="2000" b="1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 value="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&lt;&lt;real&lt;&lt;</a:t>
            </a:r>
            <a:r>
              <a:rPr lang="en-IN" sz="20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endl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</a:t>
            </a:r>
            <a:r>
              <a:rPr lang="en-IN" sz="20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cout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&lt;&lt;</a:t>
            </a:r>
            <a:r>
              <a:rPr lang="en-IN" sz="2000" b="1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en-IN" sz="20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imag</a:t>
            </a:r>
            <a:r>
              <a:rPr lang="en-IN" sz="2000" b="1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 value="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&lt;&lt;</a:t>
            </a:r>
            <a:r>
              <a:rPr lang="en-IN" sz="20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imag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&lt;&lt;</a:t>
            </a:r>
            <a:r>
              <a:rPr lang="en-IN" sz="20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endl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}</a:t>
            </a:r>
          </a:p>
          <a:p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complex </a:t>
            </a:r>
            <a:r>
              <a:rPr lang="en-IN" sz="20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operator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 (complex);</a:t>
            </a:r>
          </a:p>
          <a:p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};</a:t>
            </a:r>
          </a:p>
          <a:p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complex complex::</a:t>
            </a:r>
            <a:r>
              <a:rPr lang="en-IN" sz="20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operator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 (complex c){</a:t>
            </a:r>
          </a:p>
          <a:p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complex </a:t>
            </a:r>
            <a:r>
              <a:rPr lang="en-IN" sz="20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tmp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</a:t>
            </a:r>
            <a:r>
              <a:rPr lang="en-IN" sz="20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tmp.real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real + </a:t>
            </a:r>
            <a:r>
              <a:rPr lang="en-IN" sz="20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c.real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</a:t>
            </a:r>
            <a:r>
              <a:rPr lang="en-IN" sz="20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tmp.imag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IN" sz="20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imag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 </a:t>
            </a:r>
            <a:r>
              <a:rPr lang="en-IN" sz="20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c.imag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 </a:t>
            </a:r>
          </a:p>
          <a:p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</a:t>
            </a:r>
            <a:r>
              <a:rPr lang="en-IN" sz="20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return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IN" sz="20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tmp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 lang="en-IN" sz="2000" b="1" dirty="0"/>
          </a:p>
        </p:txBody>
      </p:sp>
      <p:sp>
        <p:nvSpPr>
          <p:cNvPr id="5" name="Rectangle 4"/>
          <p:cNvSpPr/>
          <p:nvPr/>
        </p:nvSpPr>
        <p:spPr>
          <a:xfrm>
            <a:off x="6907535" y="-398899"/>
            <a:ext cx="3886200" cy="3785652"/>
          </a:xfrm>
          <a:prstGeom prst="rect">
            <a:avLst/>
          </a:prstGeom>
          <a:ln w="28575">
            <a:solidFill>
              <a:srgbClr val="4F81BD"/>
            </a:solidFill>
          </a:ln>
        </p:spPr>
        <p:txBody>
          <a:bodyPr wrap="square">
            <a:spAutoFit/>
          </a:bodyPr>
          <a:lstStyle/>
          <a:p>
            <a:endParaRPr lang="en-IN" sz="2000" dirty="0">
              <a:solidFill>
                <a:srgbClr val="0000FF"/>
              </a:solidFill>
              <a:highlight>
                <a:srgbClr val="FFFFFF"/>
              </a:highlight>
              <a:latin typeface="Consolas"/>
            </a:endParaRPr>
          </a:p>
          <a:p>
            <a:endParaRPr lang="en-IN" sz="2000" dirty="0">
              <a:solidFill>
                <a:srgbClr val="0000FF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IN" sz="20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main()</a:t>
            </a:r>
          </a:p>
          <a:p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complex c1(4,6),c2(7,9);</a:t>
            </a:r>
          </a:p>
          <a:p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complex c3;</a:t>
            </a:r>
          </a:p>
          <a:p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c3 = c1 + c2;</a:t>
            </a:r>
          </a:p>
          <a:p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c1.disp();   </a:t>
            </a:r>
          </a:p>
          <a:p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c2.disp();</a:t>
            </a:r>
          </a:p>
          <a:p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c3.disp(); </a:t>
            </a:r>
            <a:r>
              <a:rPr lang="en-IN" sz="20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</a:t>
            </a:r>
          </a:p>
          <a:p>
            <a:r>
              <a:rPr lang="en-IN" sz="20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return</a:t>
            </a:r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0;</a:t>
            </a:r>
          </a:p>
          <a:p>
            <a:r>
              <a:rPr lang="en-IN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 lang="en-IN" sz="2000" b="1" dirty="0"/>
          </a:p>
        </p:txBody>
      </p:sp>
      <p:sp>
        <p:nvSpPr>
          <p:cNvPr id="10" name="Rectangular Callout 9"/>
          <p:cNvSpPr/>
          <p:nvPr/>
        </p:nvSpPr>
        <p:spPr>
          <a:xfrm>
            <a:off x="6858000" y="5486401"/>
            <a:ext cx="3733800" cy="1189045"/>
          </a:xfrm>
          <a:prstGeom prst="wedgeRectCallout">
            <a:avLst>
              <a:gd name="adj1" fmla="val 5611"/>
              <a:gd name="adj2" fmla="val -356945"/>
            </a:avLst>
          </a:prstGeom>
          <a:noFill/>
          <a:ln>
            <a:solidFill>
              <a:srgbClr val="4F81BD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+mj-lt"/>
              </a:rPr>
              <a:t>Similar to function call</a:t>
            </a:r>
          </a:p>
          <a:p>
            <a:pPr algn="ctr"/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c3=c1.</a:t>
            </a:r>
            <a:r>
              <a:rPr lang="en-IN" sz="24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operator</a:t>
            </a:r>
            <a:r>
              <a:rPr lang="en-I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+(c2);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170375" y="1481358"/>
            <a:ext cx="2140356" cy="3164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2170957" y="4432976"/>
            <a:ext cx="4408990" cy="3494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-38100" y="-37946"/>
            <a:ext cx="4038600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+mj-lt"/>
              </a:rPr>
              <a:t>Overloading Binary operator +</a:t>
            </a:r>
            <a:endParaRPr lang="en-IN" b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1751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24000" y="106364"/>
            <a:ext cx="8763000" cy="808037"/>
          </a:xfrm>
        </p:spPr>
        <p:txBody>
          <a:bodyPr/>
          <a:lstStyle/>
          <a:p>
            <a:pPr algn="l"/>
            <a:r>
              <a:rPr lang="en-IN" dirty="0"/>
              <a:t>Binary Operator Arguments </a:t>
            </a:r>
          </a:p>
        </p:txBody>
      </p:sp>
      <p:sp>
        <p:nvSpPr>
          <p:cNvPr id="4" name="Rectangle 3"/>
          <p:cNvSpPr/>
          <p:nvPr/>
        </p:nvSpPr>
        <p:spPr>
          <a:xfrm>
            <a:off x="1714500" y="960321"/>
            <a:ext cx="8763000" cy="4308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IN" sz="2200" dirty="0">
                <a:latin typeface="Consolas" panose="020B0609020204030204" pitchFamily="49" charset="0"/>
              </a:rPr>
              <a:t>result = obj1.</a:t>
            </a:r>
            <a:r>
              <a:rPr lang="en-IN" sz="2200" dirty="0">
                <a:solidFill>
                  <a:srgbClr val="FF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operator</a:t>
            </a:r>
            <a:r>
              <a:rPr lang="en-IN" sz="2200" dirty="0">
                <a:latin typeface="Consolas" panose="020B0609020204030204" pitchFamily="49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symbol</a:t>
            </a:r>
            <a:r>
              <a:rPr lang="en-IN" sz="2200" dirty="0">
                <a:latin typeface="Consolas" panose="020B0609020204030204" pitchFamily="49" charset="0"/>
              </a:rPr>
              <a:t> (obj2);</a:t>
            </a:r>
            <a:r>
              <a:rPr lang="en-IN" sz="2000" dirty="0">
                <a:solidFill>
                  <a:srgbClr val="00B050"/>
                </a:solidFill>
                <a:latin typeface="Consolas" panose="020B0609020204030204" pitchFamily="49" charset="0"/>
              </a:rPr>
              <a:t>//function notation</a:t>
            </a:r>
            <a:endParaRPr lang="en-IN" sz="22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14500" y="1437551"/>
            <a:ext cx="8763000" cy="4308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IN" sz="2200" dirty="0">
                <a:latin typeface="Consolas" panose="020B0609020204030204" pitchFamily="49" charset="0"/>
              </a:rPr>
              <a:t>result = obj1 </a:t>
            </a: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symbol</a:t>
            </a:r>
            <a:r>
              <a:rPr lang="en-IN" sz="2200" dirty="0">
                <a:latin typeface="Consolas" panose="020B0609020204030204" pitchFamily="49" charset="0"/>
              </a:rPr>
              <a:t> obj2;           </a:t>
            </a:r>
            <a:r>
              <a:rPr lang="en-IN" sz="2000" dirty="0">
                <a:solidFill>
                  <a:srgbClr val="00B050"/>
                </a:solidFill>
                <a:latin typeface="Consolas" panose="020B0609020204030204" pitchFamily="49" charset="0"/>
              </a:rPr>
              <a:t>//operator notation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714500" y="1908725"/>
            <a:ext cx="8763000" cy="24622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complex </a:t>
            </a: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operator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+ (complex x)</a:t>
            </a:r>
            <a:endParaRPr lang="en-IN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{</a:t>
            </a:r>
            <a:endParaRPr lang="en-IN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  complex 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tmp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;</a:t>
            </a:r>
            <a:endParaRPr lang="en-IN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  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tmp.real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= real + 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x.real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;</a:t>
            </a:r>
            <a:endParaRPr lang="en-IN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  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tmp.imag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= 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imag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+ 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x.imag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;</a:t>
            </a:r>
            <a:endParaRPr lang="en-IN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  return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tmp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;</a:t>
            </a:r>
            <a:endParaRPr lang="en-IN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} </a:t>
            </a:r>
            <a:endParaRPr lang="en-IN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714500" y="4529278"/>
            <a:ext cx="8763000" cy="4308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IN" sz="2200" dirty="0">
                <a:latin typeface="Consolas" panose="020B0609020204030204" pitchFamily="49" charset="0"/>
              </a:rPr>
              <a:t>result = obj1.display();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14500" y="5004263"/>
            <a:ext cx="8763000" cy="17851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void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display()</a:t>
            </a:r>
            <a:endParaRPr lang="en-IN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{</a:t>
            </a:r>
            <a:endParaRPr lang="en-IN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  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cout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&lt;&lt;</a:t>
            </a:r>
            <a:r>
              <a:rPr lang="en-IN" sz="22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"Real="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&lt;&lt;real;</a:t>
            </a:r>
            <a:endParaRPr lang="en-IN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  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cout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&lt;&lt;</a:t>
            </a:r>
            <a:r>
              <a:rPr lang="en-IN" sz="22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"Imaginary="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&lt;&lt;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imag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;</a:t>
            </a:r>
            <a:endParaRPr lang="en-IN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}</a:t>
            </a:r>
            <a:endParaRPr lang="en-IN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524000" y="4447352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8930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 animBg="1"/>
      <p:bldP spid="10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24000" y="106364"/>
            <a:ext cx="8763000" cy="808037"/>
          </a:xfrm>
        </p:spPr>
        <p:txBody>
          <a:bodyPr/>
          <a:lstStyle/>
          <a:p>
            <a:pPr algn="l"/>
            <a:r>
              <a:rPr lang="en-IN" dirty="0"/>
              <a:t>Binary Operator Arguments </a:t>
            </a:r>
          </a:p>
        </p:txBody>
      </p:sp>
      <p:sp>
        <p:nvSpPr>
          <p:cNvPr id="4" name="Rectangle 3"/>
          <p:cNvSpPr/>
          <p:nvPr/>
        </p:nvSpPr>
        <p:spPr>
          <a:xfrm>
            <a:off x="1714500" y="960321"/>
            <a:ext cx="8763000" cy="4308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IN" sz="2200" dirty="0">
                <a:latin typeface="Consolas" panose="020B0609020204030204" pitchFamily="49" charset="0"/>
              </a:rPr>
              <a:t>result = obj1.</a:t>
            </a:r>
            <a:r>
              <a:rPr lang="en-IN" sz="2200" dirty="0">
                <a:solidFill>
                  <a:srgbClr val="FF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operator</a:t>
            </a:r>
            <a:r>
              <a:rPr lang="en-IN" sz="2200" dirty="0">
                <a:latin typeface="Consolas" panose="020B0609020204030204" pitchFamily="49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symbol</a:t>
            </a:r>
            <a:r>
              <a:rPr lang="en-IN" sz="2200" dirty="0">
                <a:latin typeface="Consolas" panose="020B0609020204030204" pitchFamily="49" charset="0"/>
              </a:rPr>
              <a:t> (obj2);</a:t>
            </a:r>
            <a:r>
              <a:rPr lang="en-IN" sz="2000" dirty="0">
                <a:solidFill>
                  <a:srgbClr val="00B050"/>
                </a:solidFill>
                <a:latin typeface="Consolas" panose="020B0609020204030204" pitchFamily="49" charset="0"/>
              </a:rPr>
              <a:t>//function notation</a:t>
            </a:r>
            <a:endParaRPr lang="en-IN" sz="22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14500" y="1437551"/>
            <a:ext cx="8763000" cy="4308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IN" sz="2200" dirty="0">
                <a:latin typeface="Consolas" panose="020B0609020204030204" pitchFamily="49" charset="0"/>
              </a:rPr>
              <a:t>result = obj1 </a:t>
            </a: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symbol</a:t>
            </a:r>
            <a:r>
              <a:rPr lang="en-IN" sz="2200" dirty="0">
                <a:latin typeface="Consolas" panose="020B0609020204030204" pitchFamily="49" charset="0"/>
              </a:rPr>
              <a:t> obj2;           </a:t>
            </a:r>
            <a:r>
              <a:rPr lang="en-IN" sz="2000" dirty="0">
                <a:solidFill>
                  <a:srgbClr val="00B050"/>
                </a:solidFill>
                <a:latin typeface="Consolas" panose="020B0609020204030204" pitchFamily="49" charset="0"/>
              </a:rPr>
              <a:t>//operator notation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714500" y="1908725"/>
            <a:ext cx="8763000" cy="24622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complex </a:t>
            </a: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operator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+ (complex x)</a:t>
            </a:r>
            <a:endParaRPr lang="en-IN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{</a:t>
            </a:r>
            <a:endParaRPr lang="en-IN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  complex 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tmp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;</a:t>
            </a:r>
            <a:endParaRPr lang="en-IN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  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tmp.real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= real + 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x.real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;</a:t>
            </a:r>
            <a:endParaRPr lang="en-IN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  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tmp.imag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= 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imag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+ 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x.imag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;</a:t>
            </a:r>
            <a:endParaRPr lang="en-IN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  return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tmp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;</a:t>
            </a:r>
            <a:endParaRPr lang="en-IN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} </a:t>
            </a:r>
            <a:endParaRPr lang="en-IN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714500" y="4529278"/>
            <a:ext cx="8763000" cy="4308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IN" sz="2200" dirty="0">
                <a:latin typeface="Consolas" panose="020B0609020204030204" pitchFamily="49" charset="0"/>
              </a:rPr>
              <a:t>obj1.display();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14500" y="5004263"/>
            <a:ext cx="8763000" cy="17851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void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display()</a:t>
            </a:r>
            <a:endParaRPr lang="en-IN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{</a:t>
            </a:r>
            <a:endParaRPr lang="en-IN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  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cout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&lt;&lt;</a:t>
            </a:r>
            <a:r>
              <a:rPr lang="en-IN" sz="22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"Real="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&lt;&lt;real;</a:t>
            </a:r>
            <a:endParaRPr lang="en-IN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  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cout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&lt;&lt;</a:t>
            </a:r>
            <a:r>
              <a:rPr lang="en-IN" sz="22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"Imaginary="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&lt;&lt;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imag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;</a:t>
            </a:r>
            <a:endParaRPr lang="en-IN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}</a:t>
            </a:r>
            <a:endParaRPr lang="en-IN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524000" y="4447352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7998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 animBg="1"/>
      <p:bldP spid="10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24200" y="9270"/>
            <a:ext cx="84491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Question: Define the operator function for the following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7482" y="4156332"/>
            <a:ext cx="2596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OUTPUT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934" y="4679552"/>
            <a:ext cx="4432634" cy="180362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FB1EFAF-9394-4EC8-B5AF-421DC8D1F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70" y="607441"/>
            <a:ext cx="5439150" cy="49551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9C16E5-6B34-4645-961F-6BAC882B1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643532"/>
            <a:ext cx="5702693" cy="309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26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7391400" y="3653070"/>
            <a:ext cx="2596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OUTPUT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742" y="4338722"/>
            <a:ext cx="4057858" cy="1199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0513E76-6BFB-4DEF-861B-BDD90B452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17" y="123576"/>
            <a:ext cx="4839721" cy="44484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FA50F47-C151-4B37-8561-A9C7A722B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17" y="4735309"/>
            <a:ext cx="6292683" cy="20464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427A519-891C-43E7-B4EA-1C680BF76B42}"/>
              </a:ext>
            </a:extLst>
          </p:cNvPr>
          <p:cNvSpPr txBox="1"/>
          <p:nvPr/>
        </p:nvSpPr>
        <p:spPr>
          <a:xfrm>
            <a:off x="4367156" y="123576"/>
            <a:ext cx="2122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Solution: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132F02-9490-4FD0-B530-CD72FAF145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800" y="432686"/>
            <a:ext cx="5220429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0609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 Overloading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Clr>
                <a:schemeClr val="tx1"/>
              </a:buClr>
            </a:pPr>
            <a:r>
              <a:rPr lang="en-US" b="1" dirty="0">
                <a:solidFill>
                  <a:srgbClr val="C00000"/>
                </a:solidFill>
              </a:rPr>
              <a:t>Operator overloading </a:t>
            </a:r>
            <a:r>
              <a:rPr lang="en-US" dirty="0"/>
              <a:t>is compile time polymorphism.</a:t>
            </a:r>
          </a:p>
          <a:p>
            <a:pPr lvl="0" algn="just">
              <a:buClr>
                <a:schemeClr val="tx1"/>
              </a:buClr>
            </a:pPr>
            <a:r>
              <a:rPr lang="en-IN" dirty="0"/>
              <a:t>You can overload most of the built-in operators available in C++. 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514600" y="2057400"/>
          <a:ext cx="6912000" cy="298704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>
                          <a:effectLst/>
                        </a:rPr>
                        <a:t>+</a:t>
                      </a:r>
                      <a:endParaRPr lang="en-IN" sz="2400" dirty="0">
                        <a:effectLst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effectLst/>
                        </a:rPr>
                        <a:t>-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>
                          <a:effectLst/>
                        </a:rPr>
                        <a:t>*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>
                          <a:effectLst/>
                        </a:rPr>
                        <a:t>/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>
                          <a:effectLst/>
                        </a:rPr>
                        <a:t>%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>
                          <a:effectLst/>
                        </a:rPr>
                        <a:t>^</a:t>
                      </a:r>
                    </a:p>
                  </a:txBody>
                  <a:tcPr marL="30480" marR="30480" marT="30480" marB="3048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>
                          <a:effectLst/>
                        </a:rPr>
                        <a:t>&amp;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effectLst/>
                        </a:rPr>
                        <a:t>|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>
                          <a:effectLst/>
                        </a:rPr>
                        <a:t>~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>
                          <a:effectLst/>
                        </a:rPr>
                        <a:t>!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>
                          <a:effectLst/>
                        </a:rPr>
                        <a:t>,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>
                          <a:effectLst/>
                        </a:rPr>
                        <a:t>=</a:t>
                      </a:r>
                    </a:p>
                  </a:txBody>
                  <a:tcPr marL="30480" marR="30480" marT="30480" marB="3048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>
                          <a:effectLst/>
                        </a:rPr>
                        <a:t>&lt;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>
                          <a:effectLst/>
                        </a:rPr>
                        <a:t>&gt;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effectLst/>
                        </a:rPr>
                        <a:t>&lt;=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>
                          <a:effectLst/>
                        </a:rPr>
                        <a:t>&gt;=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>
                          <a:effectLst/>
                        </a:rPr>
                        <a:t>++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>
                          <a:effectLst/>
                        </a:rPr>
                        <a:t>--</a:t>
                      </a:r>
                    </a:p>
                  </a:txBody>
                  <a:tcPr marL="30480" marR="30480" marT="30480" marB="3048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>
                          <a:effectLst/>
                        </a:rPr>
                        <a:t>&lt;&lt;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effectLst/>
                        </a:rPr>
                        <a:t>&gt;&gt;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effectLst/>
                        </a:rPr>
                        <a:t>==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effectLst/>
                        </a:rPr>
                        <a:t>!=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>
                          <a:effectLst/>
                        </a:rPr>
                        <a:t>&amp;&amp;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>
                          <a:effectLst/>
                        </a:rPr>
                        <a:t>||</a:t>
                      </a:r>
                    </a:p>
                  </a:txBody>
                  <a:tcPr marL="30480" marR="30480" marT="30480" marB="3048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>
                          <a:effectLst/>
                        </a:rPr>
                        <a:t>+=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>
                          <a:effectLst/>
                        </a:rPr>
                        <a:t>-=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>
                          <a:effectLst/>
                        </a:rPr>
                        <a:t>/=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effectLst/>
                        </a:rPr>
                        <a:t>%=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effectLst/>
                        </a:rPr>
                        <a:t>^=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effectLst/>
                        </a:rPr>
                        <a:t>&amp;=</a:t>
                      </a:r>
                    </a:p>
                  </a:txBody>
                  <a:tcPr marL="30480" marR="30480" marT="30480" marB="3048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>
                          <a:effectLst/>
                        </a:rPr>
                        <a:t>|=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>
                          <a:effectLst/>
                        </a:rPr>
                        <a:t>*=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>
                          <a:effectLst/>
                        </a:rPr>
                        <a:t>&lt;&lt;=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>
                          <a:effectLst/>
                        </a:rPr>
                        <a:t>&gt;&gt;=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effectLst/>
                        </a:rPr>
                        <a:t>[]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effectLst/>
                        </a:rPr>
                        <a:t>()</a:t>
                      </a:r>
                    </a:p>
                  </a:txBody>
                  <a:tcPr marL="30480" marR="30480" marT="30480" marB="3048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>
                          <a:effectLst/>
                        </a:rPr>
                        <a:t>-&gt;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>
                          <a:effectLst/>
                        </a:rPr>
                        <a:t>-&gt;*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>
                          <a:effectLst/>
                        </a:rPr>
                        <a:t>new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>
                          <a:effectLst/>
                        </a:rPr>
                        <a:t>new []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>
                          <a:effectLst/>
                        </a:rPr>
                        <a:t>delete</a:t>
                      </a: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effectLst/>
                        </a:rPr>
                        <a:t>delete []</a:t>
                      </a:r>
                    </a:p>
                  </a:txBody>
                  <a:tcPr marL="30480" marR="30480" marT="30480" marB="3048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2103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Operator Overloading using Friend Function</a:t>
            </a:r>
          </a:p>
        </p:txBody>
      </p:sp>
    </p:spTree>
    <p:extLst>
      <p:ext uri="{BB962C8B-B14F-4D97-AF65-F5344CB8AC3E}">
        <p14:creationId xmlns:p14="http://schemas.microsoft.com/office/powerpoint/2010/main" val="30689780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747" y="108284"/>
            <a:ext cx="10515600" cy="770021"/>
          </a:xfrm>
        </p:spPr>
        <p:txBody>
          <a:bodyPr/>
          <a:lstStyle/>
          <a:p>
            <a:r>
              <a:rPr lang="en-IN" b="1" dirty="0"/>
              <a:t>Operator overloading using friend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799" y="1167063"/>
            <a:ext cx="10659979" cy="517357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>
                <a:solidFill>
                  <a:srgbClr val="FF0000"/>
                </a:solidFill>
              </a:rPr>
              <a:t>class  </a:t>
            </a:r>
            <a:r>
              <a:rPr lang="en-IN" dirty="0" err="1"/>
              <a:t>Some_class</a:t>
            </a:r>
            <a:endParaRPr lang="en-I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	 </a:t>
            </a:r>
            <a:r>
              <a:rPr lang="en-IN" sz="3200" b="1" dirty="0">
                <a:solidFill>
                  <a:srgbClr val="FF0000"/>
                </a:solidFill>
              </a:rPr>
              <a:t>. . . . . . . . . .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	friend</a:t>
            </a:r>
            <a:r>
              <a:rPr lang="en-IN" dirty="0"/>
              <a:t>     </a:t>
            </a:r>
            <a:r>
              <a:rPr lang="en-IN" dirty="0" err="1">
                <a:solidFill>
                  <a:srgbClr val="0070C0"/>
                </a:solidFill>
              </a:rPr>
              <a:t>Ret_type</a:t>
            </a:r>
            <a:r>
              <a:rPr lang="en-IN" dirty="0">
                <a:solidFill>
                  <a:srgbClr val="0070C0"/>
                </a:solidFill>
              </a:rPr>
              <a:t>    </a:t>
            </a:r>
            <a:r>
              <a:rPr lang="en-IN" dirty="0"/>
              <a:t> </a:t>
            </a:r>
            <a:r>
              <a:rPr lang="en-IN" b="1" dirty="0">
                <a:solidFill>
                  <a:srgbClr val="FF0000"/>
                </a:solidFill>
              </a:rPr>
              <a:t>operator</a:t>
            </a:r>
            <a:r>
              <a:rPr lang="en-IN" dirty="0">
                <a:solidFill>
                  <a:srgbClr val="7030A0"/>
                </a:solidFill>
              </a:rPr>
              <a:t>    </a:t>
            </a:r>
            <a:r>
              <a:rPr lang="en-IN" dirty="0"/>
              <a:t> </a:t>
            </a:r>
            <a:r>
              <a:rPr lang="en-IN" dirty="0">
                <a:solidFill>
                  <a:srgbClr val="C00000"/>
                </a:solidFill>
              </a:rPr>
              <a:t>op  </a:t>
            </a:r>
            <a:r>
              <a:rPr lang="en-IN" dirty="0"/>
              <a:t> </a:t>
            </a:r>
            <a:r>
              <a:rPr lang="en-IN" dirty="0">
                <a:solidFill>
                  <a:srgbClr val="0070C0"/>
                </a:solidFill>
              </a:rPr>
              <a:t>(  </a:t>
            </a:r>
            <a:r>
              <a:rPr lang="en-IN" dirty="0"/>
              <a:t>parameters </a:t>
            </a:r>
            <a:r>
              <a:rPr lang="en-IN" dirty="0">
                <a:solidFill>
                  <a:srgbClr val="0070C0"/>
                </a:solidFill>
              </a:rPr>
              <a:t> );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>
                <a:solidFill>
                  <a:srgbClr val="0070C0"/>
                </a:solidFill>
              </a:rPr>
              <a:t>Ret_type</a:t>
            </a:r>
            <a:r>
              <a:rPr lang="en-IN" dirty="0">
                <a:solidFill>
                  <a:srgbClr val="0070C0"/>
                </a:solidFill>
              </a:rPr>
              <a:t>    </a:t>
            </a:r>
            <a:r>
              <a:rPr lang="en-IN" dirty="0"/>
              <a:t> </a:t>
            </a:r>
            <a:r>
              <a:rPr lang="en-IN" b="1" dirty="0">
                <a:solidFill>
                  <a:srgbClr val="FF0000"/>
                </a:solidFill>
              </a:rPr>
              <a:t>operator</a:t>
            </a:r>
            <a:r>
              <a:rPr lang="en-IN" dirty="0">
                <a:solidFill>
                  <a:srgbClr val="7030A0"/>
                </a:solidFill>
              </a:rPr>
              <a:t>    </a:t>
            </a:r>
            <a:r>
              <a:rPr lang="en-IN" dirty="0"/>
              <a:t> </a:t>
            </a:r>
            <a:r>
              <a:rPr lang="en-IN" dirty="0">
                <a:solidFill>
                  <a:srgbClr val="C00000"/>
                </a:solidFill>
              </a:rPr>
              <a:t>op  </a:t>
            </a:r>
            <a:r>
              <a:rPr lang="en-IN" dirty="0"/>
              <a:t> </a:t>
            </a:r>
            <a:r>
              <a:rPr lang="en-IN" dirty="0">
                <a:solidFill>
                  <a:srgbClr val="0070C0"/>
                </a:solidFill>
              </a:rPr>
              <a:t>(</a:t>
            </a:r>
            <a:r>
              <a:rPr lang="en-IN" dirty="0"/>
              <a:t>parameters </a:t>
            </a:r>
            <a:r>
              <a:rPr lang="en-IN" dirty="0">
                <a:solidFill>
                  <a:srgbClr val="0070C0"/>
                </a:solidFill>
              </a:rPr>
              <a:t> 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sz="3200" b="1" dirty="0">
                <a:solidFill>
                  <a:srgbClr val="FF0000"/>
                </a:solidFill>
              </a:rPr>
              <a:t>. . . . . . . . . .</a:t>
            </a:r>
            <a:endParaRPr lang="en-IN" sz="3200" b="1" dirty="0"/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12366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166183" y="3951834"/>
            <a:ext cx="22077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70F019-391D-42A6-84BC-6EAA93562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279802"/>
            <a:ext cx="5949618" cy="39873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B493FC-55BF-4895-8A12-0A2F4226453C}"/>
              </a:ext>
            </a:extLst>
          </p:cNvPr>
          <p:cNvSpPr txBox="1"/>
          <p:nvPr/>
        </p:nvSpPr>
        <p:spPr>
          <a:xfrm>
            <a:off x="2744397" y="169946"/>
            <a:ext cx="8023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>
                <a:solidFill>
                  <a:srgbClr val="FF0000"/>
                </a:solidFill>
              </a:rPr>
              <a:t>Example: </a:t>
            </a:r>
            <a:r>
              <a:rPr lang="en-IN" sz="2400" b="1" u="sng" dirty="0">
                <a:solidFill>
                  <a:srgbClr val="FF0000"/>
                </a:solidFill>
              </a:rPr>
              <a:t>Unary operator overloading using friend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9C6370-3A62-4A94-BFF9-A78DD826B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4312614"/>
            <a:ext cx="4572000" cy="23516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F903A1-FB7E-4DE9-B721-32F8DC5A0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986850"/>
            <a:ext cx="5715000" cy="25611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B984F4-EC9E-4B6A-9346-FB8E812EF9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2700" y="4897237"/>
            <a:ext cx="3168936" cy="890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842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24000" y="106364"/>
            <a:ext cx="8763000" cy="808037"/>
          </a:xfrm>
        </p:spPr>
        <p:txBody>
          <a:bodyPr>
            <a:noAutofit/>
          </a:bodyPr>
          <a:lstStyle/>
          <a:p>
            <a:pPr algn="l"/>
            <a:r>
              <a:rPr lang="en-IN" sz="3200" dirty="0"/>
              <a:t>Invoke Friend Function in operator overloading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714500" y="960321"/>
            <a:ext cx="8763000" cy="4308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IN" sz="2200" dirty="0">
                <a:latin typeface="Consolas" panose="020B0609020204030204" pitchFamily="49" charset="0"/>
              </a:rPr>
              <a:t>result = </a:t>
            </a:r>
            <a:r>
              <a:rPr lang="en-IN" sz="2200" dirty="0">
                <a:solidFill>
                  <a:srgbClr val="FF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operator</a:t>
            </a:r>
            <a:r>
              <a:rPr lang="en-IN" sz="2200" dirty="0">
                <a:latin typeface="Consolas" panose="020B0609020204030204" pitchFamily="49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symbol</a:t>
            </a:r>
            <a:r>
              <a:rPr lang="en-IN" sz="2200" dirty="0">
                <a:latin typeface="Consolas" panose="020B0609020204030204" pitchFamily="49" charset="0"/>
              </a:rPr>
              <a:t> (obj1,obj2);</a:t>
            </a:r>
            <a:r>
              <a:rPr lang="en-IN" sz="2000" dirty="0">
                <a:solidFill>
                  <a:srgbClr val="00B050"/>
                </a:solidFill>
                <a:latin typeface="Consolas" panose="020B0609020204030204" pitchFamily="49" charset="0"/>
              </a:rPr>
              <a:t>//function notation</a:t>
            </a:r>
            <a:endParaRPr lang="en-IN" sz="22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14500" y="1437551"/>
            <a:ext cx="8763000" cy="4308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IN" sz="2200" dirty="0">
                <a:latin typeface="Consolas" panose="020B0609020204030204" pitchFamily="49" charset="0"/>
              </a:rPr>
              <a:t>result = obj1 </a:t>
            </a: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symbol</a:t>
            </a:r>
            <a:r>
              <a:rPr lang="en-IN" sz="2200" dirty="0">
                <a:latin typeface="Consolas" panose="020B0609020204030204" pitchFamily="49" charset="0"/>
              </a:rPr>
              <a:t> obj2;           </a:t>
            </a:r>
            <a:r>
              <a:rPr lang="en-IN" sz="2000" dirty="0">
                <a:solidFill>
                  <a:srgbClr val="00B050"/>
                </a:solidFill>
                <a:latin typeface="Consolas" panose="020B0609020204030204" pitchFamily="49" charset="0"/>
              </a:rPr>
              <a:t>//operator notation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500" y="1981201"/>
            <a:ext cx="8763000" cy="22467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0000FF"/>
                </a:solidFill>
                <a:latin typeface="Consolas"/>
                <a:ea typeface="Times New Roman"/>
                <a:cs typeface="Times New Roman"/>
              </a:rPr>
              <a:t>friend</a:t>
            </a:r>
            <a:r>
              <a:rPr lang="en-IN" sz="20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complex </a:t>
            </a:r>
            <a:r>
              <a:rPr lang="en-IN" sz="2000" dirty="0">
                <a:solidFill>
                  <a:srgbClr val="0000FF"/>
                </a:solidFill>
                <a:latin typeface="Consolas"/>
                <a:ea typeface="Times New Roman"/>
                <a:cs typeface="Times New Roman"/>
              </a:rPr>
              <a:t>operator</a:t>
            </a:r>
            <a:r>
              <a:rPr lang="en-IN" sz="20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+(complex c1,complex c2)</a:t>
            </a:r>
          </a:p>
          <a:p>
            <a:r>
              <a:rPr lang="en-IN" sz="20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{</a:t>
            </a:r>
            <a:endParaRPr lang="en-US" sz="1200" dirty="0">
              <a:latin typeface="Times New Roman"/>
              <a:ea typeface="Times New Roman"/>
            </a:endParaRPr>
          </a:p>
          <a:p>
            <a:r>
              <a:rPr lang="en-IN" sz="20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 complex </a:t>
            </a:r>
            <a:r>
              <a:rPr lang="en-IN" sz="2000" dirty="0" err="1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tmp</a:t>
            </a:r>
            <a:r>
              <a:rPr lang="en-IN" sz="20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;</a:t>
            </a:r>
            <a:endParaRPr lang="en-US" sz="1200" dirty="0">
              <a:latin typeface="Times New Roman"/>
              <a:ea typeface="Times New Roman"/>
            </a:endParaRPr>
          </a:p>
          <a:p>
            <a:r>
              <a:rPr lang="en-IN" sz="20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 </a:t>
            </a:r>
            <a:r>
              <a:rPr lang="en-IN" sz="2000" dirty="0" err="1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tmp.r</a:t>
            </a:r>
            <a:r>
              <a:rPr lang="en-IN" sz="20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=c1.r+c2.r; </a:t>
            </a:r>
          </a:p>
          <a:p>
            <a:r>
              <a:rPr lang="en-IN" sz="20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 </a:t>
            </a:r>
            <a:r>
              <a:rPr lang="en-IN" sz="2000" dirty="0" err="1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tmp.i</a:t>
            </a:r>
            <a:r>
              <a:rPr lang="en-IN" sz="20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=c1.i+c2.i;</a:t>
            </a:r>
            <a:endParaRPr lang="en-US" sz="1200" dirty="0">
              <a:latin typeface="Times New Roman"/>
              <a:ea typeface="Times New Roman"/>
            </a:endParaRPr>
          </a:p>
          <a:p>
            <a:r>
              <a:rPr lang="en-IN" sz="2000" dirty="0">
                <a:solidFill>
                  <a:srgbClr val="0000FF"/>
                </a:solidFill>
                <a:latin typeface="Consolas"/>
                <a:ea typeface="Times New Roman"/>
                <a:cs typeface="Times New Roman"/>
              </a:rPr>
              <a:t>  return</a:t>
            </a:r>
            <a:r>
              <a:rPr lang="en-IN" sz="20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</a:t>
            </a:r>
            <a:r>
              <a:rPr lang="en-IN" sz="2000" dirty="0" err="1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tmp</a:t>
            </a:r>
            <a:r>
              <a:rPr lang="en-IN" sz="20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;</a:t>
            </a:r>
            <a:endParaRPr lang="en-US" sz="1200" dirty="0">
              <a:latin typeface="Times New Roman"/>
              <a:ea typeface="Times New Roman"/>
            </a:endParaRPr>
          </a:p>
          <a:p>
            <a:r>
              <a:rPr lang="en-IN" sz="20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}</a:t>
            </a:r>
            <a:endParaRPr lang="en-US" sz="1200" dirty="0">
              <a:latin typeface="Times New Roman"/>
              <a:ea typeface="Times New Roman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14500" y="4271510"/>
            <a:ext cx="8763000" cy="22467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sz="2000" dirty="0" err="1">
                <a:solidFill>
                  <a:srgbClr val="0000FF"/>
                </a:solidFill>
                <a:latin typeface="Consolas"/>
                <a:ea typeface="Times New Roman"/>
                <a:cs typeface="Times New Roman"/>
              </a:rPr>
              <a:t>int</a:t>
            </a:r>
            <a:r>
              <a:rPr lang="en-IN" sz="20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main()</a:t>
            </a:r>
          </a:p>
          <a:p>
            <a:r>
              <a:rPr lang="en-IN" sz="20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{</a:t>
            </a:r>
            <a:endParaRPr lang="en-US" sz="1200" dirty="0">
              <a:latin typeface="Times New Roman"/>
              <a:ea typeface="Times New Roman"/>
            </a:endParaRPr>
          </a:p>
          <a:p>
            <a:r>
              <a:rPr lang="en-IN" sz="20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 complex c1(4,7),c2(5,8);</a:t>
            </a:r>
            <a:endParaRPr lang="en-US" sz="1200" dirty="0">
              <a:latin typeface="Times New Roman"/>
              <a:ea typeface="Times New Roman"/>
            </a:endParaRPr>
          </a:p>
          <a:p>
            <a:r>
              <a:rPr lang="en-IN" sz="20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 complex c3;</a:t>
            </a:r>
          </a:p>
          <a:p>
            <a:r>
              <a:rPr lang="en-IN" sz="20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 c3 = c1 + c2;</a:t>
            </a:r>
          </a:p>
          <a:p>
            <a:r>
              <a:rPr lang="en-IN" sz="20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 c3 = operator +(c1,c2);</a:t>
            </a:r>
          </a:p>
          <a:p>
            <a:r>
              <a:rPr lang="en-IN" sz="20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}</a:t>
            </a:r>
            <a:endParaRPr lang="en-US" sz="1200" dirty="0"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95587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8339FF-72E5-4BE9-A380-FC2CEB61A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142642"/>
            <a:ext cx="5562600" cy="54549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9A1796-6702-4D8F-9D00-5CAFD900A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87037"/>
            <a:ext cx="5349551" cy="27515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62FE05-5AB5-4EF7-A973-F1ADF1406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0" y="4953000"/>
            <a:ext cx="4446667" cy="13430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78BE5C-B8BD-4781-8CCA-E5594009431F}"/>
              </a:ext>
            </a:extLst>
          </p:cNvPr>
          <p:cNvSpPr txBox="1"/>
          <p:nvPr/>
        </p:nvSpPr>
        <p:spPr>
          <a:xfrm>
            <a:off x="7620000" y="4271963"/>
            <a:ext cx="22077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OUTPUT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F0E1BB-3479-4492-BFD0-3F820FCE8FA6}"/>
              </a:ext>
            </a:extLst>
          </p:cNvPr>
          <p:cNvSpPr txBox="1"/>
          <p:nvPr/>
        </p:nvSpPr>
        <p:spPr>
          <a:xfrm>
            <a:off x="145648" y="245062"/>
            <a:ext cx="114380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7030A0"/>
                </a:solidFill>
              </a:rPr>
              <a:t>Question: Define the operator function for the following</a:t>
            </a:r>
          </a:p>
        </p:txBody>
      </p:sp>
    </p:spTree>
    <p:extLst>
      <p:ext uri="{BB962C8B-B14F-4D97-AF65-F5344CB8AC3E}">
        <p14:creationId xmlns:p14="http://schemas.microsoft.com/office/powerpoint/2010/main" val="31716481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9A1796-6702-4D8F-9D00-5CAFD900A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5373" y="4273797"/>
            <a:ext cx="4435151" cy="228123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0B8F32C-EDFF-458A-B635-D68FB8866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381000"/>
            <a:ext cx="5700370" cy="50334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1B49BF-B6F6-4F46-B540-B0E6CDFBE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52400"/>
            <a:ext cx="5424830" cy="398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2691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676400" y="47266"/>
            <a:ext cx="4343400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+mj-lt"/>
              </a:rPr>
              <a:t>Overloading Binary operator  ==</a:t>
            </a:r>
            <a:endParaRPr lang="en-IN" b="1" dirty="0">
              <a:latin typeface="+mj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676400" y="533401"/>
            <a:ext cx="5715000" cy="4693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3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class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complex{</a:t>
            </a:r>
          </a:p>
          <a:p>
            <a:r>
              <a:rPr lang="en-IN" sz="23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</a:t>
            </a:r>
            <a:r>
              <a:rPr lang="en-IN" sz="23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IN" sz="23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r,i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r>
              <a:rPr lang="en-IN" sz="23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public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: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complex(){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r=i=0;}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complex(</a:t>
            </a:r>
            <a:r>
              <a:rPr lang="en-IN" sz="23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IN" sz="23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x,</a:t>
            </a:r>
            <a:r>
              <a:rPr lang="en-IN" sz="23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y){ 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r=x;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i=y;}</a:t>
            </a:r>
          </a:p>
          <a:p>
            <a:r>
              <a:rPr lang="en-IN" sz="23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void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display(){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</a:t>
            </a:r>
            <a:r>
              <a:rPr lang="en-IN" sz="23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cout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&lt;&lt;</a:t>
            </a:r>
            <a:r>
              <a:rPr lang="en-IN" sz="23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"\</a:t>
            </a:r>
            <a:r>
              <a:rPr lang="en-IN" sz="230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nreal</a:t>
            </a:r>
            <a:r>
              <a:rPr lang="en-IN" sz="23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="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&lt;&lt;r&lt;&lt;</a:t>
            </a:r>
            <a:r>
              <a:rPr lang="en-IN" sz="23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endl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</a:t>
            </a:r>
            <a:r>
              <a:rPr lang="en-IN" sz="23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cout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&lt;&lt;</a:t>
            </a:r>
            <a:r>
              <a:rPr lang="en-IN" sz="23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en-IN" sz="230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imag</a:t>
            </a:r>
            <a:r>
              <a:rPr lang="en-IN" sz="23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="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&lt;&lt;i&lt;&lt;</a:t>
            </a:r>
            <a:r>
              <a:rPr lang="en-IN" sz="23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endl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;}</a:t>
            </a:r>
          </a:p>
          <a:p>
            <a:r>
              <a:rPr lang="en-IN" sz="23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 </a:t>
            </a:r>
            <a:r>
              <a:rPr lang="en-IN" sz="23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IN" sz="23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operator</a:t>
            </a:r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==(complex); </a:t>
            </a:r>
          </a:p>
          <a:p>
            <a:r>
              <a:rPr lang="en-IN" sz="23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};</a:t>
            </a:r>
            <a:endParaRPr lang="en-IN" sz="2300" dirty="0"/>
          </a:p>
        </p:txBody>
      </p:sp>
      <p:sp>
        <p:nvSpPr>
          <p:cNvPr id="5" name="Rectangle 4"/>
          <p:cNvSpPr/>
          <p:nvPr/>
        </p:nvSpPr>
        <p:spPr>
          <a:xfrm>
            <a:off x="1653252" y="5073558"/>
            <a:ext cx="60198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2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complex::</a:t>
            </a:r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operator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==(complex c){</a:t>
            </a:r>
          </a:p>
          <a:p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</a:t>
            </a:r>
            <a:r>
              <a:rPr lang="en-IN" sz="22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if</a:t>
            </a:r>
            <a:r>
              <a:rPr lang="en-IN" sz="22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(r==c.r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&amp;&amp; i==</a:t>
            </a:r>
            <a:r>
              <a:rPr lang="en-IN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c.i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</a:p>
          <a:p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  return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1;</a:t>
            </a:r>
          </a:p>
          <a:p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else</a:t>
            </a:r>
            <a:endParaRPr lang="en-IN" sz="22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  return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0;}</a:t>
            </a:r>
            <a:endParaRPr lang="en-IN" sz="2200" dirty="0"/>
          </a:p>
        </p:txBody>
      </p:sp>
      <p:sp>
        <p:nvSpPr>
          <p:cNvPr id="7" name="Rectangle 6"/>
          <p:cNvSpPr/>
          <p:nvPr/>
        </p:nvSpPr>
        <p:spPr>
          <a:xfrm>
            <a:off x="5630107" y="546299"/>
            <a:ext cx="506489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2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main()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complex c1(5,3),c2(5,3);</a:t>
            </a:r>
          </a:p>
          <a:p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if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(c1==c2)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IN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cout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&lt;&lt;</a:t>
            </a:r>
            <a:r>
              <a:rPr lang="en-IN" sz="22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"objects are equal"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else</a:t>
            </a:r>
            <a:endParaRPr lang="en-IN" sz="22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I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cout</a:t>
            </a:r>
            <a:r>
              <a:rPr lang="en-I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&lt;&lt;</a:t>
            </a:r>
            <a:r>
              <a:rPr lang="en-IN" sz="20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"objects are not equal"</a:t>
            </a:r>
            <a:r>
              <a:rPr lang="en-I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  return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0;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}</a:t>
            </a:r>
            <a:endParaRPr lang="en-IN" sz="2200" dirty="0"/>
          </a:p>
        </p:txBody>
      </p:sp>
      <p:sp>
        <p:nvSpPr>
          <p:cNvPr id="9" name="Rectangle 8"/>
          <p:cNvSpPr/>
          <p:nvPr/>
        </p:nvSpPr>
        <p:spPr>
          <a:xfrm>
            <a:off x="2209800" y="4419600"/>
            <a:ext cx="39624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257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12" y="295702"/>
            <a:ext cx="9081215" cy="635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4742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74" y="144600"/>
            <a:ext cx="8359549" cy="32913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238" y="3699162"/>
            <a:ext cx="7620000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311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9" y="374997"/>
            <a:ext cx="7889396" cy="62824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22" y="374997"/>
            <a:ext cx="2584596" cy="14638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0443" y="1838839"/>
            <a:ext cx="182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. . . . . . . . . . . </a:t>
            </a:r>
          </a:p>
        </p:txBody>
      </p:sp>
    </p:spTree>
    <p:extLst>
      <p:ext uri="{BB962C8B-B14F-4D97-AF65-F5344CB8AC3E}">
        <p14:creationId xmlns:p14="http://schemas.microsoft.com/office/powerpoint/2010/main" val="18770333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rgbClr val="0070C0"/>
                </a:solidFill>
                <a:latin typeface="Algerian" panose="04020705040A02060702" pitchFamily="82" charset="0"/>
              </a:rPr>
              <a:t>DATA CONVERSION</a:t>
            </a:r>
          </a:p>
        </p:txBody>
      </p:sp>
    </p:spTree>
    <p:extLst>
      <p:ext uri="{BB962C8B-B14F-4D97-AF65-F5344CB8AC3E}">
        <p14:creationId xmlns:p14="http://schemas.microsoft.com/office/powerpoint/2010/main" val="7896741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0F767C-F413-47B7-8478-2859D58AF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81000"/>
            <a:ext cx="7353301" cy="5486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972DDA-F31B-4F2F-BFBE-B9D2271E2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1371600"/>
            <a:ext cx="3860799" cy="1447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BBFFD1-06E4-4CA6-98E2-C5FA7936FACA}"/>
              </a:ext>
            </a:extLst>
          </p:cNvPr>
          <p:cNvSpPr txBox="1"/>
          <p:nvPr/>
        </p:nvSpPr>
        <p:spPr>
          <a:xfrm>
            <a:off x="8915400" y="400050"/>
            <a:ext cx="1772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360952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00" y="990600"/>
            <a:ext cx="2705100" cy="457200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F = C * 9/5 + 32</a:t>
            </a:r>
          </a:p>
        </p:txBody>
      </p:sp>
      <p:sp>
        <p:nvSpPr>
          <p:cNvPr id="5" name="Rectangle 4"/>
          <p:cNvSpPr/>
          <p:nvPr/>
        </p:nvSpPr>
        <p:spPr>
          <a:xfrm>
            <a:off x="2072640" y="1844040"/>
            <a:ext cx="838200" cy="304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float</a:t>
            </a:r>
          </a:p>
        </p:txBody>
      </p:sp>
      <p:cxnSp>
        <p:nvCxnSpPr>
          <p:cNvPr id="13" name="Straight Arrow Connector 12"/>
          <p:cNvCxnSpPr>
            <a:stCxn id="5" idx="0"/>
          </p:cNvCxnSpPr>
          <p:nvPr/>
        </p:nvCxnSpPr>
        <p:spPr>
          <a:xfrm flipV="1">
            <a:off x="2491740" y="1386840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971800" y="1844040"/>
            <a:ext cx="609600" cy="304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6" name="Straight Arrow Connector 15"/>
          <p:cNvCxnSpPr>
            <a:stCxn id="15" idx="0"/>
          </p:cNvCxnSpPr>
          <p:nvPr/>
        </p:nvCxnSpPr>
        <p:spPr>
          <a:xfrm flipH="1" flipV="1">
            <a:off x="3124200" y="1371600"/>
            <a:ext cx="152400" cy="472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ular Callout 18"/>
          <p:cNvSpPr/>
          <p:nvPr/>
        </p:nvSpPr>
        <p:spPr>
          <a:xfrm>
            <a:off x="4953000" y="990600"/>
            <a:ext cx="5524500" cy="914400"/>
          </a:xfrm>
          <a:prstGeom prst="wedgeRectCallout">
            <a:avLst>
              <a:gd name="adj1" fmla="val -60902"/>
              <a:gd name="adj2" fmla="val -23056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different data types are 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mixed in expression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C++ applies automatic type conversion as per certain rules.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81048" y="2635015"/>
            <a:ext cx="2895600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+mn-ea"/>
                <a:cs typeface="+mn-cs"/>
              </a:rPr>
              <a:t>int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+mn-ea"/>
                <a:cs typeface="+mn-cs"/>
              </a:rPr>
              <a:t> a;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+mn-ea"/>
                <a:cs typeface="+mn-cs"/>
              </a:rPr>
              <a:t>float b = 10.54;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81048" y="3357828"/>
            <a:ext cx="289560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+mn-ea"/>
                <a:cs typeface="+mn-cs"/>
              </a:rPr>
              <a:t>a = b;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64640" y="3962400"/>
            <a:ext cx="1143000" cy="830997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(Basic)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5110" y="3962400"/>
            <a:ext cx="1066800" cy="830997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float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(Basic)</a:t>
            </a:r>
          </a:p>
        </p:txBody>
      </p:sp>
      <p:sp>
        <p:nvSpPr>
          <p:cNvPr id="30" name="Arc 29"/>
          <p:cNvSpPr/>
          <p:nvPr/>
        </p:nvSpPr>
        <p:spPr>
          <a:xfrm flipH="1">
            <a:off x="1927860" y="3603899"/>
            <a:ext cx="685800" cy="907140"/>
          </a:xfrm>
          <a:prstGeom prst="arc">
            <a:avLst>
              <a:gd name="adj1" fmla="val 16200000"/>
              <a:gd name="adj2" fmla="val 21475798"/>
            </a:avLst>
          </a:prstGeom>
          <a:ln w="25400">
            <a:solidFill>
              <a:srgbClr val="FF0000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Arc 30"/>
          <p:cNvSpPr/>
          <p:nvPr/>
        </p:nvSpPr>
        <p:spPr>
          <a:xfrm>
            <a:off x="2933700" y="3603900"/>
            <a:ext cx="609600" cy="835405"/>
          </a:xfrm>
          <a:prstGeom prst="arc">
            <a:avLst>
              <a:gd name="adj1" fmla="val 16200000"/>
              <a:gd name="adj2" fmla="val 847024"/>
            </a:avLst>
          </a:prstGeom>
          <a:ln w="254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ular Callout 31"/>
          <p:cNvSpPr/>
          <p:nvPr/>
        </p:nvSpPr>
        <p:spPr>
          <a:xfrm>
            <a:off x="5486400" y="2819401"/>
            <a:ext cx="4991100" cy="1341896"/>
          </a:xfrm>
          <a:prstGeom prst="wedgeRectCallout">
            <a:avLst>
              <a:gd name="adj1" fmla="val -58410"/>
              <a:gd name="adj2" fmla="val -19549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= 10;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float is converted to integer automatically by complier.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basic to basic type conversion.</a:t>
            </a:r>
          </a:p>
        </p:txBody>
      </p:sp>
      <p:sp>
        <p:nvSpPr>
          <p:cNvPr id="33" name="Rectangular Callout 32"/>
          <p:cNvSpPr/>
          <p:nvPr/>
        </p:nvSpPr>
        <p:spPr>
          <a:xfrm>
            <a:off x="1714500" y="5196839"/>
            <a:ext cx="8763000" cy="1020304"/>
          </a:xfrm>
          <a:prstGeom prst="wedgeRectCallout">
            <a:avLst>
              <a:gd name="adj1" fmla="val -35711"/>
              <a:gd name="adj2" fmla="val -75271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 assignment operator causes automatic type conversion.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data type to the right side of 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assignment operator 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automatically converted data type of the variable on the left.</a:t>
            </a:r>
          </a:p>
        </p:txBody>
      </p:sp>
      <p:cxnSp>
        <p:nvCxnSpPr>
          <p:cNvPr id="35" name="Straight Connector 34"/>
          <p:cNvCxnSpPr/>
          <p:nvPr/>
        </p:nvCxnSpPr>
        <p:spPr>
          <a:xfrm>
            <a:off x="1524000" y="236220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4689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5" grpId="0" animBg="1"/>
      <p:bldP spid="15" grpId="0" animBg="1"/>
      <p:bldP spid="19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 Conversion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1275081"/>
            <a:ext cx="160020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+mn-ea"/>
                <a:cs typeface="+mn-cs"/>
              </a:rPr>
              <a:t>Time t1;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+mn-ea"/>
                <a:cs typeface="+mn-cs"/>
              </a:rPr>
              <a:t>int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+mn-ea"/>
                <a:cs typeface="+mn-cs"/>
              </a:rPr>
              <a:t> m;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+mn-ea"/>
                <a:cs typeface="+mn-cs"/>
              </a:rPr>
              <a:t>m = t1;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646681"/>
            <a:ext cx="1143000" cy="830997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(Basic)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3864" y="2629320"/>
            <a:ext cx="1066800" cy="830997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(Class)</a:t>
            </a:r>
          </a:p>
        </p:txBody>
      </p:sp>
      <p:sp>
        <p:nvSpPr>
          <p:cNvPr id="23" name="Arc 22"/>
          <p:cNvSpPr/>
          <p:nvPr/>
        </p:nvSpPr>
        <p:spPr>
          <a:xfrm flipH="1">
            <a:off x="2019300" y="2288180"/>
            <a:ext cx="685800" cy="907140"/>
          </a:xfrm>
          <a:prstGeom prst="arc">
            <a:avLst>
              <a:gd name="adj1" fmla="val 16200000"/>
              <a:gd name="adj2" fmla="val 21475798"/>
            </a:avLst>
          </a:prstGeom>
          <a:ln w="25400">
            <a:solidFill>
              <a:srgbClr val="FF0000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Arc 23"/>
          <p:cNvSpPr/>
          <p:nvPr/>
        </p:nvSpPr>
        <p:spPr>
          <a:xfrm>
            <a:off x="3045774" y="2263200"/>
            <a:ext cx="609600" cy="835405"/>
          </a:xfrm>
          <a:prstGeom prst="arc">
            <a:avLst>
              <a:gd name="adj1" fmla="val 16200000"/>
              <a:gd name="adj2" fmla="val 847024"/>
            </a:avLst>
          </a:prstGeom>
          <a:ln w="254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227605" y="3823897"/>
            <a:ext cx="144780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+mn-ea"/>
                <a:cs typeface="+mn-cs"/>
              </a:rPr>
              <a:t>t1 = m;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5305" y="4449655"/>
            <a:ext cx="1143000" cy="830997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(Class)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45774" y="4455442"/>
            <a:ext cx="1066800" cy="830997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(Basic)</a:t>
            </a:r>
          </a:p>
        </p:txBody>
      </p:sp>
      <p:sp>
        <p:nvSpPr>
          <p:cNvPr id="35" name="Arc 34"/>
          <p:cNvSpPr/>
          <p:nvPr/>
        </p:nvSpPr>
        <p:spPr>
          <a:xfrm flipH="1">
            <a:off x="1974405" y="4091154"/>
            <a:ext cx="685800" cy="907140"/>
          </a:xfrm>
          <a:prstGeom prst="arc">
            <a:avLst>
              <a:gd name="adj1" fmla="val 16200000"/>
              <a:gd name="adj2" fmla="val 21475798"/>
            </a:avLst>
          </a:prstGeom>
          <a:ln w="25400">
            <a:solidFill>
              <a:srgbClr val="FF0000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Arc 35"/>
          <p:cNvSpPr/>
          <p:nvPr/>
        </p:nvSpPr>
        <p:spPr>
          <a:xfrm>
            <a:off x="3087684" y="4089322"/>
            <a:ext cx="609600" cy="835405"/>
          </a:xfrm>
          <a:prstGeom prst="arc">
            <a:avLst>
              <a:gd name="adj1" fmla="val 16200000"/>
              <a:gd name="adj2" fmla="val 847024"/>
            </a:avLst>
          </a:prstGeom>
          <a:ln w="254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Rectangular Callout 36"/>
          <p:cNvSpPr/>
          <p:nvPr/>
        </p:nvSpPr>
        <p:spPr>
          <a:xfrm>
            <a:off x="5562600" y="2465249"/>
            <a:ext cx="4876800" cy="1844040"/>
          </a:xfrm>
          <a:prstGeom prst="wedgeRectCallout">
            <a:avLst>
              <a:gd name="adj1" fmla="val -75133"/>
              <a:gd name="adj2" fmla="val 11271"/>
            </a:avLst>
          </a:prstGeom>
          <a:noFill/>
          <a:ln>
            <a:solidFill>
              <a:srgbClr val="4F81BD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class type 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will not be converted to 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basic type 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 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basic type 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will not be converted 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class type 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automatically.</a:t>
            </a:r>
          </a:p>
        </p:txBody>
      </p:sp>
    </p:spTree>
    <p:extLst>
      <p:ext uri="{BB962C8B-B14F-4D97-AF65-F5344CB8AC3E}">
        <p14:creationId xmlns:p14="http://schemas.microsoft.com/office/powerpoint/2010/main" val="1914647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2" grpId="0" animBg="1"/>
      <p:bldP spid="23" grpId="0" animBg="1"/>
      <p:bldP spid="24" grpId="0" animBg="1"/>
      <p:bldP spid="27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00" y="990600"/>
            <a:ext cx="8763000" cy="1143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lvl="0" algn="just"/>
            <a:r>
              <a:rPr lang="en-US" dirty="0"/>
              <a:t>C++ provides mechanism to perform automatic type conversion if all variable are of </a:t>
            </a:r>
            <a:r>
              <a:rPr lang="en-US" b="1" dirty="0">
                <a:solidFill>
                  <a:srgbClr val="C00000"/>
                </a:solidFill>
              </a:rPr>
              <a:t>basic type</a:t>
            </a:r>
            <a:r>
              <a:rPr lang="en-US" dirty="0"/>
              <a:t>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714500" y="3048000"/>
            <a:ext cx="8763000" cy="24189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14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Three types of situation arise in user defined data type conversion.</a:t>
            </a:r>
          </a:p>
          <a:p>
            <a:pPr marL="808038" marR="0" lvl="0" indent="-457200" algn="just" defTabSz="914400" rtl="0" eaLnBrk="1" fontAlgn="auto" latinLnBrk="0" hangingPunct="1">
              <a:lnSpc>
                <a:spcPct val="114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Basic type to Class type (Using Constructors)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8038" marR="0" lvl="0" indent="-457200" algn="just" defTabSz="914400" rtl="0" eaLnBrk="1" fontAlgn="auto" latinLnBrk="0" hangingPunct="1">
              <a:lnSpc>
                <a:spcPct val="114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Class type to Basic type (Using Casting Operator Function)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8038" marR="0" lvl="0" indent="-457200" algn="just" defTabSz="914400" rtl="0" eaLnBrk="1" fontAlgn="auto" latinLnBrk="0" hangingPunct="1">
              <a:lnSpc>
                <a:spcPct val="114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Class type to Class type (Using Constructors &amp; Casting Operator Functions)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8507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4068" y="9451"/>
            <a:ext cx="12191999" cy="786662"/>
          </a:xfrm>
          <a:solidFill>
            <a:srgbClr val="6DD9FF"/>
          </a:solidFill>
        </p:spPr>
        <p:txBody>
          <a:bodyPr>
            <a:normAutofit/>
          </a:bodyPr>
          <a:lstStyle/>
          <a:p>
            <a:r>
              <a:rPr lang="en-IN" sz="3600" b="1" dirty="0">
                <a:latin typeface="Imprint MT Shadow" panose="04020605060303030202" pitchFamily="82" charset="0"/>
              </a:rPr>
              <a:t>DATA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289" y="829126"/>
            <a:ext cx="11077730" cy="2700998"/>
          </a:xfrm>
        </p:spPr>
        <p:txBody>
          <a:bodyPr>
            <a:normAutofit/>
          </a:bodyPr>
          <a:lstStyle/>
          <a:p>
            <a:r>
              <a:rPr lang="en-US" dirty="0"/>
              <a:t>The general format of a type conversion function is: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i="1" dirty="0">
                <a:solidFill>
                  <a:srgbClr val="00B050"/>
                </a:solidFill>
              </a:rPr>
              <a:t>Basic Type</a:t>
            </a:r>
            <a:r>
              <a:rPr lang="en-US" dirty="0"/>
              <a:t>		     </a:t>
            </a:r>
            <a:r>
              <a:rPr lang="en-US" i="1" dirty="0" err="1">
                <a:solidFill>
                  <a:srgbClr val="00B050"/>
                </a:solidFill>
              </a:rPr>
              <a:t>User_defined</a:t>
            </a:r>
            <a:r>
              <a:rPr lang="en-US" i="1" dirty="0">
                <a:solidFill>
                  <a:srgbClr val="00B050"/>
                </a:solidFill>
              </a:rPr>
              <a:t> type</a:t>
            </a:r>
            <a:r>
              <a:rPr lang="en-US" b="1" i="1" dirty="0">
                <a:solidFill>
                  <a:srgbClr val="00B050"/>
                </a:solidFill>
              </a:rPr>
              <a:t> </a:t>
            </a:r>
            <a:r>
              <a:rPr lang="en-US" b="1" dirty="0"/>
              <a:t>:</a:t>
            </a:r>
            <a:r>
              <a:rPr lang="en-US" dirty="0"/>
              <a:t>   </a:t>
            </a:r>
            <a:r>
              <a:rPr lang="en-US" dirty="0">
                <a:solidFill>
                  <a:srgbClr val="FF0000"/>
                </a:solidFill>
              </a:rPr>
              <a:t>one-</a:t>
            </a:r>
            <a:r>
              <a:rPr lang="en-US" dirty="0" err="1">
                <a:solidFill>
                  <a:srgbClr val="FF0000"/>
                </a:solidFill>
              </a:rPr>
              <a:t>arg</a:t>
            </a:r>
            <a:r>
              <a:rPr lang="en-US" dirty="0">
                <a:solidFill>
                  <a:srgbClr val="FF0000"/>
                </a:solidFill>
              </a:rPr>
              <a:t> constructor</a:t>
            </a:r>
          </a:p>
          <a:p>
            <a:pPr marL="0" indent="0">
              <a:buNone/>
            </a:pPr>
            <a:endParaRPr lang="en-US" i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i="1" dirty="0" err="1">
                <a:solidFill>
                  <a:srgbClr val="00B050"/>
                </a:solidFill>
              </a:rPr>
              <a:t>User_defined</a:t>
            </a:r>
            <a:r>
              <a:rPr lang="en-US" i="1" dirty="0">
                <a:solidFill>
                  <a:srgbClr val="00B050"/>
                </a:solidFill>
              </a:rPr>
              <a:t> type		    Basic Type</a:t>
            </a:r>
            <a:r>
              <a:rPr lang="en-US" dirty="0"/>
              <a:t> </a:t>
            </a:r>
            <a:r>
              <a:rPr lang="en-US" b="1" dirty="0"/>
              <a:t>:</a:t>
            </a:r>
            <a:r>
              <a:rPr lang="en-US" dirty="0"/>
              <a:t>      </a:t>
            </a:r>
            <a:r>
              <a:rPr lang="en-US" dirty="0">
                <a:solidFill>
                  <a:srgbClr val="FF0000"/>
                </a:solidFill>
              </a:rPr>
              <a:t>Operator function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4" name="Right Arrow 3"/>
          <p:cNvSpPr/>
          <p:nvPr/>
        </p:nvSpPr>
        <p:spPr>
          <a:xfrm>
            <a:off x="1997216" y="1952456"/>
            <a:ext cx="965915" cy="3348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3066162" y="2956117"/>
            <a:ext cx="965915" cy="3348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63289" y="4219877"/>
            <a:ext cx="407493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operator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r>
              <a:rPr kumimoji="0" lang="en-IN" sz="2800" b="0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type</a:t>
            </a:r>
            <a:r>
              <a:rPr kumimoji="0" lang="en-I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 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// 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Conversion steps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return </a:t>
            </a:r>
            <a:r>
              <a:rPr kumimoji="0" lang="en-IN" sz="2800" b="0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value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Down Arrow 6"/>
          <p:cNvSpPr/>
          <p:nvPr/>
        </p:nvSpPr>
        <p:spPr>
          <a:xfrm>
            <a:off x="7469952" y="3403513"/>
            <a:ext cx="379828" cy="73238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66999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(1) Basic to class </a:t>
            </a:r>
            <a:r>
              <a:rPr lang="en-IN"/>
              <a:t>type conversion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2600" y="1534579"/>
            <a:ext cx="5486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class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sample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a;</a:t>
            </a:r>
          </a:p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public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: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sample(){}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sample(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x){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a=x;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}</a:t>
            </a:r>
          </a:p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void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disp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(){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cout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&lt;&lt;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"The value of a="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&lt;&lt;a;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}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};</a:t>
            </a:r>
          </a:p>
        </p:txBody>
      </p:sp>
      <p:sp>
        <p:nvSpPr>
          <p:cNvPr id="6" name="Rectangle 5"/>
          <p:cNvSpPr/>
          <p:nvPr/>
        </p:nvSpPr>
        <p:spPr>
          <a:xfrm>
            <a:off x="8039100" y="1752600"/>
            <a:ext cx="2209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main()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</a:t>
            </a:r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m=10;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sample s;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s = m; 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s.disp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return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0;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2600" y="1066801"/>
            <a:ext cx="716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IN" sz="2400" dirty="0"/>
              <a:t>Basic to class type can be achieved </a:t>
            </a:r>
            <a:r>
              <a:rPr lang="en-IN" sz="2400" b="1" dirty="0">
                <a:solidFill>
                  <a:srgbClr val="C00000"/>
                </a:solidFill>
              </a:rPr>
              <a:t>using constructor</a:t>
            </a:r>
            <a:r>
              <a:rPr lang="en-IN" sz="2400" dirty="0"/>
              <a:t>.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7467600" y="1540040"/>
            <a:ext cx="0" cy="479613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1318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9CE3256-922B-4546-A2D9-418BD0711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4" y="1014693"/>
            <a:ext cx="5988372" cy="48286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790CAF-458A-4E8C-B206-1F42E3D17679}"/>
              </a:ext>
            </a:extLst>
          </p:cNvPr>
          <p:cNvSpPr txBox="1"/>
          <p:nvPr/>
        </p:nvSpPr>
        <p:spPr>
          <a:xfrm>
            <a:off x="533400" y="38935"/>
            <a:ext cx="7546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Example-: Basic </a:t>
            </a: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kumimoji="0" lang="en-I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User_defined</a:t>
            </a: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conversion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929409-40FD-4F02-A708-962DE1EDF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2174" y="838200"/>
            <a:ext cx="5991226" cy="259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F83E250-808F-4886-B56F-E988D173ADB1}"/>
              </a:ext>
            </a:extLst>
          </p:cNvPr>
          <p:cNvSpPr txBox="1"/>
          <p:nvPr/>
        </p:nvSpPr>
        <p:spPr>
          <a:xfrm>
            <a:off x="7391400" y="3714570"/>
            <a:ext cx="1772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3930BE-C718-48C5-949F-AE6804908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5687" y="4661395"/>
            <a:ext cx="2075530" cy="123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028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(2) Class to basic type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8760" y="990600"/>
            <a:ext cx="8993040" cy="3429000"/>
          </a:xfrm>
        </p:spPr>
        <p:txBody>
          <a:bodyPr/>
          <a:lstStyle/>
          <a:p>
            <a:pPr lvl="0"/>
            <a:r>
              <a:rPr lang="en-US" sz="2300" dirty="0"/>
              <a:t>The Class type to Basic type conversion is done </a:t>
            </a:r>
            <a:r>
              <a:rPr lang="en-US" sz="2300" b="1" dirty="0">
                <a:solidFill>
                  <a:srgbClr val="C00000"/>
                </a:solidFill>
              </a:rPr>
              <a:t>using casting operator function</a:t>
            </a:r>
            <a:r>
              <a:rPr lang="en-US" sz="2300" dirty="0"/>
              <a:t>.</a:t>
            </a:r>
            <a:endParaRPr lang="en-IN" sz="2300" dirty="0"/>
          </a:p>
          <a:p>
            <a:pPr lvl="0"/>
            <a:r>
              <a:rPr lang="en-US" sz="2300" dirty="0"/>
              <a:t>The casting operator function should satisfy the following conditions.</a:t>
            </a:r>
            <a:endParaRPr lang="en-IN" sz="2300" dirty="0"/>
          </a:p>
          <a:p>
            <a:pPr marL="857250" lvl="1" indent="-457200">
              <a:buFont typeface="+mj-lt"/>
              <a:buAutoNum type="arabicPeriod"/>
            </a:pPr>
            <a:r>
              <a:rPr lang="en-US" sz="2300" dirty="0"/>
              <a:t>It must be a class member.</a:t>
            </a:r>
            <a:endParaRPr lang="en-IN" sz="2300" dirty="0"/>
          </a:p>
          <a:p>
            <a:pPr marL="857250" lvl="1" indent="-457200">
              <a:buFont typeface="+mj-lt"/>
              <a:buAutoNum type="arabicPeriod"/>
            </a:pPr>
            <a:r>
              <a:rPr lang="en-US" sz="2300" dirty="0"/>
              <a:t>It must </a:t>
            </a:r>
            <a:r>
              <a:rPr lang="en-US" sz="2300"/>
              <a:t>not mention </a:t>
            </a:r>
            <a:r>
              <a:rPr lang="en-US" sz="2300" dirty="0"/>
              <a:t>a return type.</a:t>
            </a:r>
            <a:endParaRPr lang="en-IN" sz="2300" dirty="0"/>
          </a:p>
          <a:p>
            <a:pPr marL="857250" lvl="1" indent="-457200">
              <a:buFont typeface="+mj-lt"/>
              <a:buAutoNum type="arabicPeriod"/>
            </a:pPr>
            <a:r>
              <a:rPr lang="en-US" sz="2300" dirty="0"/>
              <a:t>It must not have any arguments.</a:t>
            </a:r>
            <a:endParaRPr lang="en-IN" sz="2300" dirty="0"/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752600" y="3886200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400" dirty="0">
                <a:highlight>
                  <a:srgbClr val="FFFFFF"/>
                </a:highlight>
                <a:latin typeface="+mj-lt"/>
              </a:rPr>
              <a:t>Syntax:</a:t>
            </a:r>
          </a:p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operator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destinationtype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....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</a:t>
            </a:r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return</a:t>
            </a:r>
            <a:endParaRPr lang="en-IN" sz="24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502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056110" y="5636604"/>
            <a:ext cx="1772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889111-AA45-4B82-B7D5-EA7BA4847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09600"/>
            <a:ext cx="6220407" cy="6096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05F25F-CE66-421A-9C8B-0076BCE36095}"/>
              </a:ext>
            </a:extLst>
          </p:cNvPr>
          <p:cNvSpPr txBox="1"/>
          <p:nvPr/>
        </p:nvSpPr>
        <p:spPr>
          <a:xfrm>
            <a:off x="4460230" y="105588"/>
            <a:ext cx="6283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Example: </a:t>
            </a:r>
            <a:r>
              <a:rPr kumimoji="0" lang="en-I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UserDefined</a:t>
            </a: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 Basic type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60C256-7587-48C9-81F9-38C946C2C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189" y="929006"/>
            <a:ext cx="3607011" cy="14341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DE444B-32FF-4775-9B59-2501D35906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951" y="2514600"/>
            <a:ext cx="4944647" cy="26574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9C1920-BABE-4CC5-BCE7-FBAA973B3D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9066" y="5431295"/>
            <a:ext cx="1625134" cy="99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022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328" y="226578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Questions: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328" y="1302759"/>
            <a:ext cx="11810999" cy="52781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To convert from a </a:t>
            </a:r>
            <a:r>
              <a:rPr lang="en-US" dirty="0">
                <a:solidFill>
                  <a:srgbClr val="0070C0"/>
                </a:solidFill>
              </a:rPr>
              <a:t>user-defined class </a:t>
            </a:r>
            <a:r>
              <a:rPr lang="en-US" dirty="0"/>
              <a:t>to a </a:t>
            </a:r>
            <a:r>
              <a:rPr lang="en-US" dirty="0">
                <a:solidFill>
                  <a:srgbClr val="0070C0"/>
                </a:solidFill>
              </a:rPr>
              <a:t>basic type</a:t>
            </a:r>
            <a:r>
              <a:rPr lang="en-US" dirty="0"/>
              <a:t>, you would most likely use:</a:t>
            </a:r>
          </a:p>
          <a:p>
            <a:pPr marL="457200" lvl="1" indent="0">
              <a:buNone/>
            </a:pPr>
            <a:r>
              <a:rPr lang="en-US" dirty="0"/>
              <a:t>a. 	 built-in conversion routine.</a:t>
            </a:r>
          </a:p>
          <a:p>
            <a:pPr marL="457200" lvl="1" indent="0">
              <a:buNone/>
            </a:pPr>
            <a:r>
              <a:rPr lang="en-IN" dirty="0"/>
              <a:t>b.	 one-argument constructor.</a:t>
            </a:r>
          </a:p>
          <a:p>
            <a:pPr marL="457200" lvl="1" indent="0">
              <a:buNone/>
            </a:pPr>
            <a:r>
              <a:rPr lang="en-US" dirty="0"/>
              <a:t>c. 	a conversion operator function that’s a member of the class.</a:t>
            </a: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To convert from a </a:t>
            </a:r>
            <a:r>
              <a:rPr lang="en-US" dirty="0">
                <a:solidFill>
                  <a:srgbClr val="0070C0"/>
                </a:solidFill>
              </a:rPr>
              <a:t>basic type </a:t>
            </a:r>
            <a:r>
              <a:rPr lang="en-US" dirty="0"/>
              <a:t>to a </a:t>
            </a:r>
            <a:r>
              <a:rPr lang="en-US" dirty="0">
                <a:solidFill>
                  <a:srgbClr val="0070C0"/>
                </a:solidFill>
              </a:rPr>
              <a:t>user-defined class,</a:t>
            </a:r>
            <a:r>
              <a:rPr lang="en-US" dirty="0"/>
              <a:t> you would most likely use:</a:t>
            </a:r>
          </a:p>
          <a:p>
            <a:pPr marL="457200" lvl="1" indent="0">
              <a:buNone/>
            </a:pPr>
            <a:r>
              <a:rPr lang="en-US" dirty="0"/>
              <a:t>a. 	 built-in conversion routine.</a:t>
            </a:r>
          </a:p>
          <a:p>
            <a:pPr marL="457200" lvl="1" indent="0">
              <a:buNone/>
            </a:pPr>
            <a:r>
              <a:rPr lang="en-IN" dirty="0"/>
              <a:t>b.	 one-argument constructor.</a:t>
            </a:r>
          </a:p>
          <a:p>
            <a:pPr marL="457200" lvl="1" indent="0">
              <a:buNone/>
            </a:pPr>
            <a:r>
              <a:rPr lang="en-US" dirty="0"/>
              <a:t>c. 	a conversion operator function that’s a member of the class.</a:t>
            </a:r>
            <a:endParaRPr lang="en-IN" dirty="0"/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05518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328" y="0"/>
            <a:ext cx="4412672" cy="705384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Questions: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328" y="798491"/>
            <a:ext cx="9873314" cy="51721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To convert from a </a:t>
            </a:r>
            <a:r>
              <a:rPr lang="en-US" dirty="0">
                <a:solidFill>
                  <a:srgbClr val="0070C0"/>
                </a:solidFill>
              </a:rPr>
              <a:t>user-defined class </a:t>
            </a:r>
            <a:r>
              <a:rPr lang="en-US" dirty="0"/>
              <a:t>to a </a:t>
            </a:r>
            <a:r>
              <a:rPr lang="en-US" dirty="0">
                <a:solidFill>
                  <a:srgbClr val="0070C0"/>
                </a:solidFill>
              </a:rPr>
              <a:t>basic type</a:t>
            </a:r>
            <a:r>
              <a:rPr lang="en-US" dirty="0"/>
              <a:t>, you would most likely use:</a:t>
            </a:r>
          </a:p>
          <a:p>
            <a:pPr marL="457200" lvl="1" indent="0">
              <a:buNone/>
            </a:pPr>
            <a:r>
              <a:rPr lang="en-US" dirty="0"/>
              <a:t>a. 	 built-in conversion routine.</a:t>
            </a:r>
          </a:p>
          <a:p>
            <a:pPr marL="457200" lvl="1" indent="0">
              <a:buNone/>
            </a:pPr>
            <a:r>
              <a:rPr lang="en-IN" dirty="0"/>
              <a:t>b.	 one-argument constructor.</a:t>
            </a:r>
          </a:p>
          <a:p>
            <a:pPr marL="457200" lvl="1" indent="0">
              <a:buNone/>
            </a:pPr>
            <a:r>
              <a:rPr lang="en-US" dirty="0"/>
              <a:t>c. 	</a:t>
            </a:r>
            <a:r>
              <a:rPr lang="en-US" b="1" dirty="0">
                <a:solidFill>
                  <a:srgbClr val="00B050"/>
                </a:solidFill>
              </a:rPr>
              <a:t>a conversion operator function that’s a member of the class.</a:t>
            </a:r>
            <a:endParaRPr lang="en-IN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To convert from a </a:t>
            </a:r>
            <a:r>
              <a:rPr lang="en-US" dirty="0">
                <a:solidFill>
                  <a:srgbClr val="0070C0"/>
                </a:solidFill>
              </a:rPr>
              <a:t>basic type </a:t>
            </a:r>
            <a:r>
              <a:rPr lang="en-US" dirty="0"/>
              <a:t>to a </a:t>
            </a:r>
            <a:r>
              <a:rPr lang="en-US" dirty="0">
                <a:solidFill>
                  <a:srgbClr val="0070C0"/>
                </a:solidFill>
              </a:rPr>
              <a:t>user-defined class,</a:t>
            </a:r>
            <a:r>
              <a:rPr lang="en-US" dirty="0"/>
              <a:t> you would most likely use:</a:t>
            </a:r>
          </a:p>
          <a:p>
            <a:pPr marL="457200" lvl="1" indent="0">
              <a:buNone/>
            </a:pPr>
            <a:r>
              <a:rPr lang="en-US" dirty="0"/>
              <a:t>a. 	 built-in conversion routine.</a:t>
            </a:r>
          </a:p>
          <a:p>
            <a:pPr marL="457200" lvl="1" indent="0">
              <a:buNone/>
            </a:pPr>
            <a:r>
              <a:rPr lang="en-IN" dirty="0"/>
              <a:t>b.	 </a:t>
            </a:r>
            <a:r>
              <a:rPr lang="en-IN" b="1" dirty="0">
                <a:solidFill>
                  <a:srgbClr val="00B050"/>
                </a:solidFill>
              </a:rPr>
              <a:t>one-argument constructor.</a:t>
            </a:r>
          </a:p>
          <a:p>
            <a:pPr marL="457200" lvl="1" indent="0">
              <a:buNone/>
            </a:pPr>
            <a:r>
              <a:rPr lang="en-US" dirty="0"/>
              <a:t>c. 	a conversion operator function that’s a member of the class.</a:t>
            </a:r>
            <a:endParaRPr lang="en-IN" dirty="0"/>
          </a:p>
          <a:p>
            <a:pPr marL="457200" lvl="1" indent="0">
              <a:buNone/>
            </a:pP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804871" y="1641498"/>
            <a:ext cx="2224829" cy="348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2684721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310" y="0"/>
            <a:ext cx="10515600" cy="850679"/>
          </a:xfrm>
        </p:spPr>
        <p:txBody>
          <a:bodyPr>
            <a:normAutofit/>
          </a:bodyPr>
          <a:lstStyle/>
          <a:p>
            <a:r>
              <a:rPr lang="en-US" sz="2800" b="1" u="sng" dirty="0">
                <a:solidFill>
                  <a:srgbClr val="0070C0"/>
                </a:solidFill>
              </a:rPr>
              <a:t>Conversions Between Objects of Different Classes:</a:t>
            </a:r>
            <a:endParaRPr lang="en-IN" sz="2800" b="1" u="sng" dirty="0">
              <a:solidFill>
                <a:srgbClr val="0070C0"/>
              </a:solidFill>
            </a:endParaRPr>
          </a:p>
        </p:txBody>
      </p:sp>
      <p:pic>
        <p:nvPicPr>
          <p:cNvPr id="7" name="Picture 6" descr="C:\Users\Raghu_\Desktop\img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0444" y="3379916"/>
            <a:ext cx="2661794" cy="2895600"/>
          </a:xfrm>
          <a:prstGeom prst="rect">
            <a:avLst/>
          </a:prstGeom>
          <a:noFill/>
        </p:spPr>
      </p:pic>
      <p:sp>
        <p:nvSpPr>
          <p:cNvPr id="3" name="Down Arrow 2"/>
          <p:cNvSpPr/>
          <p:nvPr/>
        </p:nvSpPr>
        <p:spPr>
          <a:xfrm>
            <a:off x="5073014" y="3154404"/>
            <a:ext cx="270457" cy="5186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Down Arrow 7"/>
          <p:cNvSpPr/>
          <p:nvPr/>
        </p:nvSpPr>
        <p:spPr>
          <a:xfrm>
            <a:off x="6830172" y="3154403"/>
            <a:ext cx="270457" cy="5186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14234" y="3810000"/>
            <a:ext cx="14835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Source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9417" y="3770293"/>
            <a:ext cx="20948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Destination Object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808882" y="850679"/>
            <a:ext cx="17530" cy="59158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851B7B9F-6F7C-4376-A216-87D374793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91" y="1322229"/>
            <a:ext cx="3226438" cy="3706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2F87A9-21CC-4131-8468-A45B044E7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177" y="1019942"/>
            <a:ext cx="3288256" cy="196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500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(3) Class type to Class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It can be achieved by two ways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IN" sz="2400" b="1" dirty="0"/>
              <a:t>Using constructor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IN" sz="2400" b="1" dirty="0"/>
              <a:t>Using conversion (casting) operator function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2CED39-398A-446A-83C0-EEF4CC6AE7C0}"/>
              </a:ext>
            </a:extLst>
          </p:cNvPr>
          <p:cNvSpPr/>
          <p:nvPr/>
        </p:nvSpPr>
        <p:spPr>
          <a:xfrm>
            <a:off x="685800" y="2689438"/>
            <a:ext cx="10477500" cy="14791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4000"/>
              </a:lnSpc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Two types of situation arise in user defined data type conversion.</a:t>
            </a:r>
          </a:p>
          <a:p>
            <a:pPr marL="808038" indent="-457200" algn="just">
              <a:lnSpc>
                <a:spcPct val="114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en-US" sz="2400" b="1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Routine in Destination Class </a:t>
            </a:r>
            <a:r>
              <a:rPr lang="en-US" sz="2400" b="1" i="1" dirty="0">
                <a:solidFill>
                  <a:srgbClr val="C00000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(Using Constructors)</a:t>
            </a:r>
          </a:p>
          <a:p>
            <a:pPr marL="808038" indent="-457200" algn="just">
              <a:lnSpc>
                <a:spcPct val="114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en-US" sz="2400" b="1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Routine in Source Class </a:t>
            </a:r>
            <a:r>
              <a:rPr lang="en-US" sz="2400" b="1" i="1" dirty="0">
                <a:solidFill>
                  <a:srgbClr val="C00000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(Using Conversion/Casting Operator Functions)</a:t>
            </a:r>
            <a:endParaRPr lang="en-IN" sz="2400" b="1" i="1" dirty="0">
              <a:solidFill>
                <a:srgbClr val="C00000"/>
              </a:solidFill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7D2CAE-6E27-4A0D-8368-778C3AAC3A86}"/>
              </a:ext>
            </a:extLst>
          </p:cNvPr>
          <p:cNvSpPr/>
          <p:nvPr/>
        </p:nvSpPr>
        <p:spPr>
          <a:xfrm>
            <a:off x="857250" y="4507019"/>
            <a:ext cx="4171950" cy="14791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4000"/>
              </a:lnSpc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sz="2400" b="1" i="1" dirty="0">
                <a:solidFill>
                  <a:srgbClr val="C00000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How do we know?</a:t>
            </a:r>
          </a:p>
          <a:p>
            <a:pPr marL="800100" lvl="1" indent="-342900" algn="just">
              <a:lnSpc>
                <a:spcPct val="114000"/>
              </a:lnSpc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sz="2400" b="1" i="1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LHS  = RHS </a:t>
            </a:r>
          </a:p>
          <a:p>
            <a:pPr lvl="1" algn="just">
              <a:lnSpc>
                <a:spcPct val="114000"/>
              </a:lnSpc>
              <a:spcBef>
                <a:spcPct val="20000"/>
              </a:spcBef>
            </a:pPr>
            <a:r>
              <a:rPr lang="en-US" sz="2400" b="1" i="1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(Destination) = (Source)</a:t>
            </a:r>
            <a:endParaRPr lang="en-IN" sz="2400" b="1" i="1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AF19AD-6630-4973-8D44-8963AF038583}"/>
              </a:ext>
            </a:extLst>
          </p:cNvPr>
          <p:cNvSpPr/>
          <p:nvPr/>
        </p:nvSpPr>
        <p:spPr>
          <a:xfrm>
            <a:off x="5889381" y="4507018"/>
            <a:ext cx="5943600" cy="19740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4000"/>
              </a:lnSpc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sz="2400" b="1" i="1" dirty="0">
                <a:solidFill>
                  <a:srgbClr val="C00000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Objective of the routines is the same</a:t>
            </a:r>
          </a:p>
          <a:p>
            <a:pPr marL="800100" lvl="1" indent="-342900" algn="just">
              <a:lnSpc>
                <a:spcPct val="114000"/>
              </a:lnSpc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sz="2400" b="1" i="1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To convert Fahrenheit to Centigrade</a:t>
            </a:r>
          </a:p>
          <a:p>
            <a:pPr marL="800100" lvl="1" indent="-342900" algn="just">
              <a:lnSpc>
                <a:spcPct val="114000"/>
              </a:lnSpc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sz="2400" b="1" i="1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To convert Kilometers to Miles/yards</a:t>
            </a:r>
          </a:p>
          <a:p>
            <a:pPr marL="800100" lvl="1" indent="-342900" algn="just">
              <a:lnSpc>
                <a:spcPct val="114000"/>
              </a:lnSpc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sz="2400" b="1" i="1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To convert Time24 to Time12</a:t>
            </a:r>
            <a:endParaRPr lang="en-IN" sz="2400" b="1" i="1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319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04" y="-207632"/>
            <a:ext cx="11748695" cy="1325563"/>
          </a:xfrm>
        </p:spPr>
        <p:txBody>
          <a:bodyPr>
            <a:normAutofit/>
          </a:bodyPr>
          <a:lstStyle/>
          <a:p>
            <a:r>
              <a:rPr lang="en-US" sz="2800" b="1" u="sng" dirty="0">
                <a:solidFill>
                  <a:srgbClr val="0070C0"/>
                </a:solidFill>
              </a:rPr>
              <a:t>Solution-1 </a:t>
            </a:r>
            <a:r>
              <a:rPr lang="en-US" sz="2800" b="1" u="sng" dirty="0">
                <a:solidFill>
                  <a:srgbClr val="0070C0"/>
                </a:solidFill>
                <a:sym typeface="Wingdings" panose="05000000000000000000" pitchFamily="2" charset="2"/>
              </a:rPr>
              <a:t></a:t>
            </a:r>
            <a:r>
              <a:rPr lang="en-US" sz="2800" b="1" u="sng" dirty="0">
                <a:solidFill>
                  <a:srgbClr val="0070C0"/>
                </a:solidFill>
              </a:rPr>
              <a:t>Conversion routine in </a:t>
            </a:r>
            <a:r>
              <a:rPr lang="en-US" sz="2800" b="1" u="sng" dirty="0">
                <a:solidFill>
                  <a:srgbClr val="FF0000"/>
                </a:solidFill>
              </a:rPr>
              <a:t>destination class: constructor function</a:t>
            </a:r>
            <a:endParaRPr lang="en-IN" sz="2800" b="1" u="sng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B967D7-D93F-40E6-8686-B4930995E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" y="1026558"/>
            <a:ext cx="9250168" cy="5069442"/>
          </a:xfrm>
          <a:prstGeom prst="rect">
            <a:avLst/>
          </a:prstGeom>
        </p:spPr>
      </p:pic>
      <p:sp>
        <p:nvSpPr>
          <p:cNvPr id="9" name="Oval Callout 9">
            <a:extLst>
              <a:ext uri="{FF2B5EF4-FFF2-40B4-BE49-F238E27FC236}">
                <a16:creationId xmlns:a16="http://schemas.microsoft.com/office/drawing/2014/main" id="{E3B2E36C-BF92-4E49-AA49-A2A088E55D24}"/>
              </a:ext>
            </a:extLst>
          </p:cNvPr>
          <p:cNvSpPr/>
          <p:nvPr/>
        </p:nvSpPr>
        <p:spPr>
          <a:xfrm>
            <a:off x="4807061" y="2590800"/>
            <a:ext cx="2577878" cy="983459"/>
          </a:xfrm>
          <a:prstGeom prst="wedgeEllipseCallout">
            <a:avLst>
              <a:gd name="adj1" fmla="val -20368"/>
              <a:gd name="adj2" fmla="val 861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 of source class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C0E287-F783-43A4-B43E-9A1BC7B45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698" y="1006387"/>
            <a:ext cx="2721822" cy="269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5526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E18DA5-376B-4FE5-A224-553F51DE6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81000"/>
            <a:ext cx="5105400" cy="54057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359B71-4DEB-40F8-B7D0-CFDB4FBC5BB5}"/>
              </a:ext>
            </a:extLst>
          </p:cNvPr>
          <p:cNvSpPr txBox="1"/>
          <p:nvPr/>
        </p:nvSpPr>
        <p:spPr>
          <a:xfrm>
            <a:off x="2381534" y="5638800"/>
            <a:ext cx="3698544" cy="9233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main():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METER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M(1200);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KILOMETER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K   =   M;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80D8C5-C867-47E0-9C04-122E9899F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81000"/>
            <a:ext cx="5938951" cy="515186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0EEB232-D606-4566-AE51-E51D1DEB0DAE}"/>
              </a:ext>
            </a:extLst>
          </p:cNvPr>
          <p:cNvSpPr/>
          <p:nvPr/>
        </p:nvSpPr>
        <p:spPr>
          <a:xfrm>
            <a:off x="838200" y="1600200"/>
            <a:ext cx="4419600" cy="388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550C18-72A5-4B9B-A84D-BD6DB94FEC55}"/>
              </a:ext>
            </a:extLst>
          </p:cNvPr>
          <p:cNvSpPr/>
          <p:nvPr/>
        </p:nvSpPr>
        <p:spPr>
          <a:xfrm>
            <a:off x="6629399" y="1981200"/>
            <a:ext cx="5253151" cy="3276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3140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E18DA5-376B-4FE5-A224-553F51DE6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04800"/>
            <a:ext cx="5105400" cy="54057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359B71-4DEB-40F8-B7D0-CFDB4FBC5BB5}"/>
              </a:ext>
            </a:extLst>
          </p:cNvPr>
          <p:cNvSpPr txBox="1"/>
          <p:nvPr/>
        </p:nvSpPr>
        <p:spPr>
          <a:xfrm>
            <a:off x="2381534" y="5638800"/>
            <a:ext cx="3698544" cy="9233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main():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METER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M(1200);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KILOMETER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K   =   M;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80D8C5-C867-47E0-9C04-122E9899F9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049" y="1066800"/>
            <a:ext cx="5938951" cy="515186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B487751-14FE-470C-B501-C7AAA755DB3D}"/>
              </a:ext>
            </a:extLst>
          </p:cNvPr>
          <p:cNvSpPr/>
          <p:nvPr/>
        </p:nvSpPr>
        <p:spPr>
          <a:xfrm>
            <a:off x="7924800" y="4495800"/>
            <a:ext cx="29083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km=</a:t>
            </a:r>
            <a:r>
              <a:rPr lang="en-US" sz="2000" b="1" dirty="0" err="1">
                <a:solidFill>
                  <a:srgbClr val="FF0000"/>
                </a:solidFill>
              </a:rPr>
              <a:t>M.get_meter</a:t>
            </a:r>
            <a:r>
              <a:rPr lang="en-US" sz="2000" b="1" dirty="0">
                <a:solidFill>
                  <a:srgbClr val="FF0000"/>
                </a:solidFill>
              </a:rPr>
              <a:t>()/1000;</a:t>
            </a:r>
            <a:endParaRPr lang="en-IN" sz="2000" b="1" dirty="0">
              <a:solidFill>
                <a:srgbClr val="FF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126755-62A7-4DC2-8800-7E01885AEFCD}"/>
              </a:ext>
            </a:extLst>
          </p:cNvPr>
          <p:cNvSpPr/>
          <p:nvPr/>
        </p:nvSpPr>
        <p:spPr>
          <a:xfrm>
            <a:off x="6139187" y="0"/>
            <a:ext cx="59338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0070C0"/>
                </a:solidFill>
              </a:rPr>
              <a:t>Conversion routine in </a:t>
            </a:r>
            <a:r>
              <a:rPr lang="en-US" b="1" u="sng" dirty="0">
                <a:solidFill>
                  <a:srgbClr val="FF0000"/>
                </a:solidFill>
              </a:rPr>
              <a:t>destination class: constructor function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6697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412D9C-408D-4C4E-8022-683C838D6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9600"/>
            <a:ext cx="7129669" cy="4267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54ADED-9B5E-4734-A60B-5769C22B4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191000"/>
            <a:ext cx="5544341" cy="169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6513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429" y="-243513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u="sng" dirty="0">
                <a:solidFill>
                  <a:srgbClr val="0070C0"/>
                </a:solidFill>
              </a:rPr>
              <a:t>Solution2</a:t>
            </a:r>
            <a:r>
              <a:rPr lang="en-US" sz="2800" b="1" u="sng" dirty="0">
                <a:solidFill>
                  <a:srgbClr val="0070C0"/>
                </a:solidFill>
                <a:sym typeface="Wingdings" panose="05000000000000000000" pitchFamily="2" charset="2"/>
              </a:rPr>
              <a:t></a:t>
            </a:r>
            <a:r>
              <a:rPr lang="en-US" sz="2800" b="1" u="sng" dirty="0">
                <a:solidFill>
                  <a:srgbClr val="0070C0"/>
                </a:solidFill>
              </a:rPr>
              <a:t> Conversion routine in</a:t>
            </a:r>
            <a:r>
              <a:rPr lang="en-US" sz="2800" b="1" u="sng" dirty="0">
                <a:solidFill>
                  <a:srgbClr val="FF0000"/>
                </a:solidFill>
              </a:rPr>
              <a:t> source class: operator function</a:t>
            </a:r>
            <a:endParaRPr lang="en-IN" sz="2800" b="1" u="sng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F9C56F-2076-4C2D-B6E4-84A8528E7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29" y="1016072"/>
            <a:ext cx="9031784" cy="4927528"/>
          </a:xfrm>
          <a:prstGeom prst="rect">
            <a:avLst/>
          </a:prstGeom>
        </p:spPr>
      </p:pic>
      <p:sp>
        <p:nvSpPr>
          <p:cNvPr id="15" name="Oval Callout 8">
            <a:extLst>
              <a:ext uri="{FF2B5EF4-FFF2-40B4-BE49-F238E27FC236}">
                <a16:creationId xmlns:a16="http://schemas.microsoft.com/office/drawing/2014/main" id="{D0E876B5-9FFB-4905-B96A-19B4F45052EB}"/>
              </a:ext>
            </a:extLst>
          </p:cNvPr>
          <p:cNvSpPr/>
          <p:nvPr/>
        </p:nvSpPr>
        <p:spPr>
          <a:xfrm>
            <a:off x="3429000" y="2462319"/>
            <a:ext cx="2768015" cy="1250654"/>
          </a:xfrm>
          <a:prstGeom prst="wedgeEllipseCallout">
            <a:avLst>
              <a:gd name="adj1" fmla="val -23159"/>
              <a:gd name="adj2" fmla="val 655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Destination object type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2A7B18C-BBD7-431F-8680-BD51D65AC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618203"/>
            <a:ext cx="2971800" cy="293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4276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197295" y="5101610"/>
            <a:ext cx="3698544" cy="1323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main():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Meter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M(1200);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Kilometer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K;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   =   M;</a:t>
            </a:r>
          </a:p>
        </p:txBody>
      </p:sp>
      <p:sp>
        <p:nvSpPr>
          <p:cNvPr id="2" name="Rectangle 1"/>
          <p:cNvSpPr/>
          <p:nvPr/>
        </p:nvSpPr>
        <p:spPr>
          <a:xfrm>
            <a:off x="7980219" y="3879275"/>
            <a:ext cx="4002931" cy="775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623D6F-B891-4F75-8ED1-89C88404C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76377"/>
            <a:ext cx="5640687" cy="45766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C2A9E5-B7F6-42D3-ACA8-4C678BDAB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839" y="914400"/>
            <a:ext cx="5168311" cy="564342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4C9056A-546E-4AED-8C5E-FC590A170C09}"/>
              </a:ext>
            </a:extLst>
          </p:cNvPr>
          <p:cNvSpPr/>
          <p:nvPr/>
        </p:nvSpPr>
        <p:spPr>
          <a:xfrm>
            <a:off x="6324600" y="115510"/>
            <a:ext cx="52184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0070C0"/>
                </a:solidFill>
              </a:rPr>
              <a:t>Conversion routine in</a:t>
            </a:r>
            <a:r>
              <a:rPr lang="en-US" b="1" u="sng" dirty="0">
                <a:solidFill>
                  <a:srgbClr val="FF0000"/>
                </a:solidFill>
              </a:rPr>
              <a:t> source class: operator function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72267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197295" y="5101610"/>
            <a:ext cx="3698544" cy="1323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main():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Meter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M(1200);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Kilometer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K;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   =   M;</a:t>
            </a:r>
          </a:p>
        </p:txBody>
      </p:sp>
      <p:sp>
        <p:nvSpPr>
          <p:cNvPr id="2" name="Rectangle 1"/>
          <p:cNvSpPr/>
          <p:nvPr/>
        </p:nvSpPr>
        <p:spPr>
          <a:xfrm>
            <a:off x="7980219" y="3879275"/>
            <a:ext cx="4002931" cy="775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623D6F-B891-4F75-8ED1-89C88404C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52577"/>
            <a:ext cx="5640687" cy="45766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087177-5A3D-44C8-A8F1-D867829ED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453" y="396252"/>
            <a:ext cx="5286237" cy="569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8912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538165"/>
            <a:ext cx="6574006" cy="186263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5277AF4-7D50-4388-B62E-BDF3D0956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57200"/>
            <a:ext cx="6645019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1012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9CA0F1-27FF-403C-99A4-593A270BF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58009"/>
            <a:ext cx="5236152" cy="50044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1BA6D8-7FB6-4953-943B-6A89612F9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645" y="609600"/>
            <a:ext cx="5562600" cy="569583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A2092F8-C857-4F61-A17F-70E7812478A8}"/>
              </a:ext>
            </a:extLst>
          </p:cNvPr>
          <p:cNvSpPr txBox="1">
            <a:spLocks/>
          </p:cNvSpPr>
          <p:nvPr/>
        </p:nvSpPr>
        <p:spPr>
          <a:xfrm>
            <a:off x="1066800" y="299512"/>
            <a:ext cx="3261381" cy="704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u="sng" dirty="0">
                <a:solidFill>
                  <a:schemeClr val="accent2">
                    <a:lumMod val="50000"/>
                  </a:schemeClr>
                </a:solidFill>
              </a:rPr>
              <a:t>Complete conversion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D22D06-B433-4CDF-A7C8-855C14AD9895}"/>
              </a:ext>
            </a:extLst>
          </p:cNvPr>
          <p:cNvSpPr/>
          <p:nvPr/>
        </p:nvSpPr>
        <p:spPr>
          <a:xfrm>
            <a:off x="10591800" y="5105400"/>
            <a:ext cx="158569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i="1" u="sng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</a:rPr>
              <a:t>Na</a:t>
            </a:r>
            <a:r>
              <a:rPr lang="en-IN" sz="1600" b="1" i="1" u="sng" dirty="0" err="1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</a:rPr>
              <a:t>meless</a:t>
            </a:r>
            <a:r>
              <a:rPr lang="en-IN" sz="1600" b="1" i="1" u="sng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</a:rPr>
              <a:t> object</a:t>
            </a:r>
            <a:endParaRPr lang="en-IN" sz="1600" i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43054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C1C589-D4EE-4533-97C4-F8E5B107E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85800"/>
            <a:ext cx="6950942" cy="5486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7638F0-4D3B-4DFA-9D4D-218AF9F64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512" y="990600"/>
            <a:ext cx="4739088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8737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775" y="1463041"/>
            <a:ext cx="10911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Write a Program to perform currency conversion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 </a:t>
            </a: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Rupee</a:t>
            </a: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  </a:t>
            </a: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Dollar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4573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68234" y="2321005"/>
            <a:ext cx="545553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11825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11326</TotalTime>
  <Words>2811</Words>
  <Application>Microsoft Office PowerPoint</Application>
  <PresentationFormat>Widescreen</PresentationFormat>
  <Paragraphs>527</Paragraphs>
  <Slides>59</Slides>
  <Notes>15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59</vt:i4>
      </vt:variant>
    </vt:vector>
  </HeadingPairs>
  <TitlesOfParts>
    <vt:vector size="72" baseType="lpstr">
      <vt:lpstr>Algerian</vt:lpstr>
      <vt:lpstr>Arial</vt:lpstr>
      <vt:lpstr>Calibri</vt:lpstr>
      <vt:lpstr>Calibri Light</vt:lpstr>
      <vt:lpstr>Consolas</vt:lpstr>
      <vt:lpstr>Courier New</vt:lpstr>
      <vt:lpstr>Imprint MT Shadow</vt:lpstr>
      <vt:lpstr>Open Sans Semibold</vt:lpstr>
      <vt:lpstr>Shruti</vt:lpstr>
      <vt:lpstr>Times New Roman</vt:lpstr>
      <vt:lpstr>Wingdings</vt:lpstr>
      <vt:lpstr>Office Theme</vt:lpstr>
      <vt:lpstr>1_Office Theme</vt:lpstr>
      <vt:lpstr>Operator Overloading</vt:lpstr>
      <vt:lpstr>Operator Overloading</vt:lpstr>
      <vt:lpstr>Operator overloading</vt:lpstr>
      <vt:lpstr>Operator Overloading</vt:lpstr>
      <vt:lpstr>Rules for operator overloading</vt:lpstr>
      <vt:lpstr>Rules for operator overloading (Cont…)</vt:lpstr>
      <vt:lpstr>Overloading Unary Operator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Overloading Prefix and Postfix operator</vt:lpstr>
      <vt:lpstr>PowerPoint Presentation</vt:lpstr>
      <vt:lpstr>Binary Operator Arguments </vt:lpstr>
      <vt:lpstr>Binary Operator Arguments </vt:lpstr>
      <vt:lpstr>PowerPoint Presentation</vt:lpstr>
      <vt:lpstr>PowerPoint Presentation</vt:lpstr>
      <vt:lpstr>Operator Overloading</vt:lpstr>
      <vt:lpstr>Operator Overloading using Friend Function</vt:lpstr>
      <vt:lpstr>Operator overloading using friend function</vt:lpstr>
      <vt:lpstr>PowerPoint Presentation</vt:lpstr>
      <vt:lpstr>Invoke Friend Function in operator overloading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CONVERSION</vt:lpstr>
      <vt:lpstr>PowerPoint Presentation</vt:lpstr>
      <vt:lpstr>Type Conversion</vt:lpstr>
      <vt:lpstr>Type Conversion</vt:lpstr>
      <vt:lpstr>Type Conversion</vt:lpstr>
      <vt:lpstr>DATA CONVERSION</vt:lpstr>
      <vt:lpstr>(1) Basic to class type conversion</vt:lpstr>
      <vt:lpstr>PowerPoint Presentation</vt:lpstr>
      <vt:lpstr>(2) Class to basic type conversion</vt:lpstr>
      <vt:lpstr>PowerPoint Presentation</vt:lpstr>
      <vt:lpstr>Questions:</vt:lpstr>
      <vt:lpstr>Questions:</vt:lpstr>
      <vt:lpstr>Conversions Between Objects of Different Classes:</vt:lpstr>
      <vt:lpstr>(3) Class type to Class type</vt:lpstr>
      <vt:lpstr>Solution-1 Conversion routine in destination class: constructor function</vt:lpstr>
      <vt:lpstr>PowerPoint Presentation</vt:lpstr>
      <vt:lpstr>PowerPoint Presentation</vt:lpstr>
      <vt:lpstr>PowerPoint Presentation</vt:lpstr>
      <vt:lpstr>Solution2 Conversion routine in source class: operator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Darshan Institute of Engg. &amp; Tech.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OOPC++ UNIT-1</dc:title>
  <dc:creator>Darshan Institute of Engg. &amp; Tech.</dc:creator>
  <cp:lastModifiedBy>Linda Varghese [MAHE-MIT]</cp:lastModifiedBy>
  <cp:revision>2448</cp:revision>
  <dcterms:created xsi:type="dcterms:W3CDTF">2013-05-17T03:00:03Z</dcterms:created>
  <dcterms:modified xsi:type="dcterms:W3CDTF">2024-09-05T04:03:21Z</dcterms:modified>
</cp:coreProperties>
</file>