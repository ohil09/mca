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45"/>
  </p:notesMasterIdLst>
  <p:sldIdLst>
    <p:sldId id="256" r:id="rId4"/>
    <p:sldId id="375" r:id="rId5"/>
    <p:sldId id="354" r:id="rId6"/>
    <p:sldId id="355" r:id="rId7"/>
    <p:sldId id="376" r:id="rId8"/>
    <p:sldId id="284" r:id="rId9"/>
    <p:sldId id="377" r:id="rId10"/>
    <p:sldId id="266" r:id="rId11"/>
    <p:sldId id="374" r:id="rId12"/>
    <p:sldId id="371" r:id="rId13"/>
    <p:sldId id="372" r:id="rId14"/>
    <p:sldId id="373" r:id="rId15"/>
    <p:sldId id="370" r:id="rId16"/>
    <p:sldId id="300" r:id="rId17"/>
    <p:sldId id="270" r:id="rId18"/>
    <p:sldId id="301" r:id="rId19"/>
    <p:sldId id="261" r:id="rId20"/>
    <p:sldId id="369" r:id="rId21"/>
    <p:sldId id="302" r:id="rId22"/>
    <p:sldId id="281" r:id="rId23"/>
    <p:sldId id="282" r:id="rId24"/>
    <p:sldId id="283" r:id="rId25"/>
    <p:sldId id="292" r:id="rId26"/>
    <p:sldId id="368" r:id="rId27"/>
    <p:sldId id="294" r:id="rId28"/>
    <p:sldId id="296" r:id="rId29"/>
    <p:sldId id="298" r:id="rId30"/>
    <p:sldId id="299" r:id="rId31"/>
    <p:sldId id="337" r:id="rId32"/>
    <p:sldId id="304" r:id="rId33"/>
    <p:sldId id="305" r:id="rId34"/>
    <p:sldId id="336" r:id="rId35"/>
    <p:sldId id="358" r:id="rId36"/>
    <p:sldId id="359" r:id="rId37"/>
    <p:sldId id="360" r:id="rId38"/>
    <p:sldId id="361" r:id="rId39"/>
    <p:sldId id="363" r:id="rId40"/>
    <p:sldId id="364" r:id="rId41"/>
    <p:sldId id="365" r:id="rId42"/>
    <p:sldId id="366" r:id="rId43"/>
    <p:sldId id="36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A5440C-BF7E-47E9-8331-EC7C3060A188}" type="datetimeFigureOut">
              <a:rPr lang="en-IN" smtClean="0"/>
              <a:t>03-10-2024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7985B5-CD8B-49F4-A655-7354A4E8A326}" type="slidenum">
              <a:rPr lang="en-IN" smtClean="0"/>
              <a:t>‹#›</a:t>
            </a:fld>
            <a:endParaRPr lang="en-IN"/>
          </a:p>
        </p:txBody>
      </p:sp>
    </p:spTree>
    <p:extLst>
      <p:ext uri="{BB962C8B-B14F-4D97-AF65-F5344CB8AC3E}">
        <p14:creationId xmlns:p14="http://schemas.microsoft.com/office/powerpoint/2010/main" val="1337867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javatpoint.com/virtual-functions-and-runtime-polymorphism"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name, multiple </a:t>
            </a:r>
            <a:r>
              <a:rPr lang="en-US" dirty="0" err="1"/>
              <a:t>forms.polymorphism</a:t>
            </a:r>
            <a:r>
              <a:rPr lang="en-US" dirty="0"/>
              <a:t> is implemented by </a:t>
            </a:r>
            <a:r>
              <a:rPr lang="en-US" dirty="0" err="1"/>
              <a:t>fn</a:t>
            </a:r>
            <a:r>
              <a:rPr lang="en-US" dirty="0"/>
              <a:t> overloading , </a:t>
            </a:r>
            <a:r>
              <a:rPr lang="en-US" dirty="0" err="1"/>
              <a:t>oprtr</a:t>
            </a:r>
            <a:r>
              <a:rPr lang="en-US" dirty="0"/>
              <a:t> overloading, </a:t>
            </a:r>
            <a:r>
              <a:rPr lang="en-US" dirty="0" err="1"/>
              <a:t>fn</a:t>
            </a:r>
            <a:r>
              <a:rPr lang="en-US" dirty="0"/>
              <a:t> is selected by matching type and </a:t>
            </a:r>
            <a:r>
              <a:rPr lang="en-US" dirty="0" err="1"/>
              <a:t>no.of</a:t>
            </a:r>
            <a:r>
              <a:rPr lang="en-US" dirty="0"/>
              <a:t> arguments., done at compile time, early/ static binding. If </a:t>
            </a:r>
            <a:r>
              <a:rPr lang="en-US" dirty="0" err="1"/>
              <a:t>memb</a:t>
            </a:r>
            <a:r>
              <a:rPr lang="en-US" dirty="0"/>
              <a:t> </a:t>
            </a:r>
            <a:r>
              <a:rPr lang="en-US" dirty="0" err="1"/>
              <a:t>fn</a:t>
            </a:r>
            <a:r>
              <a:rPr lang="en-US" dirty="0"/>
              <a:t> is selected while </a:t>
            </a:r>
            <a:r>
              <a:rPr lang="en-US" dirty="0" err="1"/>
              <a:t>pgm</a:t>
            </a:r>
            <a:r>
              <a:rPr lang="en-US" dirty="0"/>
              <a:t> is running-&gt;run time polymorphism. Virtual </a:t>
            </a:r>
            <a:r>
              <a:rPr lang="en-US" dirty="0" err="1"/>
              <a:t>fn</a:t>
            </a:r>
            <a:r>
              <a:rPr lang="en-US" dirty="0"/>
              <a:t> is used to achieve run time polymorphism.</a:t>
            </a:r>
            <a:endParaRPr lang="en-IN" dirty="0"/>
          </a:p>
        </p:txBody>
      </p:sp>
      <p:sp>
        <p:nvSpPr>
          <p:cNvPr id="4" name="Slide Number Placeholder 3"/>
          <p:cNvSpPr>
            <a:spLocks noGrp="1"/>
          </p:cNvSpPr>
          <p:nvPr>
            <p:ph type="sldNum" sz="quarter" idx="5"/>
          </p:nvPr>
        </p:nvSpPr>
        <p:spPr/>
        <p:txBody>
          <a:bodyPr/>
          <a:lstStyle/>
          <a:p>
            <a:fld id="{A17985B5-CD8B-49F4-A655-7354A4E8A326}" type="slidenum">
              <a:rPr lang="en-IN" smtClean="0"/>
              <a:t>1</a:t>
            </a:fld>
            <a:endParaRPr lang="en-IN"/>
          </a:p>
        </p:txBody>
      </p:sp>
    </p:spTree>
    <p:extLst>
      <p:ext uri="{BB962C8B-B14F-4D97-AF65-F5344CB8AC3E}">
        <p14:creationId xmlns:p14="http://schemas.microsoft.com/office/powerpoint/2010/main" val="1045922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 can use base class </a:t>
            </a:r>
            <a:r>
              <a:rPr lang="en-US" dirty="0" err="1"/>
              <a:t>ptr</a:t>
            </a:r>
            <a:r>
              <a:rPr lang="en-US" dirty="0"/>
              <a:t> to refer to all derv class objects, but it always exe the </a:t>
            </a:r>
            <a:r>
              <a:rPr lang="en-US" dirty="0" err="1"/>
              <a:t>fn</a:t>
            </a:r>
            <a:r>
              <a:rPr lang="en-US" dirty="0"/>
              <a:t> of in base class. To achieve polymorphism, use virtual </a:t>
            </a:r>
            <a:r>
              <a:rPr lang="en-US" dirty="0" err="1"/>
              <a:t>fn</a:t>
            </a:r>
            <a:r>
              <a:rPr lang="en-US" dirty="0"/>
              <a:t> in base. When a </a:t>
            </a:r>
            <a:r>
              <a:rPr lang="en-US" dirty="0" err="1"/>
              <a:t>fn</a:t>
            </a:r>
            <a:r>
              <a:rPr lang="en-US" dirty="0"/>
              <a:t> is made virtual, </a:t>
            </a:r>
            <a:r>
              <a:rPr lang="en-US" dirty="0" err="1"/>
              <a:t>c++</a:t>
            </a:r>
            <a:r>
              <a:rPr lang="en-US" dirty="0"/>
              <a:t> determines which </a:t>
            </a:r>
            <a:r>
              <a:rPr lang="en-US" dirty="0" err="1"/>
              <a:t>fn</a:t>
            </a:r>
            <a:r>
              <a:rPr lang="en-US" dirty="0"/>
              <a:t> to </a:t>
            </a:r>
            <a:r>
              <a:rPr lang="en-US" dirty="0" err="1"/>
              <a:t>to</a:t>
            </a:r>
            <a:r>
              <a:rPr lang="en-US" dirty="0"/>
              <a:t> use at runtime based on type of object pointed to by base pointer rather than type of pointer. Thus , by making the base </a:t>
            </a:r>
            <a:r>
              <a:rPr lang="en-US" dirty="0" err="1"/>
              <a:t>ptr</a:t>
            </a:r>
            <a:r>
              <a:rPr lang="en-US" dirty="0"/>
              <a:t> point to diff objects , we can exe diff versions of virtual </a:t>
            </a:r>
            <a:r>
              <a:rPr lang="en-US" dirty="0" err="1"/>
              <a:t>fns</a:t>
            </a:r>
            <a:r>
              <a:rPr lang="en-US" dirty="0"/>
              <a:t>.</a:t>
            </a:r>
            <a:endParaRPr lang="en-IN" dirty="0"/>
          </a:p>
        </p:txBody>
      </p:sp>
      <p:sp>
        <p:nvSpPr>
          <p:cNvPr id="4" name="Slide Number Placeholder 3"/>
          <p:cNvSpPr>
            <a:spLocks noGrp="1"/>
          </p:cNvSpPr>
          <p:nvPr>
            <p:ph type="sldNum" sz="quarter" idx="5"/>
          </p:nvPr>
        </p:nvSpPr>
        <p:spPr/>
        <p:txBody>
          <a:bodyPr/>
          <a:lstStyle/>
          <a:p>
            <a:fld id="{A17985B5-CD8B-49F4-A655-7354A4E8A326}" type="slidenum">
              <a:rPr lang="en-IN" smtClean="0"/>
              <a:t>6</a:t>
            </a:fld>
            <a:endParaRPr lang="en-IN"/>
          </a:p>
        </p:txBody>
      </p:sp>
    </p:spTree>
    <p:extLst>
      <p:ext uri="{BB962C8B-B14F-4D97-AF65-F5344CB8AC3E}">
        <p14:creationId xmlns:p14="http://schemas.microsoft.com/office/powerpoint/2010/main" val="3984649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a:hlinkClick r:id="rId3"/>
              </a:rPr>
              <a:t>https://www.javatpoint.com/virtual-functions-and-runtime-polymorphism</a:t>
            </a:r>
            <a:endParaRPr lang="en-IN" sz="1200" b="1" dirty="0"/>
          </a:p>
          <a:p>
            <a:endParaRPr lang="en-IN" dirty="0"/>
          </a:p>
        </p:txBody>
      </p:sp>
      <p:sp>
        <p:nvSpPr>
          <p:cNvPr id="4" name="Slide Number Placeholder 3"/>
          <p:cNvSpPr>
            <a:spLocks noGrp="1"/>
          </p:cNvSpPr>
          <p:nvPr>
            <p:ph type="sldNum" sz="quarter" idx="5"/>
          </p:nvPr>
        </p:nvSpPr>
        <p:spPr/>
        <p:txBody>
          <a:bodyPr/>
          <a:lstStyle/>
          <a:p>
            <a:fld id="{A17985B5-CD8B-49F4-A655-7354A4E8A326}" type="slidenum">
              <a:rPr lang="en-IN" smtClean="0"/>
              <a:t>10</a:t>
            </a:fld>
            <a:endParaRPr lang="en-IN"/>
          </a:p>
        </p:txBody>
      </p:sp>
    </p:spTree>
    <p:extLst>
      <p:ext uri="{BB962C8B-B14F-4D97-AF65-F5344CB8AC3E}">
        <p14:creationId xmlns:p14="http://schemas.microsoft.com/office/powerpoint/2010/main" val="2956548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17985B5-CD8B-49F4-A655-7354A4E8A326}" type="slidenum">
              <a:rPr lang="en-IN" smtClean="0"/>
              <a:t>14</a:t>
            </a:fld>
            <a:endParaRPr lang="en-IN"/>
          </a:p>
        </p:txBody>
      </p:sp>
    </p:spTree>
    <p:extLst>
      <p:ext uri="{BB962C8B-B14F-4D97-AF65-F5344CB8AC3E}">
        <p14:creationId xmlns:p14="http://schemas.microsoft.com/office/powerpoint/2010/main" val="27724663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Show2 </a:t>
            </a:r>
            <a:r>
              <a:rPr lang="en-US" dirty="0" err="1"/>
              <a:t>fn</a:t>
            </a:r>
            <a:r>
              <a:rPr lang="en-US" dirty="0"/>
              <a:t> is not virtual, show1 is virtual</a:t>
            </a:r>
            <a:endParaRPr lang="en-IN" dirty="0"/>
          </a:p>
        </p:txBody>
      </p:sp>
      <p:sp>
        <p:nvSpPr>
          <p:cNvPr id="4" name="Slide Number Placeholder 3"/>
          <p:cNvSpPr>
            <a:spLocks noGrp="1"/>
          </p:cNvSpPr>
          <p:nvPr>
            <p:ph type="sldNum" sz="quarter" idx="5"/>
          </p:nvPr>
        </p:nvSpPr>
        <p:spPr/>
        <p:txBody>
          <a:bodyPr/>
          <a:lstStyle/>
          <a:p>
            <a:fld id="{A17985B5-CD8B-49F4-A655-7354A4E8A326}" type="slidenum">
              <a:rPr lang="en-IN" smtClean="0"/>
              <a:t>16</a:t>
            </a:fld>
            <a:endParaRPr lang="en-IN"/>
          </a:p>
        </p:txBody>
      </p:sp>
    </p:spTree>
    <p:extLst>
      <p:ext uri="{BB962C8B-B14F-4D97-AF65-F5344CB8AC3E}">
        <p14:creationId xmlns:p14="http://schemas.microsoft.com/office/powerpoint/2010/main" val="37068801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Designed to act as base class for all derv classes.it is a design concept in </a:t>
            </a:r>
            <a:r>
              <a:rPr lang="en-US" dirty="0" err="1"/>
              <a:t>pgm</a:t>
            </a:r>
            <a:r>
              <a:rPr lang="en-US" dirty="0"/>
              <a:t> </a:t>
            </a:r>
            <a:r>
              <a:rPr lang="en-US" dirty="0" err="1"/>
              <a:t>devlt</a:t>
            </a:r>
            <a:r>
              <a:rPr lang="en-US" dirty="0"/>
              <a:t> , provides a base  upon which all other classes  are built.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may also provide an interface for the class hierarchy. ,,acts as a placeholder. </a:t>
            </a:r>
            <a:r>
              <a:rPr lang="en-US" dirty="0" err="1"/>
              <a:t>Does’nt</a:t>
            </a:r>
            <a:r>
              <a:rPr lang="en-US" dirty="0"/>
              <a:t> do any task. A class containing pure virtual function cannot be used to declare any objects of its own. Such classes are called abstract classes.</a:t>
            </a:r>
          </a:p>
          <a:p>
            <a:endParaRPr lang="en-IN" dirty="0"/>
          </a:p>
        </p:txBody>
      </p:sp>
      <p:sp>
        <p:nvSpPr>
          <p:cNvPr id="4" name="Slide Number Placeholder 3"/>
          <p:cNvSpPr>
            <a:spLocks noGrp="1"/>
          </p:cNvSpPr>
          <p:nvPr>
            <p:ph type="sldNum" sz="quarter" idx="5"/>
          </p:nvPr>
        </p:nvSpPr>
        <p:spPr/>
        <p:txBody>
          <a:bodyPr/>
          <a:lstStyle/>
          <a:p>
            <a:fld id="{A17985B5-CD8B-49F4-A655-7354A4E8A326}" type="slidenum">
              <a:rPr lang="en-IN" smtClean="0"/>
              <a:t>18</a:t>
            </a:fld>
            <a:endParaRPr lang="en-IN"/>
          </a:p>
        </p:txBody>
      </p:sp>
    </p:spTree>
    <p:extLst>
      <p:ext uri="{BB962C8B-B14F-4D97-AF65-F5344CB8AC3E}">
        <p14:creationId xmlns:p14="http://schemas.microsoft.com/office/powerpoint/2010/main" val="593465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virtual void show() = 0; // pure virtual function</a:t>
            </a:r>
          </a:p>
          <a:p>
            <a:r>
              <a:rPr lang="en-US" sz="1200" b="0" i="0" u="none" strike="noStrike" kern="1200" baseline="0" dirty="0">
                <a:solidFill>
                  <a:schemeClr val="tx1"/>
                </a:solidFill>
                <a:latin typeface="+mn-lt"/>
                <a:ea typeface="+mn-ea"/>
                <a:cs typeface="+mn-cs"/>
              </a:rPr>
              <a:t>The equal sign here has nothing to do with assignment; the value 0 is not assigned to anything.</a:t>
            </a:r>
          </a:p>
          <a:p>
            <a:r>
              <a:rPr lang="en-US" sz="1200" b="0" i="0" u="none" strike="noStrike" kern="1200" baseline="0" dirty="0">
                <a:solidFill>
                  <a:schemeClr val="tx1"/>
                </a:solidFill>
                <a:latin typeface="+mn-lt"/>
                <a:ea typeface="+mn-ea"/>
                <a:cs typeface="+mn-cs"/>
              </a:rPr>
              <a:t>The =0 syntax is simply how we tell the compiler that a virtual function will be pure.</a:t>
            </a:r>
            <a:endParaRPr lang="en-IN" dirty="0"/>
          </a:p>
        </p:txBody>
      </p:sp>
      <p:sp>
        <p:nvSpPr>
          <p:cNvPr id="4" name="Slide Number Placeholder 3"/>
          <p:cNvSpPr>
            <a:spLocks noGrp="1"/>
          </p:cNvSpPr>
          <p:nvPr>
            <p:ph type="sldNum" sz="quarter" idx="5"/>
          </p:nvPr>
        </p:nvSpPr>
        <p:spPr/>
        <p:txBody>
          <a:bodyPr/>
          <a:lstStyle/>
          <a:p>
            <a:fld id="{A17985B5-CD8B-49F4-A655-7354A4E8A326}" type="slidenum">
              <a:rPr lang="en-IN" smtClean="0"/>
              <a:t>19</a:t>
            </a:fld>
            <a:endParaRPr lang="en-IN"/>
          </a:p>
        </p:txBody>
      </p:sp>
    </p:spTree>
    <p:extLst>
      <p:ext uri="{BB962C8B-B14F-4D97-AF65-F5344CB8AC3E}">
        <p14:creationId xmlns:p14="http://schemas.microsoft.com/office/powerpoint/2010/main" val="3485400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17985B5-CD8B-49F4-A655-7354A4E8A326}" type="slidenum">
              <a:rPr lang="en-IN" smtClean="0"/>
              <a:t>27</a:t>
            </a:fld>
            <a:endParaRPr lang="en-IN"/>
          </a:p>
        </p:txBody>
      </p:sp>
    </p:spTree>
    <p:extLst>
      <p:ext uri="{BB962C8B-B14F-4D97-AF65-F5344CB8AC3E}">
        <p14:creationId xmlns:p14="http://schemas.microsoft.com/office/powerpoint/2010/main" val="41677541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C82E104-1FF2-45E7-88EF-A9558E7F3F4E}"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537663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1DB7AA9-6529-4A3A-BBF0-36A2F3C8FBF0}" type="datetimeFigureOut">
              <a:rPr lang="en-IN" smtClean="0"/>
              <a:t>03-10-2024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96CF65-76E4-49C5-BC43-724675BD8AE9}" type="slidenum">
              <a:rPr lang="en-IN" smtClean="0"/>
              <a:t>‹#›</a:t>
            </a:fld>
            <a:endParaRPr lang="en-IN"/>
          </a:p>
        </p:txBody>
      </p:sp>
    </p:spTree>
    <p:extLst>
      <p:ext uri="{BB962C8B-B14F-4D97-AF65-F5344CB8AC3E}">
        <p14:creationId xmlns:p14="http://schemas.microsoft.com/office/powerpoint/2010/main" val="1470206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1DB7AA9-6529-4A3A-BBF0-36A2F3C8FBF0}" type="datetimeFigureOut">
              <a:rPr lang="en-IN" smtClean="0"/>
              <a:t>03-10-2024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96CF65-76E4-49C5-BC43-724675BD8AE9}" type="slidenum">
              <a:rPr lang="en-IN" smtClean="0"/>
              <a:t>‹#›</a:t>
            </a:fld>
            <a:endParaRPr lang="en-IN"/>
          </a:p>
        </p:txBody>
      </p:sp>
    </p:spTree>
    <p:extLst>
      <p:ext uri="{BB962C8B-B14F-4D97-AF65-F5344CB8AC3E}">
        <p14:creationId xmlns:p14="http://schemas.microsoft.com/office/powerpoint/2010/main" val="3977106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1DB7AA9-6529-4A3A-BBF0-36A2F3C8FBF0}" type="datetimeFigureOut">
              <a:rPr lang="en-IN" smtClean="0"/>
              <a:t>03-10-2024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96CF65-76E4-49C5-BC43-724675BD8AE9}" type="slidenum">
              <a:rPr lang="en-IN" smtClean="0"/>
              <a:t>‹#›</a:t>
            </a:fld>
            <a:endParaRPr lang="en-IN"/>
          </a:p>
        </p:txBody>
      </p:sp>
    </p:spTree>
    <p:extLst>
      <p:ext uri="{BB962C8B-B14F-4D97-AF65-F5344CB8AC3E}">
        <p14:creationId xmlns:p14="http://schemas.microsoft.com/office/powerpoint/2010/main" val="2493699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1DB7AA9-6529-4A3A-BBF0-36A2F3C8FBF0}" type="datetimeFigureOut">
              <a:rPr lang="en-IN" smtClean="0"/>
              <a:t>03-10-2024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96CF65-76E4-49C5-BC43-724675BD8AE9}" type="slidenum">
              <a:rPr lang="en-IN" smtClean="0"/>
              <a:t>‹#›</a:t>
            </a:fld>
            <a:endParaRPr lang="en-IN"/>
          </a:p>
        </p:txBody>
      </p:sp>
    </p:spTree>
    <p:extLst>
      <p:ext uri="{BB962C8B-B14F-4D97-AF65-F5344CB8AC3E}">
        <p14:creationId xmlns:p14="http://schemas.microsoft.com/office/powerpoint/2010/main" val="254240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1DB7AA9-6529-4A3A-BBF0-36A2F3C8FBF0}" type="datetimeFigureOut">
              <a:rPr lang="en-IN" smtClean="0"/>
              <a:t>03-10-2024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096CF65-76E4-49C5-BC43-724675BD8AE9}" type="slidenum">
              <a:rPr lang="en-IN" smtClean="0"/>
              <a:t>‹#›</a:t>
            </a:fld>
            <a:endParaRPr lang="en-IN"/>
          </a:p>
        </p:txBody>
      </p:sp>
    </p:spTree>
    <p:extLst>
      <p:ext uri="{BB962C8B-B14F-4D97-AF65-F5344CB8AC3E}">
        <p14:creationId xmlns:p14="http://schemas.microsoft.com/office/powerpoint/2010/main" val="2740427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1DB7AA9-6529-4A3A-BBF0-36A2F3C8FBF0}" type="datetimeFigureOut">
              <a:rPr lang="en-IN" smtClean="0"/>
              <a:t>03-10-2024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096CF65-76E4-49C5-BC43-724675BD8AE9}" type="slidenum">
              <a:rPr lang="en-IN" smtClean="0"/>
              <a:t>‹#›</a:t>
            </a:fld>
            <a:endParaRPr lang="en-IN"/>
          </a:p>
        </p:txBody>
      </p:sp>
    </p:spTree>
    <p:extLst>
      <p:ext uri="{BB962C8B-B14F-4D97-AF65-F5344CB8AC3E}">
        <p14:creationId xmlns:p14="http://schemas.microsoft.com/office/powerpoint/2010/main" val="2515128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DB7AA9-6529-4A3A-BBF0-36A2F3C8FBF0}" type="datetimeFigureOut">
              <a:rPr lang="en-IN" smtClean="0"/>
              <a:t>03-10-2024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096CF65-76E4-49C5-BC43-724675BD8AE9}" type="slidenum">
              <a:rPr lang="en-IN" smtClean="0"/>
              <a:t>‹#›</a:t>
            </a:fld>
            <a:endParaRPr lang="en-IN"/>
          </a:p>
        </p:txBody>
      </p:sp>
    </p:spTree>
    <p:extLst>
      <p:ext uri="{BB962C8B-B14F-4D97-AF65-F5344CB8AC3E}">
        <p14:creationId xmlns:p14="http://schemas.microsoft.com/office/powerpoint/2010/main" val="1901504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1DB7AA9-6529-4A3A-BBF0-36A2F3C8FBF0}" type="datetimeFigureOut">
              <a:rPr lang="en-IN" smtClean="0"/>
              <a:t>03-10-2024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96CF65-76E4-49C5-BC43-724675BD8AE9}" type="slidenum">
              <a:rPr lang="en-IN" smtClean="0"/>
              <a:t>‹#›</a:t>
            </a:fld>
            <a:endParaRPr lang="en-IN"/>
          </a:p>
        </p:txBody>
      </p:sp>
    </p:spTree>
    <p:extLst>
      <p:ext uri="{BB962C8B-B14F-4D97-AF65-F5344CB8AC3E}">
        <p14:creationId xmlns:p14="http://schemas.microsoft.com/office/powerpoint/2010/main" val="936205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1DB7AA9-6529-4A3A-BBF0-36A2F3C8FBF0}" type="datetimeFigureOut">
              <a:rPr lang="en-IN" smtClean="0"/>
              <a:t>03-10-2024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96CF65-76E4-49C5-BC43-724675BD8AE9}" type="slidenum">
              <a:rPr lang="en-IN" smtClean="0"/>
              <a:t>‹#›</a:t>
            </a:fld>
            <a:endParaRPr lang="en-IN"/>
          </a:p>
        </p:txBody>
      </p:sp>
    </p:spTree>
    <p:extLst>
      <p:ext uri="{BB962C8B-B14F-4D97-AF65-F5344CB8AC3E}">
        <p14:creationId xmlns:p14="http://schemas.microsoft.com/office/powerpoint/2010/main" val="1223931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1DB7AA9-6529-4A3A-BBF0-36A2F3C8FBF0}" type="datetimeFigureOut">
              <a:rPr lang="en-IN" smtClean="0"/>
              <a:t>03-10-2024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96CF65-76E4-49C5-BC43-724675BD8AE9}" type="slidenum">
              <a:rPr lang="en-IN" smtClean="0"/>
              <a:t>‹#›</a:t>
            </a:fld>
            <a:endParaRPr lang="en-IN"/>
          </a:p>
        </p:txBody>
      </p:sp>
    </p:spTree>
    <p:extLst>
      <p:ext uri="{BB962C8B-B14F-4D97-AF65-F5344CB8AC3E}">
        <p14:creationId xmlns:p14="http://schemas.microsoft.com/office/powerpoint/2010/main" val="4160629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1DB7AA9-6529-4A3A-BBF0-36A2F3C8FBF0}" type="datetimeFigureOut">
              <a:rPr lang="en-IN" smtClean="0"/>
              <a:t>03-10-2024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96CF65-76E4-49C5-BC43-724675BD8AE9}" type="slidenum">
              <a:rPr lang="en-IN" smtClean="0"/>
              <a:t>‹#›</a:t>
            </a:fld>
            <a:endParaRPr lang="en-IN"/>
          </a:p>
        </p:txBody>
      </p:sp>
    </p:spTree>
    <p:extLst>
      <p:ext uri="{BB962C8B-B14F-4D97-AF65-F5344CB8AC3E}">
        <p14:creationId xmlns:p14="http://schemas.microsoft.com/office/powerpoint/2010/main" val="3117109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
        <p:nvSpPr>
          <p:cNvPr id="4" name="Rectangle 4"/>
          <p:cNvSpPr>
            <a:spLocks noGrp="1" noChangeArrowheads="1"/>
          </p:cNvSpPr>
          <p:nvPr>
            <p:ph type="dt" sz="half" idx="10"/>
          </p:nvPr>
        </p:nvSpPr>
        <p:spPr>
          <a:ln/>
        </p:spPr>
        <p:txBody>
          <a:bodyPr/>
          <a:lstStyle>
            <a:lvl1pPr>
              <a:defRPr/>
            </a:lvl1pPr>
          </a:lstStyle>
          <a:p>
            <a:pPr>
              <a:defRPr/>
            </a:pPr>
            <a:fld id="{104FEC49-757E-4CB5-A3FB-8B3D372E6A58}" type="datetime1">
              <a:rPr lang="en-US" smtClean="0"/>
              <a:t>10/3/2024</a:t>
            </a:fld>
            <a:r>
              <a:rPr lang="en-US"/>
              <a:t> </a:t>
            </a:r>
          </a:p>
        </p:txBody>
      </p:sp>
      <p:sp>
        <p:nvSpPr>
          <p:cNvPr id="5" name="Rectangle 5"/>
          <p:cNvSpPr>
            <a:spLocks noGrp="1" noChangeArrowheads="1"/>
          </p:cNvSpPr>
          <p:nvPr>
            <p:ph type="ftr" sz="quarter" idx="11"/>
          </p:nvPr>
        </p:nvSpPr>
        <p:spPr>
          <a:ln/>
        </p:spPr>
        <p:txBody>
          <a:bodyPr/>
          <a:lstStyle>
            <a:lvl1pPr>
              <a:defRPr/>
            </a:lvl1pPr>
          </a:lstStyle>
          <a:p>
            <a:pPr>
              <a:defRPr/>
            </a:pPr>
            <a:r>
              <a:rPr lang="en-US"/>
              <a:t>Dept. of CS&amp;E</a:t>
            </a:r>
          </a:p>
        </p:txBody>
      </p:sp>
      <p:sp>
        <p:nvSpPr>
          <p:cNvPr id="6" name="Rectangle 6"/>
          <p:cNvSpPr>
            <a:spLocks noGrp="1" noChangeArrowheads="1"/>
          </p:cNvSpPr>
          <p:nvPr>
            <p:ph type="sldNum" sz="quarter" idx="12"/>
          </p:nvPr>
        </p:nvSpPr>
        <p:spPr>
          <a:ln/>
        </p:spPr>
        <p:txBody>
          <a:bodyPr/>
          <a:lstStyle>
            <a:lvl1pPr>
              <a:defRPr/>
            </a:lvl1pPr>
          </a:lstStyle>
          <a:p>
            <a:pPr>
              <a:defRPr/>
            </a:pPr>
            <a:fld id="{BA86B0AB-F396-44D1-867A-60BDE11FF2B8}" type="slidenum">
              <a:rPr lang="en-US"/>
              <a:pPr>
                <a:defRPr/>
              </a:pPr>
              <a:t>‹#›</a:t>
            </a:fld>
            <a:endParaRPr lang="en-US"/>
          </a:p>
        </p:txBody>
      </p:sp>
    </p:spTree>
    <p:extLst>
      <p:ext uri="{BB962C8B-B14F-4D97-AF65-F5344CB8AC3E}">
        <p14:creationId xmlns:p14="http://schemas.microsoft.com/office/powerpoint/2010/main" val="23068304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fld id="{73DCC268-B0B1-4B74-A9FA-82EB56447FBE}" type="datetime1">
              <a:rPr lang="en-US" smtClean="0"/>
              <a:t>10/3/2024</a:t>
            </a:fld>
            <a:r>
              <a:rPr lang="en-US"/>
              <a:t> </a:t>
            </a:r>
          </a:p>
        </p:txBody>
      </p:sp>
      <p:sp>
        <p:nvSpPr>
          <p:cNvPr id="5" name="Rectangle 5"/>
          <p:cNvSpPr>
            <a:spLocks noGrp="1" noChangeArrowheads="1"/>
          </p:cNvSpPr>
          <p:nvPr>
            <p:ph type="ftr" sz="quarter" idx="11"/>
          </p:nvPr>
        </p:nvSpPr>
        <p:spPr>
          <a:ln/>
        </p:spPr>
        <p:txBody>
          <a:bodyPr/>
          <a:lstStyle>
            <a:lvl1pPr>
              <a:defRPr/>
            </a:lvl1pPr>
          </a:lstStyle>
          <a:p>
            <a:pPr>
              <a:defRPr/>
            </a:pPr>
            <a:r>
              <a:rPr lang="en-US"/>
              <a:t>Dept. of CS&amp;E</a:t>
            </a:r>
          </a:p>
        </p:txBody>
      </p:sp>
      <p:sp>
        <p:nvSpPr>
          <p:cNvPr id="6" name="Rectangle 6"/>
          <p:cNvSpPr>
            <a:spLocks noGrp="1" noChangeArrowheads="1"/>
          </p:cNvSpPr>
          <p:nvPr>
            <p:ph type="sldNum" sz="quarter" idx="12"/>
          </p:nvPr>
        </p:nvSpPr>
        <p:spPr>
          <a:ln/>
        </p:spPr>
        <p:txBody>
          <a:bodyPr/>
          <a:lstStyle>
            <a:lvl1pPr>
              <a:defRPr/>
            </a:lvl1pPr>
          </a:lstStyle>
          <a:p>
            <a:pPr>
              <a:defRPr/>
            </a:pPr>
            <a:fld id="{5C36889F-1A08-4E73-8F47-0502020A99B2}" type="slidenum">
              <a:rPr lang="en-US"/>
              <a:pPr>
                <a:defRPr/>
              </a:pPr>
              <a:t>‹#›</a:t>
            </a:fld>
            <a:endParaRPr lang="en-US"/>
          </a:p>
        </p:txBody>
      </p:sp>
    </p:spTree>
    <p:extLst>
      <p:ext uri="{BB962C8B-B14F-4D97-AF65-F5344CB8AC3E}">
        <p14:creationId xmlns:p14="http://schemas.microsoft.com/office/powerpoint/2010/main" val="18650301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6E5C0028-8C6B-44A1-92F9-9E1EA48E0C52}" type="datetime1">
              <a:rPr lang="en-US" smtClean="0"/>
              <a:t>10/3/2024</a:t>
            </a:fld>
            <a:r>
              <a:rPr lang="en-US"/>
              <a:t> </a:t>
            </a:r>
          </a:p>
        </p:txBody>
      </p:sp>
      <p:sp>
        <p:nvSpPr>
          <p:cNvPr id="5" name="Rectangle 5"/>
          <p:cNvSpPr>
            <a:spLocks noGrp="1" noChangeArrowheads="1"/>
          </p:cNvSpPr>
          <p:nvPr>
            <p:ph type="ftr" sz="quarter" idx="11"/>
          </p:nvPr>
        </p:nvSpPr>
        <p:spPr>
          <a:ln/>
        </p:spPr>
        <p:txBody>
          <a:bodyPr/>
          <a:lstStyle>
            <a:lvl1pPr>
              <a:defRPr/>
            </a:lvl1pPr>
          </a:lstStyle>
          <a:p>
            <a:pPr>
              <a:defRPr/>
            </a:pPr>
            <a:r>
              <a:rPr lang="en-US"/>
              <a:t>Dept. of CS&amp;E</a:t>
            </a:r>
          </a:p>
        </p:txBody>
      </p:sp>
      <p:sp>
        <p:nvSpPr>
          <p:cNvPr id="6" name="Rectangle 6"/>
          <p:cNvSpPr>
            <a:spLocks noGrp="1" noChangeArrowheads="1"/>
          </p:cNvSpPr>
          <p:nvPr>
            <p:ph type="sldNum" sz="quarter" idx="12"/>
          </p:nvPr>
        </p:nvSpPr>
        <p:spPr>
          <a:ln/>
        </p:spPr>
        <p:txBody>
          <a:bodyPr/>
          <a:lstStyle>
            <a:lvl1pPr>
              <a:defRPr/>
            </a:lvl1pPr>
          </a:lstStyle>
          <a:p>
            <a:pPr>
              <a:defRPr/>
            </a:pPr>
            <a:fld id="{79D41F68-495C-4132-B157-937C77D53FC1}" type="slidenum">
              <a:rPr lang="en-US"/>
              <a:pPr>
                <a:defRPr/>
              </a:pPr>
              <a:t>‹#›</a:t>
            </a:fld>
            <a:endParaRPr lang="en-US"/>
          </a:p>
        </p:txBody>
      </p:sp>
    </p:spTree>
    <p:extLst>
      <p:ext uri="{BB962C8B-B14F-4D97-AF65-F5344CB8AC3E}">
        <p14:creationId xmlns:p14="http://schemas.microsoft.com/office/powerpoint/2010/main" val="15031830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4"/>
          <p:cNvSpPr>
            <a:spLocks noGrp="1" noChangeArrowheads="1"/>
          </p:cNvSpPr>
          <p:nvPr>
            <p:ph type="dt" sz="half" idx="10"/>
          </p:nvPr>
        </p:nvSpPr>
        <p:spPr>
          <a:ln/>
        </p:spPr>
        <p:txBody>
          <a:bodyPr/>
          <a:lstStyle>
            <a:lvl1pPr>
              <a:defRPr/>
            </a:lvl1pPr>
          </a:lstStyle>
          <a:p>
            <a:pPr>
              <a:defRPr/>
            </a:pPr>
            <a:fld id="{7BCB2A58-7A0D-4455-B2E4-01E724C13F19}" type="datetime1">
              <a:rPr lang="en-US" smtClean="0"/>
              <a:t>10/3/2024</a:t>
            </a:fld>
            <a:r>
              <a:rPr lang="en-US"/>
              <a:t> </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Dept. of CS&amp;E</a:t>
            </a:r>
          </a:p>
        </p:txBody>
      </p:sp>
      <p:sp>
        <p:nvSpPr>
          <p:cNvPr id="7" name="Rectangle 6"/>
          <p:cNvSpPr>
            <a:spLocks noGrp="1" noChangeArrowheads="1"/>
          </p:cNvSpPr>
          <p:nvPr>
            <p:ph type="sldNum" sz="quarter" idx="12"/>
          </p:nvPr>
        </p:nvSpPr>
        <p:spPr>
          <a:ln/>
        </p:spPr>
        <p:txBody>
          <a:bodyPr/>
          <a:lstStyle>
            <a:lvl1pPr>
              <a:defRPr/>
            </a:lvl1pPr>
          </a:lstStyle>
          <a:p>
            <a:pPr>
              <a:defRPr/>
            </a:pPr>
            <a:fld id="{EFBBA4D8-D0DC-4E19-B8A2-2BEEB12C0181}" type="slidenum">
              <a:rPr lang="en-US"/>
              <a:pPr>
                <a:defRPr/>
              </a:pPr>
              <a:t>‹#›</a:t>
            </a:fld>
            <a:endParaRPr lang="en-US"/>
          </a:p>
        </p:txBody>
      </p:sp>
    </p:spTree>
    <p:extLst>
      <p:ext uri="{BB962C8B-B14F-4D97-AF65-F5344CB8AC3E}">
        <p14:creationId xmlns:p14="http://schemas.microsoft.com/office/powerpoint/2010/main" val="2820468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4"/>
          <p:cNvSpPr>
            <a:spLocks noGrp="1" noChangeArrowheads="1"/>
          </p:cNvSpPr>
          <p:nvPr>
            <p:ph type="dt" sz="half" idx="10"/>
          </p:nvPr>
        </p:nvSpPr>
        <p:spPr>
          <a:ln/>
        </p:spPr>
        <p:txBody>
          <a:bodyPr/>
          <a:lstStyle>
            <a:lvl1pPr>
              <a:defRPr/>
            </a:lvl1pPr>
          </a:lstStyle>
          <a:p>
            <a:pPr>
              <a:defRPr/>
            </a:pPr>
            <a:fld id="{85A38786-DC26-4E62-AFFE-D670D297F50C}" type="datetime1">
              <a:rPr lang="en-US" smtClean="0"/>
              <a:t>10/3/2024</a:t>
            </a:fld>
            <a:r>
              <a:rPr lang="en-US"/>
              <a:t> </a:t>
            </a:r>
          </a:p>
        </p:txBody>
      </p:sp>
      <p:sp>
        <p:nvSpPr>
          <p:cNvPr id="8" name="Rectangle 5"/>
          <p:cNvSpPr>
            <a:spLocks noGrp="1" noChangeArrowheads="1"/>
          </p:cNvSpPr>
          <p:nvPr>
            <p:ph type="ftr" sz="quarter" idx="11"/>
          </p:nvPr>
        </p:nvSpPr>
        <p:spPr>
          <a:ln/>
        </p:spPr>
        <p:txBody>
          <a:bodyPr/>
          <a:lstStyle>
            <a:lvl1pPr>
              <a:defRPr/>
            </a:lvl1pPr>
          </a:lstStyle>
          <a:p>
            <a:pPr>
              <a:defRPr/>
            </a:pPr>
            <a:r>
              <a:rPr lang="en-US"/>
              <a:t>Dept. of CS&amp;E</a:t>
            </a:r>
          </a:p>
        </p:txBody>
      </p:sp>
      <p:sp>
        <p:nvSpPr>
          <p:cNvPr id="9" name="Rectangle 6"/>
          <p:cNvSpPr>
            <a:spLocks noGrp="1" noChangeArrowheads="1"/>
          </p:cNvSpPr>
          <p:nvPr>
            <p:ph type="sldNum" sz="quarter" idx="12"/>
          </p:nvPr>
        </p:nvSpPr>
        <p:spPr>
          <a:ln/>
        </p:spPr>
        <p:txBody>
          <a:bodyPr/>
          <a:lstStyle>
            <a:lvl1pPr>
              <a:defRPr/>
            </a:lvl1pPr>
          </a:lstStyle>
          <a:p>
            <a:pPr>
              <a:defRPr/>
            </a:pPr>
            <a:fld id="{67DBDD62-682A-449E-A1A8-694D3372083E}" type="slidenum">
              <a:rPr lang="en-US"/>
              <a:pPr>
                <a:defRPr/>
              </a:pPr>
              <a:t>‹#›</a:t>
            </a:fld>
            <a:endParaRPr lang="en-US"/>
          </a:p>
        </p:txBody>
      </p:sp>
    </p:spTree>
    <p:extLst>
      <p:ext uri="{BB962C8B-B14F-4D97-AF65-F5344CB8AC3E}">
        <p14:creationId xmlns:p14="http://schemas.microsoft.com/office/powerpoint/2010/main" val="813538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4"/>
          <p:cNvSpPr>
            <a:spLocks noGrp="1" noChangeArrowheads="1"/>
          </p:cNvSpPr>
          <p:nvPr>
            <p:ph type="dt" sz="half" idx="10"/>
          </p:nvPr>
        </p:nvSpPr>
        <p:spPr>
          <a:ln/>
        </p:spPr>
        <p:txBody>
          <a:bodyPr/>
          <a:lstStyle>
            <a:lvl1pPr>
              <a:defRPr/>
            </a:lvl1pPr>
          </a:lstStyle>
          <a:p>
            <a:pPr>
              <a:defRPr/>
            </a:pPr>
            <a:fld id="{F429A983-7F00-4F85-A57E-CE3AEA1498AD}" type="datetime1">
              <a:rPr lang="en-US" smtClean="0"/>
              <a:t>10/3/2024</a:t>
            </a:fld>
            <a:r>
              <a:rPr lang="en-US"/>
              <a:t> </a:t>
            </a:r>
          </a:p>
        </p:txBody>
      </p:sp>
      <p:sp>
        <p:nvSpPr>
          <p:cNvPr id="4" name="Rectangle 5"/>
          <p:cNvSpPr>
            <a:spLocks noGrp="1" noChangeArrowheads="1"/>
          </p:cNvSpPr>
          <p:nvPr>
            <p:ph type="ftr" sz="quarter" idx="11"/>
          </p:nvPr>
        </p:nvSpPr>
        <p:spPr>
          <a:ln/>
        </p:spPr>
        <p:txBody>
          <a:bodyPr/>
          <a:lstStyle>
            <a:lvl1pPr>
              <a:defRPr/>
            </a:lvl1pPr>
          </a:lstStyle>
          <a:p>
            <a:pPr>
              <a:defRPr/>
            </a:pPr>
            <a:r>
              <a:rPr lang="en-US"/>
              <a:t>Dept. of CS&amp;E</a:t>
            </a:r>
          </a:p>
        </p:txBody>
      </p:sp>
      <p:sp>
        <p:nvSpPr>
          <p:cNvPr id="5" name="Rectangle 6"/>
          <p:cNvSpPr>
            <a:spLocks noGrp="1" noChangeArrowheads="1"/>
          </p:cNvSpPr>
          <p:nvPr>
            <p:ph type="sldNum" sz="quarter" idx="12"/>
          </p:nvPr>
        </p:nvSpPr>
        <p:spPr>
          <a:ln/>
        </p:spPr>
        <p:txBody>
          <a:bodyPr/>
          <a:lstStyle>
            <a:lvl1pPr>
              <a:defRPr/>
            </a:lvl1pPr>
          </a:lstStyle>
          <a:p>
            <a:pPr>
              <a:defRPr/>
            </a:pPr>
            <a:fld id="{3BD67E3F-9E6E-417B-8FB3-2A8B40C738DC}" type="slidenum">
              <a:rPr lang="en-US"/>
              <a:pPr>
                <a:defRPr/>
              </a:pPr>
              <a:t>‹#›</a:t>
            </a:fld>
            <a:endParaRPr lang="en-US"/>
          </a:p>
        </p:txBody>
      </p:sp>
    </p:spTree>
    <p:extLst>
      <p:ext uri="{BB962C8B-B14F-4D97-AF65-F5344CB8AC3E}">
        <p14:creationId xmlns:p14="http://schemas.microsoft.com/office/powerpoint/2010/main" val="16589819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B1FB46A5-EFDC-46BA-A76D-58E1C911D413}" type="datetime1">
              <a:rPr lang="en-US" smtClean="0"/>
              <a:t>10/3/2024</a:t>
            </a:fld>
            <a:r>
              <a:rPr lang="en-US"/>
              <a:t> </a:t>
            </a:r>
          </a:p>
        </p:txBody>
      </p:sp>
      <p:sp>
        <p:nvSpPr>
          <p:cNvPr id="3" name="Rectangle 5"/>
          <p:cNvSpPr>
            <a:spLocks noGrp="1" noChangeArrowheads="1"/>
          </p:cNvSpPr>
          <p:nvPr>
            <p:ph type="ftr" sz="quarter" idx="11"/>
          </p:nvPr>
        </p:nvSpPr>
        <p:spPr>
          <a:ln/>
        </p:spPr>
        <p:txBody>
          <a:bodyPr/>
          <a:lstStyle>
            <a:lvl1pPr>
              <a:defRPr/>
            </a:lvl1pPr>
          </a:lstStyle>
          <a:p>
            <a:pPr>
              <a:defRPr/>
            </a:pPr>
            <a:r>
              <a:rPr lang="en-US"/>
              <a:t>Dept. of CS&amp;E</a:t>
            </a:r>
          </a:p>
        </p:txBody>
      </p:sp>
      <p:sp>
        <p:nvSpPr>
          <p:cNvPr id="4" name="Rectangle 6"/>
          <p:cNvSpPr>
            <a:spLocks noGrp="1" noChangeArrowheads="1"/>
          </p:cNvSpPr>
          <p:nvPr>
            <p:ph type="sldNum" sz="quarter" idx="12"/>
          </p:nvPr>
        </p:nvSpPr>
        <p:spPr>
          <a:ln/>
        </p:spPr>
        <p:txBody>
          <a:bodyPr/>
          <a:lstStyle>
            <a:lvl1pPr>
              <a:defRPr/>
            </a:lvl1pPr>
          </a:lstStyle>
          <a:p>
            <a:pPr>
              <a:defRPr/>
            </a:pPr>
            <a:fld id="{AA5A214E-88C6-4D5C-B6EB-6032C08DE16D}" type="slidenum">
              <a:rPr lang="en-US"/>
              <a:pPr>
                <a:defRPr/>
              </a:pPr>
              <a:t>‹#›</a:t>
            </a:fld>
            <a:endParaRPr lang="en-US"/>
          </a:p>
        </p:txBody>
      </p:sp>
    </p:spTree>
    <p:extLst>
      <p:ext uri="{BB962C8B-B14F-4D97-AF65-F5344CB8AC3E}">
        <p14:creationId xmlns:p14="http://schemas.microsoft.com/office/powerpoint/2010/main" val="1792902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5F59537-836C-409A-B9C6-EE4AD4FBC4A2}" type="datetime1">
              <a:rPr lang="en-US" smtClean="0"/>
              <a:t>10/3/2024</a:t>
            </a:fld>
            <a:r>
              <a:rPr lang="en-US"/>
              <a:t> </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Dept. of CS&amp;E</a:t>
            </a:r>
          </a:p>
        </p:txBody>
      </p:sp>
      <p:sp>
        <p:nvSpPr>
          <p:cNvPr id="7" name="Rectangle 6"/>
          <p:cNvSpPr>
            <a:spLocks noGrp="1" noChangeArrowheads="1"/>
          </p:cNvSpPr>
          <p:nvPr>
            <p:ph type="sldNum" sz="quarter" idx="12"/>
          </p:nvPr>
        </p:nvSpPr>
        <p:spPr>
          <a:ln/>
        </p:spPr>
        <p:txBody>
          <a:bodyPr/>
          <a:lstStyle>
            <a:lvl1pPr>
              <a:defRPr/>
            </a:lvl1pPr>
          </a:lstStyle>
          <a:p>
            <a:pPr>
              <a:defRPr/>
            </a:pPr>
            <a:fld id="{160DA934-CBEE-4FA9-8A5E-DE4FC38DA68D}" type="slidenum">
              <a:rPr lang="en-US"/>
              <a:pPr>
                <a:defRPr/>
              </a:pPr>
              <a:t>‹#›</a:t>
            </a:fld>
            <a:endParaRPr lang="en-US"/>
          </a:p>
        </p:txBody>
      </p:sp>
    </p:spTree>
    <p:extLst>
      <p:ext uri="{BB962C8B-B14F-4D97-AF65-F5344CB8AC3E}">
        <p14:creationId xmlns:p14="http://schemas.microsoft.com/office/powerpoint/2010/main" val="16048400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003E4146-AEF5-400B-BB27-720962330120}" type="datetime1">
              <a:rPr lang="en-US" smtClean="0"/>
              <a:t>10/3/2024</a:t>
            </a:fld>
            <a:r>
              <a:rPr lang="en-US"/>
              <a:t> </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Dept. of CS&amp;E</a:t>
            </a:r>
          </a:p>
        </p:txBody>
      </p:sp>
      <p:sp>
        <p:nvSpPr>
          <p:cNvPr id="7" name="Rectangle 6"/>
          <p:cNvSpPr>
            <a:spLocks noGrp="1" noChangeArrowheads="1"/>
          </p:cNvSpPr>
          <p:nvPr>
            <p:ph type="sldNum" sz="quarter" idx="12"/>
          </p:nvPr>
        </p:nvSpPr>
        <p:spPr>
          <a:ln/>
        </p:spPr>
        <p:txBody>
          <a:bodyPr/>
          <a:lstStyle>
            <a:lvl1pPr>
              <a:defRPr/>
            </a:lvl1pPr>
          </a:lstStyle>
          <a:p>
            <a:pPr>
              <a:defRPr/>
            </a:pPr>
            <a:fld id="{AB4BABA4-4662-40E4-B9E3-6E44763F62B3}" type="slidenum">
              <a:rPr lang="en-US"/>
              <a:pPr>
                <a:defRPr/>
              </a:pPr>
              <a:t>‹#›</a:t>
            </a:fld>
            <a:endParaRPr lang="en-US"/>
          </a:p>
        </p:txBody>
      </p:sp>
    </p:spTree>
    <p:extLst>
      <p:ext uri="{BB962C8B-B14F-4D97-AF65-F5344CB8AC3E}">
        <p14:creationId xmlns:p14="http://schemas.microsoft.com/office/powerpoint/2010/main" val="1741491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fld id="{97CB1186-2ED2-4577-AEEA-E5B10D87DE27}" type="datetime1">
              <a:rPr lang="en-US" smtClean="0"/>
              <a:t>10/3/2024</a:t>
            </a:fld>
            <a:r>
              <a:rPr lang="en-US"/>
              <a:t> </a:t>
            </a:r>
          </a:p>
        </p:txBody>
      </p:sp>
      <p:sp>
        <p:nvSpPr>
          <p:cNvPr id="5" name="Rectangle 5"/>
          <p:cNvSpPr>
            <a:spLocks noGrp="1" noChangeArrowheads="1"/>
          </p:cNvSpPr>
          <p:nvPr>
            <p:ph type="ftr" sz="quarter" idx="11"/>
          </p:nvPr>
        </p:nvSpPr>
        <p:spPr>
          <a:ln/>
        </p:spPr>
        <p:txBody>
          <a:bodyPr/>
          <a:lstStyle>
            <a:lvl1pPr>
              <a:defRPr/>
            </a:lvl1pPr>
          </a:lstStyle>
          <a:p>
            <a:pPr>
              <a:defRPr/>
            </a:pPr>
            <a:r>
              <a:rPr lang="en-US"/>
              <a:t>Dept. of CS&amp;E</a:t>
            </a:r>
          </a:p>
        </p:txBody>
      </p:sp>
      <p:sp>
        <p:nvSpPr>
          <p:cNvPr id="6" name="Rectangle 6"/>
          <p:cNvSpPr>
            <a:spLocks noGrp="1" noChangeArrowheads="1"/>
          </p:cNvSpPr>
          <p:nvPr>
            <p:ph type="sldNum" sz="quarter" idx="12"/>
          </p:nvPr>
        </p:nvSpPr>
        <p:spPr>
          <a:ln/>
        </p:spPr>
        <p:txBody>
          <a:bodyPr/>
          <a:lstStyle>
            <a:lvl1pPr>
              <a:defRPr/>
            </a:lvl1pPr>
          </a:lstStyle>
          <a:p>
            <a:pPr>
              <a:defRPr/>
            </a:pPr>
            <a:fld id="{BB55A8BD-F568-41C9-A3C2-85A5CFE34581}" type="slidenum">
              <a:rPr lang="en-US"/>
              <a:pPr>
                <a:defRPr/>
              </a:pPr>
              <a:t>‹#›</a:t>
            </a:fld>
            <a:endParaRPr lang="en-US"/>
          </a:p>
        </p:txBody>
      </p:sp>
    </p:spTree>
    <p:extLst>
      <p:ext uri="{BB962C8B-B14F-4D97-AF65-F5344CB8AC3E}">
        <p14:creationId xmlns:p14="http://schemas.microsoft.com/office/powerpoint/2010/main" val="15222330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fld id="{83A53253-7B1C-4B3E-A8F4-3CB761014311}" type="datetime1">
              <a:rPr lang="en-US" smtClean="0"/>
              <a:t>10/3/2024</a:t>
            </a:fld>
            <a:r>
              <a:rPr lang="en-US"/>
              <a:t> </a:t>
            </a:r>
          </a:p>
        </p:txBody>
      </p:sp>
      <p:sp>
        <p:nvSpPr>
          <p:cNvPr id="5" name="Rectangle 5"/>
          <p:cNvSpPr>
            <a:spLocks noGrp="1" noChangeArrowheads="1"/>
          </p:cNvSpPr>
          <p:nvPr>
            <p:ph type="ftr" sz="quarter" idx="11"/>
          </p:nvPr>
        </p:nvSpPr>
        <p:spPr>
          <a:ln/>
        </p:spPr>
        <p:txBody>
          <a:bodyPr/>
          <a:lstStyle>
            <a:lvl1pPr>
              <a:defRPr/>
            </a:lvl1pPr>
          </a:lstStyle>
          <a:p>
            <a:pPr>
              <a:defRPr/>
            </a:pPr>
            <a:r>
              <a:rPr lang="en-US"/>
              <a:t>Dept. of CS&amp;E</a:t>
            </a:r>
          </a:p>
        </p:txBody>
      </p:sp>
      <p:sp>
        <p:nvSpPr>
          <p:cNvPr id="6" name="Rectangle 6"/>
          <p:cNvSpPr>
            <a:spLocks noGrp="1" noChangeArrowheads="1"/>
          </p:cNvSpPr>
          <p:nvPr>
            <p:ph type="sldNum" sz="quarter" idx="12"/>
          </p:nvPr>
        </p:nvSpPr>
        <p:spPr>
          <a:ln/>
        </p:spPr>
        <p:txBody>
          <a:bodyPr/>
          <a:lstStyle>
            <a:lvl1pPr>
              <a:defRPr/>
            </a:lvl1pPr>
          </a:lstStyle>
          <a:p>
            <a:pPr>
              <a:defRPr/>
            </a:pPr>
            <a:fld id="{C455EF23-7A6E-42BB-BCA1-33852040EF9C}" type="slidenum">
              <a:rPr lang="en-US"/>
              <a:pPr>
                <a:defRPr/>
              </a:pPr>
              <a:t>‹#›</a:t>
            </a:fld>
            <a:endParaRPr lang="en-US"/>
          </a:p>
        </p:txBody>
      </p:sp>
    </p:spTree>
    <p:extLst>
      <p:ext uri="{BB962C8B-B14F-4D97-AF65-F5344CB8AC3E}">
        <p14:creationId xmlns:p14="http://schemas.microsoft.com/office/powerpoint/2010/main" val="12111750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A9D01CB-AB49-4987-8D8D-B3D730217BA1}" type="datetimeFigureOut">
              <a:rPr lang="en-IN" smtClean="0"/>
              <a:t>03-10-2024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8C75ED-0A5E-4475-84B1-2E0F3D0CE480}" type="slidenum">
              <a:rPr lang="en-IN" smtClean="0"/>
              <a:t>‹#›</a:t>
            </a:fld>
            <a:endParaRPr lang="en-IN"/>
          </a:p>
        </p:txBody>
      </p:sp>
    </p:spTree>
    <p:extLst>
      <p:ext uri="{BB962C8B-B14F-4D97-AF65-F5344CB8AC3E}">
        <p14:creationId xmlns:p14="http://schemas.microsoft.com/office/powerpoint/2010/main" val="4089403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A9D01CB-AB49-4987-8D8D-B3D730217BA1}" type="datetimeFigureOut">
              <a:rPr lang="en-IN" smtClean="0"/>
              <a:t>03-10-2024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8C75ED-0A5E-4475-84B1-2E0F3D0CE480}" type="slidenum">
              <a:rPr lang="en-IN" smtClean="0"/>
              <a:t>‹#›</a:t>
            </a:fld>
            <a:endParaRPr lang="en-IN"/>
          </a:p>
        </p:txBody>
      </p:sp>
    </p:spTree>
    <p:extLst>
      <p:ext uri="{BB962C8B-B14F-4D97-AF65-F5344CB8AC3E}">
        <p14:creationId xmlns:p14="http://schemas.microsoft.com/office/powerpoint/2010/main" val="32447730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A9D01CB-AB49-4987-8D8D-B3D730217BA1}" type="datetimeFigureOut">
              <a:rPr lang="en-IN" smtClean="0"/>
              <a:t>03-10-2024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8C75ED-0A5E-4475-84B1-2E0F3D0CE480}" type="slidenum">
              <a:rPr lang="en-IN" smtClean="0"/>
              <a:t>‹#›</a:t>
            </a:fld>
            <a:endParaRPr lang="en-IN"/>
          </a:p>
        </p:txBody>
      </p:sp>
    </p:spTree>
    <p:extLst>
      <p:ext uri="{BB962C8B-B14F-4D97-AF65-F5344CB8AC3E}">
        <p14:creationId xmlns:p14="http://schemas.microsoft.com/office/powerpoint/2010/main" val="14218946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A9D01CB-AB49-4987-8D8D-B3D730217BA1}" type="datetimeFigureOut">
              <a:rPr lang="en-IN" smtClean="0"/>
              <a:t>03-10-2024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8C75ED-0A5E-4475-84B1-2E0F3D0CE480}" type="slidenum">
              <a:rPr lang="en-IN" smtClean="0"/>
              <a:t>‹#›</a:t>
            </a:fld>
            <a:endParaRPr lang="en-IN"/>
          </a:p>
        </p:txBody>
      </p:sp>
    </p:spTree>
    <p:extLst>
      <p:ext uri="{BB962C8B-B14F-4D97-AF65-F5344CB8AC3E}">
        <p14:creationId xmlns:p14="http://schemas.microsoft.com/office/powerpoint/2010/main" val="1315194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A9D01CB-AB49-4987-8D8D-B3D730217BA1}" type="datetimeFigureOut">
              <a:rPr lang="en-IN" smtClean="0"/>
              <a:t>03-10-2024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98C75ED-0A5E-4475-84B1-2E0F3D0CE480}" type="slidenum">
              <a:rPr lang="en-IN" smtClean="0"/>
              <a:t>‹#›</a:t>
            </a:fld>
            <a:endParaRPr lang="en-IN"/>
          </a:p>
        </p:txBody>
      </p:sp>
    </p:spTree>
    <p:extLst>
      <p:ext uri="{BB962C8B-B14F-4D97-AF65-F5344CB8AC3E}">
        <p14:creationId xmlns:p14="http://schemas.microsoft.com/office/powerpoint/2010/main" val="6290900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A9D01CB-AB49-4987-8D8D-B3D730217BA1}" type="datetimeFigureOut">
              <a:rPr lang="en-IN" smtClean="0"/>
              <a:t>03-10-2024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98C75ED-0A5E-4475-84B1-2E0F3D0CE480}" type="slidenum">
              <a:rPr lang="en-IN" smtClean="0"/>
              <a:t>‹#›</a:t>
            </a:fld>
            <a:endParaRPr lang="en-IN"/>
          </a:p>
        </p:txBody>
      </p:sp>
    </p:spTree>
    <p:extLst>
      <p:ext uri="{BB962C8B-B14F-4D97-AF65-F5344CB8AC3E}">
        <p14:creationId xmlns:p14="http://schemas.microsoft.com/office/powerpoint/2010/main" val="38574518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9D01CB-AB49-4987-8D8D-B3D730217BA1}" type="datetimeFigureOut">
              <a:rPr lang="en-IN" smtClean="0"/>
              <a:t>03-10-2024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98C75ED-0A5E-4475-84B1-2E0F3D0CE480}" type="slidenum">
              <a:rPr lang="en-IN" smtClean="0"/>
              <a:t>‹#›</a:t>
            </a:fld>
            <a:endParaRPr lang="en-IN"/>
          </a:p>
        </p:txBody>
      </p:sp>
    </p:spTree>
    <p:extLst>
      <p:ext uri="{BB962C8B-B14F-4D97-AF65-F5344CB8AC3E}">
        <p14:creationId xmlns:p14="http://schemas.microsoft.com/office/powerpoint/2010/main" val="14157238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FA9D01CB-AB49-4987-8D8D-B3D730217BA1}" type="datetimeFigureOut">
              <a:rPr lang="en-IN" smtClean="0"/>
              <a:t>03-10-2024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8C75ED-0A5E-4475-84B1-2E0F3D0CE480}" type="slidenum">
              <a:rPr lang="en-IN" smtClean="0"/>
              <a:t>‹#›</a:t>
            </a:fld>
            <a:endParaRPr lang="en-IN"/>
          </a:p>
        </p:txBody>
      </p:sp>
    </p:spTree>
    <p:extLst>
      <p:ext uri="{BB962C8B-B14F-4D97-AF65-F5344CB8AC3E}">
        <p14:creationId xmlns:p14="http://schemas.microsoft.com/office/powerpoint/2010/main" val="8823473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FA9D01CB-AB49-4987-8D8D-B3D730217BA1}" type="datetimeFigureOut">
              <a:rPr lang="en-IN" smtClean="0"/>
              <a:t>03-10-2024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8C75ED-0A5E-4475-84B1-2E0F3D0CE480}" type="slidenum">
              <a:rPr lang="en-IN" smtClean="0"/>
              <a:t>‹#›</a:t>
            </a:fld>
            <a:endParaRPr lang="en-IN"/>
          </a:p>
        </p:txBody>
      </p:sp>
    </p:spTree>
    <p:extLst>
      <p:ext uri="{BB962C8B-B14F-4D97-AF65-F5344CB8AC3E}">
        <p14:creationId xmlns:p14="http://schemas.microsoft.com/office/powerpoint/2010/main" val="303806232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A9D01CB-AB49-4987-8D8D-B3D730217BA1}" type="datetimeFigureOut">
              <a:rPr lang="en-IN" smtClean="0"/>
              <a:t>03-10-2024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8C75ED-0A5E-4475-84B1-2E0F3D0CE480}" type="slidenum">
              <a:rPr lang="en-IN" smtClean="0"/>
              <a:t>‹#›</a:t>
            </a:fld>
            <a:endParaRPr lang="en-IN"/>
          </a:p>
        </p:txBody>
      </p:sp>
    </p:spTree>
    <p:extLst>
      <p:ext uri="{BB962C8B-B14F-4D97-AF65-F5344CB8AC3E}">
        <p14:creationId xmlns:p14="http://schemas.microsoft.com/office/powerpoint/2010/main" val="42857909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A9D01CB-AB49-4987-8D8D-B3D730217BA1}" type="datetimeFigureOut">
              <a:rPr lang="en-IN" smtClean="0"/>
              <a:t>03-10-2024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8C75ED-0A5E-4475-84B1-2E0F3D0CE480}" type="slidenum">
              <a:rPr lang="en-IN" smtClean="0"/>
              <a:t>‹#›</a:t>
            </a:fld>
            <a:endParaRPr lang="en-IN"/>
          </a:p>
        </p:txBody>
      </p:sp>
    </p:spTree>
    <p:extLst>
      <p:ext uri="{BB962C8B-B14F-4D97-AF65-F5344CB8AC3E}">
        <p14:creationId xmlns:p14="http://schemas.microsoft.com/office/powerpoint/2010/main" val="2521683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r>
              <a:rPr lang="en-US"/>
              <a:t>Click to edit Master title style</a:t>
            </a:r>
          </a:p>
        </p:txBody>
      </p:sp>
      <p:sp>
        <p:nvSpPr>
          <p:cNvPr id="3" name="Text Placeholder 2"/>
          <p:cNvSpPr>
            <a:spLocks noGrp="1"/>
          </p:cNvSpPr>
          <p:nvPr>
            <p:ph type="body" idx="1"/>
          </p:nvPr>
        </p:nvSpPr>
        <p:spPr/>
        <p:txBody>
          <a:bodyPr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noChangeArrowheads="1"/>
          </p:cNvSpPr>
          <p:nvPr>
            <p:ph type="dt" sz="half" idx="10"/>
          </p:nvPr>
        </p:nvSpPr>
        <p:spPr>
          <a:ln/>
        </p:spPr>
        <p:txBody>
          <a:bodyPr/>
          <a:lstStyle>
            <a:lvl1pPr>
              <a:defRPr/>
            </a:lvl1pPr>
          </a:lstStyle>
          <a:p>
            <a:pPr defTabSz="685800">
              <a:defRPr/>
            </a:pPr>
            <a:endParaRPr lang="en-US">
              <a:solidFill>
                <a:prstClr val="black">
                  <a:tint val="75000"/>
                </a:prstClr>
              </a:solidFill>
            </a:endParaRPr>
          </a:p>
        </p:txBody>
      </p:sp>
      <p:sp>
        <p:nvSpPr>
          <p:cNvPr id="5" name="Rectangle 4"/>
          <p:cNvSpPr>
            <a:spLocks noGrp="1" noChangeArrowheads="1"/>
          </p:cNvSpPr>
          <p:nvPr>
            <p:ph type="ftr" sz="quarter" idx="11"/>
          </p:nvPr>
        </p:nvSpPr>
        <p:spPr>
          <a:ln/>
        </p:spPr>
        <p:txBody>
          <a:bodyPr/>
          <a:lstStyle>
            <a:lvl1pPr>
              <a:defRPr/>
            </a:lvl1pPr>
          </a:lstStyle>
          <a:p>
            <a:pPr defTabSz="685800">
              <a:defRPr/>
            </a:pPr>
            <a:endParaRPr lang="en-US">
              <a:solidFill>
                <a:prstClr val="black">
                  <a:tint val="75000"/>
                </a:prstClr>
              </a:solidFill>
            </a:endParaRPr>
          </a:p>
        </p:txBody>
      </p:sp>
      <p:sp>
        <p:nvSpPr>
          <p:cNvPr id="6" name="Rectangle 5"/>
          <p:cNvSpPr>
            <a:spLocks noGrp="1" noChangeArrowheads="1"/>
          </p:cNvSpPr>
          <p:nvPr>
            <p:ph type="sldNum" sz="quarter" idx="12"/>
          </p:nvPr>
        </p:nvSpPr>
        <p:spPr/>
        <p:txBody>
          <a:bodyPr/>
          <a:lstStyle>
            <a:lvl1pPr>
              <a:defRPr/>
            </a:lvl1pPr>
          </a:lstStyle>
          <a:p>
            <a:pPr defTabSz="685800">
              <a:defRPr/>
            </a:pPr>
            <a:fld id="{7E90871D-2EF9-4087-8A7D-8348D8D019D2}" type="slidenum">
              <a:rPr lang="en-US" smtClean="0">
                <a:solidFill>
                  <a:prstClr val="black">
                    <a:tint val="75000"/>
                  </a:prstClr>
                </a:solidFill>
              </a:rPr>
              <a:pPr defTabSz="685800">
                <a:defRPr/>
              </a:pPr>
              <a:t>‹#›</a:t>
            </a:fld>
            <a:endParaRPr lang="en-US">
              <a:solidFill>
                <a:prstClr val="black">
                  <a:tint val="75000"/>
                </a:prstClr>
              </a:solidFill>
            </a:endParaRPr>
          </a:p>
        </p:txBody>
      </p:sp>
    </p:spTree>
    <p:extLst>
      <p:ext uri="{BB962C8B-B14F-4D97-AF65-F5344CB8AC3E}">
        <p14:creationId xmlns:p14="http://schemas.microsoft.com/office/powerpoint/2010/main" val="21209518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3"/>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7FE4169D-EA0D-4D37-925A-2CAE47583A12}" type="slidenum">
              <a:rPr lang="en-US"/>
              <a:pPr>
                <a:defRPr/>
              </a:pPr>
              <a:t>‹#›</a:t>
            </a:fld>
            <a:endParaRPr lang="en-US"/>
          </a:p>
        </p:txBody>
      </p:sp>
    </p:spTree>
    <p:extLst>
      <p:ext uri="{BB962C8B-B14F-4D97-AF65-F5344CB8AC3E}">
        <p14:creationId xmlns:p14="http://schemas.microsoft.com/office/powerpoint/2010/main" val="3277696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DB7AA9-6529-4A3A-BBF0-36A2F3C8FBF0}" type="datetimeFigureOut">
              <a:rPr lang="en-IN" smtClean="0"/>
              <a:t>03-10-2024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96CF65-76E4-49C5-BC43-724675BD8AE9}" type="slidenum">
              <a:rPr lang="en-IN" smtClean="0"/>
              <a:t>‹#›</a:t>
            </a:fld>
            <a:endParaRPr lang="en-IN"/>
          </a:p>
        </p:txBody>
      </p:sp>
    </p:spTree>
    <p:extLst>
      <p:ext uri="{BB962C8B-B14F-4D97-AF65-F5344CB8AC3E}">
        <p14:creationId xmlns:p14="http://schemas.microsoft.com/office/powerpoint/2010/main" val="10446223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a:defRPr/>
            </a:pPr>
            <a:fld id="{D6730773-9186-4224-91A4-82201BF66419}" type="datetime1">
              <a:rPr lang="en-US" smtClean="0"/>
              <a:t>10/3/2024</a:t>
            </a:fld>
            <a:r>
              <a:rPr lang="en-US"/>
              <a:t> </a:t>
            </a: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a:defRPr/>
            </a:pPr>
            <a:r>
              <a:rPr lang="en-US"/>
              <a:t>Dept. of CS&amp;E</a:t>
            </a:r>
            <a:endParaRPr lang="en-US" dirty="0"/>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a:defRPr/>
            </a:pPr>
            <a:fld id="{2CD0181E-14EA-473A-BDBA-F46D7299BFE6}" type="slidenum">
              <a:rPr lang="en-US"/>
              <a:pPr>
                <a:defRPr/>
              </a:pPr>
              <a:t>‹#›</a:t>
            </a:fld>
            <a:endParaRPr lang="en-US"/>
          </a:p>
        </p:txBody>
      </p:sp>
    </p:spTree>
    <p:extLst>
      <p:ext uri="{BB962C8B-B14F-4D97-AF65-F5344CB8AC3E}">
        <p14:creationId xmlns:p14="http://schemas.microsoft.com/office/powerpoint/2010/main" val="3853978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A9D01CB-AB49-4987-8D8D-B3D730217BA1}" type="datetimeFigureOut">
              <a:rPr lang="en-IN" smtClean="0"/>
              <a:t>03-10-2024</a:t>
            </a:fld>
            <a:endParaRPr lang="en-IN"/>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98C75ED-0A5E-4475-84B1-2E0F3D0CE480}" type="slidenum">
              <a:rPr lang="en-IN" smtClean="0"/>
              <a:t>‹#›</a:t>
            </a:fld>
            <a:endParaRPr lang="en-IN"/>
          </a:p>
        </p:txBody>
      </p:sp>
    </p:spTree>
    <p:extLst>
      <p:ext uri="{BB962C8B-B14F-4D97-AF65-F5344CB8AC3E}">
        <p14:creationId xmlns:p14="http://schemas.microsoft.com/office/powerpoint/2010/main" val="178508660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geeksforgeeks.org/polymorphism-in-c/" TargetMode="External"/><Relationship Id="rId2" Type="http://schemas.openxmlformats.org/officeDocument/2006/relationships/hyperlink" Target="https://www.geeksforgeeks.org/virtual-function-cpp/"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719" y="307975"/>
            <a:ext cx="11015662" cy="4364037"/>
          </a:xfrm>
        </p:spPr>
        <p:txBody>
          <a:bodyPr>
            <a:normAutofit/>
          </a:bodyPr>
          <a:lstStyle/>
          <a:p>
            <a:r>
              <a:rPr lang="en-IN" b="1" dirty="0">
                <a:solidFill>
                  <a:srgbClr val="0070C0"/>
                </a:solidFill>
              </a:rPr>
              <a:t>Virtual function </a:t>
            </a:r>
            <a:br>
              <a:rPr lang="en-IN" b="1" dirty="0">
                <a:solidFill>
                  <a:srgbClr val="0070C0"/>
                </a:solidFill>
              </a:rPr>
            </a:br>
            <a:r>
              <a:rPr lang="en-IN" b="1" dirty="0">
                <a:solidFill>
                  <a:srgbClr val="0070C0"/>
                </a:solidFill>
              </a:rPr>
              <a:t>&amp; </a:t>
            </a:r>
            <a:br>
              <a:rPr lang="en-IN" b="1" dirty="0">
                <a:solidFill>
                  <a:srgbClr val="0070C0"/>
                </a:solidFill>
              </a:rPr>
            </a:br>
            <a:r>
              <a:rPr lang="en-IN" b="1" dirty="0">
                <a:solidFill>
                  <a:srgbClr val="0070C0"/>
                </a:solidFill>
              </a:rPr>
              <a:t>Run time polymorphism</a:t>
            </a:r>
          </a:p>
        </p:txBody>
      </p:sp>
    </p:spTree>
    <p:extLst>
      <p:ext uri="{BB962C8B-B14F-4D97-AF65-F5344CB8AC3E}">
        <p14:creationId xmlns:p14="http://schemas.microsoft.com/office/powerpoint/2010/main" val="4160406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D0D76-093A-4C69-BD45-2B4F153FB7B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493E584-A945-477E-940E-EABFB264BAEC}"/>
              </a:ext>
            </a:extLst>
          </p:cNvPr>
          <p:cNvSpPr>
            <a:spLocks noGrp="1"/>
          </p:cNvSpPr>
          <p:nvPr>
            <p:ph idx="1"/>
          </p:nvPr>
        </p:nvSpPr>
        <p:spPr/>
        <p:txBody>
          <a:bodyPr/>
          <a:lstStyle/>
          <a:p>
            <a:r>
              <a:rPr lang="en-US" dirty="0"/>
              <a:t>One name, multiple forms. polymorphism is implemented by </a:t>
            </a:r>
            <a:r>
              <a:rPr lang="en-US" dirty="0" err="1"/>
              <a:t>fn</a:t>
            </a:r>
            <a:r>
              <a:rPr lang="en-US" dirty="0"/>
              <a:t> overloading , </a:t>
            </a:r>
            <a:r>
              <a:rPr lang="en-US" dirty="0" err="1"/>
              <a:t>oprtr</a:t>
            </a:r>
            <a:r>
              <a:rPr lang="en-US" dirty="0"/>
              <a:t> overloading, </a:t>
            </a:r>
            <a:r>
              <a:rPr lang="en-US" dirty="0" err="1"/>
              <a:t>fn</a:t>
            </a:r>
            <a:r>
              <a:rPr lang="en-US" dirty="0"/>
              <a:t> is selected by matching type and </a:t>
            </a:r>
            <a:r>
              <a:rPr lang="en-US" dirty="0" err="1"/>
              <a:t>no.of</a:t>
            </a:r>
            <a:r>
              <a:rPr lang="en-US" dirty="0"/>
              <a:t> arguments., done at </a:t>
            </a:r>
            <a:r>
              <a:rPr lang="en-US" dirty="0">
                <a:solidFill>
                  <a:srgbClr val="FF0000"/>
                </a:solidFill>
              </a:rPr>
              <a:t>compile time, early/ static binding</a:t>
            </a:r>
            <a:r>
              <a:rPr lang="en-US" dirty="0"/>
              <a:t>. </a:t>
            </a:r>
          </a:p>
          <a:p>
            <a:r>
              <a:rPr lang="en-US" dirty="0"/>
              <a:t>If </a:t>
            </a:r>
            <a:r>
              <a:rPr lang="en-US" dirty="0" err="1"/>
              <a:t>memb</a:t>
            </a:r>
            <a:r>
              <a:rPr lang="en-US" dirty="0"/>
              <a:t> </a:t>
            </a:r>
            <a:r>
              <a:rPr lang="en-US" dirty="0" err="1"/>
              <a:t>fn</a:t>
            </a:r>
            <a:r>
              <a:rPr lang="en-US" dirty="0"/>
              <a:t> is selected while </a:t>
            </a:r>
            <a:r>
              <a:rPr lang="en-US" dirty="0" err="1"/>
              <a:t>pgm</a:t>
            </a:r>
            <a:r>
              <a:rPr lang="en-US" dirty="0"/>
              <a:t> is running-&gt;</a:t>
            </a:r>
            <a:r>
              <a:rPr lang="en-US" dirty="0">
                <a:solidFill>
                  <a:srgbClr val="FF0000"/>
                </a:solidFill>
              </a:rPr>
              <a:t>run time polymorphism</a:t>
            </a:r>
            <a:r>
              <a:rPr lang="en-US" dirty="0"/>
              <a:t>. </a:t>
            </a:r>
            <a:r>
              <a:rPr lang="en-US" dirty="0">
                <a:solidFill>
                  <a:srgbClr val="00B050"/>
                </a:solidFill>
              </a:rPr>
              <a:t>Virtual </a:t>
            </a:r>
            <a:r>
              <a:rPr lang="en-US" dirty="0" err="1">
                <a:solidFill>
                  <a:srgbClr val="00B050"/>
                </a:solidFill>
              </a:rPr>
              <a:t>fn</a:t>
            </a:r>
            <a:r>
              <a:rPr lang="en-US" dirty="0">
                <a:solidFill>
                  <a:srgbClr val="00B050"/>
                </a:solidFill>
              </a:rPr>
              <a:t> is used to achieve run time polymorphism.</a:t>
            </a:r>
            <a:endParaRPr lang="en-IN" dirty="0">
              <a:solidFill>
                <a:srgbClr val="00B050"/>
              </a:solidFill>
            </a:endParaRPr>
          </a:p>
          <a:p>
            <a:endParaRPr lang="en-IN" dirty="0"/>
          </a:p>
        </p:txBody>
      </p:sp>
    </p:spTree>
    <p:extLst>
      <p:ext uri="{BB962C8B-B14F-4D97-AF65-F5344CB8AC3E}">
        <p14:creationId xmlns:p14="http://schemas.microsoft.com/office/powerpoint/2010/main" val="3552571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B7BE0D4-6EDB-4312-9A2D-B76DE15FD6B9}"/>
              </a:ext>
            </a:extLst>
          </p:cNvPr>
          <p:cNvPicPr>
            <a:picLocks noChangeAspect="1"/>
          </p:cNvPicPr>
          <p:nvPr/>
        </p:nvPicPr>
        <p:blipFill>
          <a:blip r:embed="rId2"/>
          <a:stretch>
            <a:fillRect/>
          </a:stretch>
        </p:blipFill>
        <p:spPr>
          <a:xfrm>
            <a:off x="295099" y="838200"/>
            <a:ext cx="5029200" cy="5636842"/>
          </a:xfrm>
          <a:prstGeom prst="rect">
            <a:avLst/>
          </a:prstGeom>
        </p:spPr>
      </p:pic>
      <p:pic>
        <p:nvPicPr>
          <p:cNvPr id="5" name="Picture 4">
            <a:extLst>
              <a:ext uri="{FF2B5EF4-FFF2-40B4-BE49-F238E27FC236}">
                <a16:creationId xmlns:a16="http://schemas.microsoft.com/office/drawing/2014/main" id="{24C391C4-56E3-4504-AD29-941DF7B6E47C}"/>
              </a:ext>
            </a:extLst>
          </p:cNvPr>
          <p:cNvPicPr>
            <a:picLocks noChangeAspect="1"/>
          </p:cNvPicPr>
          <p:nvPr/>
        </p:nvPicPr>
        <p:blipFill>
          <a:blip r:embed="rId3"/>
          <a:stretch>
            <a:fillRect/>
          </a:stretch>
        </p:blipFill>
        <p:spPr>
          <a:xfrm>
            <a:off x="7543800" y="5324440"/>
            <a:ext cx="3412952" cy="1081122"/>
          </a:xfrm>
          <a:prstGeom prst="rect">
            <a:avLst/>
          </a:prstGeom>
        </p:spPr>
      </p:pic>
      <p:pic>
        <p:nvPicPr>
          <p:cNvPr id="6" name="Picture 5">
            <a:extLst>
              <a:ext uri="{FF2B5EF4-FFF2-40B4-BE49-F238E27FC236}">
                <a16:creationId xmlns:a16="http://schemas.microsoft.com/office/drawing/2014/main" id="{E0980B21-418F-40B8-BBEB-FBB3261ACB06}"/>
              </a:ext>
            </a:extLst>
          </p:cNvPr>
          <p:cNvPicPr>
            <a:picLocks noChangeAspect="1"/>
          </p:cNvPicPr>
          <p:nvPr/>
        </p:nvPicPr>
        <p:blipFill>
          <a:blip r:embed="rId4"/>
          <a:stretch>
            <a:fillRect/>
          </a:stretch>
        </p:blipFill>
        <p:spPr>
          <a:xfrm>
            <a:off x="6553200" y="990600"/>
            <a:ext cx="5319888" cy="4191000"/>
          </a:xfrm>
          <a:prstGeom prst="rect">
            <a:avLst/>
          </a:prstGeom>
        </p:spPr>
      </p:pic>
      <p:sp>
        <p:nvSpPr>
          <p:cNvPr id="7" name="TextBox 6">
            <a:extLst>
              <a:ext uri="{FF2B5EF4-FFF2-40B4-BE49-F238E27FC236}">
                <a16:creationId xmlns:a16="http://schemas.microsoft.com/office/drawing/2014/main" id="{0E2AAFD6-0357-4DFE-B94F-4A38C9F4DD93}"/>
              </a:ext>
            </a:extLst>
          </p:cNvPr>
          <p:cNvSpPr txBox="1"/>
          <p:nvPr/>
        </p:nvSpPr>
        <p:spPr>
          <a:xfrm>
            <a:off x="2504899" y="228600"/>
            <a:ext cx="5029200" cy="523220"/>
          </a:xfrm>
          <a:prstGeom prst="rect">
            <a:avLst/>
          </a:prstGeom>
          <a:noFill/>
        </p:spPr>
        <p:txBody>
          <a:bodyPr wrap="square" rtlCol="0">
            <a:spAutoFit/>
          </a:bodyPr>
          <a:lstStyle/>
          <a:p>
            <a:r>
              <a:rPr lang="en-US" sz="2800" b="1" dirty="0">
                <a:highlight>
                  <a:srgbClr val="00FFFF"/>
                </a:highlight>
              </a:rPr>
              <a:t>Pointer to object: Example-1</a:t>
            </a:r>
            <a:endParaRPr lang="en-IN" sz="2800" b="1" dirty="0">
              <a:highlight>
                <a:srgbClr val="00FFFF"/>
              </a:highlight>
            </a:endParaRPr>
          </a:p>
        </p:txBody>
      </p:sp>
    </p:spTree>
    <p:extLst>
      <p:ext uri="{BB962C8B-B14F-4D97-AF65-F5344CB8AC3E}">
        <p14:creationId xmlns:p14="http://schemas.microsoft.com/office/powerpoint/2010/main" val="1891172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B830728-5BBD-4977-A677-B0837B5F5B24}"/>
              </a:ext>
            </a:extLst>
          </p:cNvPr>
          <p:cNvSpPr txBox="1"/>
          <p:nvPr/>
        </p:nvSpPr>
        <p:spPr>
          <a:xfrm>
            <a:off x="3124200" y="350690"/>
            <a:ext cx="5029200" cy="523220"/>
          </a:xfrm>
          <a:prstGeom prst="rect">
            <a:avLst/>
          </a:prstGeom>
          <a:noFill/>
        </p:spPr>
        <p:txBody>
          <a:bodyPr wrap="square" rtlCol="0">
            <a:spAutoFit/>
          </a:bodyPr>
          <a:lstStyle/>
          <a:p>
            <a:r>
              <a:rPr lang="en-US" sz="2800" b="1" dirty="0">
                <a:highlight>
                  <a:srgbClr val="00FFFF"/>
                </a:highlight>
              </a:rPr>
              <a:t>Pointer to object: Example-2</a:t>
            </a:r>
            <a:endParaRPr lang="en-IN" sz="2800" b="1" dirty="0">
              <a:highlight>
                <a:srgbClr val="00FFFF"/>
              </a:highlight>
            </a:endParaRPr>
          </a:p>
        </p:txBody>
      </p:sp>
      <p:pic>
        <p:nvPicPr>
          <p:cNvPr id="5" name="Picture 4">
            <a:extLst>
              <a:ext uri="{FF2B5EF4-FFF2-40B4-BE49-F238E27FC236}">
                <a16:creationId xmlns:a16="http://schemas.microsoft.com/office/drawing/2014/main" id="{B6C6C500-8839-42D4-B6E7-EAD3C1FF8070}"/>
              </a:ext>
            </a:extLst>
          </p:cNvPr>
          <p:cNvPicPr>
            <a:picLocks noChangeAspect="1"/>
          </p:cNvPicPr>
          <p:nvPr/>
        </p:nvPicPr>
        <p:blipFill>
          <a:blip r:embed="rId2"/>
          <a:stretch>
            <a:fillRect/>
          </a:stretch>
        </p:blipFill>
        <p:spPr>
          <a:xfrm>
            <a:off x="0" y="1066800"/>
            <a:ext cx="4724400" cy="5178900"/>
          </a:xfrm>
          <a:prstGeom prst="rect">
            <a:avLst/>
          </a:prstGeom>
        </p:spPr>
      </p:pic>
      <p:pic>
        <p:nvPicPr>
          <p:cNvPr id="6" name="Picture 5">
            <a:extLst>
              <a:ext uri="{FF2B5EF4-FFF2-40B4-BE49-F238E27FC236}">
                <a16:creationId xmlns:a16="http://schemas.microsoft.com/office/drawing/2014/main" id="{A6406409-3D34-41DE-8183-6C2F52A9FF74}"/>
              </a:ext>
            </a:extLst>
          </p:cNvPr>
          <p:cNvPicPr>
            <a:picLocks noChangeAspect="1"/>
          </p:cNvPicPr>
          <p:nvPr/>
        </p:nvPicPr>
        <p:blipFill>
          <a:blip r:embed="rId3"/>
          <a:stretch>
            <a:fillRect/>
          </a:stretch>
        </p:blipFill>
        <p:spPr>
          <a:xfrm>
            <a:off x="5945380" y="1600200"/>
            <a:ext cx="6019480" cy="3048000"/>
          </a:xfrm>
          <a:prstGeom prst="rect">
            <a:avLst/>
          </a:prstGeom>
        </p:spPr>
      </p:pic>
      <p:pic>
        <p:nvPicPr>
          <p:cNvPr id="7" name="Picture 6">
            <a:extLst>
              <a:ext uri="{FF2B5EF4-FFF2-40B4-BE49-F238E27FC236}">
                <a16:creationId xmlns:a16="http://schemas.microsoft.com/office/drawing/2014/main" id="{F208D0D6-3CA8-4EF9-8C09-D4E1B9F65AEA}"/>
              </a:ext>
            </a:extLst>
          </p:cNvPr>
          <p:cNvPicPr>
            <a:picLocks noChangeAspect="1"/>
          </p:cNvPicPr>
          <p:nvPr/>
        </p:nvPicPr>
        <p:blipFill>
          <a:blip r:embed="rId4"/>
          <a:stretch>
            <a:fillRect/>
          </a:stretch>
        </p:blipFill>
        <p:spPr>
          <a:xfrm>
            <a:off x="6291628" y="5221726"/>
            <a:ext cx="3723543" cy="1023974"/>
          </a:xfrm>
          <a:prstGeom prst="rect">
            <a:avLst/>
          </a:prstGeom>
        </p:spPr>
      </p:pic>
    </p:spTree>
    <p:extLst>
      <p:ext uri="{BB962C8B-B14F-4D97-AF65-F5344CB8AC3E}">
        <p14:creationId xmlns:p14="http://schemas.microsoft.com/office/powerpoint/2010/main" val="2083594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2315F-C533-4CE6-879F-915F4CB6BC5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B7AE709-C7E3-4EE3-AB7B-0F58F5775536}"/>
              </a:ext>
            </a:extLst>
          </p:cNvPr>
          <p:cNvSpPr>
            <a:spLocks noGrp="1"/>
          </p:cNvSpPr>
          <p:nvPr>
            <p:ph idx="1"/>
          </p:nvPr>
        </p:nvSpPr>
        <p:spPr/>
        <p:txBody>
          <a:bodyPr/>
          <a:lstStyle/>
          <a:p>
            <a:r>
              <a:rPr lang="en-US" dirty="0"/>
              <a:t>We can use base class </a:t>
            </a:r>
            <a:r>
              <a:rPr lang="en-US" dirty="0" err="1"/>
              <a:t>ptr</a:t>
            </a:r>
            <a:r>
              <a:rPr lang="en-US" dirty="0"/>
              <a:t> to refer to all derv class objects, but it always exe the </a:t>
            </a:r>
            <a:r>
              <a:rPr lang="en-US" dirty="0" err="1"/>
              <a:t>fn</a:t>
            </a:r>
            <a:r>
              <a:rPr lang="en-US" dirty="0"/>
              <a:t> of in base class.</a:t>
            </a:r>
          </a:p>
          <a:p>
            <a:r>
              <a:rPr lang="en-US" dirty="0"/>
              <a:t> </a:t>
            </a:r>
            <a:r>
              <a:rPr lang="en-US" dirty="0">
                <a:solidFill>
                  <a:srgbClr val="FF0000"/>
                </a:solidFill>
              </a:rPr>
              <a:t>To achieve polymorphism, use virtual </a:t>
            </a:r>
            <a:r>
              <a:rPr lang="en-US" dirty="0" err="1">
                <a:solidFill>
                  <a:srgbClr val="FF0000"/>
                </a:solidFill>
              </a:rPr>
              <a:t>fn</a:t>
            </a:r>
            <a:r>
              <a:rPr lang="en-US" dirty="0">
                <a:solidFill>
                  <a:srgbClr val="FF0000"/>
                </a:solidFill>
              </a:rPr>
              <a:t> in base</a:t>
            </a:r>
            <a:r>
              <a:rPr lang="en-US" dirty="0"/>
              <a:t>. </a:t>
            </a:r>
          </a:p>
          <a:p>
            <a:r>
              <a:rPr lang="en-US" dirty="0"/>
              <a:t>When a </a:t>
            </a:r>
            <a:r>
              <a:rPr lang="en-US" dirty="0" err="1"/>
              <a:t>fn</a:t>
            </a:r>
            <a:r>
              <a:rPr lang="en-US" dirty="0"/>
              <a:t> is made virtual, </a:t>
            </a:r>
            <a:r>
              <a:rPr lang="en-US" dirty="0" err="1"/>
              <a:t>c++</a:t>
            </a:r>
            <a:r>
              <a:rPr lang="en-US" dirty="0"/>
              <a:t> determines which </a:t>
            </a:r>
            <a:r>
              <a:rPr lang="en-US" dirty="0" err="1"/>
              <a:t>fn</a:t>
            </a:r>
            <a:r>
              <a:rPr lang="en-US" dirty="0"/>
              <a:t> to </a:t>
            </a:r>
            <a:r>
              <a:rPr lang="en-US" dirty="0" err="1"/>
              <a:t>to</a:t>
            </a:r>
            <a:r>
              <a:rPr lang="en-US" dirty="0"/>
              <a:t> use at runtime based on </a:t>
            </a:r>
            <a:r>
              <a:rPr lang="en-US" u="sng" dirty="0">
                <a:solidFill>
                  <a:srgbClr val="FF0000"/>
                </a:solidFill>
              </a:rPr>
              <a:t>type of object pointed to by base pointer </a:t>
            </a:r>
            <a:r>
              <a:rPr lang="en-US" dirty="0"/>
              <a:t>rather than type of pointer. Thus , by making the base </a:t>
            </a:r>
            <a:r>
              <a:rPr lang="en-US" dirty="0" err="1"/>
              <a:t>ptr</a:t>
            </a:r>
            <a:r>
              <a:rPr lang="en-US" dirty="0"/>
              <a:t> point to diff objects , we can exe diff versions of virtual </a:t>
            </a:r>
            <a:r>
              <a:rPr lang="en-US" dirty="0" err="1"/>
              <a:t>fns</a:t>
            </a:r>
            <a:r>
              <a:rPr lang="en-US" dirty="0"/>
              <a:t>.</a:t>
            </a:r>
            <a:endParaRPr lang="en-IN" dirty="0"/>
          </a:p>
          <a:p>
            <a:endParaRPr lang="en-IN" dirty="0"/>
          </a:p>
        </p:txBody>
      </p:sp>
    </p:spTree>
    <p:extLst>
      <p:ext uri="{BB962C8B-B14F-4D97-AF65-F5344CB8AC3E}">
        <p14:creationId xmlns:p14="http://schemas.microsoft.com/office/powerpoint/2010/main" val="2693287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44050" y="156097"/>
            <a:ext cx="4569618" cy="4298825"/>
          </a:xfrm>
          <a:prstGeom prst="rect">
            <a:avLst/>
          </a:prstGeom>
          <a:ln>
            <a:solidFill>
              <a:srgbClr val="C00000"/>
            </a:solidFill>
          </a:ln>
        </p:spPr>
      </p:pic>
      <p:pic>
        <p:nvPicPr>
          <p:cNvPr id="5" name="Picture 4"/>
          <p:cNvPicPr>
            <a:picLocks noChangeAspect="1"/>
          </p:cNvPicPr>
          <p:nvPr/>
        </p:nvPicPr>
        <p:blipFill>
          <a:blip r:embed="rId4"/>
          <a:stretch>
            <a:fillRect/>
          </a:stretch>
        </p:blipFill>
        <p:spPr>
          <a:xfrm>
            <a:off x="144050" y="4572000"/>
            <a:ext cx="5011998" cy="2135654"/>
          </a:xfrm>
          <a:prstGeom prst="rect">
            <a:avLst/>
          </a:prstGeom>
          <a:ln>
            <a:solidFill>
              <a:srgbClr val="C00000"/>
            </a:solidFill>
          </a:ln>
        </p:spPr>
      </p:pic>
      <p:pic>
        <p:nvPicPr>
          <p:cNvPr id="6" name="Picture 5"/>
          <p:cNvPicPr>
            <a:picLocks noChangeAspect="1"/>
          </p:cNvPicPr>
          <p:nvPr/>
        </p:nvPicPr>
        <p:blipFill>
          <a:blip r:embed="rId5"/>
          <a:stretch>
            <a:fillRect/>
          </a:stretch>
        </p:blipFill>
        <p:spPr>
          <a:xfrm>
            <a:off x="4951645" y="1039213"/>
            <a:ext cx="7240535" cy="2379614"/>
          </a:xfrm>
          <a:prstGeom prst="rect">
            <a:avLst/>
          </a:prstGeom>
        </p:spPr>
      </p:pic>
      <p:pic>
        <p:nvPicPr>
          <p:cNvPr id="7" name="Picture 6"/>
          <p:cNvPicPr>
            <a:picLocks noChangeAspect="1"/>
          </p:cNvPicPr>
          <p:nvPr/>
        </p:nvPicPr>
        <p:blipFill>
          <a:blip r:embed="rId6"/>
          <a:stretch>
            <a:fillRect/>
          </a:stretch>
        </p:blipFill>
        <p:spPr>
          <a:xfrm>
            <a:off x="5242557" y="3454423"/>
            <a:ext cx="6764323" cy="1213441"/>
          </a:xfrm>
          <a:prstGeom prst="rect">
            <a:avLst/>
          </a:prstGeom>
        </p:spPr>
      </p:pic>
      <p:pic>
        <p:nvPicPr>
          <p:cNvPr id="8" name="Picture 7"/>
          <p:cNvPicPr>
            <a:picLocks noChangeAspect="1"/>
          </p:cNvPicPr>
          <p:nvPr/>
        </p:nvPicPr>
        <p:blipFill>
          <a:blip r:embed="rId7"/>
          <a:stretch>
            <a:fillRect/>
          </a:stretch>
        </p:blipFill>
        <p:spPr>
          <a:xfrm>
            <a:off x="9850024" y="5268321"/>
            <a:ext cx="1617320" cy="1380639"/>
          </a:xfrm>
          <a:prstGeom prst="rect">
            <a:avLst/>
          </a:prstGeom>
        </p:spPr>
      </p:pic>
      <p:sp>
        <p:nvSpPr>
          <p:cNvPr id="9" name="TextBox 8"/>
          <p:cNvSpPr txBox="1"/>
          <p:nvPr/>
        </p:nvSpPr>
        <p:spPr>
          <a:xfrm>
            <a:off x="9850024" y="4881104"/>
            <a:ext cx="1936459"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sng" strike="noStrike" kern="1200" cap="none" spc="0" normalizeH="0" baseline="0" noProof="0" dirty="0">
                <a:ln>
                  <a:noFill/>
                </a:ln>
                <a:solidFill>
                  <a:srgbClr val="FF0000"/>
                </a:solidFill>
                <a:effectLst/>
                <a:uLnTx/>
                <a:uFillTx/>
                <a:latin typeface="Calibri" panose="020F0502020204030204"/>
                <a:ea typeface="+mn-ea"/>
                <a:cs typeface="+mn-cs"/>
              </a:rPr>
              <a:t>OUTPUT</a:t>
            </a:r>
          </a:p>
        </p:txBody>
      </p:sp>
      <p:sp>
        <p:nvSpPr>
          <p:cNvPr id="10" name="TextBox 9">
            <a:extLst>
              <a:ext uri="{FF2B5EF4-FFF2-40B4-BE49-F238E27FC236}">
                <a16:creationId xmlns:a16="http://schemas.microsoft.com/office/drawing/2014/main" id="{C09E901E-4EE8-4D2B-A310-BADA894B3D12}"/>
              </a:ext>
            </a:extLst>
          </p:cNvPr>
          <p:cNvSpPr txBox="1"/>
          <p:nvPr/>
        </p:nvSpPr>
        <p:spPr>
          <a:xfrm>
            <a:off x="2799468" y="42204"/>
            <a:ext cx="9265920" cy="769441"/>
          </a:xfrm>
          <a:prstGeom prst="rect">
            <a:avLst/>
          </a:prstGeom>
          <a:solidFill>
            <a:srgbClr val="FFFF00"/>
          </a:solidFill>
          <a:ln>
            <a:solidFill>
              <a:schemeClr val="tx1"/>
            </a:solidFill>
          </a:ln>
        </p:spPr>
        <p:txBody>
          <a:bodyPr wrap="square" rtlCol="0">
            <a:spAutoFit/>
          </a:bodyPr>
          <a:lstStyle/>
          <a:p>
            <a:pPr algn="r"/>
            <a:r>
              <a:rPr lang="en-IN" sz="2200" b="1" dirty="0"/>
              <a:t>Time to think!</a:t>
            </a:r>
          </a:p>
          <a:p>
            <a:pPr algn="r"/>
            <a:r>
              <a:rPr lang="en-IN" sz="2200" dirty="0"/>
              <a:t>What happens to </a:t>
            </a:r>
            <a:r>
              <a:rPr lang="en-IN" sz="2200" dirty="0" err="1"/>
              <a:t>overrridden</a:t>
            </a:r>
            <a:r>
              <a:rPr lang="en-IN" sz="2200" dirty="0"/>
              <a:t> functions accessed by base class pointer?</a:t>
            </a:r>
          </a:p>
        </p:txBody>
      </p:sp>
    </p:spTree>
    <p:extLst>
      <p:ext uri="{BB962C8B-B14F-4D97-AF65-F5344CB8AC3E}">
        <p14:creationId xmlns:p14="http://schemas.microsoft.com/office/powerpoint/2010/main" val="1360877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DDD65-3922-41FA-AAB3-B83158C9092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92BF12B-78F9-4538-8E4F-F8869014025A}"/>
              </a:ext>
            </a:extLst>
          </p:cNvPr>
          <p:cNvSpPr>
            <a:spLocks noGrp="1"/>
          </p:cNvSpPr>
          <p:nvPr>
            <p:ph idx="1"/>
          </p:nvPr>
        </p:nvSpPr>
        <p:spPr/>
        <p:txBody>
          <a:bodyPr/>
          <a:lstStyle/>
          <a:p>
            <a:r>
              <a:rPr lang="en-US" dirty="0"/>
              <a:t>We can use base class </a:t>
            </a:r>
            <a:r>
              <a:rPr lang="en-US" dirty="0" err="1"/>
              <a:t>ptr</a:t>
            </a:r>
            <a:r>
              <a:rPr lang="en-US" dirty="0"/>
              <a:t> to refer to all derived class objects, but it </a:t>
            </a:r>
            <a:r>
              <a:rPr lang="en-US" u="sng" dirty="0">
                <a:solidFill>
                  <a:srgbClr val="0070C0"/>
                </a:solidFill>
              </a:rPr>
              <a:t>always execute the function of in base class</a:t>
            </a:r>
            <a:r>
              <a:rPr lang="en-US" dirty="0"/>
              <a:t>.</a:t>
            </a:r>
          </a:p>
          <a:p>
            <a:r>
              <a:rPr lang="en-US" dirty="0"/>
              <a:t> </a:t>
            </a:r>
            <a:r>
              <a:rPr lang="en-US" dirty="0">
                <a:solidFill>
                  <a:srgbClr val="FF0000"/>
                </a:solidFill>
              </a:rPr>
              <a:t>To achieve polymorphism, use virtual function in base</a:t>
            </a:r>
            <a:r>
              <a:rPr lang="en-US" dirty="0"/>
              <a:t>. </a:t>
            </a:r>
          </a:p>
          <a:p>
            <a:r>
              <a:rPr lang="en-US" dirty="0"/>
              <a:t>When a function is made </a:t>
            </a:r>
            <a:r>
              <a:rPr lang="en-US" u="sng" dirty="0">
                <a:solidFill>
                  <a:srgbClr val="0070C0"/>
                </a:solidFill>
              </a:rPr>
              <a:t>virtua</a:t>
            </a:r>
            <a:r>
              <a:rPr lang="en-US" dirty="0"/>
              <a:t>l, </a:t>
            </a:r>
            <a:r>
              <a:rPr lang="en-US" dirty="0" err="1"/>
              <a:t>c++</a:t>
            </a:r>
            <a:r>
              <a:rPr lang="en-US" dirty="0"/>
              <a:t> determines which function to use at runtime based on </a:t>
            </a:r>
            <a:r>
              <a:rPr lang="en-US" u="sng" dirty="0">
                <a:solidFill>
                  <a:srgbClr val="FF0000"/>
                </a:solidFill>
              </a:rPr>
              <a:t>type of object pointed to by base pointer </a:t>
            </a:r>
            <a:r>
              <a:rPr lang="en-US" dirty="0"/>
              <a:t>rather than type of pointer. </a:t>
            </a:r>
          </a:p>
          <a:p>
            <a:r>
              <a:rPr lang="en-US" dirty="0"/>
              <a:t>Thus , by making the base </a:t>
            </a:r>
            <a:r>
              <a:rPr lang="en-US" dirty="0" err="1"/>
              <a:t>ptr</a:t>
            </a:r>
            <a:r>
              <a:rPr lang="en-US" dirty="0"/>
              <a:t> point to different objects , we can </a:t>
            </a:r>
            <a:r>
              <a:rPr lang="en-US" dirty="0">
                <a:solidFill>
                  <a:srgbClr val="00B050"/>
                </a:solidFill>
              </a:rPr>
              <a:t>execute different versions of virtual function.</a:t>
            </a:r>
            <a:endParaRPr lang="en-IN" dirty="0">
              <a:solidFill>
                <a:srgbClr val="00B050"/>
              </a:solidFill>
            </a:endParaRPr>
          </a:p>
          <a:p>
            <a:endParaRPr lang="en-IN" dirty="0"/>
          </a:p>
        </p:txBody>
      </p:sp>
    </p:spTree>
    <p:extLst>
      <p:ext uri="{BB962C8B-B14F-4D97-AF65-F5344CB8AC3E}">
        <p14:creationId xmlns:p14="http://schemas.microsoft.com/office/powerpoint/2010/main" val="1694024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878289" y="66211"/>
            <a:ext cx="7980085" cy="6599171"/>
          </a:xfrm>
          <a:prstGeom prst="rect">
            <a:avLst/>
          </a:prstGeom>
        </p:spPr>
      </p:pic>
    </p:spTree>
    <p:extLst>
      <p:ext uri="{BB962C8B-B14F-4D97-AF65-F5344CB8AC3E}">
        <p14:creationId xmlns:p14="http://schemas.microsoft.com/office/powerpoint/2010/main" val="71599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D732D11-80DF-4DD0-A056-F38E9C2BC516}"/>
              </a:ext>
            </a:extLst>
          </p:cNvPr>
          <p:cNvSpPr/>
          <p:nvPr/>
        </p:nvSpPr>
        <p:spPr>
          <a:xfrm>
            <a:off x="438364" y="769876"/>
            <a:ext cx="9681680" cy="3693319"/>
          </a:xfrm>
          <a:prstGeom prst="rect">
            <a:avLst/>
          </a:prstGeom>
        </p:spPr>
        <p:txBody>
          <a:bodyPr wrap="square">
            <a:spAutoFit/>
          </a:bodyPr>
          <a:lstStyle/>
          <a:p>
            <a:pPr algn="just" fontAlgn="base">
              <a:spcAft>
                <a:spcPts val="0"/>
              </a:spcAft>
            </a:pPr>
            <a:r>
              <a:rPr lang="en-IN" spc="1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A</a:t>
            </a:r>
            <a:r>
              <a:rPr lang="en-IN" u="sng" spc="1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hlinkClick r:id="rId2"/>
              </a:rPr>
              <a:t> </a:t>
            </a:r>
            <a:r>
              <a:rPr lang="en-IN" b="1" u="sng" spc="1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hlinkClick r:id="rId2"/>
              </a:rPr>
              <a:t>virtual function</a:t>
            </a:r>
            <a:r>
              <a:rPr lang="en-IN" spc="1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 is a </a:t>
            </a:r>
            <a:r>
              <a:rPr lang="en-IN" i="1" spc="1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member function</a:t>
            </a:r>
            <a:r>
              <a:rPr lang="en-IN" spc="1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 that is declared in the </a:t>
            </a:r>
            <a:r>
              <a:rPr lang="en-IN" i="1" spc="1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base</a:t>
            </a:r>
            <a:r>
              <a:rPr lang="en-IN" spc="1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 class using the keyword </a:t>
            </a:r>
            <a:r>
              <a:rPr lang="en-IN" b="1" spc="1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virtual</a:t>
            </a:r>
            <a:r>
              <a:rPr lang="en-IN" spc="1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 and is re-defined (Overridden) in the </a:t>
            </a:r>
            <a:r>
              <a:rPr lang="en-IN" i="1" spc="1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derived</a:t>
            </a:r>
            <a:r>
              <a:rPr lang="en-IN" spc="1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 class. It tells the compiler to perform late binding where the compiler matches the object with the right called function and executes it during the runtime. This technique falls under Runtime Polymorphism.</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a:p>
            <a:pPr algn="just" fontAlgn="base">
              <a:spcAft>
                <a:spcPts val="0"/>
              </a:spcAft>
            </a:pPr>
            <a:r>
              <a:rPr lang="en-IN" spc="1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The term</a:t>
            </a:r>
            <a:r>
              <a:rPr lang="en-IN" b="1" spc="1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b="1" u="sng" spc="1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hlinkClick r:id="rId3"/>
              </a:rPr>
              <a:t>Polymorphism</a:t>
            </a:r>
            <a:r>
              <a:rPr lang="en-IN" spc="1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 means the ability to take many forms. It occurs if there is a hierarchy of classes that are all related to each other by </a:t>
            </a:r>
            <a:r>
              <a:rPr lang="en-IN" i="1" spc="1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inheritance</a:t>
            </a:r>
            <a:r>
              <a:rPr lang="en-IN" spc="1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a:t>
            </a:r>
          </a:p>
          <a:p>
            <a:pPr algn="just" fontAlgn="base">
              <a:spcAft>
                <a:spcPts val="0"/>
              </a:spcAft>
            </a:pPr>
            <a:endParaRPr lang="en-US" spc="1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fontAlgn="base">
              <a:spcAft>
                <a:spcPts val="0"/>
              </a:spcAft>
            </a:pPr>
            <a:r>
              <a:rPr lang="en-US" dirty="0">
                <a:latin typeface="Times New Roman" panose="02020603050405020304" pitchFamily="18" charset="0"/>
                <a:cs typeface="Times New Roman" panose="02020603050405020304" pitchFamily="18" charset="0"/>
              </a:rPr>
              <a:t>Consider the following simple program as an example of </a:t>
            </a:r>
            <a:r>
              <a:rPr lang="en-US" u="sng" dirty="0">
                <a:latin typeface="Times New Roman" panose="02020603050405020304" pitchFamily="18" charset="0"/>
                <a:cs typeface="Times New Roman" panose="02020603050405020304" pitchFamily="18" charset="0"/>
                <a:hlinkClick r:id="rId3"/>
              </a:rPr>
              <a:t>runtime polymorphism</a:t>
            </a:r>
            <a:r>
              <a:rPr lang="en-US" dirty="0">
                <a:latin typeface="Times New Roman" panose="02020603050405020304" pitchFamily="18" charset="0"/>
                <a:cs typeface="Times New Roman" panose="02020603050405020304" pitchFamily="18" charset="0"/>
              </a:rPr>
              <a:t>. The main thing to note about the program is that the derived class’s function is called using a base class pointer.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idea is that </a:t>
            </a:r>
            <a:r>
              <a:rPr lang="en-US" u="sng" dirty="0">
                <a:latin typeface="Times New Roman" panose="02020603050405020304" pitchFamily="18" charset="0"/>
                <a:cs typeface="Times New Roman" panose="02020603050405020304" pitchFamily="18" charset="0"/>
                <a:hlinkClick r:id="rId2"/>
              </a:rPr>
              <a:t>virtual functions</a:t>
            </a:r>
            <a:r>
              <a:rPr lang="en-US" dirty="0">
                <a:latin typeface="Times New Roman" panose="02020603050405020304" pitchFamily="18" charset="0"/>
                <a:cs typeface="Times New Roman" panose="02020603050405020304" pitchFamily="18" charset="0"/>
              </a:rPr>
              <a:t> are called according to the type of the object instance pointed to or referenced, not according to the type of the pointer or reference.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In other words, virtual functions are resolved late, at runtime.</a:t>
            </a:r>
            <a:endParaRPr lang="en-US" spc="1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fontAlgn="base">
              <a:spcAft>
                <a:spcPts val="0"/>
              </a:spcAft>
            </a:pP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6272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D1EA39-0E7D-4ACE-BE22-7AC9FCDEB225}"/>
              </a:ext>
            </a:extLst>
          </p:cNvPr>
          <p:cNvSpPr/>
          <p:nvPr/>
        </p:nvSpPr>
        <p:spPr>
          <a:xfrm>
            <a:off x="380144" y="908778"/>
            <a:ext cx="10849509" cy="5693866"/>
          </a:xfrm>
          <a:prstGeom prst="rect">
            <a:avLst/>
          </a:prstGeom>
        </p:spPr>
        <p:txBody>
          <a:bodyPr wrap="square">
            <a:spAutoFit/>
          </a:bodyPr>
          <a:lstStyle/>
          <a:p>
            <a:pPr marL="457200" indent="-457200" algn="just">
              <a:buFont typeface="Arial" panose="020B0604020202020204" pitchFamily="34" charset="0"/>
              <a:buChar char="•"/>
            </a:pPr>
            <a:r>
              <a:rPr lang="en-US" sz="2800" b="1" dirty="0">
                <a:solidFill>
                  <a:srgbClr val="C00000"/>
                </a:solidFill>
                <a:latin typeface="inter-regular"/>
              </a:rPr>
              <a:t>Runtime polymorphism is the process of binding an object at runtime.</a:t>
            </a:r>
          </a:p>
          <a:p>
            <a:pPr marL="457200" indent="-457200" algn="just">
              <a:buFont typeface="Arial" panose="020B0604020202020204" pitchFamily="34" charset="0"/>
              <a:buChar char="•"/>
            </a:pPr>
            <a:r>
              <a:rPr lang="en-US" sz="2800" b="1" dirty="0">
                <a:solidFill>
                  <a:srgbClr val="333333"/>
                </a:solidFill>
                <a:latin typeface="inter-regular"/>
              </a:rPr>
              <a:t>Overriding methods is one way to implement runtime polymorphism. </a:t>
            </a:r>
          </a:p>
          <a:p>
            <a:pPr marL="457200" indent="-457200" algn="just">
              <a:buFont typeface="Arial" panose="020B0604020202020204" pitchFamily="34" charset="0"/>
              <a:buChar char="•"/>
            </a:pPr>
            <a:r>
              <a:rPr lang="en-US" sz="2800" b="1" dirty="0">
                <a:solidFill>
                  <a:srgbClr val="333333"/>
                </a:solidFill>
                <a:latin typeface="inter-regular"/>
              </a:rPr>
              <a:t>At runtime, not at compilation time, the C++ decides which method to invoke. </a:t>
            </a:r>
          </a:p>
          <a:p>
            <a:pPr marL="457200" indent="-457200" algn="just">
              <a:buFont typeface="Arial" panose="020B0604020202020204" pitchFamily="34" charset="0"/>
              <a:buChar char="•"/>
            </a:pPr>
            <a:r>
              <a:rPr lang="en-US" sz="2800" b="1" dirty="0">
                <a:solidFill>
                  <a:srgbClr val="333333"/>
                </a:solidFill>
                <a:latin typeface="inter-regular"/>
              </a:rPr>
              <a:t>Also known as </a:t>
            </a:r>
            <a:r>
              <a:rPr lang="en-US" sz="2800" b="1" dirty="0">
                <a:solidFill>
                  <a:srgbClr val="FF0000"/>
                </a:solidFill>
                <a:latin typeface="inter-regular"/>
              </a:rPr>
              <a:t>dynamic binding or late binding. </a:t>
            </a:r>
          </a:p>
          <a:p>
            <a:pPr marL="457200" indent="-457200" algn="just">
              <a:buFont typeface="Arial" panose="020B0604020202020204" pitchFamily="34" charset="0"/>
              <a:buChar char="•"/>
            </a:pPr>
            <a:r>
              <a:rPr lang="en-US" sz="2800" b="1" dirty="0">
                <a:solidFill>
                  <a:srgbClr val="333333"/>
                </a:solidFill>
                <a:latin typeface="inter-regular"/>
              </a:rPr>
              <a:t>The parent class's method is overridden in the child class, according to this concept. </a:t>
            </a:r>
          </a:p>
          <a:p>
            <a:pPr marL="457200" indent="-457200" algn="just">
              <a:buFont typeface="Arial" panose="020B0604020202020204" pitchFamily="34" charset="0"/>
              <a:buChar char="•"/>
            </a:pPr>
            <a:r>
              <a:rPr lang="en-US" sz="2800" b="1" dirty="0">
                <a:solidFill>
                  <a:srgbClr val="333333"/>
                </a:solidFill>
                <a:latin typeface="inter-regular"/>
              </a:rPr>
              <a:t>The term "method overriding" refers to the situation where a child class implements a method specifically that was supplied by one of its parent classes.</a:t>
            </a:r>
          </a:p>
          <a:p>
            <a:pPr algn="just"/>
            <a:endParaRPr lang="en-IN" sz="2800" b="1" dirty="0"/>
          </a:p>
        </p:txBody>
      </p:sp>
    </p:spTree>
    <p:extLst>
      <p:ext uri="{BB962C8B-B14F-4D97-AF65-F5344CB8AC3E}">
        <p14:creationId xmlns:p14="http://schemas.microsoft.com/office/powerpoint/2010/main" val="1256338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26F5BB3-DD4D-4384-8D37-50E8F8E3F90C}"/>
              </a:ext>
            </a:extLst>
          </p:cNvPr>
          <p:cNvSpPr/>
          <p:nvPr/>
        </p:nvSpPr>
        <p:spPr>
          <a:xfrm>
            <a:off x="0" y="1097842"/>
            <a:ext cx="11096089" cy="5232202"/>
          </a:xfrm>
          <a:prstGeom prst="rect">
            <a:avLst/>
          </a:prstGeom>
        </p:spPr>
        <p:txBody>
          <a:bodyPr wrap="square">
            <a:spAutoFit/>
          </a:bodyPr>
          <a:lstStyle/>
          <a:p>
            <a:pPr marL="285750" indent="-285750" algn="just">
              <a:spcAft>
                <a:spcPts val="1800"/>
              </a:spcAft>
              <a:buFont typeface="Arial" panose="020B0604020202020204" pitchFamily="34" charset="0"/>
              <a:buChar char="•"/>
            </a:pPr>
            <a:r>
              <a:rPr lang="en-US" sz="3200" b="1" dirty="0">
                <a:solidFill>
                  <a:srgbClr val="333333"/>
                </a:solidFill>
                <a:latin typeface="Times New Roman" panose="02020603050405020304" pitchFamily="18" charset="0"/>
                <a:cs typeface="Times New Roman" panose="02020603050405020304" pitchFamily="18" charset="0"/>
              </a:rPr>
              <a:t> Polymorphism, means "showing different characteristics in a variety of situations"</a:t>
            </a:r>
          </a:p>
          <a:p>
            <a:pPr marL="285750" indent="-285750" algn="just">
              <a:spcAft>
                <a:spcPts val="1800"/>
              </a:spcAft>
              <a:buFont typeface="Arial" panose="020B0604020202020204" pitchFamily="34" charset="0"/>
              <a:buChar char="•"/>
            </a:pPr>
            <a:r>
              <a:rPr lang="en-US" sz="3200" b="1" u="sng" dirty="0">
                <a:solidFill>
                  <a:srgbClr val="333333"/>
                </a:solidFill>
                <a:latin typeface="Times New Roman" panose="02020603050405020304" pitchFamily="18" charset="0"/>
                <a:cs typeface="Times New Roman" panose="02020603050405020304" pitchFamily="18" charset="0"/>
              </a:rPr>
              <a:t>To achieve Runtime Polymorphism, virtual functions are primarily used.</a:t>
            </a:r>
          </a:p>
          <a:p>
            <a:pPr marL="285750" indent="-285750" algn="just">
              <a:spcAft>
                <a:spcPts val="1800"/>
              </a:spcAft>
              <a:buFont typeface="Arial" panose="020B0604020202020204" pitchFamily="34" charset="0"/>
              <a:buChar char="•"/>
            </a:pPr>
            <a:r>
              <a:rPr lang="en-US" sz="3200" b="1" dirty="0">
                <a:solidFill>
                  <a:srgbClr val="333333"/>
                </a:solidFill>
                <a:latin typeface="Times New Roman" panose="02020603050405020304" pitchFamily="18" charset="0"/>
                <a:cs typeface="Times New Roman" panose="02020603050405020304" pitchFamily="18" charset="0"/>
              </a:rPr>
              <a:t> </a:t>
            </a:r>
            <a:r>
              <a:rPr lang="en-US" sz="3200" b="1" dirty="0">
                <a:solidFill>
                  <a:srgbClr val="FF0000"/>
                </a:solidFill>
                <a:latin typeface="Times New Roman" panose="02020603050405020304" pitchFamily="18" charset="0"/>
                <a:cs typeface="Times New Roman" panose="02020603050405020304" pitchFamily="18" charset="0"/>
              </a:rPr>
              <a:t>Only a base class type pointer (or reference) can enable runtime polymorphism. </a:t>
            </a:r>
          </a:p>
          <a:p>
            <a:pPr marL="285750" indent="-285750" algn="just">
              <a:spcAft>
                <a:spcPts val="1800"/>
              </a:spcAft>
              <a:buFont typeface="Arial" panose="020B0604020202020204" pitchFamily="34" charset="0"/>
              <a:buChar char="•"/>
            </a:pPr>
            <a:r>
              <a:rPr lang="en-US" sz="3200" b="1" dirty="0">
                <a:solidFill>
                  <a:srgbClr val="FF0000"/>
                </a:solidFill>
                <a:latin typeface="Times New Roman" panose="02020603050405020304" pitchFamily="18" charset="0"/>
                <a:cs typeface="Times New Roman" panose="02020603050405020304" pitchFamily="18" charset="0"/>
              </a:rPr>
              <a:t>A base class pointer can also point to both objects from the base class and those from derived classes.</a:t>
            </a:r>
          </a:p>
          <a:p>
            <a:pPr algn="just"/>
            <a:endParaRPr lang="en-US"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9328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ABFD9CB-4BC2-45D4-9C42-D5271F2E293E}"/>
              </a:ext>
            </a:extLst>
          </p:cNvPr>
          <p:cNvSpPr/>
          <p:nvPr/>
        </p:nvSpPr>
        <p:spPr>
          <a:xfrm>
            <a:off x="267127" y="589876"/>
            <a:ext cx="11229654" cy="3970318"/>
          </a:xfrm>
          <a:prstGeom prst="rect">
            <a:avLst/>
          </a:prstGeom>
        </p:spPr>
        <p:txBody>
          <a:bodyPr wrap="square">
            <a:spAutoFit/>
          </a:bodyPr>
          <a:lstStyle/>
          <a:p>
            <a:pPr algn="just"/>
            <a:r>
              <a:rPr lang="en-US" sz="2800" b="1" u="sng" dirty="0">
                <a:solidFill>
                  <a:srgbClr val="FF0000"/>
                </a:solidFill>
                <a:latin typeface="Times New Roman" panose="02020603050405020304" pitchFamily="18" charset="0"/>
                <a:cs typeface="Times New Roman" panose="02020603050405020304" pitchFamily="18" charset="0"/>
              </a:rPr>
              <a:t>Virtual functions and runtime polymorphism</a:t>
            </a:r>
          </a:p>
          <a:p>
            <a:pPr marL="457200" indent="-4572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A member function that has the keyword virtual used in its declaration in the base class and is redefined (Overridden) in the derived class is referred to as a virtual function. </a:t>
            </a:r>
          </a:p>
          <a:p>
            <a:pPr marL="457200" indent="-457200" algn="just">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The late binding instruction instructs the compiler to execute the called function during runtime by matching the object with the appropriately called function. This technique is called as Runtime Polymorphism.</a:t>
            </a:r>
          </a:p>
        </p:txBody>
      </p:sp>
    </p:spTree>
    <p:extLst>
      <p:ext uri="{BB962C8B-B14F-4D97-AF65-F5344CB8AC3E}">
        <p14:creationId xmlns:p14="http://schemas.microsoft.com/office/powerpoint/2010/main" val="1443648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E53BD90-4896-47B1-A7E6-C1822CE9298A}"/>
              </a:ext>
            </a:extLst>
          </p:cNvPr>
          <p:cNvSpPr/>
          <p:nvPr/>
        </p:nvSpPr>
        <p:spPr>
          <a:xfrm>
            <a:off x="236305" y="117693"/>
            <a:ext cx="11075541" cy="6740307"/>
          </a:xfrm>
          <a:prstGeom prst="rect">
            <a:avLst/>
          </a:prstGeom>
        </p:spPr>
        <p:txBody>
          <a:bodyPr wrap="square">
            <a:spAutoFit/>
          </a:bodyPr>
          <a:lstStyle/>
          <a:p>
            <a:pPr algn="just"/>
            <a:r>
              <a:rPr lang="en-US" sz="2400" b="1" u="sng" dirty="0">
                <a:solidFill>
                  <a:srgbClr val="FF0000"/>
                </a:solidFill>
                <a:latin typeface="Times New Roman" panose="02020603050405020304" pitchFamily="18" charset="0"/>
                <a:cs typeface="Times New Roman" panose="02020603050405020304" pitchFamily="18" charset="0"/>
              </a:rPr>
              <a:t>Virtual functions and runtime polymorphism</a:t>
            </a:r>
          </a:p>
          <a:p>
            <a:pPr algn="just"/>
            <a:r>
              <a:rPr lang="en-US" sz="2400" b="1" dirty="0">
                <a:latin typeface="Times New Roman" panose="02020603050405020304" pitchFamily="18" charset="0"/>
                <a:cs typeface="Times New Roman" panose="02020603050405020304" pitchFamily="18" charset="0"/>
              </a:rPr>
              <a:t>A member function that has the keyword virtual used in its declaration in the base class and is redefined (Overridden) in the derived class is referred to as a virtual function. The late binding instruction instructs the compiler to execute the called function during runtime by matching the object with the appropriately called function. Runtime Polymorphism refers to this method.</a:t>
            </a:r>
          </a:p>
          <a:p>
            <a:pPr algn="just"/>
            <a:endParaRPr lang="en-US" sz="2400" b="1" dirty="0">
              <a:solidFill>
                <a:srgbClr val="333333"/>
              </a:solidFill>
              <a:latin typeface="Times New Roman" panose="02020603050405020304" pitchFamily="18" charset="0"/>
              <a:cs typeface="Times New Roman" panose="02020603050405020304" pitchFamily="18" charset="0"/>
            </a:endParaRPr>
          </a:p>
          <a:p>
            <a:pPr algn="just"/>
            <a:r>
              <a:rPr lang="en-US" sz="2400" b="1" dirty="0">
                <a:solidFill>
                  <a:srgbClr val="333333"/>
                </a:solidFill>
                <a:latin typeface="Times New Roman" panose="02020603050405020304" pitchFamily="18" charset="0"/>
                <a:cs typeface="Times New Roman" panose="02020603050405020304" pitchFamily="18" charset="0"/>
              </a:rPr>
              <a:t>Polymorphism, which is defined as "showing diverse traits in different contexts," can be </a:t>
            </a:r>
            <a:r>
              <a:rPr lang="en-US" sz="2400" b="1" dirty="0" err="1">
                <a:solidFill>
                  <a:srgbClr val="333333"/>
                </a:solidFill>
                <a:latin typeface="Times New Roman" panose="02020603050405020304" pitchFamily="18" charset="0"/>
                <a:cs typeface="Times New Roman" panose="02020603050405020304" pitchFamily="18" charset="0"/>
              </a:rPr>
              <a:t>summarised</a:t>
            </a:r>
            <a:r>
              <a:rPr lang="en-US" sz="2400" b="1" dirty="0">
                <a:solidFill>
                  <a:srgbClr val="333333"/>
                </a:solidFill>
                <a:latin typeface="Times New Roman" panose="02020603050405020304" pitchFamily="18" charset="0"/>
                <a:cs typeface="Times New Roman" panose="02020603050405020304" pitchFamily="18" charset="0"/>
              </a:rPr>
              <a:t> as "showing different characteristics in a variety of situations" and "polymorphism."</a:t>
            </a:r>
          </a:p>
          <a:p>
            <a:pPr algn="just"/>
            <a:r>
              <a:rPr lang="en-US" sz="2400" b="1" dirty="0">
                <a:solidFill>
                  <a:srgbClr val="610B38"/>
                </a:solidFill>
                <a:latin typeface="Times New Roman" panose="02020603050405020304" pitchFamily="18" charset="0"/>
                <a:cs typeface="Times New Roman" panose="02020603050405020304" pitchFamily="18" charset="0"/>
              </a:rPr>
              <a:t>What is the use of virtual functions?</a:t>
            </a:r>
          </a:p>
          <a:p>
            <a:pPr algn="just"/>
            <a:r>
              <a:rPr lang="en-US" sz="2400" b="1" dirty="0">
                <a:solidFill>
                  <a:srgbClr val="333333"/>
                </a:solidFill>
                <a:latin typeface="Times New Roman" panose="02020603050405020304" pitchFamily="18" charset="0"/>
                <a:cs typeface="Times New Roman" panose="02020603050405020304" pitchFamily="18" charset="0"/>
              </a:rPr>
              <a:t>To achieve Runtime Polymorphism, virtual functions are primarily used. </a:t>
            </a:r>
            <a:r>
              <a:rPr lang="en-US" sz="2400" b="1" dirty="0">
                <a:solidFill>
                  <a:srgbClr val="FF0000"/>
                </a:solidFill>
                <a:latin typeface="Times New Roman" panose="02020603050405020304" pitchFamily="18" charset="0"/>
                <a:cs typeface="Times New Roman" panose="02020603050405020304" pitchFamily="18" charset="0"/>
              </a:rPr>
              <a:t>Only a base class type pointer (or reference) can enable runtime polymorphism. A base class pointer can also point to both objects from the base class and those from derived classes.</a:t>
            </a:r>
          </a:p>
          <a:p>
            <a:pPr algn="just"/>
            <a:r>
              <a:rPr lang="en-US" sz="2400" b="1" dirty="0">
                <a:solidFill>
                  <a:srgbClr val="333333"/>
                </a:solidFill>
                <a:latin typeface="Times New Roman" panose="02020603050405020304" pitchFamily="18" charset="0"/>
                <a:cs typeface="Times New Roman" panose="02020603050405020304" pitchFamily="18" charset="0"/>
              </a:rPr>
              <a:t>Also, without even knowing the type of derived class object, we can use virtual functions to compile a list of base class pointers and call any of the derived classes' methods.</a:t>
            </a:r>
            <a:endParaRPr lang="en-US" sz="2400" b="1" i="0" dirty="0">
              <a:solidFill>
                <a:srgbClr val="333333"/>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6020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CBB74E-6105-4716-A00B-852D636589D8}"/>
              </a:ext>
            </a:extLst>
          </p:cNvPr>
          <p:cNvPicPr>
            <a:picLocks noChangeAspect="1"/>
          </p:cNvPicPr>
          <p:nvPr/>
        </p:nvPicPr>
        <p:blipFill>
          <a:blip r:embed="rId3"/>
          <a:stretch>
            <a:fillRect/>
          </a:stretch>
        </p:blipFill>
        <p:spPr>
          <a:xfrm>
            <a:off x="140530" y="74147"/>
            <a:ext cx="6762720" cy="4686154"/>
          </a:xfrm>
          <a:prstGeom prst="rect">
            <a:avLst/>
          </a:prstGeom>
        </p:spPr>
      </p:pic>
      <p:pic>
        <p:nvPicPr>
          <p:cNvPr id="5" name="Picture 4">
            <a:extLst>
              <a:ext uri="{FF2B5EF4-FFF2-40B4-BE49-F238E27FC236}">
                <a16:creationId xmlns:a16="http://schemas.microsoft.com/office/drawing/2014/main" id="{FAB363AD-0046-4319-A284-AE59A33C07A0}"/>
              </a:ext>
            </a:extLst>
          </p:cNvPr>
          <p:cNvPicPr>
            <a:picLocks noChangeAspect="1"/>
          </p:cNvPicPr>
          <p:nvPr/>
        </p:nvPicPr>
        <p:blipFill>
          <a:blip r:embed="rId4"/>
          <a:stretch>
            <a:fillRect/>
          </a:stretch>
        </p:blipFill>
        <p:spPr>
          <a:xfrm>
            <a:off x="168666" y="4839286"/>
            <a:ext cx="4334406" cy="1865582"/>
          </a:xfrm>
          <a:prstGeom prst="rect">
            <a:avLst/>
          </a:prstGeom>
        </p:spPr>
      </p:pic>
      <p:pic>
        <p:nvPicPr>
          <p:cNvPr id="6" name="Picture 5">
            <a:extLst>
              <a:ext uri="{FF2B5EF4-FFF2-40B4-BE49-F238E27FC236}">
                <a16:creationId xmlns:a16="http://schemas.microsoft.com/office/drawing/2014/main" id="{6AFE117E-CA40-45C3-9B03-5181C6389A41}"/>
              </a:ext>
            </a:extLst>
          </p:cNvPr>
          <p:cNvPicPr>
            <a:picLocks noChangeAspect="1"/>
          </p:cNvPicPr>
          <p:nvPr/>
        </p:nvPicPr>
        <p:blipFill>
          <a:blip r:embed="rId5"/>
          <a:stretch>
            <a:fillRect/>
          </a:stretch>
        </p:blipFill>
        <p:spPr>
          <a:xfrm>
            <a:off x="5120640" y="1762417"/>
            <a:ext cx="6991581" cy="3028611"/>
          </a:xfrm>
          <a:prstGeom prst="rect">
            <a:avLst/>
          </a:prstGeom>
          <a:ln>
            <a:solidFill>
              <a:srgbClr val="FF0000"/>
            </a:solidFill>
          </a:ln>
        </p:spPr>
      </p:pic>
      <p:sp>
        <p:nvSpPr>
          <p:cNvPr id="7" name="TextBox 6">
            <a:extLst>
              <a:ext uri="{FF2B5EF4-FFF2-40B4-BE49-F238E27FC236}">
                <a16:creationId xmlns:a16="http://schemas.microsoft.com/office/drawing/2014/main" id="{E310BF80-DF38-4ACD-86B5-84740B738950}"/>
              </a:ext>
            </a:extLst>
          </p:cNvPr>
          <p:cNvSpPr txBox="1"/>
          <p:nvPr/>
        </p:nvSpPr>
        <p:spPr>
          <a:xfrm>
            <a:off x="2813538" y="74147"/>
            <a:ext cx="8492194" cy="430887"/>
          </a:xfrm>
          <a:prstGeom prst="rect">
            <a:avLst/>
          </a:prstGeom>
          <a:solidFill>
            <a:srgbClr val="FFFF00"/>
          </a:solidFill>
          <a:ln>
            <a:solidFill>
              <a:schemeClr val="tx1"/>
            </a:solidFill>
          </a:ln>
        </p:spPr>
        <p:txBody>
          <a:bodyPr wrap="square" rtlCol="0">
            <a:spAutoFit/>
          </a:bodyPr>
          <a:lstStyle/>
          <a:p>
            <a:r>
              <a:rPr lang="en-IN" sz="2200" dirty="0"/>
              <a:t>Virtual function and Run-Time polymorphism:</a:t>
            </a:r>
          </a:p>
        </p:txBody>
      </p:sp>
      <p:pic>
        <p:nvPicPr>
          <p:cNvPr id="8" name="Picture 7">
            <a:extLst>
              <a:ext uri="{FF2B5EF4-FFF2-40B4-BE49-F238E27FC236}">
                <a16:creationId xmlns:a16="http://schemas.microsoft.com/office/drawing/2014/main" id="{A74C3FA1-8C0B-4C89-8898-DC6272F68824}"/>
              </a:ext>
            </a:extLst>
          </p:cNvPr>
          <p:cNvPicPr>
            <a:picLocks noChangeAspect="1"/>
          </p:cNvPicPr>
          <p:nvPr/>
        </p:nvPicPr>
        <p:blipFill>
          <a:blip r:embed="rId6"/>
          <a:stretch>
            <a:fillRect/>
          </a:stretch>
        </p:blipFill>
        <p:spPr>
          <a:xfrm>
            <a:off x="9218733" y="5297291"/>
            <a:ext cx="1697795" cy="1198443"/>
          </a:xfrm>
          <a:prstGeom prst="rect">
            <a:avLst/>
          </a:prstGeom>
        </p:spPr>
      </p:pic>
    </p:spTree>
    <p:extLst>
      <p:ext uri="{BB962C8B-B14F-4D97-AF65-F5344CB8AC3E}">
        <p14:creationId xmlns:p14="http://schemas.microsoft.com/office/powerpoint/2010/main" val="1972713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24155" y="155805"/>
            <a:ext cx="7932387" cy="6559727"/>
          </a:xfrm>
          <a:prstGeom prst="rect">
            <a:avLst/>
          </a:prstGeom>
        </p:spPr>
      </p:pic>
    </p:spTree>
    <p:extLst>
      <p:ext uri="{BB962C8B-B14F-4D97-AF65-F5344CB8AC3E}">
        <p14:creationId xmlns:p14="http://schemas.microsoft.com/office/powerpoint/2010/main" val="4100475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2EEA89-4A60-45B2-91E9-17187D404837}"/>
              </a:ext>
            </a:extLst>
          </p:cNvPr>
          <p:cNvPicPr>
            <a:picLocks noChangeAspect="1"/>
          </p:cNvPicPr>
          <p:nvPr/>
        </p:nvPicPr>
        <p:blipFill>
          <a:blip r:embed="rId3"/>
          <a:stretch>
            <a:fillRect/>
          </a:stretch>
        </p:blipFill>
        <p:spPr>
          <a:xfrm>
            <a:off x="228598" y="244588"/>
            <a:ext cx="6685365" cy="6368823"/>
          </a:xfrm>
          <a:prstGeom prst="rect">
            <a:avLst/>
          </a:prstGeom>
        </p:spPr>
      </p:pic>
      <p:pic>
        <p:nvPicPr>
          <p:cNvPr id="5" name="Picture 4">
            <a:extLst>
              <a:ext uri="{FF2B5EF4-FFF2-40B4-BE49-F238E27FC236}">
                <a16:creationId xmlns:a16="http://schemas.microsoft.com/office/drawing/2014/main" id="{A7444A47-7B96-4CAB-B8F4-1424A83E5E33}"/>
              </a:ext>
            </a:extLst>
          </p:cNvPr>
          <p:cNvPicPr>
            <a:picLocks noChangeAspect="1"/>
          </p:cNvPicPr>
          <p:nvPr/>
        </p:nvPicPr>
        <p:blipFill>
          <a:blip r:embed="rId4"/>
          <a:stretch>
            <a:fillRect/>
          </a:stretch>
        </p:blipFill>
        <p:spPr>
          <a:xfrm>
            <a:off x="6913963" y="398462"/>
            <a:ext cx="5049439" cy="2082115"/>
          </a:xfrm>
          <a:prstGeom prst="rect">
            <a:avLst/>
          </a:prstGeom>
          <a:noFill/>
          <a:ln>
            <a:solidFill>
              <a:srgbClr val="FF0000"/>
            </a:solidFill>
          </a:ln>
        </p:spPr>
      </p:pic>
      <p:pic>
        <p:nvPicPr>
          <p:cNvPr id="6" name="Picture 5">
            <a:extLst>
              <a:ext uri="{FF2B5EF4-FFF2-40B4-BE49-F238E27FC236}">
                <a16:creationId xmlns:a16="http://schemas.microsoft.com/office/drawing/2014/main" id="{CE05C621-93D3-4D6F-A9C6-C2B5AEA131C8}"/>
              </a:ext>
            </a:extLst>
          </p:cNvPr>
          <p:cNvPicPr>
            <a:picLocks noChangeAspect="1"/>
          </p:cNvPicPr>
          <p:nvPr/>
        </p:nvPicPr>
        <p:blipFill>
          <a:blip r:embed="rId5"/>
          <a:stretch>
            <a:fillRect/>
          </a:stretch>
        </p:blipFill>
        <p:spPr>
          <a:xfrm>
            <a:off x="8039780" y="4059518"/>
            <a:ext cx="3671628" cy="974952"/>
          </a:xfrm>
          <a:prstGeom prst="rect">
            <a:avLst/>
          </a:prstGeom>
        </p:spPr>
      </p:pic>
      <p:sp>
        <p:nvSpPr>
          <p:cNvPr id="7" name="TextBox 6">
            <a:extLst>
              <a:ext uri="{FF2B5EF4-FFF2-40B4-BE49-F238E27FC236}">
                <a16:creationId xmlns:a16="http://schemas.microsoft.com/office/drawing/2014/main" id="{6BABA7DA-B417-43F4-9F28-FF1B17E1B261}"/>
              </a:ext>
            </a:extLst>
          </p:cNvPr>
          <p:cNvSpPr txBox="1"/>
          <p:nvPr/>
        </p:nvSpPr>
        <p:spPr>
          <a:xfrm>
            <a:off x="3687394" y="207621"/>
            <a:ext cx="2045749" cy="461665"/>
          </a:xfrm>
          <a:prstGeom prst="rect">
            <a:avLst/>
          </a:prstGeom>
          <a:noFill/>
        </p:spPr>
        <p:txBody>
          <a:bodyPr wrap="square" rtlCol="0">
            <a:spAutoFit/>
          </a:bodyPr>
          <a:lstStyle/>
          <a:p>
            <a:r>
              <a:rPr lang="en-US" sz="2400" b="1" dirty="0">
                <a:highlight>
                  <a:srgbClr val="00FFFF"/>
                </a:highlight>
              </a:rPr>
              <a:t>Question-1</a:t>
            </a:r>
            <a:r>
              <a:rPr lang="en-US" b="1" dirty="0">
                <a:highlight>
                  <a:srgbClr val="00FFFF"/>
                </a:highlight>
              </a:rPr>
              <a:t>:</a:t>
            </a:r>
            <a:endParaRPr lang="en-IN" b="1" dirty="0">
              <a:highlight>
                <a:srgbClr val="00FFFF"/>
              </a:highlight>
            </a:endParaRPr>
          </a:p>
        </p:txBody>
      </p:sp>
    </p:spTree>
    <p:extLst>
      <p:ext uri="{BB962C8B-B14F-4D97-AF65-F5344CB8AC3E}">
        <p14:creationId xmlns:p14="http://schemas.microsoft.com/office/powerpoint/2010/main" val="1501781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3200" y="89169"/>
            <a:ext cx="11001829" cy="769441"/>
          </a:xfrm>
          <a:prstGeom prst="rect">
            <a:avLst/>
          </a:prstGeom>
          <a:solidFill>
            <a:srgbClr val="FFFF00"/>
          </a:solidFill>
          <a:ln>
            <a:solidFill>
              <a:schemeClr val="tx1"/>
            </a:solidFill>
          </a:ln>
        </p:spPr>
        <p:txBody>
          <a:bodyPr wrap="square" rtlCol="0">
            <a:spAutoFit/>
          </a:bodyPr>
          <a:lstStyle/>
          <a:p>
            <a:pPr algn="r"/>
            <a:r>
              <a:rPr lang="en-IN" sz="2200" b="1" dirty="0"/>
              <a:t>Time to think!</a:t>
            </a:r>
          </a:p>
          <a:p>
            <a:pPr algn="r"/>
            <a:r>
              <a:rPr lang="en-IN" sz="2200" dirty="0"/>
              <a:t>What happens to non-</a:t>
            </a:r>
            <a:r>
              <a:rPr lang="en-IN" sz="2200" dirty="0" err="1"/>
              <a:t>overrridden</a:t>
            </a:r>
            <a:r>
              <a:rPr lang="en-IN" sz="2200" dirty="0"/>
              <a:t> functions accessed by base class pointer?</a:t>
            </a:r>
          </a:p>
        </p:txBody>
      </p:sp>
      <p:pic>
        <p:nvPicPr>
          <p:cNvPr id="8" name="Picture 7">
            <a:extLst>
              <a:ext uri="{FF2B5EF4-FFF2-40B4-BE49-F238E27FC236}">
                <a16:creationId xmlns:a16="http://schemas.microsoft.com/office/drawing/2014/main" id="{209EDB68-88AD-4F2C-B322-E9C68367669D}"/>
              </a:ext>
            </a:extLst>
          </p:cNvPr>
          <p:cNvPicPr>
            <a:picLocks noChangeAspect="1"/>
          </p:cNvPicPr>
          <p:nvPr/>
        </p:nvPicPr>
        <p:blipFill>
          <a:blip r:embed="rId2"/>
          <a:stretch>
            <a:fillRect/>
          </a:stretch>
        </p:blipFill>
        <p:spPr>
          <a:xfrm>
            <a:off x="14514" y="1004887"/>
            <a:ext cx="6656024" cy="5599113"/>
          </a:xfrm>
          <a:prstGeom prst="rect">
            <a:avLst/>
          </a:prstGeom>
        </p:spPr>
      </p:pic>
      <p:pic>
        <p:nvPicPr>
          <p:cNvPr id="9" name="Picture 8">
            <a:extLst>
              <a:ext uri="{FF2B5EF4-FFF2-40B4-BE49-F238E27FC236}">
                <a16:creationId xmlns:a16="http://schemas.microsoft.com/office/drawing/2014/main" id="{DAB429E8-367D-4699-AF93-5470A9B95FA1}"/>
              </a:ext>
            </a:extLst>
          </p:cNvPr>
          <p:cNvPicPr>
            <a:picLocks noChangeAspect="1"/>
          </p:cNvPicPr>
          <p:nvPr/>
        </p:nvPicPr>
        <p:blipFill>
          <a:blip r:embed="rId3"/>
          <a:stretch>
            <a:fillRect/>
          </a:stretch>
        </p:blipFill>
        <p:spPr>
          <a:xfrm>
            <a:off x="6525398" y="1297441"/>
            <a:ext cx="4249738" cy="3154890"/>
          </a:xfrm>
          <a:prstGeom prst="rect">
            <a:avLst/>
          </a:prstGeom>
          <a:ln>
            <a:solidFill>
              <a:srgbClr val="FF0000"/>
            </a:solidFill>
          </a:ln>
        </p:spPr>
      </p:pic>
      <p:pic>
        <p:nvPicPr>
          <p:cNvPr id="10" name="Picture 9">
            <a:extLst>
              <a:ext uri="{FF2B5EF4-FFF2-40B4-BE49-F238E27FC236}">
                <a16:creationId xmlns:a16="http://schemas.microsoft.com/office/drawing/2014/main" id="{AF069BB9-79F1-4073-B577-B336DCB3A229}"/>
              </a:ext>
            </a:extLst>
          </p:cNvPr>
          <p:cNvPicPr>
            <a:picLocks noChangeAspect="1"/>
          </p:cNvPicPr>
          <p:nvPr/>
        </p:nvPicPr>
        <p:blipFill>
          <a:blip r:embed="rId4"/>
          <a:stretch>
            <a:fillRect/>
          </a:stretch>
        </p:blipFill>
        <p:spPr>
          <a:xfrm>
            <a:off x="10760622" y="3619159"/>
            <a:ext cx="1271743" cy="589984"/>
          </a:xfrm>
          <a:prstGeom prst="rect">
            <a:avLst/>
          </a:prstGeom>
        </p:spPr>
      </p:pic>
      <p:sp>
        <p:nvSpPr>
          <p:cNvPr id="5" name="Flowchart: Display 4">
            <a:extLst>
              <a:ext uri="{FF2B5EF4-FFF2-40B4-BE49-F238E27FC236}">
                <a16:creationId xmlns:a16="http://schemas.microsoft.com/office/drawing/2014/main" id="{CACE8887-DA60-495D-8315-57554CABFD21}"/>
              </a:ext>
            </a:extLst>
          </p:cNvPr>
          <p:cNvSpPr/>
          <p:nvPr/>
        </p:nvSpPr>
        <p:spPr>
          <a:xfrm>
            <a:off x="7005711" y="4744885"/>
            <a:ext cx="5026653" cy="1775981"/>
          </a:xfrm>
          <a:prstGeom prst="flowChartDisplay">
            <a:avLst/>
          </a:prstGeom>
          <a:solidFill>
            <a:schemeClr val="bg2">
              <a:lumMod val="9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FF0000"/>
                </a:solidFill>
              </a:rPr>
              <a:t>Only the inherited features are accessible through base class pointer</a:t>
            </a:r>
            <a:endParaRPr lang="en-IN" sz="2800" b="1" dirty="0">
              <a:solidFill>
                <a:srgbClr val="FF0000"/>
              </a:solidFill>
            </a:endParaRPr>
          </a:p>
        </p:txBody>
      </p:sp>
    </p:spTree>
    <p:extLst>
      <p:ext uri="{BB962C8B-B14F-4D97-AF65-F5344CB8AC3E}">
        <p14:creationId xmlns:p14="http://schemas.microsoft.com/office/powerpoint/2010/main" val="24621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C03A2-DD57-4123-A73E-6F3A83797838}"/>
              </a:ext>
            </a:extLst>
          </p:cNvPr>
          <p:cNvSpPr>
            <a:spLocks noGrp="1"/>
          </p:cNvSpPr>
          <p:nvPr>
            <p:ph type="title"/>
          </p:nvPr>
        </p:nvSpPr>
        <p:spPr/>
        <p:txBody>
          <a:bodyPr/>
          <a:lstStyle/>
          <a:p>
            <a:r>
              <a:rPr lang="en-US" dirty="0"/>
              <a:t>Abstract class.</a:t>
            </a:r>
            <a:endParaRPr lang="en-IN" dirty="0"/>
          </a:p>
        </p:txBody>
      </p:sp>
      <p:sp>
        <p:nvSpPr>
          <p:cNvPr id="3" name="Content Placeholder 2">
            <a:extLst>
              <a:ext uri="{FF2B5EF4-FFF2-40B4-BE49-F238E27FC236}">
                <a16:creationId xmlns:a16="http://schemas.microsoft.com/office/drawing/2014/main" id="{196F5076-59E4-4484-AF3A-0034B4A7D88A}"/>
              </a:ext>
            </a:extLst>
          </p:cNvPr>
          <p:cNvSpPr>
            <a:spLocks noGrp="1"/>
          </p:cNvSpPr>
          <p:nvPr>
            <p:ph idx="1"/>
          </p:nvPr>
        </p:nvSpPr>
        <p:spPr/>
        <p:txBody>
          <a:bodyPr/>
          <a:lstStyle/>
          <a:p>
            <a:r>
              <a:rPr lang="en-US" dirty="0"/>
              <a:t>When we will never want to instantiate objects of a base class, we call it an abstract class. </a:t>
            </a:r>
          </a:p>
          <a:p>
            <a:r>
              <a:rPr lang="en-US" dirty="0"/>
              <a:t>Such a class exists only to act as a parent of derived classes that will be used to instantiate objects. </a:t>
            </a:r>
          </a:p>
          <a:p>
            <a:r>
              <a:rPr lang="en-US" dirty="0"/>
              <a:t>By placing at least </a:t>
            </a:r>
            <a:r>
              <a:rPr lang="en-US" dirty="0">
                <a:solidFill>
                  <a:srgbClr val="FF0000"/>
                </a:solidFill>
              </a:rPr>
              <a:t>one </a:t>
            </a:r>
            <a:r>
              <a:rPr lang="en-US" i="1" dirty="0">
                <a:solidFill>
                  <a:srgbClr val="FF0000"/>
                </a:solidFill>
              </a:rPr>
              <a:t>pure virtual function </a:t>
            </a:r>
            <a:r>
              <a:rPr lang="en-US" dirty="0">
                <a:solidFill>
                  <a:srgbClr val="FF0000"/>
                </a:solidFill>
              </a:rPr>
              <a:t>in the base class. </a:t>
            </a:r>
          </a:p>
          <a:p>
            <a:r>
              <a:rPr lang="en-US" dirty="0"/>
              <a:t>A </a:t>
            </a:r>
            <a:r>
              <a:rPr lang="en-US" u="sng" dirty="0"/>
              <a:t>pure virtual function</a:t>
            </a:r>
            <a:r>
              <a:rPr lang="en-US" dirty="0"/>
              <a:t> is one with the expression =0 added to the</a:t>
            </a:r>
          </a:p>
          <a:p>
            <a:pPr marL="0" indent="0">
              <a:buNone/>
            </a:pPr>
            <a:r>
              <a:rPr lang="en-IN" dirty="0"/>
              <a:t>declaration.</a:t>
            </a:r>
          </a:p>
          <a:p>
            <a:pPr marL="0" indent="0">
              <a:buNone/>
            </a:pPr>
            <a:r>
              <a:rPr lang="en-US" dirty="0"/>
              <a:t>E</a:t>
            </a:r>
            <a:r>
              <a:rPr lang="en-IN" dirty="0"/>
              <a:t>g:- </a:t>
            </a:r>
            <a:r>
              <a:rPr lang="en-US"/>
              <a:t>virtual void show() = 0; // pure virtual function</a:t>
            </a:r>
          </a:p>
          <a:p>
            <a:pPr marL="0" indent="0">
              <a:buNone/>
            </a:pPr>
            <a:endParaRPr lang="en-IN" dirty="0"/>
          </a:p>
        </p:txBody>
      </p:sp>
    </p:spTree>
    <p:extLst>
      <p:ext uri="{BB962C8B-B14F-4D97-AF65-F5344CB8AC3E}">
        <p14:creationId xmlns:p14="http://schemas.microsoft.com/office/powerpoint/2010/main" val="2225316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3A6A6C-97F2-4B16-990D-50864546B05C}"/>
              </a:ext>
            </a:extLst>
          </p:cNvPr>
          <p:cNvPicPr>
            <a:picLocks noChangeAspect="1"/>
          </p:cNvPicPr>
          <p:nvPr/>
        </p:nvPicPr>
        <p:blipFill>
          <a:blip r:embed="rId3"/>
          <a:stretch>
            <a:fillRect/>
          </a:stretch>
        </p:blipFill>
        <p:spPr>
          <a:xfrm>
            <a:off x="88655" y="118329"/>
            <a:ext cx="6579465" cy="6471211"/>
          </a:xfrm>
          <a:prstGeom prst="rect">
            <a:avLst/>
          </a:prstGeom>
        </p:spPr>
      </p:pic>
      <p:sp>
        <p:nvSpPr>
          <p:cNvPr id="6" name="Title 1">
            <a:extLst>
              <a:ext uri="{FF2B5EF4-FFF2-40B4-BE49-F238E27FC236}">
                <a16:creationId xmlns:a16="http://schemas.microsoft.com/office/drawing/2014/main" id="{ECC7BBFA-703D-421B-A383-A83572B0F2C4}"/>
              </a:ext>
            </a:extLst>
          </p:cNvPr>
          <p:cNvSpPr txBox="1">
            <a:spLocks/>
          </p:cNvSpPr>
          <p:nvPr/>
        </p:nvSpPr>
        <p:spPr>
          <a:xfrm>
            <a:off x="4144107" y="118329"/>
            <a:ext cx="5434428" cy="619613"/>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highlight>
                  <a:srgbClr val="00FFFF"/>
                </a:highlight>
              </a:rPr>
              <a:t>Pure virtual function &amp; abstract class</a:t>
            </a:r>
            <a:endParaRPr lang="en-IN" sz="3600" b="1" dirty="0">
              <a:highlight>
                <a:srgbClr val="00FFFF"/>
              </a:highlight>
            </a:endParaRPr>
          </a:p>
        </p:txBody>
      </p:sp>
      <p:pic>
        <p:nvPicPr>
          <p:cNvPr id="8" name="Picture 7">
            <a:extLst>
              <a:ext uri="{FF2B5EF4-FFF2-40B4-BE49-F238E27FC236}">
                <a16:creationId xmlns:a16="http://schemas.microsoft.com/office/drawing/2014/main" id="{4049A464-0A90-4A39-B781-AB4876FA320A}"/>
              </a:ext>
            </a:extLst>
          </p:cNvPr>
          <p:cNvPicPr>
            <a:picLocks noChangeAspect="1"/>
          </p:cNvPicPr>
          <p:nvPr/>
        </p:nvPicPr>
        <p:blipFill>
          <a:blip r:embed="rId4"/>
          <a:stretch>
            <a:fillRect/>
          </a:stretch>
        </p:blipFill>
        <p:spPr>
          <a:xfrm>
            <a:off x="7019046" y="1138896"/>
            <a:ext cx="4882222" cy="3469599"/>
          </a:xfrm>
          <a:prstGeom prst="rect">
            <a:avLst/>
          </a:prstGeom>
          <a:ln>
            <a:solidFill>
              <a:srgbClr val="FF0000"/>
            </a:solidFill>
          </a:ln>
        </p:spPr>
      </p:pic>
      <p:pic>
        <p:nvPicPr>
          <p:cNvPr id="9" name="Picture 8">
            <a:extLst>
              <a:ext uri="{FF2B5EF4-FFF2-40B4-BE49-F238E27FC236}">
                <a16:creationId xmlns:a16="http://schemas.microsoft.com/office/drawing/2014/main" id="{E5FED058-41B1-4D9D-A3AC-46513FF97FAB}"/>
              </a:ext>
            </a:extLst>
          </p:cNvPr>
          <p:cNvPicPr>
            <a:picLocks noChangeAspect="1"/>
          </p:cNvPicPr>
          <p:nvPr/>
        </p:nvPicPr>
        <p:blipFill>
          <a:blip r:embed="rId5"/>
          <a:stretch>
            <a:fillRect/>
          </a:stretch>
        </p:blipFill>
        <p:spPr>
          <a:xfrm>
            <a:off x="7755988" y="5211421"/>
            <a:ext cx="3899002" cy="1015365"/>
          </a:xfrm>
          <a:prstGeom prst="rect">
            <a:avLst/>
          </a:prstGeom>
        </p:spPr>
      </p:pic>
      <p:sp>
        <p:nvSpPr>
          <p:cNvPr id="10" name="Rectangle 9">
            <a:extLst>
              <a:ext uri="{FF2B5EF4-FFF2-40B4-BE49-F238E27FC236}">
                <a16:creationId xmlns:a16="http://schemas.microsoft.com/office/drawing/2014/main" id="{159E9AF1-0512-43E7-8998-12C02E582276}"/>
              </a:ext>
            </a:extLst>
          </p:cNvPr>
          <p:cNvSpPr/>
          <p:nvPr/>
        </p:nvSpPr>
        <p:spPr>
          <a:xfrm>
            <a:off x="1561513" y="1068604"/>
            <a:ext cx="4332849" cy="619613"/>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7242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0488" tIns="44450" rIns="90488" bIns="44450" rtlCol="0" anchor="ctr">
            <a:normAutofit/>
          </a:bodyPr>
          <a:lstStyle/>
          <a:p>
            <a:r>
              <a:rPr lang="th-TH" sz="3200" dirty="0">
                <a:latin typeface="+mn-lt"/>
              </a:rPr>
              <a:t>Representing Shapes</a:t>
            </a:r>
          </a:p>
        </p:txBody>
      </p:sp>
      <p:sp>
        <p:nvSpPr>
          <p:cNvPr id="27" name="Slide Number Placeholder 5"/>
          <p:cNvSpPr>
            <a:spLocks noGrp="1"/>
          </p:cNvSpPr>
          <p:nvPr>
            <p:ph type="sldNum" sz="quarter" idx="12"/>
          </p:nvPr>
        </p:nvSpPr>
        <p:spPr/>
        <p:txBody>
          <a:bodyPr/>
          <a:lstStyle/>
          <a:p>
            <a:fld id="{5F94FFE6-76EE-4D5C-A59F-F9C5561811F6}" type="slidenum">
              <a:rPr lang="en-US"/>
              <a:pPr/>
              <a:t>20</a:t>
            </a:fld>
            <a:endParaRPr lang="en-US"/>
          </a:p>
        </p:txBody>
      </p:sp>
      <p:grpSp>
        <p:nvGrpSpPr>
          <p:cNvPr id="38937" name="Group 25"/>
          <p:cNvGrpSpPr>
            <a:grpSpLocks/>
          </p:cNvGrpSpPr>
          <p:nvPr/>
        </p:nvGrpSpPr>
        <p:grpSpPr bwMode="auto">
          <a:xfrm>
            <a:off x="1607127" y="1299874"/>
            <a:ext cx="9418205" cy="4710112"/>
            <a:chOff x="621" y="1037"/>
            <a:chExt cx="5015" cy="2684"/>
          </a:xfrm>
        </p:grpSpPr>
        <p:grpSp>
          <p:nvGrpSpPr>
            <p:cNvPr id="38915" name="Group 3"/>
            <p:cNvGrpSpPr>
              <a:grpSpLocks/>
            </p:cNvGrpSpPr>
            <p:nvPr/>
          </p:nvGrpSpPr>
          <p:grpSpPr bwMode="auto">
            <a:xfrm>
              <a:off x="2195" y="1037"/>
              <a:ext cx="1001" cy="877"/>
              <a:chOff x="2078" y="1036"/>
              <a:chExt cx="1001" cy="877"/>
            </a:xfrm>
          </p:grpSpPr>
          <p:sp useBgFill="1">
            <p:nvSpPr>
              <p:cNvPr id="38916" name="Freeform 4"/>
              <p:cNvSpPr>
                <a:spLocks/>
              </p:cNvSpPr>
              <p:nvPr/>
            </p:nvSpPr>
            <p:spPr bwMode="auto">
              <a:xfrm>
                <a:off x="2078" y="1036"/>
                <a:ext cx="1001" cy="877"/>
              </a:xfrm>
              <a:custGeom>
                <a:avLst/>
                <a:gdLst>
                  <a:gd name="T0" fmla="*/ 237 w 1001"/>
                  <a:gd name="T1" fmla="*/ 188 h 877"/>
                  <a:gd name="T2" fmla="*/ 275 w 1001"/>
                  <a:gd name="T3" fmla="*/ 138 h 877"/>
                  <a:gd name="T4" fmla="*/ 312 w 1001"/>
                  <a:gd name="T5" fmla="*/ 100 h 877"/>
                  <a:gd name="T6" fmla="*/ 375 w 1001"/>
                  <a:gd name="T7" fmla="*/ 63 h 877"/>
                  <a:gd name="T8" fmla="*/ 437 w 1001"/>
                  <a:gd name="T9" fmla="*/ 38 h 877"/>
                  <a:gd name="T10" fmla="*/ 487 w 1001"/>
                  <a:gd name="T11" fmla="*/ 13 h 877"/>
                  <a:gd name="T12" fmla="*/ 575 w 1001"/>
                  <a:gd name="T13" fmla="*/ 13 h 877"/>
                  <a:gd name="T14" fmla="*/ 625 w 1001"/>
                  <a:gd name="T15" fmla="*/ 25 h 877"/>
                  <a:gd name="T16" fmla="*/ 637 w 1001"/>
                  <a:gd name="T17" fmla="*/ 75 h 877"/>
                  <a:gd name="T18" fmla="*/ 637 w 1001"/>
                  <a:gd name="T19" fmla="*/ 125 h 877"/>
                  <a:gd name="T20" fmla="*/ 637 w 1001"/>
                  <a:gd name="T21" fmla="*/ 188 h 877"/>
                  <a:gd name="T22" fmla="*/ 675 w 1001"/>
                  <a:gd name="T23" fmla="*/ 213 h 877"/>
                  <a:gd name="T24" fmla="*/ 738 w 1001"/>
                  <a:gd name="T25" fmla="*/ 200 h 877"/>
                  <a:gd name="T26" fmla="*/ 800 w 1001"/>
                  <a:gd name="T27" fmla="*/ 213 h 877"/>
                  <a:gd name="T28" fmla="*/ 900 w 1001"/>
                  <a:gd name="T29" fmla="*/ 238 h 877"/>
                  <a:gd name="T30" fmla="*/ 975 w 1001"/>
                  <a:gd name="T31" fmla="*/ 300 h 877"/>
                  <a:gd name="T32" fmla="*/ 1000 w 1001"/>
                  <a:gd name="T33" fmla="*/ 363 h 877"/>
                  <a:gd name="T34" fmla="*/ 975 w 1001"/>
                  <a:gd name="T35" fmla="*/ 413 h 877"/>
                  <a:gd name="T36" fmla="*/ 925 w 1001"/>
                  <a:gd name="T37" fmla="*/ 463 h 877"/>
                  <a:gd name="T38" fmla="*/ 875 w 1001"/>
                  <a:gd name="T39" fmla="*/ 488 h 877"/>
                  <a:gd name="T40" fmla="*/ 825 w 1001"/>
                  <a:gd name="T41" fmla="*/ 500 h 877"/>
                  <a:gd name="T42" fmla="*/ 875 w 1001"/>
                  <a:gd name="T43" fmla="*/ 563 h 877"/>
                  <a:gd name="T44" fmla="*/ 900 w 1001"/>
                  <a:gd name="T45" fmla="*/ 613 h 877"/>
                  <a:gd name="T46" fmla="*/ 913 w 1001"/>
                  <a:gd name="T47" fmla="*/ 663 h 877"/>
                  <a:gd name="T48" fmla="*/ 888 w 1001"/>
                  <a:gd name="T49" fmla="*/ 726 h 877"/>
                  <a:gd name="T50" fmla="*/ 825 w 1001"/>
                  <a:gd name="T51" fmla="*/ 776 h 877"/>
                  <a:gd name="T52" fmla="*/ 788 w 1001"/>
                  <a:gd name="T53" fmla="*/ 801 h 877"/>
                  <a:gd name="T54" fmla="*/ 725 w 1001"/>
                  <a:gd name="T55" fmla="*/ 826 h 877"/>
                  <a:gd name="T56" fmla="*/ 663 w 1001"/>
                  <a:gd name="T57" fmla="*/ 826 h 877"/>
                  <a:gd name="T58" fmla="*/ 612 w 1001"/>
                  <a:gd name="T59" fmla="*/ 801 h 877"/>
                  <a:gd name="T60" fmla="*/ 575 w 1001"/>
                  <a:gd name="T61" fmla="*/ 751 h 877"/>
                  <a:gd name="T62" fmla="*/ 525 w 1001"/>
                  <a:gd name="T63" fmla="*/ 751 h 877"/>
                  <a:gd name="T64" fmla="*/ 450 w 1001"/>
                  <a:gd name="T65" fmla="*/ 801 h 877"/>
                  <a:gd name="T66" fmla="*/ 400 w 1001"/>
                  <a:gd name="T67" fmla="*/ 826 h 877"/>
                  <a:gd name="T68" fmla="*/ 337 w 1001"/>
                  <a:gd name="T69" fmla="*/ 838 h 877"/>
                  <a:gd name="T70" fmla="*/ 287 w 1001"/>
                  <a:gd name="T71" fmla="*/ 851 h 877"/>
                  <a:gd name="T72" fmla="*/ 237 w 1001"/>
                  <a:gd name="T73" fmla="*/ 876 h 877"/>
                  <a:gd name="T74" fmla="*/ 175 w 1001"/>
                  <a:gd name="T75" fmla="*/ 851 h 877"/>
                  <a:gd name="T76" fmla="*/ 112 w 1001"/>
                  <a:gd name="T77" fmla="*/ 788 h 877"/>
                  <a:gd name="T78" fmla="*/ 100 w 1001"/>
                  <a:gd name="T79" fmla="*/ 738 h 877"/>
                  <a:gd name="T80" fmla="*/ 125 w 1001"/>
                  <a:gd name="T81" fmla="*/ 676 h 877"/>
                  <a:gd name="T82" fmla="*/ 175 w 1001"/>
                  <a:gd name="T83" fmla="*/ 650 h 877"/>
                  <a:gd name="T84" fmla="*/ 125 w 1001"/>
                  <a:gd name="T85" fmla="*/ 650 h 877"/>
                  <a:gd name="T86" fmla="*/ 75 w 1001"/>
                  <a:gd name="T87" fmla="*/ 613 h 877"/>
                  <a:gd name="T88" fmla="*/ 25 w 1001"/>
                  <a:gd name="T89" fmla="*/ 563 h 877"/>
                  <a:gd name="T90" fmla="*/ 0 w 1001"/>
                  <a:gd name="T91" fmla="*/ 513 h 877"/>
                  <a:gd name="T92" fmla="*/ 25 w 1001"/>
                  <a:gd name="T93" fmla="*/ 450 h 877"/>
                  <a:gd name="T94" fmla="*/ 62 w 1001"/>
                  <a:gd name="T95" fmla="*/ 400 h 877"/>
                  <a:gd name="T96" fmla="*/ 87 w 1001"/>
                  <a:gd name="T97" fmla="*/ 363 h 877"/>
                  <a:gd name="T98" fmla="*/ 137 w 1001"/>
                  <a:gd name="T99" fmla="*/ 325 h 877"/>
                  <a:gd name="T100" fmla="*/ 187 w 1001"/>
                  <a:gd name="T101" fmla="*/ 288 h 877"/>
                  <a:gd name="T102" fmla="*/ 225 w 1001"/>
                  <a:gd name="T103" fmla="*/ 238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01" h="877">
                    <a:moveTo>
                      <a:pt x="225" y="238"/>
                    </a:moveTo>
                    <a:lnTo>
                      <a:pt x="237" y="188"/>
                    </a:lnTo>
                    <a:lnTo>
                      <a:pt x="262" y="163"/>
                    </a:lnTo>
                    <a:lnTo>
                      <a:pt x="275" y="138"/>
                    </a:lnTo>
                    <a:lnTo>
                      <a:pt x="300" y="125"/>
                    </a:lnTo>
                    <a:lnTo>
                      <a:pt x="312" y="100"/>
                    </a:lnTo>
                    <a:lnTo>
                      <a:pt x="350" y="88"/>
                    </a:lnTo>
                    <a:lnTo>
                      <a:pt x="375" y="63"/>
                    </a:lnTo>
                    <a:lnTo>
                      <a:pt x="412" y="50"/>
                    </a:lnTo>
                    <a:lnTo>
                      <a:pt x="437" y="38"/>
                    </a:lnTo>
                    <a:lnTo>
                      <a:pt x="462" y="25"/>
                    </a:lnTo>
                    <a:lnTo>
                      <a:pt x="487" y="13"/>
                    </a:lnTo>
                    <a:lnTo>
                      <a:pt x="537" y="0"/>
                    </a:lnTo>
                    <a:lnTo>
                      <a:pt x="575" y="13"/>
                    </a:lnTo>
                    <a:lnTo>
                      <a:pt x="600" y="13"/>
                    </a:lnTo>
                    <a:lnTo>
                      <a:pt x="625" y="25"/>
                    </a:lnTo>
                    <a:lnTo>
                      <a:pt x="625" y="50"/>
                    </a:lnTo>
                    <a:lnTo>
                      <a:pt x="637" y="75"/>
                    </a:lnTo>
                    <a:lnTo>
                      <a:pt x="637" y="100"/>
                    </a:lnTo>
                    <a:lnTo>
                      <a:pt x="637" y="125"/>
                    </a:lnTo>
                    <a:lnTo>
                      <a:pt x="637" y="150"/>
                    </a:lnTo>
                    <a:lnTo>
                      <a:pt x="637" y="188"/>
                    </a:lnTo>
                    <a:lnTo>
                      <a:pt x="637" y="213"/>
                    </a:lnTo>
                    <a:lnTo>
                      <a:pt x="675" y="213"/>
                    </a:lnTo>
                    <a:lnTo>
                      <a:pt x="700" y="200"/>
                    </a:lnTo>
                    <a:lnTo>
                      <a:pt x="738" y="200"/>
                    </a:lnTo>
                    <a:lnTo>
                      <a:pt x="763" y="200"/>
                    </a:lnTo>
                    <a:lnTo>
                      <a:pt x="800" y="213"/>
                    </a:lnTo>
                    <a:lnTo>
                      <a:pt x="838" y="225"/>
                    </a:lnTo>
                    <a:lnTo>
                      <a:pt x="900" y="238"/>
                    </a:lnTo>
                    <a:lnTo>
                      <a:pt x="938" y="263"/>
                    </a:lnTo>
                    <a:lnTo>
                      <a:pt x="975" y="300"/>
                    </a:lnTo>
                    <a:lnTo>
                      <a:pt x="988" y="325"/>
                    </a:lnTo>
                    <a:lnTo>
                      <a:pt x="1000" y="363"/>
                    </a:lnTo>
                    <a:lnTo>
                      <a:pt x="988" y="388"/>
                    </a:lnTo>
                    <a:lnTo>
                      <a:pt x="975" y="413"/>
                    </a:lnTo>
                    <a:lnTo>
                      <a:pt x="950" y="438"/>
                    </a:lnTo>
                    <a:lnTo>
                      <a:pt x="925" y="463"/>
                    </a:lnTo>
                    <a:lnTo>
                      <a:pt x="900" y="475"/>
                    </a:lnTo>
                    <a:lnTo>
                      <a:pt x="875" y="488"/>
                    </a:lnTo>
                    <a:lnTo>
                      <a:pt x="850" y="500"/>
                    </a:lnTo>
                    <a:lnTo>
                      <a:pt x="825" y="500"/>
                    </a:lnTo>
                    <a:lnTo>
                      <a:pt x="863" y="525"/>
                    </a:lnTo>
                    <a:lnTo>
                      <a:pt x="875" y="563"/>
                    </a:lnTo>
                    <a:lnTo>
                      <a:pt x="888" y="588"/>
                    </a:lnTo>
                    <a:lnTo>
                      <a:pt x="900" y="613"/>
                    </a:lnTo>
                    <a:lnTo>
                      <a:pt x="913" y="638"/>
                    </a:lnTo>
                    <a:lnTo>
                      <a:pt x="913" y="663"/>
                    </a:lnTo>
                    <a:lnTo>
                      <a:pt x="900" y="701"/>
                    </a:lnTo>
                    <a:lnTo>
                      <a:pt x="888" y="726"/>
                    </a:lnTo>
                    <a:lnTo>
                      <a:pt x="863" y="751"/>
                    </a:lnTo>
                    <a:lnTo>
                      <a:pt x="825" y="776"/>
                    </a:lnTo>
                    <a:lnTo>
                      <a:pt x="813" y="801"/>
                    </a:lnTo>
                    <a:lnTo>
                      <a:pt x="788" y="801"/>
                    </a:lnTo>
                    <a:lnTo>
                      <a:pt x="750" y="813"/>
                    </a:lnTo>
                    <a:lnTo>
                      <a:pt x="725" y="826"/>
                    </a:lnTo>
                    <a:lnTo>
                      <a:pt x="688" y="838"/>
                    </a:lnTo>
                    <a:lnTo>
                      <a:pt x="663" y="826"/>
                    </a:lnTo>
                    <a:lnTo>
                      <a:pt x="637" y="826"/>
                    </a:lnTo>
                    <a:lnTo>
                      <a:pt x="612" y="801"/>
                    </a:lnTo>
                    <a:lnTo>
                      <a:pt x="587" y="776"/>
                    </a:lnTo>
                    <a:lnTo>
                      <a:pt x="575" y="751"/>
                    </a:lnTo>
                    <a:lnTo>
                      <a:pt x="562" y="726"/>
                    </a:lnTo>
                    <a:lnTo>
                      <a:pt x="525" y="751"/>
                    </a:lnTo>
                    <a:lnTo>
                      <a:pt x="500" y="776"/>
                    </a:lnTo>
                    <a:lnTo>
                      <a:pt x="450" y="801"/>
                    </a:lnTo>
                    <a:lnTo>
                      <a:pt x="425" y="813"/>
                    </a:lnTo>
                    <a:lnTo>
                      <a:pt x="400" y="826"/>
                    </a:lnTo>
                    <a:lnTo>
                      <a:pt x="375" y="838"/>
                    </a:lnTo>
                    <a:lnTo>
                      <a:pt x="337" y="838"/>
                    </a:lnTo>
                    <a:lnTo>
                      <a:pt x="312" y="851"/>
                    </a:lnTo>
                    <a:lnTo>
                      <a:pt x="287" y="851"/>
                    </a:lnTo>
                    <a:lnTo>
                      <a:pt x="262" y="863"/>
                    </a:lnTo>
                    <a:lnTo>
                      <a:pt x="237" y="876"/>
                    </a:lnTo>
                    <a:lnTo>
                      <a:pt x="200" y="863"/>
                    </a:lnTo>
                    <a:lnTo>
                      <a:pt x="175" y="851"/>
                    </a:lnTo>
                    <a:lnTo>
                      <a:pt x="150" y="838"/>
                    </a:lnTo>
                    <a:lnTo>
                      <a:pt x="112" y="788"/>
                    </a:lnTo>
                    <a:lnTo>
                      <a:pt x="100" y="763"/>
                    </a:lnTo>
                    <a:lnTo>
                      <a:pt x="100" y="738"/>
                    </a:lnTo>
                    <a:lnTo>
                      <a:pt x="112" y="701"/>
                    </a:lnTo>
                    <a:lnTo>
                      <a:pt x="125" y="676"/>
                    </a:lnTo>
                    <a:lnTo>
                      <a:pt x="150" y="663"/>
                    </a:lnTo>
                    <a:lnTo>
                      <a:pt x="175" y="650"/>
                    </a:lnTo>
                    <a:lnTo>
                      <a:pt x="150" y="650"/>
                    </a:lnTo>
                    <a:lnTo>
                      <a:pt x="125" y="650"/>
                    </a:lnTo>
                    <a:lnTo>
                      <a:pt x="100" y="625"/>
                    </a:lnTo>
                    <a:lnTo>
                      <a:pt x="75" y="613"/>
                    </a:lnTo>
                    <a:lnTo>
                      <a:pt x="50" y="588"/>
                    </a:lnTo>
                    <a:lnTo>
                      <a:pt x="25" y="563"/>
                    </a:lnTo>
                    <a:lnTo>
                      <a:pt x="12" y="538"/>
                    </a:lnTo>
                    <a:lnTo>
                      <a:pt x="0" y="513"/>
                    </a:lnTo>
                    <a:lnTo>
                      <a:pt x="0" y="488"/>
                    </a:lnTo>
                    <a:lnTo>
                      <a:pt x="25" y="450"/>
                    </a:lnTo>
                    <a:lnTo>
                      <a:pt x="37" y="413"/>
                    </a:lnTo>
                    <a:lnTo>
                      <a:pt x="62" y="400"/>
                    </a:lnTo>
                    <a:lnTo>
                      <a:pt x="62" y="375"/>
                    </a:lnTo>
                    <a:lnTo>
                      <a:pt x="87" y="363"/>
                    </a:lnTo>
                    <a:lnTo>
                      <a:pt x="112" y="338"/>
                    </a:lnTo>
                    <a:lnTo>
                      <a:pt x="137" y="325"/>
                    </a:lnTo>
                    <a:lnTo>
                      <a:pt x="162" y="300"/>
                    </a:lnTo>
                    <a:lnTo>
                      <a:pt x="187" y="288"/>
                    </a:lnTo>
                    <a:lnTo>
                      <a:pt x="212" y="275"/>
                    </a:lnTo>
                    <a:lnTo>
                      <a:pt x="225" y="238"/>
                    </a:lnTo>
                  </a:path>
                </a:pathLst>
              </a:custGeom>
              <a:ln w="12700" cap="rnd" cmpd="sng">
                <a:solidFill>
                  <a:schemeClr val="tx1"/>
                </a:solidFill>
                <a:prstDash val="solid"/>
                <a:round/>
                <a:headEnd type="none" w="med" len="med"/>
                <a:tailEnd type="none" w="med" len="med"/>
              </a:ln>
              <a:effectLst>
                <a:outerShdw dist="107763" dir="2700000" algn="ctr" rotWithShape="0">
                  <a:schemeClr val="bg2"/>
                </a:outerShdw>
              </a:effectLst>
            </p:spPr>
            <p:txBody>
              <a:bodyPr/>
              <a:lstStyle/>
              <a:p>
                <a:endParaRPr lang="en-US"/>
              </a:p>
            </p:txBody>
          </p:sp>
          <p:sp>
            <p:nvSpPr>
              <p:cNvPr id="38917" name="Rectangle 5"/>
              <p:cNvSpPr>
                <a:spLocks noChangeArrowheads="1"/>
              </p:cNvSpPr>
              <p:nvPr/>
            </p:nvSpPr>
            <p:spPr bwMode="auto">
              <a:xfrm>
                <a:off x="2279" y="1340"/>
                <a:ext cx="44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th-TH">
                    <a:solidFill>
                      <a:schemeClr val="accent2"/>
                    </a:solidFill>
                    <a:latin typeface="Times New Roman" pitchFamily="18" charset="0"/>
                  </a:rPr>
                  <a:t>shape</a:t>
                </a:r>
              </a:p>
            </p:txBody>
          </p:sp>
        </p:grpSp>
        <p:grpSp>
          <p:nvGrpSpPr>
            <p:cNvPr id="38918" name="Group 6"/>
            <p:cNvGrpSpPr>
              <a:grpSpLocks/>
            </p:cNvGrpSpPr>
            <p:nvPr/>
          </p:nvGrpSpPr>
          <p:grpSpPr bwMode="auto">
            <a:xfrm>
              <a:off x="668" y="2131"/>
              <a:ext cx="1022" cy="371"/>
              <a:chOff x="551" y="2130"/>
              <a:chExt cx="1022" cy="371"/>
            </a:xfrm>
          </p:grpSpPr>
          <p:sp useBgFill="1">
            <p:nvSpPr>
              <p:cNvPr id="38919" name="Rectangle 7"/>
              <p:cNvSpPr>
                <a:spLocks noChangeArrowheads="1"/>
              </p:cNvSpPr>
              <p:nvPr/>
            </p:nvSpPr>
            <p:spPr bwMode="auto">
              <a:xfrm>
                <a:off x="551" y="2130"/>
                <a:ext cx="1022" cy="371"/>
              </a:xfrm>
              <a:prstGeom prst="rect">
                <a:avLst/>
              </a:prstGeom>
              <a:ln w="12700">
                <a:solidFill>
                  <a:schemeClr val="tx1"/>
                </a:solidFill>
                <a:miter lim="800000"/>
                <a:headEnd/>
                <a:tailEnd/>
              </a:ln>
              <a:effectLst>
                <a:outerShdw dist="107763" dir="2700000" algn="ctr" rotWithShape="0">
                  <a:schemeClr val="bg2"/>
                </a:outerShdw>
              </a:effectLst>
            </p:spPr>
            <p:txBody>
              <a:bodyPr wrap="none" anchor="ctr"/>
              <a:lstStyle/>
              <a:p>
                <a:endParaRPr lang="en-US"/>
              </a:p>
            </p:txBody>
          </p:sp>
          <p:sp>
            <p:nvSpPr>
              <p:cNvPr id="38920" name="Rectangle 8"/>
              <p:cNvSpPr>
                <a:spLocks noChangeArrowheads="1"/>
              </p:cNvSpPr>
              <p:nvPr/>
            </p:nvSpPr>
            <p:spPr bwMode="auto">
              <a:xfrm>
                <a:off x="604" y="2153"/>
                <a:ext cx="6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th-TH">
                    <a:solidFill>
                      <a:schemeClr val="accent2"/>
                    </a:solidFill>
                    <a:latin typeface="Times New Roman" pitchFamily="18" charset="0"/>
                  </a:rPr>
                  <a:t>rectangle</a:t>
                </a:r>
              </a:p>
            </p:txBody>
          </p:sp>
        </p:grpSp>
        <p:grpSp>
          <p:nvGrpSpPr>
            <p:cNvPr id="38921" name="Group 9"/>
            <p:cNvGrpSpPr>
              <a:grpSpLocks/>
            </p:cNvGrpSpPr>
            <p:nvPr/>
          </p:nvGrpSpPr>
          <p:grpSpPr bwMode="auto">
            <a:xfrm>
              <a:off x="796" y="3067"/>
              <a:ext cx="668" cy="654"/>
              <a:chOff x="679" y="3066"/>
              <a:chExt cx="668" cy="654"/>
            </a:xfrm>
          </p:grpSpPr>
          <p:sp useBgFill="1">
            <p:nvSpPr>
              <p:cNvPr id="38922" name="Rectangle 10"/>
              <p:cNvSpPr>
                <a:spLocks noChangeArrowheads="1"/>
              </p:cNvSpPr>
              <p:nvPr/>
            </p:nvSpPr>
            <p:spPr bwMode="auto">
              <a:xfrm>
                <a:off x="693" y="3066"/>
                <a:ext cx="654" cy="654"/>
              </a:xfrm>
              <a:prstGeom prst="rect">
                <a:avLst/>
              </a:prstGeom>
              <a:ln w="12700">
                <a:solidFill>
                  <a:schemeClr val="tx1"/>
                </a:solidFill>
                <a:miter lim="800000"/>
                <a:headEnd/>
                <a:tailEnd/>
              </a:ln>
              <a:effectLst>
                <a:outerShdw dist="107763" dir="2700000" algn="ctr" rotWithShape="0">
                  <a:schemeClr val="bg2"/>
                </a:outerShdw>
              </a:effectLst>
            </p:spPr>
            <p:txBody>
              <a:bodyPr wrap="none" anchor="ctr"/>
              <a:lstStyle/>
              <a:p>
                <a:endParaRPr lang="en-US"/>
              </a:p>
            </p:txBody>
          </p:sp>
          <p:sp>
            <p:nvSpPr>
              <p:cNvPr id="38923" name="Rectangle 11"/>
              <p:cNvSpPr>
                <a:spLocks noChangeArrowheads="1"/>
              </p:cNvSpPr>
              <p:nvPr/>
            </p:nvSpPr>
            <p:spPr bwMode="auto">
              <a:xfrm>
                <a:off x="679" y="3228"/>
                <a:ext cx="49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th-TH">
                    <a:solidFill>
                      <a:schemeClr val="accent2"/>
                    </a:solidFill>
                    <a:latin typeface="Times New Roman" pitchFamily="18" charset="0"/>
                  </a:rPr>
                  <a:t>square</a:t>
                </a:r>
              </a:p>
            </p:txBody>
          </p:sp>
        </p:grpSp>
        <p:grpSp>
          <p:nvGrpSpPr>
            <p:cNvPr id="38924" name="Group 12"/>
            <p:cNvGrpSpPr>
              <a:grpSpLocks/>
            </p:cNvGrpSpPr>
            <p:nvPr/>
          </p:nvGrpSpPr>
          <p:grpSpPr bwMode="auto">
            <a:xfrm>
              <a:off x="2207" y="2363"/>
              <a:ext cx="1089" cy="626"/>
              <a:chOff x="2090" y="2362"/>
              <a:chExt cx="1089" cy="626"/>
            </a:xfrm>
          </p:grpSpPr>
          <p:sp useBgFill="1">
            <p:nvSpPr>
              <p:cNvPr id="38925" name="Freeform 13"/>
              <p:cNvSpPr>
                <a:spLocks/>
              </p:cNvSpPr>
              <p:nvPr/>
            </p:nvSpPr>
            <p:spPr bwMode="auto">
              <a:xfrm>
                <a:off x="2090" y="2362"/>
                <a:ext cx="1089" cy="626"/>
              </a:xfrm>
              <a:custGeom>
                <a:avLst/>
                <a:gdLst>
                  <a:gd name="T0" fmla="*/ 1088 w 1089"/>
                  <a:gd name="T1" fmla="*/ 625 h 626"/>
                  <a:gd name="T2" fmla="*/ 0 w 1089"/>
                  <a:gd name="T3" fmla="*/ 625 h 626"/>
                  <a:gd name="T4" fmla="*/ 488 w 1089"/>
                  <a:gd name="T5" fmla="*/ 0 h 626"/>
                  <a:gd name="T6" fmla="*/ 1088 w 1089"/>
                  <a:gd name="T7" fmla="*/ 625 h 626"/>
                </a:gdLst>
                <a:ahLst/>
                <a:cxnLst>
                  <a:cxn ang="0">
                    <a:pos x="T0" y="T1"/>
                  </a:cxn>
                  <a:cxn ang="0">
                    <a:pos x="T2" y="T3"/>
                  </a:cxn>
                  <a:cxn ang="0">
                    <a:pos x="T4" y="T5"/>
                  </a:cxn>
                  <a:cxn ang="0">
                    <a:pos x="T6" y="T7"/>
                  </a:cxn>
                </a:cxnLst>
                <a:rect l="0" t="0" r="r" b="b"/>
                <a:pathLst>
                  <a:path w="1089" h="626">
                    <a:moveTo>
                      <a:pt x="1088" y="625"/>
                    </a:moveTo>
                    <a:lnTo>
                      <a:pt x="0" y="625"/>
                    </a:lnTo>
                    <a:lnTo>
                      <a:pt x="488" y="0"/>
                    </a:lnTo>
                    <a:lnTo>
                      <a:pt x="1088" y="625"/>
                    </a:lnTo>
                  </a:path>
                </a:pathLst>
              </a:custGeom>
              <a:ln w="12700" cap="rnd" cmpd="sng">
                <a:solidFill>
                  <a:schemeClr val="tx1"/>
                </a:solidFill>
                <a:prstDash val="solid"/>
                <a:round/>
                <a:headEnd type="none" w="med" len="med"/>
                <a:tailEnd type="none" w="med" len="med"/>
              </a:ln>
              <a:effectLst>
                <a:outerShdw dist="107763" dir="2700000" algn="ctr" rotWithShape="0">
                  <a:schemeClr val="bg2"/>
                </a:outerShdw>
              </a:effectLst>
            </p:spPr>
            <p:txBody>
              <a:bodyPr/>
              <a:lstStyle/>
              <a:p>
                <a:endParaRPr lang="en-US"/>
              </a:p>
            </p:txBody>
          </p:sp>
          <p:sp>
            <p:nvSpPr>
              <p:cNvPr id="38926" name="Rectangle 14"/>
              <p:cNvSpPr>
                <a:spLocks noChangeArrowheads="1"/>
              </p:cNvSpPr>
              <p:nvPr/>
            </p:nvSpPr>
            <p:spPr bwMode="auto">
              <a:xfrm>
                <a:off x="2229" y="2665"/>
                <a:ext cx="55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th-TH">
                    <a:solidFill>
                      <a:schemeClr val="accent2"/>
                    </a:solidFill>
                    <a:latin typeface="Times New Roman" pitchFamily="18" charset="0"/>
                  </a:rPr>
                  <a:t>triangle</a:t>
                </a:r>
              </a:p>
            </p:txBody>
          </p:sp>
        </p:grpSp>
        <p:grpSp>
          <p:nvGrpSpPr>
            <p:cNvPr id="38927" name="Group 15"/>
            <p:cNvGrpSpPr>
              <a:grpSpLocks/>
            </p:cNvGrpSpPr>
            <p:nvPr/>
          </p:nvGrpSpPr>
          <p:grpSpPr bwMode="auto">
            <a:xfrm>
              <a:off x="3949" y="2429"/>
              <a:ext cx="667" cy="667"/>
              <a:chOff x="3832" y="2428"/>
              <a:chExt cx="667" cy="667"/>
            </a:xfrm>
          </p:grpSpPr>
          <p:sp useBgFill="1">
            <p:nvSpPr>
              <p:cNvPr id="38928" name="Oval 16"/>
              <p:cNvSpPr>
                <a:spLocks noChangeArrowheads="1"/>
              </p:cNvSpPr>
              <p:nvPr/>
            </p:nvSpPr>
            <p:spPr bwMode="auto">
              <a:xfrm>
                <a:off x="3832" y="2428"/>
                <a:ext cx="667" cy="667"/>
              </a:xfrm>
              <a:prstGeom prst="ellipse">
                <a:avLst/>
              </a:prstGeom>
              <a:ln w="12700">
                <a:solidFill>
                  <a:schemeClr val="tx1"/>
                </a:solidFill>
                <a:round/>
                <a:headEnd/>
                <a:tailEnd/>
              </a:ln>
              <a:effectLst>
                <a:outerShdw dist="107763" dir="2700000" algn="ctr" rotWithShape="0">
                  <a:schemeClr val="bg2"/>
                </a:outerShdw>
              </a:effectLst>
            </p:spPr>
            <p:txBody>
              <a:bodyPr wrap="none" anchor="ctr"/>
              <a:lstStyle/>
              <a:p>
                <a:endParaRPr lang="en-US"/>
              </a:p>
            </p:txBody>
          </p:sp>
          <p:sp>
            <p:nvSpPr>
              <p:cNvPr id="38929" name="Rectangle 17"/>
              <p:cNvSpPr>
                <a:spLocks noChangeArrowheads="1"/>
              </p:cNvSpPr>
              <p:nvPr/>
            </p:nvSpPr>
            <p:spPr bwMode="auto">
              <a:xfrm>
                <a:off x="3880" y="2590"/>
                <a:ext cx="43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th-TH">
                    <a:solidFill>
                      <a:schemeClr val="accent2"/>
                    </a:solidFill>
                    <a:latin typeface="Times New Roman" pitchFamily="18" charset="0"/>
                  </a:rPr>
                  <a:t>circle</a:t>
                </a:r>
              </a:p>
            </p:txBody>
          </p:sp>
        </p:grpSp>
        <p:sp>
          <p:nvSpPr>
            <p:cNvPr id="38930" name="Rectangle 18"/>
            <p:cNvSpPr>
              <a:spLocks noChangeArrowheads="1"/>
            </p:cNvSpPr>
            <p:nvPr/>
          </p:nvSpPr>
          <p:spPr bwMode="auto">
            <a:xfrm>
              <a:off x="4992" y="2496"/>
              <a:ext cx="64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th-TH">
                  <a:solidFill>
                    <a:schemeClr val="accent2"/>
                  </a:solidFill>
                  <a:latin typeface="Times New Roman" pitchFamily="18" charset="0"/>
                </a:rPr>
                <a:t>• • • •</a:t>
              </a:r>
            </a:p>
          </p:txBody>
        </p:sp>
        <p:sp>
          <p:nvSpPr>
            <p:cNvPr id="38931" name="Line 19"/>
            <p:cNvSpPr>
              <a:spLocks noChangeShapeType="1"/>
            </p:cNvSpPr>
            <p:nvPr/>
          </p:nvSpPr>
          <p:spPr bwMode="auto">
            <a:xfrm flipV="1">
              <a:off x="1211" y="1583"/>
              <a:ext cx="992" cy="54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32" name="Line 20"/>
            <p:cNvSpPr>
              <a:spLocks noChangeShapeType="1"/>
            </p:cNvSpPr>
            <p:nvPr/>
          </p:nvSpPr>
          <p:spPr bwMode="auto">
            <a:xfrm flipH="1" flipV="1">
              <a:off x="2661" y="1829"/>
              <a:ext cx="38" cy="563"/>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33" name="Line 21"/>
            <p:cNvSpPr>
              <a:spLocks noChangeShapeType="1"/>
            </p:cNvSpPr>
            <p:nvPr/>
          </p:nvSpPr>
          <p:spPr bwMode="auto">
            <a:xfrm flipH="1" flipV="1">
              <a:off x="3029" y="1809"/>
              <a:ext cx="1008" cy="733"/>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34" name="Line 22"/>
            <p:cNvSpPr>
              <a:spLocks noChangeShapeType="1"/>
            </p:cNvSpPr>
            <p:nvPr/>
          </p:nvSpPr>
          <p:spPr bwMode="auto">
            <a:xfrm flipV="1">
              <a:off x="1149" y="2496"/>
              <a:ext cx="17" cy="571"/>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35" name="Line 23"/>
            <p:cNvSpPr>
              <a:spLocks noChangeShapeType="1"/>
            </p:cNvSpPr>
            <p:nvPr/>
          </p:nvSpPr>
          <p:spPr bwMode="auto">
            <a:xfrm flipH="1" flipV="1">
              <a:off x="3141" y="1471"/>
              <a:ext cx="2108" cy="105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36" name="Rectangle 24"/>
            <p:cNvSpPr>
              <a:spLocks noChangeArrowheads="1"/>
            </p:cNvSpPr>
            <p:nvPr/>
          </p:nvSpPr>
          <p:spPr bwMode="auto">
            <a:xfrm>
              <a:off x="621" y="1529"/>
              <a:ext cx="84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th-TH">
                  <a:latin typeface="Times New Roman" pitchFamily="18" charset="0"/>
                </a:rPr>
                <a:t>inherits (isa)</a:t>
              </a:r>
            </a:p>
          </p:txBody>
        </p:sp>
      </p:grpSp>
    </p:spTree>
    <p:extLst>
      <p:ext uri="{BB962C8B-B14F-4D97-AF65-F5344CB8AC3E}">
        <p14:creationId xmlns:p14="http://schemas.microsoft.com/office/powerpoint/2010/main" val="382082447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D60B42F-4DBB-462F-A5EA-83B011D69EFF}"/>
              </a:ext>
            </a:extLst>
          </p:cNvPr>
          <p:cNvPicPr>
            <a:picLocks noChangeAspect="1"/>
          </p:cNvPicPr>
          <p:nvPr/>
        </p:nvPicPr>
        <p:blipFill>
          <a:blip r:embed="rId2"/>
          <a:stretch>
            <a:fillRect/>
          </a:stretch>
        </p:blipFill>
        <p:spPr>
          <a:xfrm>
            <a:off x="270143" y="229259"/>
            <a:ext cx="5321847" cy="5299344"/>
          </a:xfrm>
          <a:prstGeom prst="rect">
            <a:avLst/>
          </a:prstGeom>
        </p:spPr>
      </p:pic>
      <p:pic>
        <p:nvPicPr>
          <p:cNvPr id="3" name="Picture 2">
            <a:extLst>
              <a:ext uri="{FF2B5EF4-FFF2-40B4-BE49-F238E27FC236}">
                <a16:creationId xmlns:a16="http://schemas.microsoft.com/office/drawing/2014/main" id="{126A1D70-B926-44AB-A503-C33B804CD479}"/>
              </a:ext>
            </a:extLst>
          </p:cNvPr>
          <p:cNvPicPr>
            <a:picLocks noChangeAspect="1"/>
          </p:cNvPicPr>
          <p:nvPr/>
        </p:nvPicPr>
        <p:blipFill>
          <a:blip r:embed="rId3"/>
          <a:stretch>
            <a:fillRect/>
          </a:stretch>
        </p:blipFill>
        <p:spPr>
          <a:xfrm>
            <a:off x="6600012" y="99829"/>
            <a:ext cx="5321845" cy="3083998"/>
          </a:xfrm>
          <a:prstGeom prst="rect">
            <a:avLst/>
          </a:prstGeom>
          <a:ln>
            <a:solidFill>
              <a:srgbClr val="FF0000"/>
            </a:solidFill>
          </a:ln>
        </p:spPr>
      </p:pic>
    </p:spTree>
    <p:extLst>
      <p:ext uri="{BB962C8B-B14F-4D97-AF65-F5344CB8AC3E}">
        <p14:creationId xmlns:p14="http://schemas.microsoft.com/office/powerpoint/2010/main" val="2460635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8352158" y="3571660"/>
            <a:ext cx="2687782" cy="523220"/>
          </a:xfrm>
          <a:prstGeom prst="rect">
            <a:avLst/>
          </a:prstGeom>
          <a:noFill/>
        </p:spPr>
        <p:txBody>
          <a:bodyPr wrap="square" rtlCol="0">
            <a:spAutoFit/>
          </a:bodyPr>
          <a:lstStyle/>
          <a:p>
            <a:r>
              <a:rPr lang="en-IN" sz="2800" b="1" u="sng" dirty="0">
                <a:solidFill>
                  <a:srgbClr val="7030A0"/>
                </a:solidFill>
              </a:rPr>
              <a:t>OUTPUT:</a:t>
            </a:r>
          </a:p>
        </p:txBody>
      </p:sp>
      <p:pic>
        <p:nvPicPr>
          <p:cNvPr id="2" name="Picture 1">
            <a:extLst>
              <a:ext uri="{FF2B5EF4-FFF2-40B4-BE49-F238E27FC236}">
                <a16:creationId xmlns:a16="http://schemas.microsoft.com/office/drawing/2014/main" id="{A7E6F4B8-7C0E-4AE4-AE77-8271C95E63D9}"/>
              </a:ext>
            </a:extLst>
          </p:cNvPr>
          <p:cNvPicPr>
            <a:picLocks noChangeAspect="1"/>
          </p:cNvPicPr>
          <p:nvPr/>
        </p:nvPicPr>
        <p:blipFill>
          <a:blip r:embed="rId2"/>
          <a:stretch>
            <a:fillRect/>
          </a:stretch>
        </p:blipFill>
        <p:spPr>
          <a:xfrm>
            <a:off x="162731" y="238125"/>
            <a:ext cx="11674679" cy="3968115"/>
          </a:xfrm>
          <a:prstGeom prst="rect">
            <a:avLst/>
          </a:prstGeom>
        </p:spPr>
      </p:pic>
      <p:sp>
        <p:nvSpPr>
          <p:cNvPr id="8" name="TextBox 7">
            <a:extLst>
              <a:ext uri="{FF2B5EF4-FFF2-40B4-BE49-F238E27FC236}">
                <a16:creationId xmlns:a16="http://schemas.microsoft.com/office/drawing/2014/main" id="{48D27837-8660-4043-8B59-3519E1E291AF}"/>
              </a:ext>
            </a:extLst>
          </p:cNvPr>
          <p:cNvSpPr txBox="1"/>
          <p:nvPr/>
        </p:nvSpPr>
        <p:spPr>
          <a:xfrm>
            <a:off x="6096000" y="324181"/>
            <a:ext cx="6207064" cy="954107"/>
          </a:xfrm>
          <a:prstGeom prst="rect">
            <a:avLst/>
          </a:prstGeom>
          <a:noFill/>
        </p:spPr>
        <p:txBody>
          <a:bodyPr wrap="square" rtlCol="0">
            <a:spAutoFit/>
          </a:bodyPr>
          <a:lstStyle/>
          <a:p>
            <a:r>
              <a:rPr lang="en-IN" sz="2800" b="1" dirty="0">
                <a:solidFill>
                  <a:srgbClr val="FF0000"/>
                </a:solidFill>
              </a:rPr>
              <a:t>Each element of the array is an address of derived class object</a:t>
            </a:r>
          </a:p>
        </p:txBody>
      </p:sp>
      <p:pic>
        <p:nvPicPr>
          <p:cNvPr id="3" name="Picture 2">
            <a:extLst>
              <a:ext uri="{FF2B5EF4-FFF2-40B4-BE49-F238E27FC236}">
                <a16:creationId xmlns:a16="http://schemas.microsoft.com/office/drawing/2014/main" id="{DD61A549-A18E-4F6B-822A-1ACECA81BB5E}"/>
              </a:ext>
            </a:extLst>
          </p:cNvPr>
          <p:cNvPicPr>
            <a:picLocks noChangeAspect="1"/>
          </p:cNvPicPr>
          <p:nvPr/>
        </p:nvPicPr>
        <p:blipFill>
          <a:blip r:embed="rId3"/>
          <a:stretch>
            <a:fillRect/>
          </a:stretch>
        </p:blipFill>
        <p:spPr>
          <a:xfrm>
            <a:off x="8123945" y="4485673"/>
            <a:ext cx="3343457" cy="1981308"/>
          </a:xfrm>
          <a:prstGeom prst="rect">
            <a:avLst/>
          </a:prstGeom>
        </p:spPr>
      </p:pic>
      <p:cxnSp>
        <p:nvCxnSpPr>
          <p:cNvPr id="10" name="Straight Arrow Connector 9">
            <a:extLst>
              <a:ext uri="{FF2B5EF4-FFF2-40B4-BE49-F238E27FC236}">
                <a16:creationId xmlns:a16="http://schemas.microsoft.com/office/drawing/2014/main" id="{0A583C81-6887-4F05-B438-727FCCC45674}"/>
              </a:ext>
            </a:extLst>
          </p:cNvPr>
          <p:cNvCxnSpPr>
            <a:cxnSpLocks/>
          </p:cNvCxnSpPr>
          <p:nvPr/>
        </p:nvCxnSpPr>
        <p:spPr>
          <a:xfrm flipH="1">
            <a:off x="8839200" y="1364343"/>
            <a:ext cx="232229" cy="754743"/>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2115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B0B8CF7-E0BA-4C58-92C7-E4B6B0BDAD50}"/>
              </a:ext>
            </a:extLst>
          </p:cNvPr>
          <p:cNvPicPr>
            <a:picLocks noChangeAspect="1"/>
          </p:cNvPicPr>
          <p:nvPr/>
        </p:nvPicPr>
        <p:blipFill>
          <a:blip r:embed="rId2"/>
          <a:stretch>
            <a:fillRect/>
          </a:stretch>
        </p:blipFill>
        <p:spPr>
          <a:xfrm>
            <a:off x="129162" y="469472"/>
            <a:ext cx="6691330" cy="5103352"/>
          </a:xfrm>
          <a:prstGeom prst="rect">
            <a:avLst/>
          </a:prstGeom>
        </p:spPr>
      </p:pic>
      <p:sp>
        <p:nvSpPr>
          <p:cNvPr id="9" name="Title 1">
            <a:extLst>
              <a:ext uri="{FF2B5EF4-FFF2-40B4-BE49-F238E27FC236}">
                <a16:creationId xmlns:a16="http://schemas.microsoft.com/office/drawing/2014/main" id="{6209B82D-8FEE-4E5D-A8F3-4034D32B6709}"/>
              </a:ext>
            </a:extLst>
          </p:cNvPr>
          <p:cNvSpPr txBox="1">
            <a:spLocks/>
          </p:cNvSpPr>
          <p:nvPr/>
        </p:nvSpPr>
        <p:spPr>
          <a:xfrm>
            <a:off x="4017193" y="166818"/>
            <a:ext cx="2228045" cy="6053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2800" b="1" i="0" u="none" strike="noStrike" kern="1200" cap="none" spc="0" normalizeH="0" baseline="0" noProof="0" dirty="0">
                <a:ln>
                  <a:noFill/>
                </a:ln>
                <a:solidFill>
                  <a:srgbClr val="FF0000"/>
                </a:solidFill>
                <a:effectLst/>
                <a:highlight>
                  <a:srgbClr val="00FFFF"/>
                </a:highlight>
                <a:uLnTx/>
                <a:uFillTx/>
                <a:latin typeface="Calibri Light" panose="020F0302020204030204"/>
                <a:ea typeface="+mj-ea"/>
                <a:cs typeface="+mj-cs"/>
              </a:rPr>
              <a:t>Question</a:t>
            </a:r>
            <a:r>
              <a:rPr kumimoji="0" lang="en-IN" sz="2800" b="1" i="0" u="none" strike="noStrike" kern="1200" cap="none" spc="0" normalizeH="0" baseline="0" noProof="0" dirty="0">
                <a:ln>
                  <a:noFill/>
                </a:ln>
                <a:solidFill>
                  <a:srgbClr val="FF0000"/>
                </a:solidFill>
                <a:effectLst/>
                <a:uLnTx/>
                <a:uFillTx/>
                <a:latin typeface="Calibri Light" panose="020F0302020204030204"/>
                <a:ea typeface="+mj-ea"/>
                <a:cs typeface="+mj-cs"/>
              </a:rPr>
              <a:t>:</a:t>
            </a:r>
          </a:p>
        </p:txBody>
      </p:sp>
      <p:pic>
        <p:nvPicPr>
          <p:cNvPr id="3" name="Picture 2">
            <a:extLst>
              <a:ext uri="{FF2B5EF4-FFF2-40B4-BE49-F238E27FC236}">
                <a16:creationId xmlns:a16="http://schemas.microsoft.com/office/drawing/2014/main" id="{A984E8FC-6D6B-4190-B746-7DF66B930E8E}"/>
              </a:ext>
            </a:extLst>
          </p:cNvPr>
          <p:cNvPicPr>
            <a:picLocks noChangeAspect="1"/>
          </p:cNvPicPr>
          <p:nvPr/>
        </p:nvPicPr>
        <p:blipFill>
          <a:blip r:embed="rId3"/>
          <a:stretch>
            <a:fillRect/>
          </a:stretch>
        </p:blipFill>
        <p:spPr>
          <a:xfrm>
            <a:off x="6246708" y="179848"/>
            <a:ext cx="4551739" cy="3242969"/>
          </a:xfrm>
          <a:prstGeom prst="rect">
            <a:avLst/>
          </a:prstGeom>
          <a:ln>
            <a:solidFill>
              <a:srgbClr val="FF0000"/>
            </a:solidFill>
          </a:ln>
        </p:spPr>
      </p:pic>
      <p:sp>
        <p:nvSpPr>
          <p:cNvPr id="10" name="TextBox 9">
            <a:extLst>
              <a:ext uri="{FF2B5EF4-FFF2-40B4-BE49-F238E27FC236}">
                <a16:creationId xmlns:a16="http://schemas.microsoft.com/office/drawing/2014/main" id="{3630FADD-9EE8-4B14-AC30-573A8140D99B}"/>
              </a:ext>
            </a:extLst>
          </p:cNvPr>
          <p:cNvSpPr txBox="1"/>
          <p:nvPr/>
        </p:nvSpPr>
        <p:spPr>
          <a:xfrm>
            <a:off x="9331186" y="1339667"/>
            <a:ext cx="161014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srgbClr val="FF0000"/>
                </a:solidFill>
                <a:effectLst/>
                <a:uLnTx/>
                <a:uFillTx/>
                <a:latin typeface="Calibri" panose="020F0502020204030204"/>
                <a:ea typeface="+mn-ea"/>
                <a:cs typeface="+mn-cs"/>
              </a:rPr>
              <a:t>//ERROR</a:t>
            </a:r>
          </a:p>
        </p:txBody>
      </p:sp>
      <p:sp>
        <p:nvSpPr>
          <p:cNvPr id="11" name="TextBox 10">
            <a:extLst>
              <a:ext uri="{FF2B5EF4-FFF2-40B4-BE49-F238E27FC236}">
                <a16:creationId xmlns:a16="http://schemas.microsoft.com/office/drawing/2014/main" id="{688262A1-519F-409E-AB69-01723015335F}"/>
              </a:ext>
            </a:extLst>
          </p:cNvPr>
          <p:cNvSpPr txBox="1"/>
          <p:nvPr/>
        </p:nvSpPr>
        <p:spPr>
          <a:xfrm>
            <a:off x="10898463" y="2381242"/>
            <a:ext cx="161014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srgbClr val="FF0000"/>
                </a:solidFill>
                <a:effectLst/>
                <a:uLnTx/>
                <a:uFillTx/>
                <a:latin typeface="Calibri" panose="020F0502020204030204"/>
                <a:ea typeface="+mn-ea"/>
                <a:cs typeface="+mn-cs"/>
              </a:rPr>
              <a:t>//ERROR</a:t>
            </a:r>
          </a:p>
        </p:txBody>
      </p:sp>
      <p:sp>
        <p:nvSpPr>
          <p:cNvPr id="12" name="TextBox 11">
            <a:extLst>
              <a:ext uri="{FF2B5EF4-FFF2-40B4-BE49-F238E27FC236}">
                <a16:creationId xmlns:a16="http://schemas.microsoft.com/office/drawing/2014/main" id="{453C0C82-BA14-43DA-9C87-9435FA667D71}"/>
              </a:ext>
            </a:extLst>
          </p:cNvPr>
          <p:cNvSpPr txBox="1"/>
          <p:nvPr/>
        </p:nvSpPr>
        <p:spPr>
          <a:xfrm>
            <a:off x="5689600" y="4992914"/>
            <a:ext cx="6212113"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0000"/>
                </a:solidFill>
                <a:effectLst/>
                <a:uLnTx/>
                <a:uFillTx/>
                <a:latin typeface="Calibri" panose="020F0502020204030204"/>
                <a:ea typeface="+mn-ea"/>
                <a:cs typeface="+mn-cs"/>
              </a:rPr>
              <a:t>Der2 also becomes an abstract class, not instantiable</a:t>
            </a:r>
            <a:endParaRPr kumimoji="0" lang="en-IN" sz="3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4652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BB0BB-F3A1-4137-9DD5-0B8AD54AE387}"/>
              </a:ext>
            </a:extLst>
          </p:cNvPr>
          <p:cNvSpPr>
            <a:spLocks noGrp="1"/>
          </p:cNvSpPr>
          <p:nvPr>
            <p:ph type="title"/>
          </p:nvPr>
        </p:nvSpPr>
        <p:spPr/>
        <p:txBody>
          <a:bodyPr/>
          <a:lstStyle/>
          <a:p>
            <a:r>
              <a:rPr lang="en-US" dirty="0"/>
              <a:t>Destructors</a:t>
            </a:r>
            <a:endParaRPr lang="en-IN" dirty="0"/>
          </a:p>
        </p:txBody>
      </p:sp>
      <p:sp>
        <p:nvSpPr>
          <p:cNvPr id="3" name="Content Placeholder 2">
            <a:extLst>
              <a:ext uri="{FF2B5EF4-FFF2-40B4-BE49-F238E27FC236}">
                <a16:creationId xmlns:a16="http://schemas.microsoft.com/office/drawing/2014/main" id="{2EEED8E5-58A0-4D7A-A62F-F4BC556FA898}"/>
              </a:ext>
            </a:extLst>
          </p:cNvPr>
          <p:cNvSpPr>
            <a:spLocks noGrp="1"/>
          </p:cNvSpPr>
          <p:nvPr>
            <p:ph idx="1"/>
          </p:nvPr>
        </p:nvSpPr>
        <p:spPr/>
        <p:txBody>
          <a:bodyPr/>
          <a:lstStyle/>
          <a:p>
            <a:r>
              <a:rPr lang="en-US" dirty="0">
                <a:solidFill>
                  <a:srgbClr val="FF0000"/>
                </a:solidFill>
              </a:rPr>
              <a:t>Base class destructors </a:t>
            </a:r>
            <a:r>
              <a:rPr lang="en-US" dirty="0"/>
              <a:t>should always be </a:t>
            </a:r>
            <a:r>
              <a:rPr lang="en-US" dirty="0">
                <a:solidFill>
                  <a:srgbClr val="FF0000"/>
                </a:solidFill>
              </a:rPr>
              <a:t>virtual</a:t>
            </a:r>
            <a:r>
              <a:rPr lang="en-US" dirty="0"/>
              <a:t>. </a:t>
            </a:r>
          </a:p>
          <a:p>
            <a:r>
              <a:rPr lang="en-US" dirty="0"/>
              <a:t>Suppose you use delete with a base class pointer to a derived class object to destroy the derived-class object.</a:t>
            </a:r>
          </a:p>
          <a:p>
            <a:pPr lvl="1"/>
            <a:r>
              <a:rPr lang="en-US" dirty="0"/>
              <a:t> If the </a:t>
            </a:r>
            <a:r>
              <a:rPr lang="en-US" dirty="0">
                <a:solidFill>
                  <a:srgbClr val="FF0000"/>
                </a:solidFill>
              </a:rPr>
              <a:t>base-class destructor is not virtual </a:t>
            </a:r>
            <a:r>
              <a:rPr lang="en-US" dirty="0"/>
              <a:t>then delete, like a normal member function, calls the destructor for the base class, not the destructor for the derived class. </a:t>
            </a:r>
          </a:p>
          <a:p>
            <a:r>
              <a:rPr lang="en-US" dirty="0"/>
              <a:t>This will cause only the base part of the object to </a:t>
            </a:r>
            <a:r>
              <a:rPr lang="en-IN" dirty="0"/>
              <a:t>be destroyed.</a:t>
            </a:r>
          </a:p>
        </p:txBody>
      </p:sp>
    </p:spTree>
    <p:extLst>
      <p:ext uri="{BB962C8B-B14F-4D97-AF65-F5344CB8AC3E}">
        <p14:creationId xmlns:p14="http://schemas.microsoft.com/office/powerpoint/2010/main" val="39366966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42900" y="261610"/>
            <a:ext cx="509847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1" u="sng" dirty="0">
                <a:solidFill>
                  <a:srgbClr val="FF0000"/>
                </a:solidFill>
                <a:latin typeface="Calibri" panose="020F0502020204030204"/>
              </a:rPr>
              <a:t>Without </a:t>
            </a:r>
            <a:r>
              <a:rPr kumimoji="0" lang="en-IN" sz="2800" b="1" i="0" u="sng" strike="noStrike" kern="1200" cap="none" spc="0" normalizeH="0" baseline="0" noProof="0" dirty="0">
                <a:ln>
                  <a:noFill/>
                </a:ln>
                <a:solidFill>
                  <a:srgbClr val="FF0000"/>
                </a:solidFill>
                <a:effectLst/>
                <a:uLnTx/>
                <a:uFillTx/>
                <a:latin typeface="Calibri" panose="020F0502020204030204"/>
                <a:ea typeface="+mn-ea"/>
                <a:cs typeface="+mn-cs"/>
              </a:rPr>
              <a:t>Virtual destructor</a:t>
            </a:r>
          </a:p>
        </p:txBody>
      </p:sp>
      <p:sp>
        <p:nvSpPr>
          <p:cNvPr id="9" name="TextBox 8"/>
          <p:cNvSpPr txBox="1"/>
          <p:nvPr/>
        </p:nvSpPr>
        <p:spPr>
          <a:xfrm>
            <a:off x="8897758" y="4052157"/>
            <a:ext cx="268778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sng" strike="noStrike" kern="1200" cap="none" spc="0" normalizeH="0" baseline="0" noProof="0" dirty="0">
                <a:ln>
                  <a:noFill/>
                </a:ln>
                <a:solidFill>
                  <a:srgbClr val="FF0000"/>
                </a:solidFill>
                <a:effectLst/>
                <a:uLnTx/>
                <a:uFillTx/>
                <a:latin typeface="Calibri" panose="020F0502020204030204"/>
                <a:ea typeface="+mn-ea"/>
                <a:cs typeface="+mn-cs"/>
              </a:rPr>
              <a:t>OUTPUT:</a:t>
            </a:r>
          </a:p>
        </p:txBody>
      </p:sp>
      <p:pic>
        <p:nvPicPr>
          <p:cNvPr id="2" name="Picture 1">
            <a:extLst>
              <a:ext uri="{FF2B5EF4-FFF2-40B4-BE49-F238E27FC236}">
                <a16:creationId xmlns:a16="http://schemas.microsoft.com/office/drawing/2014/main" id="{B65BE0EC-0AE3-4DEA-BBF2-A466F2C606D4}"/>
              </a:ext>
            </a:extLst>
          </p:cNvPr>
          <p:cNvPicPr>
            <a:picLocks noChangeAspect="1"/>
          </p:cNvPicPr>
          <p:nvPr/>
        </p:nvPicPr>
        <p:blipFill>
          <a:blip r:embed="rId2"/>
          <a:stretch>
            <a:fillRect/>
          </a:stretch>
        </p:blipFill>
        <p:spPr>
          <a:xfrm>
            <a:off x="94977" y="953406"/>
            <a:ext cx="7060566" cy="4294441"/>
          </a:xfrm>
          <a:prstGeom prst="rect">
            <a:avLst/>
          </a:prstGeom>
        </p:spPr>
      </p:pic>
      <p:pic>
        <p:nvPicPr>
          <p:cNvPr id="3" name="Picture 2">
            <a:extLst>
              <a:ext uri="{FF2B5EF4-FFF2-40B4-BE49-F238E27FC236}">
                <a16:creationId xmlns:a16="http://schemas.microsoft.com/office/drawing/2014/main" id="{E96E19CD-8B44-45CB-B8FE-8AD03380853A}"/>
              </a:ext>
            </a:extLst>
          </p:cNvPr>
          <p:cNvPicPr>
            <a:picLocks noChangeAspect="1"/>
          </p:cNvPicPr>
          <p:nvPr/>
        </p:nvPicPr>
        <p:blipFill>
          <a:blip r:embed="rId3"/>
          <a:stretch>
            <a:fillRect/>
          </a:stretch>
        </p:blipFill>
        <p:spPr>
          <a:xfrm>
            <a:off x="7294993" y="261610"/>
            <a:ext cx="4757987" cy="2786390"/>
          </a:xfrm>
          <a:prstGeom prst="rect">
            <a:avLst/>
          </a:prstGeom>
          <a:ln>
            <a:solidFill>
              <a:srgbClr val="FF0000"/>
            </a:solidFill>
          </a:ln>
        </p:spPr>
      </p:pic>
      <p:pic>
        <p:nvPicPr>
          <p:cNvPr id="4" name="Picture 3">
            <a:extLst>
              <a:ext uri="{FF2B5EF4-FFF2-40B4-BE49-F238E27FC236}">
                <a16:creationId xmlns:a16="http://schemas.microsoft.com/office/drawing/2014/main" id="{5A42DDA0-4E45-4A7A-8836-4FA6FB36EF2B}"/>
              </a:ext>
            </a:extLst>
          </p:cNvPr>
          <p:cNvPicPr>
            <a:picLocks noChangeAspect="1"/>
          </p:cNvPicPr>
          <p:nvPr/>
        </p:nvPicPr>
        <p:blipFill>
          <a:blip r:embed="rId4"/>
          <a:stretch>
            <a:fillRect/>
          </a:stretch>
        </p:blipFill>
        <p:spPr>
          <a:xfrm>
            <a:off x="7705668" y="5026495"/>
            <a:ext cx="4347312" cy="989071"/>
          </a:xfrm>
          <a:prstGeom prst="rect">
            <a:avLst/>
          </a:prstGeom>
        </p:spPr>
      </p:pic>
    </p:spTree>
    <p:extLst>
      <p:ext uri="{BB962C8B-B14F-4D97-AF65-F5344CB8AC3E}">
        <p14:creationId xmlns:p14="http://schemas.microsoft.com/office/powerpoint/2010/main" val="4192488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8332558" y="4293678"/>
            <a:ext cx="258304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sng" strike="noStrike" kern="1200" cap="none" spc="0" normalizeH="0" baseline="0" noProof="0" dirty="0">
                <a:ln>
                  <a:noFill/>
                </a:ln>
                <a:solidFill>
                  <a:srgbClr val="FF0000"/>
                </a:solidFill>
                <a:effectLst/>
                <a:uLnTx/>
                <a:uFillTx/>
                <a:latin typeface="Calibri" panose="020F0502020204030204"/>
                <a:ea typeface="+mn-ea"/>
                <a:cs typeface="+mn-cs"/>
              </a:rPr>
              <a:t>OUTPUT:</a:t>
            </a:r>
          </a:p>
        </p:txBody>
      </p:sp>
      <p:pic>
        <p:nvPicPr>
          <p:cNvPr id="3" name="Picture 2">
            <a:extLst>
              <a:ext uri="{FF2B5EF4-FFF2-40B4-BE49-F238E27FC236}">
                <a16:creationId xmlns:a16="http://schemas.microsoft.com/office/drawing/2014/main" id="{9008FE3A-9DF3-47B3-AFFF-3A5CE431113E}"/>
              </a:ext>
            </a:extLst>
          </p:cNvPr>
          <p:cNvPicPr>
            <a:picLocks noChangeAspect="1"/>
          </p:cNvPicPr>
          <p:nvPr/>
        </p:nvPicPr>
        <p:blipFill>
          <a:blip r:embed="rId2"/>
          <a:stretch>
            <a:fillRect/>
          </a:stretch>
        </p:blipFill>
        <p:spPr>
          <a:xfrm>
            <a:off x="109464" y="655504"/>
            <a:ext cx="6500094" cy="3930562"/>
          </a:xfrm>
          <a:prstGeom prst="rect">
            <a:avLst/>
          </a:prstGeom>
        </p:spPr>
      </p:pic>
      <p:sp>
        <p:nvSpPr>
          <p:cNvPr id="9" name="TextBox 8">
            <a:extLst>
              <a:ext uri="{FF2B5EF4-FFF2-40B4-BE49-F238E27FC236}">
                <a16:creationId xmlns:a16="http://schemas.microsoft.com/office/drawing/2014/main" id="{F31CEED3-FDFC-4057-A43F-75222E6E2939}"/>
              </a:ext>
            </a:extLst>
          </p:cNvPr>
          <p:cNvSpPr txBox="1"/>
          <p:nvPr/>
        </p:nvSpPr>
        <p:spPr>
          <a:xfrm>
            <a:off x="2290836" y="55429"/>
            <a:ext cx="509847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sng" strike="noStrike" kern="1200" cap="none" spc="0" normalizeH="0" baseline="0" noProof="0" dirty="0">
                <a:ln>
                  <a:noFill/>
                </a:ln>
                <a:solidFill>
                  <a:srgbClr val="FF0000"/>
                </a:solidFill>
                <a:effectLst/>
                <a:uLnTx/>
                <a:uFillTx/>
                <a:latin typeface="Calibri" panose="020F0502020204030204"/>
                <a:ea typeface="+mn-ea"/>
                <a:cs typeface="+mn-cs"/>
              </a:rPr>
              <a:t>With Virtual destructor</a:t>
            </a:r>
          </a:p>
        </p:txBody>
      </p:sp>
      <p:pic>
        <p:nvPicPr>
          <p:cNvPr id="4" name="Picture 3">
            <a:extLst>
              <a:ext uri="{FF2B5EF4-FFF2-40B4-BE49-F238E27FC236}">
                <a16:creationId xmlns:a16="http://schemas.microsoft.com/office/drawing/2014/main" id="{AD53E144-0126-4B24-A15D-29D4E5D1F170}"/>
              </a:ext>
            </a:extLst>
          </p:cNvPr>
          <p:cNvPicPr>
            <a:picLocks noChangeAspect="1"/>
          </p:cNvPicPr>
          <p:nvPr/>
        </p:nvPicPr>
        <p:blipFill>
          <a:blip r:embed="rId3"/>
          <a:stretch>
            <a:fillRect/>
          </a:stretch>
        </p:blipFill>
        <p:spPr>
          <a:xfrm>
            <a:off x="6813247" y="390378"/>
            <a:ext cx="5226430" cy="3038622"/>
          </a:xfrm>
          <a:prstGeom prst="rect">
            <a:avLst/>
          </a:prstGeom>
          <a:ln>
            <a:solidFill>
              <a:srgbClr val="FF0000"/>
            </a:solidFill>
          </a:ln>
        </p:spPr>
      </p:pic>
      <p:pic>
        <p:nvPicPr>
          <p:cNvPr id="10" name="Picture 9">
            <a:extLst>
              <a:ext uri="{FF2B5EF4-FFF2-40B4-BE49-F238E27FC236}">
                <a16:creationId xmlns:a16="http://schemas.microsoft.com/office/drawing/2014/main" id="{873FF3F5-9E6F-4ECD-8C12-B903EA26A05D}"/>
              </a:ext>
            </a:extLst>
          </p:cNvPr>
          <p:cNvPicPr>
            <a:picLocks noChangeAspect="1"/>
          </p:cNvPicPr>
          <p:nvPr/>
        </p:nvPicPr>
        <p:blipFill>
          <a:blip r:embed="rId4"/>
          <a:stretch>
            <a:fillRect/>
          </a:stretch>
        </p:blipFill>
        <p:spPr>
          <a:xfrm>
            <a:off x="8018358" y="4984278"/>
            <a:ext cx="3777583" cy="1483344"/>
          </a:xfrm>
          <a:prstGeom prst="rect">
            <a:avLst/>
          </a:prstGeom>
        </p:spPr>
      </p:pic>
    </p:spTree>
    <p:extLst>
      <p:ext uri="{BB962C8B-B14F-4D97-AF65-F5344CB8AC3E}">
        <p14:creationId xmlns:p14="http://schemas.microsoft.com/office/powerpoint/2010/main" val="1318145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103232" y="225592"/>
            <a:ext cx="6797309" cy="6368536"/>
          </a:xfrm>
          <a:prstGeom prst="rect">
            <a:avLst/>
          </a:prstGeom>
        </p:spPr>
      </p:pic>
      <p:pic>
        <p:nvPicPr>
          <p:cNvPr id="7" name="Picture 6"/>
          <p:cNvPicPr>
            <a:picLocks noChangeAspect="1"/>
          </p:cNvPicPr>
          <p:nvPr/>
        </p:nvPicPr>
        <p:blipFill>
          <a:blip r:embed="rId4"/>
          <a:stretch>
            <a:fillRect/>
          </a:stretch>
        </p:blipFill>
        <p:spPr>
          <a:xfrm>
            <a:off x="7974590" y="178489"/>
            <a:ext cx="3968880" cy="3415397"/>
          </a:xfrm>
          <a:prstGeom prst="rect">
            <a:avLst/>
          </a:prstGeom>
          <a:ln>
            <a:solidFill>
              <a:schemeClr val="accent1"/>
            </a:solidFill>
          </a:ln>
        </p:spPr>
      </p:pic>
      <p:pic>
        <p:nvPicPr>
          <p:cNvPr id="8" name="Picture 7"/>
          <p:cNvPicPr>
            <a:picLocks noChangeAspect="1"/>
          </p:cNvPicPr>
          <p:nvPr/>
        </p:nvPicPr>
        <p:blipFill>
          <a:blip r:embed="rId5"/>
          <a:stretch>
            <a:fillRect/>
          </a:stretch>
        </p:blipFill>
        <p:spPr>
          <a:xfrm>
            <a:off x="8439458" y="5249080"/>
            <a:ext cx="3504012" cy="1025110"/>
          </a:xfrm>
          <a:prstGeom prst="rect">
            <a:avLst/>
          </a:prstGeom>
        </p:spPr>
      </p:pic>
      <p:sp>
        <p:nvSpPr>
          <p:cNvPr id="9" name="TextBox 8"/>
          <p:cNvSpPr txBox="1"/>
          <p:nvPr/>
        </p:nvSpPr>
        <p:spPr>
          <a:xfrm>
            <a:off x="8552138" y="4546951"/>
            <a:ext cx="211117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sng" strike="noStrike" kern="1200" cap="none" spc="0" normalizeH="0" baseline="0" noProof="0" dirty="0">
                <a:ln>
                  <a:noFill/>
                </a:ln>
                <a:solidFill>
                  <a:srgbClr val="FF0000"/>
                </a:solidFill>
                <a:effectLst/>
                <a:uLnTx/>
                <a:uFillTx/>
                <a:latin typeface="Calibri" panose="020F0502020204030204"/>
                <a:ea typeface="+mn-ea"/>
                <a:cs typeface="+mn-cs"/>
              </a:rPr>
              <a:t>OUTPUT</a:t>
            </a:r>
          </a:p>
        </p:txBody>
      </p:sp>
      <p:sp>
        <p:nvSpPr>
          <p:cNvPr id="11" name="TextBox 10">
            <a:extLst>
              <a:ext uri="{FF2B5EF4-FFF2-40B4-BE49-F238E27FC236}">
                <a16:creationId xmlns:a16="http://schemas.microsoft.com/office/drawing/2014/main" id="{B059103C-5E9D-4E6F-865A-79ED28E98C4F}"/>
              </a:ext>
            </a:extLst>
          </p:cNvPr>
          <p:cNvSpPr txBox="1"/>
          <p:nvPr/>
        </p:nvSpPr>
        <p:spPr>
          <a:xfrm>
            <a:off x="2769110" y="112543"/>
            <a:ext cx="4728970" cy="1077218"/>
          </a:xfrm>
          <a:prstGeom prst="rect">
            <a:avLst/>
          </a:prstGeom>
          <a:solidFill>
            <a:srgbClr val="FFFF0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effectLst/>
                <a:uLnTx/>
                <a:uFillTx/>
                <a:latin typeface="Calibri" panose="020F0502020204030204"/>
                <a:ea typeface="+mn-ea"/>
                <a:cs typeface="+mn-cs"/>
              </a:rPr>
              <a:t>base class reference without virtual function</a:t>
            </a:r>
          </a:p>
        </p:txBody>
      </p:sp>
    </p:spTree>
    <p:extLst>
      <p:ext uri="{BB962C8B-B14F-4D97-AF65-F5344CB8AC3E}">
        <p14:creationId xmlns:p14="http://schemas.microsoft.com/office/powerpoint/2010/main" val="3385051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11606" y="134609"/>
            <a:ext cx="6862454" cy="6420936"/>
          </a:xfrm>
          <a:prstGeom prst="rect">
            <a:avLst/>
          </a:prstGeom>
        </p:spPr>
      </p:pic>
      <p:sp>
        <p:nvSpPr>
          <p:cNvPr id="6" name="TextBox 5"/>
          <p:cNvSpPr txBox="1"/>
          <p:nvPr/>
        </p:nvSpPr>
        <p:spPr>
          <a:xfrm>
            <a:off x="3542832" y="0"/>
            <a:ext cx="8154733" cy="584775"/>
          </a:xfrm>
          <a:prstGeom prst="rect">
            <a:avLst/>
          </a:prstGeom>
          <a:solidFill>
            <a:srgbClr val="FFFF0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effectLst/>
                <a:uLnTx/>
                <a:uFillTx/>
                <a:latin typeface="Calibri" panose="020F0502020204030204"/>
                <a:ea typeface="+mn-ea"/>
                <a:cs typeface="+mn-cs"/>
              </a:rPr>
              <a:t>base class reference with virtual function</a:t>
            </a:r>
          </a:p>
        </p:txBody>
      </p:sp>
      <p:pic>
        <p:nvPicPr>
          <p:cNvPr id="7" name="Picture 6"/>
          <p:cNvPicPr>
            <a:picLocks noChangeAspect="1"/>
          </p:cNvPicPr>
          <p:nvPr/>
        </p:nvPicPr>
        <p:blipFill>
          <a:blip r:embed="rId3"/>
          <a:stretch>
            <a:fillRect/>
          </a:stretch>
        </p:blipFill>
        <p:spPr>
          <a:xfrm>
            <a:off x="7987664" y="920334"/>
            <a:ext cx="3998009" cy="3467661"/>
          </a:xfrm>
          <a:prstGeom prst="rect">
            <a:avLst/>
          </a:prstGeom>
        </p:spPr>
      </p:pic>
      <p:sp>
        <p:nvSpPr>
          <p:cNvPr id="8" name="TextBox 7"/>
          <p:cNvSpPr txBox="1"/>
          <p:nvPr/>
        </p:nvSpPr>
        <p:spPr>
          <a:xfrm>
            <a:off x="7741938" y="4588945"/>
            <a:ext cx="211117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sng" strike="noStrike" kern="1200" cap="none" spc="0" normalizeH="0" baseline="0" noProof="0" dirty="0">
                <a:ln>
                  <a:noFill/>
                </a:ln>
                <a:solidFill>
                  <a:srgbClr val="FF0000"/>
                </a:solidFill>
                <a:effectLst/>
                <a:uLnTx/>
                <a:uFillTx/>
                <a:latin typeface="Calibri" panose="020F0502020204030204"/>
                <a:ea typeface="+mn-ea"/>
                <a:cs typeface="+mn-cs"/>
              </a:rPr>
              <a:t>OUTPUT</a:t>
            </a:r>
          </a:p>
        </p:txBody>
      </p:sp>
      <p:pic>
        <p:nvPicPr>
          <p:cNvPr id="9" name="Picture 8"/>
          <p:cNvPicPr>
            <a:picLocks noChangeAspect="1"/>
          </p:cNvPicPr>
          <p:nvPr/>
        </p:nvPicPr>
        <p:blipFill>
          <a:blip r:embed="rId4"/>
          <a:stretch>
            <a:fillRect/>
          </a:stretch>
        </p:blipFill>
        <p:spPr>
          <a:xfrm>
            <a:off x="7734959" y="5168643"/>
            <a:ext cx="3962607" cy="1119481"/>
          </a:xfrm>
          <a:prstGeom prst="rect">
            <a:avLst/>
          </a:prstGeom>
        </p:spPr>
      </p:pic>
    </p:spTree>
    <p:extLst>
      <p:ext uri="{BB962C8B-B14F-4D97-AF65-F5344CB8AC3E}">
        <p14:creationId xmlns:p14="http://schemas.microsoft.com/office/powerpoint/2010/main" val="1344357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59A8A-CB53-4496-8D16-CC565D04CB1E}"/>
              </a:ext>
            </a:extLst>
          </p:cNvPr>
          <p:cNvSpPr>
            <a:spLocks noGrp="1"/>
          </p:cNvSpPr>
          <p:nvPr>
            <p:ph type="title"/>
          </p:nvPr>
        </p:nvSpPr>
        <p:spPr>
          <a:xfrm>
            <a:off x="681037" y="1065214"/>
            <a:ext cx="6305550" cy="1106488"/>
          </a:xfrm>
        </p:spPr>
        <p:txBody>
          <a:bodyPr/>
          <a:lstStyle/>
          <a:p>
            <a:r>
              <a:rPr lang="en-IN" b="1" dirty="0">
                <a:highlight>
                  <a:srgbClr val="00FFFF"/>
                </a:highlight>
              </a:rPr>
              <a:t>Some topics on Pointers…</a:t>
            </a:r>
          </a:p>
        </p:txBody>
      </p:sp>
    </p:spTree>
    <p:extLst>
      <p:ext uri="{BB962C8B-B14F-4D97-AF65-F5344CB8AC3E}">
        <p14:creationId xmlns:p14="http://schemas.microsoft.com/office/powerpoint/2010/main" val="2273571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Slide Number Placeholder 5"/>
          <p:cNvSpPr>
            <a:spLocks noGrp="1"/>
          </p:cNvSpPr>
          <p:nvPr>
            <p:ph type="sldNum" sz="quarter" idx="12"/>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238F2AD-12AD-4A93-A04E-E71E991BA0F1}"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44037" name="Rectangle 2"/>
          <p:cNvSpPr>
            <a:spLocks noGrp="1" noChangeArrowheads="1"/>
          </p:cNvSpPr>
          <p:nvPr>
            <p:ph type="title"/>
          </p:nvPr>
        </p:nvSpPr>
        <p:spPr/>
        <p:txBody>
          <a:bodyPr/>
          <a:lstStyle/>
          <a:p>
            <a:pPr eaLnBrk="1" hangingPunct="1"/>
            <a:r>
              <a:rPr lang="en-US"/>
              <a:t>Pointers and structures</a:t>
            </a:r>
          </a:p>
        </p:txBody>
      </p:sp>
      <p:sp>
        <p:nvSpPr>
          <p:cNvPr id="44038" name="Rectangle 3"/>
          <p:cNvSpPr>
            <a:spLocks noGrp="1" noChangeArrowheads="1"/>
          </p:cNvSpPr>
          <p:nvPr>
            <p:ph type="body" idx="1"/>
          </p:nvPr>
        </p:nvSpPr>
        <p:spPr>
          <a:xfrm>
            <a:off x="304800" y="1477169"/>
            <a:ext cx="10515600" cy="4708525"/>
          </a:xfrm>
        </p:spPr>
        <p:txBody>
          <a:bodyPr/>
          <a:lstStyle/>
          <a:p>
            <a:pPr eaLnBrk="1" hangingPunct="1">
              <a:lnSpc>
                <a:spcPct val="90000"/>
              </a:lnSpc>
              <a:buFontTx/>
              <a:buNone/>
            </a:pPr>
            <a:r>
              <a:rPr lang="en-US" sz="2400" dirty="0"/>
              <a:t>Consider the following structure</a:t>
            </a:r>
          </a:p>
          <a:p>
            <a:pPr eaLnBrk="1" hangingPunct="1">
              <a:lnSpc>
                <a:spcPct val="90000"/>
              </a:lnSpc>
              <a:buFontTx/>
              <a:buNone/>
            </a:pPr>
            <a:r>
              <a:rPr lang="en-US" sz="2400" b="1" dirty="0" err="1"/>
              <a:t>struct</a:t>
            </a:r>
            <a:r>
              <a:rPr lang="en-US" sz="2400" b="1" dirty="0"/>
              <a:t> inventory</a:t>
            </a:r>
          </a:p>
          <a:p>
            <a:pPr eaLnBrk="1" hangingPunct="1">
              <a:lnSpc>
                <a:spcPct val="90000"/>
              </a:lnSpc>
              <a:buFontTx/>
              <a:buNone/>
            </a:pPr>
            <a:r>
              <a:rPr lang="en-US" sz="2400" b="1" dirty="0"/>
              <a:t>{</a:t>
            </a:r>
          </a:p>
          <a:p>
            <a:pPr eaLnBrk="1" hangingPunct="1">
              <a:lnSpc>
                <a:spcPct val="90000"/>
              </a:lnSpc>
              <a:buFontTx/>
              <a:buNone/>
            </a:pPr>
            <a:r>
              <a:rPr lang="en-US" sz="2400" b="1" dirty="0"/>
              <a:t>	char  name[30];</a:t>
            </a:r>
          </a:p>
          <a:p>
            <a:pPr eaLnBrk="1" hangingPunct="1">
              <a:lnSpc>
                <a:spcPct val="90000"/>
              </a:lnSpc>
              <a:buFontTx/>
              <a:buNone/>
            </a:pPr>
            <a:r>
              <a:rPr lang="en-US" sz="2400" b="1" dirty="0"/>
              <a:t>	</a:t>
            </a:r>
            <a:r>
              <a:rPr lang="en-US" sz="2400" b="1" dirty="0" err="1"/>
              <a:t>int</a:t>
            </a:r>
            <a:r>
              <a:rPr lang="en-US" sz="2400" b="1" dirty="0"/>
              <a:t>  number; </a:t>
            </a:r>
          </a:p>
          <a:p>
            <a:pPr eaLnBrk="1" hangingPunct="1">
              <a:lnSpc>
                <a:spcPct val="90000"/>
              </a:lnSpc>
              <a:buFontTx/>
              <a:buNone/>
            </a:pPr>
            <a:r>
              <a:rPr lang="en-US" sz="2400" b="1" dirty="0"/>
              <a:t>	float  price;</a:t>
            </a:r>
          </a:p>
          <a:p>
            <a:pPr eaLnBrk="1" hangingPunct="1">
              <a:lnSpc>
                <a:spcPct val="90000"/>
              </a:lnSpc>
              <a:buFontTx/>
              <a:buNone/>
            </a:pPr>
            <a:r>
              <a:rPr lang="en-US" sz="2400" b="1" dirty="0"/>
              <a:t>} product[2], *p;</a:t>
            </a:r>
          </a:p>
          <a:p>
            <a:pPr eaLnBrk="1" hangingPunct="1">
              <a:lnSpc>
                <a:spcPct val="90000"/>
              </a:lnSpc>
              <a:buFontTx/>
              <a:buNone/>
            </a:pPr>
            <a:endParaRPr lang="en-US" sz="2400" b="1" dirty="0"/>
          </a:p>
          <a:p>
            <a:pPr eaLnBrk="1" hangingPunct="1">
              <a:lnSpc>
                <a:spcPct val="90000"/>
              </a:lnSpc>
              <a:buFontTx/>
              <a:buNone/>
            </a:pPr>
            <a:r>
              <a:rPr lang="en-US" sz="2400" b="1" dirty="0"/>
              <a:t>p=product; </a:t>
            </a:r>
            <a:r>
              <a:rPr lang="en-US" sz="2400" dirty="0">
                <a:solidFill>
                  <a:srgbClr val="0070C0"/>
                </a:solidFill>
              </a:rPr>
              <a:t>assigns the address of the zeroth element of </a:t>
            </a:r>
            <a:r>
              <a:rPr lang="en-US" sz="2400" b="1" dirty="0"/>
              <a:t>product</a:t>
            </a:r>
            <a:r>
              <a:rPr lang="en-US" sz="2400" dirty="0"/>
              <a:t> </a:t>
            </a:r>
            <a:r>
              <a:rPr lang="en-US" sz="2400" dirty="0">
                <a:solidFill>
                  <a:srgbClr val="0070C0"/>
                </a:solidFill>
              </a:rPr>
              <a:t>to</a:t>
            </a:r>
            <a:r>
              <a:rPr lang="en-US" sz="2400" dirty="0"/>
              <a:t> </a:t>
            </a:r>
            <a:r>
              <a:rPr lang="en-US" sz="2400" b="1" dirty="0"/>
              <a:t>p</a:t>
            </a:r>
          </a:p>
          <a:p>
            <a:pPr eaLnBrk="1" hangingPunct="1">
              <a:lnSpc>
                <a:spcPct val="90000"/>
              </a:lnSpc>
              <a:buFontTx/>
              <a:buNone/>
            </a:pPr>
            <a:endParaRPr lang="en-US" sz="2400" b="1" dirty="0"/>
          </a:p>
          <a:p>
            <a:pPr eaLnBrk="1" hangingPunct="1">
              <a:lnSpc>
                <a:spcPct val="90000"/>
              </a:lnSpc>
              <a:buFontTx/>
              <a:buNone/>
            </a:pPr>
            <a:r>
              <a:rPr lang="en-US" sz="2400" dirty="0">
                <a:solidFill>
                  <a:srgbClr val="0070C0"/>
                </a:solidFill>
              </a:rPr>
              <a:t>or</a:t>
            </a:r>
            <a:r>
              <a:rPr lang="en-US" sz="2400" b="1" dirty="0"/>
              <a:t>      p </a:t>
            </a:r>
            <a:r>
              <a:rPr lang="en-US" sz="2400" dirty="0">
                <a:solidFill>
                  <a:srgbClr val="0070C0"/>
                </a:solidFill>
              </a:rPr>
              <a:t>points to</a:t>
            </a:r>
            <a:r>
              <a:rPr lang="en-US" sz="2400" b="1" dirty="0">
                <a:solidFill>
                  <a:srgbClr val="0070C0"/>
                </a:solidFill>
              </a:rPr>
              <a:t> </a:t>
            </a:r>
            <a:r>
              <a:rPr lang="en-US" sz="2400" b="1" dirty="0"/>
              <a:t>product[0];</a:t>
            </a:r>
          </a:p>
        </p:txBody>
      </p:sp>
    </p:spTree>
    <p:extLst>
      <p:ext uri="{BB962C8B-B14F-4D97-AF65-F5344CB8AC3E}">
        <p14:creationId xmlns:p14="http://schemas.microsoft.com/office/powerpoint/2010/main" val="20876266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Slide Number Placeholder 5"/>
          <p:cNvSpPr>
            <a:spLocks noGrp="1"/>
          </p:cNvSpPr>
          <p:nvPr>
            <p:ph type="sldNum" sz="quarter" idx="12"/>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B6EAD09-C8C2-4F02-BBA3-5F02CD90C744}"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45061" name="Rectangle 2"/>
          <p:cNvSpPr>
            <a:spLocks noGrp="1" noChangeArrowheads="1"/>
          </p:cNvSpPr>
          <p:nvPr>
            <p:ph type="title"/>
          </p:nvPr>
        </p:nvSpPr>
        <p:spPr>
          <a:xfrm>
            <a:off x="1981200" y="274638"/>
            <a:ext cx="8229600" cy="639762"/>
          </a:xfrm>
        </p:spPr>
        <p:txBody>
          <a:bodyPr/>
          <a:lstStyle/>
          <a:p>
            <a:pPr eaLnBrk="1" hangingPunct="1"/>
            <a:r>
              <a:rPr lang="en-US" sz="4000"/>
              <a:t>Pointers and structures (Contd…)</a:t>
            </a:r>
          </a:p>
        </p:txBody>
      </p:sp>
      <p:sp>
        <p:nvSpPr>
          <p:cNvPr id="45062" name="Rectangle 3"/>
          <p:cNvSpPr>
            <a:spLocks noGrp="1" noChangeArrowheads="1"/>
          </p:cNvSpPr>
          <p:nvPr>
            <p:ph type="body" idx="1"/>
          </p:nvPr>
        </p:nvSpPr>
        <p:spPr>
          <a:xfrm>
            <a:off x="1752600" y="1066800"/>
            <a:ext cx="8686800" cy="5334000"/>
          </a:xfrm>
        </p:spPr>
        <p:txBody>
          <a:bodyPr/>
          <a:lstStyle/>
          <a:p>
            <a:pPr eaLnBrk="1" hangingPunct="1">
              <a:buFontTx/>
              <a:buNone/>
            </a:pPr>
            <a:r>
              <a:rPr lang="en-US" sz="2400" dirty="0"/>
              <a:t>Its members are accessed using the following notation</a:t>
            </a:r>
          </a:p>
          <a:p>
            <a:pPr eaLnBrk="1" hangingPunct="1">
              <a:buFontTx/>
              <a:buNone/>
            </a:pPr>
            <a:r>
              <a:rPr lang="en-US" sz="2400" b="1" dirty="0"/>
              <a:t>p-&gt;name</a:t>
            </a:r>
          </a:p>
          <a:p>
            <a:pPr eaLnBrk="1" hangingPunct="1">
              <a:buFontTx/>
              <a:buNone/>
            </a:pPr>
            <a:r>
              <a:rPr lang="en-US" sz="2400" b="1" dirty="0"/>
              <a:t>p-&gt;number</a:t>
            </a:r>
          </a:p>
          <a:p>
            <a:pPr eaLnBrk="1" hangingPunct="1">
              <a:buFontTx/>
              <a:buNone/>
            </a:pPr>
            <a:r>
              <a:rPr lang="en-US" sz="2400" b="1" dirty="0"/>
              <a:t>p-&gt;price</a:t>
            </a:r>
          </a:p>
          <a:p>
            <a:pPr eaLnBrk="1" hangingPunct="1">
              <a:buFontTx/>
              <a:buNone/>
            </a:pPr>
            <a:r>
              <a:rPr lang="en-US" sz="2400" dirty="0"/>
              <a:t>The symbol </a:t>
            </a:r>
            <a:r>
              <a:rPr lang="en-US" sz="2400" b="1" dirty="0"/>
              <a:t>-&gt;</a:t>
            </a:r>
            <a:r>
              <a:rPr lang="en-US" sz="2400" dirty="0"/>
              <a:t> is called </a:t>
            </a:r>
            <a:r>
              <a:rPr lang="en-US" sz="2400" b="1" dirty="0"/>
              <a:t>arrow operator</a:t>
            </a:r>
            <a:r>
              <a:rPr lang="en-US" sz="2400" dirty="0"/>
              <a:t> (also known as </a:t>
            </a:r>
            <a:r>
              <a:rPr lang="en-US" sz="2400" b="1" dirty="0"/>
              <a:t>member selection operator</a:t>
            </a:r>
            <a:r>
              <a:rPr lang="en-US" sz="2400" dirty="0"/>
              <a:t>)</a:t>
            </a:r>
          </a:p>
          <a:p>
            <a:pPr eaLnBrk="1" hangingPunct="1">
              <a:buFontTx/>
              <a:buNone/>
            </a:pPr>
            <a:endParaRPr lang="en-US" sz="2400" dirty="0"/>
          </a:p>
          <a:p>
            <a:pPr eaLnBrk="1" hangingPunct="1">
              <a:buFontTx/>
              <a:buNone/>
            </a:pPr>
            <a:r>
              <a:rPr lang="en-US" sz="2400" dirty="0"/>
              <a:t>The member number can also be accessed using</a:t>
            </a:r>
          </a:p>
          <a:p>
            <a:pPr eaLnBrk="1" hangingPunct="1">
              <a:buFontTx/>
              <a:buNone/>
            </a:pPr>
            <a:r>
              <a:rPr lang="en-US" sz="2400" b="1" dirty="0"/>
              <a:t>(*p).number</a:t>
            </a:r>
          </a:p>
          <a:p>
            <a:pPr eaLnBrk="1" hangingPunct="1">
              <a:buFontTx/>
              <a:buNone/>
            </a:pPr>
            <a:endParaRPr lang="en-US" sz="2400" b="1" dirty="0"/>
          </a:p>
          <a:p>
            <a:pPr eaLnBrk="1" hangingPunct="1">
              <a:buFontTx/>
              <a:buNone/>
            </a:pPr>
            <a:r>
              <a:rPr lang="en-US" sz="2400" dirty="0" err="1"/>
              <a:t>Parantheses</a:t>
            </a:r>
            <a:r>
              <a:rPr lang="en-US" sz="2400" dirty="0"/>
              <a:t> is required because </a:t>
            </a:r>
            <a:r>
              <a:rPr lang="en-US" sz="2400" b="1" dirty="0"/>
              <a:t>‘.’ </a:t>
            </a:r>
            <a:r>
              <a:rPr lang="en-US" sz="2400" dirty="0"/>
              <a:t>has higher precedence than the operator *</a:t>
            </a:r>
          </a:p>
        </p:txBody>
      </p:sp>
    </p:spTree>
    <p:extLst>
      <p:ext uri="{BB962C8B-B14F-4D97-AF65-F5344CB8AC3E}">
        <p14:creationId xmlns:p14="http://schemas.microsoft.com/office/powerpoint/2010/main" val="12316658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Slide Number Placeholder 5"/>
          <p:cNvSpPr>
            <a:spLocks noGrp="1"/>
          </p:cNvSpPr>
          <p:nvPr>
            <p:ph type="sldNum" sz="quarter" idx="12"/>
          </p:nvPr>
        </p:nvSpPr>
        <p:spPr>
          <a:noFill/>
        </p:spPr>
        <p:txBody>
          <a:bodyPr/>
          <a:lstStyle>
            <a:lvl1pPr eaLnBrk="0" hangingPunct="0">
              <a:defRPr>
                <a:solidFill>
                  <a:schemeClr val="tx1"/>
                </a:solidFill>
                <a:latin typeface="Arial" charset="0"/>
              </a:defRPr>
            </a:lvl1pPr>
            <a:lvl2pPr marL="557213" indent="-214313" eaLnBrk="0" hangingPunct="0">
              <a:defRPr>
                <a:solidFill>
                  <a:schemeClr val="tx1"/>
                </a:solidFill>
                <a:latin typeface="Arial" charset="0"/>
              </a:defRPr>
            </a:lvl2pPr>
            <a:lvl3pPr marL="857250" indent="-171450" eaLnBrk="0" hangingPunct="0">
              <a:defRPr>
                <a:solidFill>
                  <a:schemeClr val="tx1"/>
                </a:solidFill>
                <a:latin typeface="Arial" charset="0"/>
              </a:defRPr>
            </a:lvl3pPr>
            <a:lvl4pPr marL="1200150" indent="-171450" eaLnBrk="0" hangingPunct="0">
              <a:defRPr>
                <a:solidFill>
                  <a:schemeClr val="tx1"/>
                </a:solidFill>
                <a:latin typeface="Arial" charset="0"/>
              </a:defRPr>
            </a:lvl4pPr>
            <a:lvl5pPr marL="1543050" indent="-171450" eaLnBrk="0" hangingPunct="0">
              <a:defRPr>
                <a:solidFill>
                  <a:schemeClr val="tx1"/>
                </a:solidFill>
                <a:latin typeface="Arial" charset="0"/>
              </a:defRPr>
            </a:lvl5pPr>
            <a:lvl6pPr marL="1885950" indent="-171450" eaLnBrk="0" fontAlgn="base" hangingPunct="0">
              <a:spcBef>
                <a:spcPct val="0"/>
              </a:spcBef>
              <a:spcAft>
                <a:spcPct val="0"/>
              </a:spcAft>
              <a:defRPr>
                <a:solidFill>
                  <a:schemeClr val="tx1"/>
                </a:solidFill>
                <a:latin typeface="Arial" charset="0"/>
              </a:defRPr>
            </a:lvl6pPr>
            <a:lvl7pPr marL="2228850" indent="-171450" eaLnBrk="0" fontAlgn="base" hangingPunct="0">
              <a:spcBef>
                <a:spcPct val="0"/>
              </a:spcBef>
              <a:spcAft>
                <a:spcPct val="0"/>
              </a:spcAft>
              <a:defRPr>
                <a:solidFill>
                  <a:schemeClr val="tx1"/>
                </a:solidFill>
                <a:latin typeface="Arial" charset="0"/>
              </a:defRPr>
            </a:lvl7pPr>
            <a:lvl8pPr marL="2571750" indent="-171450" eaLnBrk="0" fontAlgn="base" hangingPunct="0">
              <a:spcBef>
                <a:spcPct val="0"/>
              </a:spcBef>
              <a:spcAft>
                <a:spcPct val="0"/>
              </a:spcAft>
              <a:defRPr>
                <a:solidFill>
                  <a:schemeClr val="tx1"/>
                </a:solidFill>
                <a:latin typeface="Arial" charset="0"/>
              </a:defRPr>
            </a:lvl8pPr>
            <a:lvl9pPr marL="2914650" indent="-171450" eaLnBrk="0" fontAlgn="base" hangingPunct="0">
              <a:spcBef>
                <a:spcPct val="0"/>
              </a:spcBef>
              <a:spcAft>
                <a:spcPct val="0"/>
              </a:spcAft>
              <a:defRPr>
                <a:solidFill>
                  <a:schemeClr val="tx1"/>
                </a:solidFill>
                <a:latin typeface="Arial" charset="0"/>
              </a:defRPr>
            </a:lvl9pPr>
          </a:lstStyle>
          <a:p>
            <a:pPr marL="0" marR="0" lvl="0" indent="0" algn="r" defTabSz="685800" rtl="0" eaLnBrk="1" fontAlgn="auto" latinLnBrk="0" hangingPunct="1">
              <a:lnSpc>
                <a:spcPct val="100000"/>
              </a:lnSpc>
              <a:spcBef>
                <a:spcPts val="0"/>
              </a:spcBef>
              <a:spcAft>
                <a:spcPts val="0"/>
              </a:spcAft>
              <a:buClrTx/>
              <a:buSzTx/>
              <a:buFontTx/>
              <a:buNone/>
              <a:tabLst/>
              <a:defRPr/>
            </a:pPr>
            <a:fld id="{52D080A3-BE44-4A21-9D2F-4158636BE13F}" type="slidenum">
              <a:rPr kumimoji="0" lang="en-US" sz="900" b="0" i="0" u="none" strike="noStrike" kern="1200" cap="none" spc="0" normalizeH="0" baseline="0" noProof="0">
                <a:ln>
                  <a:noFill/>
                </a:ln>
                <a:solidFill>
                  <a:prstClr val="black"/>
                </a:solidFill>
                <a:effectLst/>
                <a:uLnTx/>
                <a:uFillTx/>
                <a:latin typeface="Arial" charset="0"/>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32</a:t>
            </a:fld>
            <a:endParaRPr kumimoji="0" lang="en-US" sz="900" b="0" i="0" u="none" strike="noStrike" kern="1200" cap="none" spc="0" normalizeH="0" baseline="0" noProof="0">
              <a:ln>
                <a:noFill/>
              </a:ln>
              <a:solidFill>
                <a:prstClr val="black"/>
              </a:solidFill>
              <a:effectLst/>
              <a:uLnTx/>
              <a:uFillTx/>
              <a:latin typeface="Arial" charset="0"/>
              <a:ea typeface="+mn-ea"/>
              <a:cs typeface="+mn-cs"/>
            </a:endParaRPr>
          </a:p>
        </p:txBody>
      </p:sp>
      <p:sp>
        <p:nvSpPr>
          <p:cNvPr id="46085" name="Rectangle 2"/>
          <p:cNvSpPr>
            <a:spLocks noGrp="1" noChangeArrowheads="1"/>
          </p:cNvSpPr>
          <p:nvPr>
            <p:ph type="title"/>
          </p:nvPr>
        </p:nvSpPr>
        <p:spPr>
          <a:xfrm>
            <a:off x="2286000" y="381000"/>
            <a:ext cx="7753350" cy="381000"/>
          </a:xfrm>
        </p:spPr>
        <p:txBody>
          <a:bodyPr>
            <a:noAutofit/>
          </a:bodyPr>
          <a:lstStyle/>
          <a:p>
            <a:pPr eaLnBrk="1" hangingPunct="1"/>
            <a:r>
              <a:rPr lang="en-US" sz="2800" b="1" dirty="0">
                <a:solidFill>
                  <a:srgbClr val="7030A0"/>
                </a:solidFill>
              </a:rPr>
              <a:t>Program to illustrate the use of structure pointers</a:t>
            </a:r>
          </a:p>
        </p:txBody>
      </p:sp>
      <p:pic>
        <p:nvPicPr>
          <p:cNvPr id="3" name="Picture 2"/>
          <p:cNvPicPr>
            <a:picLocks noChangeAspect="1"/>
          </p:cNvPicPr>
          <p:nvPr/>
        </p:nvPicPr>
        <p:blipFill>
          <a:blip r:embed="rId3"/>
          <a:stretch>
            <a:fillRect/>
          </a:stretch>
        </p:blipFill>
        <p:spPr>
          <a:xfrm>
            <a:off x="847725" y="990600"/>
            <a:ext cx="9274510" cy="5365752"/>
          </a:xfrm>
          <a:prstGeom prst="rect">
            <a:avLst/>
          </a:prstGeom>
        </p:spPr>
      </p:pic>
    </p:spTree>
    <p:extLst>
      <p:ext uri="{BB962C8B-B14F-4D97-AF65-F5344CB8AC3E}">
        <p14:creationId xmlns:p14="http://schemas.microsoft.com/office/powerpoint/2010/main" val="12576361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5C44F-894E-439E-9C3D-0DDBC866F26B}"/>
              </a:ext>
            </a:extLst>
          </p:cNvPr>
          <p:cNvSpPr>
            <a:spLocks noGrp="1"/>
          </p:cNvSpPr>
          <p:nvPr>
            <p:ph type="title"/>
          </p:nvPr>
        </p:nvSpPr>
        <p:spPr>
          <a:xfrm>
            <a:off x="1981200" y="274638"/>
            <a:ext cx="8229600" cy="868362"/>
          </a:xfrm>
        </p:spPr>
        <p:txBody>
          <a:bodyPr/>
          <a:lstStyle/>
          <a:p>
            <a:r>
              <a:rPr lang="en-US" dirty="0">
                <a:solidFill>
                  <a:srgbClr val="002060"/>
                </a:solidFill>
              </a:rPr>
              <a:t>CONSTANT POINTERS..</a:t>
            </a:r>
            <a:endParaRPr lang="en-IN" dirty="0">
              <a:solidFill>
                <a:srgbClr val="002060"/>
              </a:solidFill>
            </a:endParaRPr>
          </a:p>
        </p:txBody>
      </p:sp>
      <p:sp>
        <p:nvSpPr>
          <p:cNvPr id="3" name="Content Placeholder 2">
            <a:extLst>
              <a:ext uri="{FF2B5EF4-FFF2-40B4-BE49-F238E27FC236}">
                <a16:creationId xmlns:a16="http://schemas.microsoft.com/office/drawing/2014/main" id="{5E4B8D04-068E-489B-8E76-D76F16F91A69}"/>
              </a:ext>
            </a:extLst>
          </p:cNvPr>
          <p:cNvSpPr>
            <a:spLocks noGrp="1"/>
          </p:cNvSpPr>
          <p:nvPr>
            <p:ph idx="1"/>
          </p:nvPr>
        </p:nvSpPr>
        <p:spPr/>
        <p:txBody>
          <a:bodyPr/>
          <a:lstStyle/>
          <a:p>
            <a:pPr marL="0" indent="0">
              <a:buNone/>
            </a:pPr>
            <a:r>
              <a:rPr lang="en-IN" b="1" dirty="0">
                <a:solidFill>
                  <a:srgbClr val="FF0000"/>
                </a:solidFill>
              </a:rPr>
              <a:t>1. Pointer to constant</a:t>
            </a:r>
          </a:p>
          <a:p>
            <a:pPr marL="0" indent="0">
              <a:buNone/>
            </a:pPr>
            <a:r>
              <a:rPr lang="en-US" b="1" dirty="0">
                <a:solidFill>
                  <a:srgbClr val="FF0000"/>
                </a:solidFill>
              </a:rPr>
              <a:t>2. </a:t>
            </a:r>
            <a:r>
              <a:rPr lang="en-IN" b="1" dirty="0">
                <a:solidFill>
                  <a:srgbClr val="FF0000"/>
                </a:solidFill>
              </a:rPr>
              <a:t>Constant pointer, non-constant data</a:t>
            </a:r>
          </a:p>
          <a:p>
            <a:pPr marL="0" indent="0">
              <a:buNone/>
            </a:pPr>
            <a:r>
              <a:rPr lang="en-US" b="1" dirty="0">
                <a:solidFill>
                  <a:srgbClr val="FF0000"/>
                </a:solidFill>
              </a:rPr>
              <a:t>3</a:t>
            </a:r>
            <a:r>
              <a:rPr lang="en-IN" b="1" dirty="0">
                <a:solidFill>
                  <a:srgbClr val="FF0000"/>
                </a:solidFill>
              </a:rPr>
              <a:t>. Constant pointer, constant data</a:t>
            </a:r>
          </a:p>
          <a:p>
            <a:pPr marL="514350" indent="-514350">
              <a:buAutoNum type="arabicPeriod"/>
            </a:pPr>
            <a:endParaRPr lang="en-IN" dirty="0"/>
          </a:p>
        </p:txBody>
      </p:sp>
      <p:sp>
        <p:nvSpPr>
          <p:cNvPr id="4" name="Slide Number Placeholder 3">
            <a:extLst>
              <a:ext uri="{FF2B5EF4-FFF2-40B4-BE49-F238E27FC236}">
                <a16:creationId xmlns:a16="http://schemas.microsoft.com/office/drawing/2014/main" id="{52B02DB9-8814-44E6-A996-10C4234B6E09}"/>
              </a:ext>
            </a:extLst>
          </p:cNvPr>
          <p:cNvSpPr>
            <a:spLocks noGrp="1"/>
          </p:cNvSpPr>
          <p:nvPr>
            <p:ph type="sldNum" sz="quarter" idx="12"/>
          </p:nvPr>
        </p:nvSpPr>
        <p:spPr/>
        <p:txBody>
          <a:bodyPr/>
          <a:lstStyle/>
          <a:p>
            <a:pPr fontAlgn="base">
              <a:spcBef>
                <a:spcPct val="0"/>
              </a:spcBef>
              <a:spcAft>
                <a:spcPct val="0"/>
              </a:spcAft>
              <a:defRPr/>
            </a:pPr>
            <a:fld id="{5C36889F-1A08-4E73-8F47-0502020A99B2}" type="slidenum">
              <a:rPr lang="en-US">
                <a:solidFill>
                  <a:srgbClr val="000000"/>
                </a:solidFill>
                <a:latin typeface="Arial" charset="0"/>
              </a:rPr>
              <a:pPr fontAlgn="base">
                <a:spcBef>
                  <a:spcPct val="0"/>
                </a:spcBef>
                <a:spcAft>
                  <a:spcPct val="0"/>
                </a:spcAft>
                <a:defRPr/>
              </a:pPr>
              <a:t>33</a:t>
            </a:fld>
            <a:endParaRPr lang="en-US">
              <a:solidFill>
                <a:srgbClr val="000000"/>
              </a:solidFill>
              <a:latin typeface="Arial" charset="0"/>
            </a:endParaRPr>
          </a:p>
        </p:txBody>
      </p:sp>
    </p:spTree>
    <p:extLst>
      <p:ext uri="{BB962C8B-B14F-4D97-AF65-F5344CB8AC3E}">
        <p14:creationId xmlns:p14="http://schemas.microsoft.com/office/powerpoint/2010/main" val="11602040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2861" y="285279"/>
            <a:ext cx="7886700" cy="308048"/>
          </a:xfrm>
        </p:spPr>
        <p:txBody>
          <a:bodyPr>
            <a:normAutofit fontScale="90000"/>
          </a:bodyPr>
          <a:lstStyle/>
          <a:p>
            <a:r>
              <a:rPr lang="en-IN" b="1" dirty="0">
                <a:solidFill>
                  <a:srgbClr val="FF0000"/>
                </a:solidFill>
              </a:rPr>
              <a:t>1. Pointer to constant</a:t>
            </a:r>
          </a:p>
        </p:txBody>
      </p:sp>
      <p:sp>
        <p:nvSpPr>
          <p:cNvPr id="3" name="Content Placeholder 2"/>
          <p:cNvSpPr>
            <a:spLocks noGrp="1"/>
          </p:cNvSpPr>
          <p:nvPr>
            <p:ph idx="1"/>
          </p:nvPr>
        </p:nvSpPr>
        <p:spPr>
          <a:xfrm>
            <a:off x="1526622" y="2475688"/>
            <a:ext cx="11415713" cy="3263504"/>
          </a:xfrm>
        </p:spPr>
        <p:txBody>
          <a:bodyPr>
            <a:normAutofit/>
          </a:bodyPr>
          <a:lstStyle/>
          <a:p>
            <a:pPr marL="0" indent="0" algn="just">
              <a:buNone/>
            </a:pPr>
            <a:r>
              <a:rPr lang="en-IN" sz="2400" b="1" dirty="0" err="1">
                <a:solidFill>
                  <a:srgbClr val="FF0000"/>
                </a:solidFill>
              </a:rPr>
              <a:t>const</a:t>
            </a:r>
            <a:r>
              <a:rPr lang="en-IN" sz="2400" b="1" dirty="0">
                <a:solidFill>
                  <a:srgbClr val="0070C0"/>
                </a:solidFill>
              </a:rPr>
              <a:t>  datatype  * </a:t>
            </a:r>
            <a:r>
              <a:rPr lang="en-IN" sz="2400" b="1" dirty="0" err="1">
                <a:solidFill>
                  <a:srgbClr val="0070C0"/>
                </a:solidFill>
              </a:rPr>
              <a:t>ptr</a:t>
            </a:r>
            <a:r>
              <a:rPr lang="en-IN" sz="2400" b="1" dirty="0">
                <a:solidFill>
                  <a:srgbClr val="0070C0"/>
                </a:solidFill>
              </a:rPr>
              <a:t>;</a:t>
            </a:r>
          </a:p>
          <a:p>
            <a:pPr marL="0" indent="0" algn="just">
              <a:buNone/>
            </a:pPr>
            <a:endParaRPr lang="en-IN" sz="2400" b="1" dirty="0">
              <a:solidFill>
                <a:srgbClr val="0070C0"/>
              </a:solidFill>
            </a:endParaRPr>
          </a:p>
          <a:p>
            <a:pPr algn="just"/>
            <a:r>
              <a:rPr lang="en-IN" sz="2400" dirty="0"/>
              <a:t>The value pointed by the pointer cannot be changed, but the pointer can be changed.</a:t>
            </a:r>
          </a:p>
        </p:txBody>
      </p:sp>
      <p:pic>
        <p:nvPicPr>
          <p:cNvPr id="4" name="Picture 3">
            <a:extLst>
              <a:ext uri="{FF2B5EF4-FFF2-40B4-BE49-F238E27FC236}">
                <a16:creationId xmlns:a16="http://schemas.microsoft.com/office/drawing/2014/main" id="{B8AEB7AF-BAE2-4CE5-BC00-121154291EC9}"/>
              </a:ext>
            </a:extLst>
          </p:cNvPr>
          <p:cNvPicPr>
            <a:picLocks noChangeAspect="1"/>
          </p:cNvPicPr>
          <p:nvPr/>
        </p:nvPicPr>
        <p:blipFill>
          <a:blip r:embed="rId2"/>
          <a:stretch>
            <a:fillRect/>
          </a:stretch>
        </p:blipFill>
        <p:spPr>
          <a:xfrm>
            <a:off x="1653336" y="2819400"/>
            <a:ext cx="8952002" cy="2919792"/>
          </a:xfrm>
          <a:prstGeom prst="rect">
            <a:avLst/>
          </a:prstGeom>
        </p:spPr>
      </p:pic>
      <p:pic>
        <p:nvPicPr>
          <p:cNvPr id="6" name="Picture 5">
            <a:extLst>
              <a:ext uri="{FF2B5EF4-FFF2-40B4-BE49-F238E27FC236}">
                <a16:creationId xmlns:a16="http://schemas.microsoft.com/office/drawing/2014/main" id="{F25FE713-2867-4FC6-90D9-36749DF06F74}"/>
              </a:ext>
            </a:extLst>
          </p:cNvPr>
          <p:cNvPicPr>
            <a:picLocks noChangeAspect="1"/>
          </p:cNvPicPr>
          <p:nvPr/>
        </p:nvPicPr>
        <p:blipFill>
          <a:blip r:embed="rId3"/>
          <a:stretch>
            <a:fillRect/>
          </a:stretch>
        </p:blipFill>
        <p:spPr>
          <a:xfrm>
            <a:off x="7467600" y="5622807"/>
            <a:ext cx="2692338" cy="1147170"/>
          </a:xfrm>
          <a:prstGeom prst="rect">
            <a:avLst/>
          </a:prstGeom>
        </p:spPr>
      </p:pic>
      <p:sp>
        <p:nvSpPr>
          <p:cNvPr id="7" name="TextBox 6">
            <a:extLst>
              <a:ext uri="{FF2B5EF4-FFF2-40B4-BE49-F238E27FC236}">
                <a16:creationId xmlns:a16="http://schemas.microsoft.com/office/drawing/2014/main" id="{2937E47F-0970-4E97-B310-3F6D9BD67361}"/>
              </a:ext>
            </a:extLst>
          </p:cNvPr>
          <p:cNvSpPr txBox="1"/>
          <p:nvPr/>
        </p:nvSpPr>
        <p:spPr>
          <a:xfrm>
            <a:off x="7848600" y="5029200"/>
            <a:ext cx="2057400" cy="523220"/>
          </a:xfrm>
          <a:prstGeom prst="rect">
            <a:avLst/>
          </a:prstGeom>
          <a:noFill/>
        </p:spPr>
        <p:txBody>
          <a:bodyPr wrap="square" rtlCol="0">
            <a:spAutoFit/>
          </a:bodyPr>
          <a:lstStyle/>
          <a:p>
            <a:pPr fontAlgn="base">
              <a:spcBef>
                <a:spcPct val="0"/>
              </a:spcBef>
              <a:spcAft>
                <a:spcPct val="0"/>
              </a:spcAft>
            </a:pPr>
            <a:r>
              <a:rPr lang="en-US" sz="2800" b="1" dirty="0">
                <a:solidFill>
                  <a:srgbClr val="FF0000"/>
                </a:solidFill>
                <a:latin typeface="Arial" charset="0"/>
              </a:rPr>
              <a:t>OUTPUT</a:t>
            </a:r>
            <a:endParaRPr lang="en-IN" sz="2800" b="1" dirty="0">
              <a:solidFill>
                <a:srgbClr val="FF0000"/>
              </a:solidFill>
              <a:latin typeface="Arial" charset="0"/>
            </a:endParaRPr>
          </a:p>
        </p:txBody>
      </p:sp>
    </p:spTree>
    <p:extLst>
      <p:ext uri="{BB962C8B-B14F-4D97-AF65-F5344CB8AC3E}">
        <p14:creationId xmlns:p14="http://schemas.microsoft.com/office/powerpoint/2010/main" val="2106140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457200"/>
            <a:ext cx="7886700" cy="308048"/>
          </a:xfrm>
        </p:spPr>
        <p:txBody>
          <a:bodyPr>
            <a:normAutofit fontScale="90000"/>
          </a:bodyPr>
          <a:lstStyle/>
          <a:p>
            <a:r>
              <a:rPr lang="en-IN" b="1" dirty="0">
                <a:solidFill>
                  <a:srgbClr val="FF0000"/>
                </a:solidFill>
              </a:rPr>
              <a:t>2. Constant pointer, non-constant data</a:t>
            </a:r>
          </a:p>
        </p:txBody>
      </p:sp>
      <p:sp>
        <p:nvSpPr>
          <p:cNvPr id="3" name="Content Placeholder 2"/>
          <p:cNvSpPr>
            <a:spLocks noGrp="1"/>
          </p:cNvSpPr>
          <p:nvPr>
            <p:ph idx="1"/>
          </p:nvPr>
        </p:nvSpPr>
        <p:spPr>
          <a:xfrm>
            <a:off x="142875" y="1143000"/>
            <a:ext cx="11630025" cy="1020690"/>
          </a:xfrm>
        </p:spPr>
        <p:txBody>
          <a:bodyPr>
            <a:noAutofit/>
          </a:bodyPr>
          <a:lstStyle/>
          <a:p>
            <a:pPr marL="0" indent="0" algn="just">
              <a:buNone/>
            </a:pPr>
            <a:r>
              <a:rPr lang="en-IN" sz="2400" b="1" dirty="0">
                <a:solidFill>
                  <a:srgbClr val="0070C0"/>
                </a:solidFill>
              </a:rPr>
              <a:t>int  *  </a:t>
            </a:r>
            <a:r>
              <a:rPr lang="en-IN" sz="2400" b="1" dirty="0" err="1">
                <a:solidFill>
                  <a:srgbClr val="FF0000"/>
                </a:solidFill>
              </a:rPr>
              <a:t>const</a:t>
            </a:r>
            <a:r>
              <a:rPr lang="en-IN" sz="2400" b="1" dirty="0">
                <a:solidFill>
                  <a:srgbClr val="0070C0"/>
                </a:solidFill>
              </a:rPr>
              <a:t>  </a:t>
            </a:r>
            <a:r>
              <a:rPr lang="en-IN" sz="2400" b="1" dirty="0" err="1">
                <a:solidFill>
                  <a:srgbClr val="0070C0"/>
                </a:solidFill>
              </a:rPr>
              <a:t>ptr</a:t>
            </a:r>
            <a:r>
              <a:rPr lang="en-IN" sz="2400" b="1" dirty="0">
                <a:solidFill>
                  <a:srgbClr val="0070C0"/>
                </a:solidFill>
              </a:rPr>
              <a:t>;</a:t>
            </a:r>
          </a:p>
          <a:p>
            <a:pPr algn="just"/>
            <a:r>
              <a:rPr lang="en-IN" sz="2400" dirty="0"/>
              <a:t>It creates a constant pointer to a non-constant integer.</a:t>
            </a:r>
          </a:p>
          <a:p>
            <a:pPr algn="just"/>
            <a:r>
              <a:rPr lang="en-IN" sz="2400" dirty="0"/>
              <a:t>The value pointed by the pointer can be changed, but the pointer cannot be changed.</a:t>
            </a:r>
          </a:p>
        </p:txBody>
      </p:sp>
      <p:pic>
        <p:nvPicPr>
          <p:cNvPr id="4" name="Picture 3">
            <a:extLst>
              <a:ext uri="{FF2B5EF4-FFF2-40B4-BE49-F238E27FC236}">
                <a16:creationId xmlns:a16="http://schemas.microsoft.com/office/drawing/2014/main" id="{229FCF06-83FE-488E-BF37-8066234FCE17}"/>
              </a:ext>
            </a:extLst>
          </p:cNvPr>
          <p:cNvPicPr>
            <a:picLocks noChangeAspect="1"/>
          </p:cNvPicPr>
          <p:nvPr/>
        </p:nvPicPr>
        <p:blipFill>
          <a:blip r:embed="rId2"/>
          <a:stretch>
            <a:fillRect/>
          </a:stretch>
        </p:blipFill>
        <p:spPr>
          <a:xfrm>
            <a:off x="1593212" y="3124200"/>
            <a:ext cx="8922388" cy="2341104"/>
          </a:xfrm>
          <a:prstGeom prst="rect">
            <a:avLst/>
          </a:prstGeom>
        </p:spPr>
      </p:pic>
      <p:sp>
        <p:nvSpPr>
          <p:cNvPr id="6" name="TextBox 5">
            <a:extLst>
              <a:ext uri="{FF2B5EF4-FFF2-40B4-BE49-F238E27FC236}">
                <a16:creationId xmlns:a16="http://schemas.microsoft.com/office/drawing/2014/main" id="{85F8E77E-3F16-4F98-8D3B-D61CF81CE021}"/>
              </a:ext>
            </a:extLst>
          </p:cNvPr>
          <p:cNvSpPr txBox="1"/>
          <p:nvPr/>
        </p:nvSpPr>
        <p:spPr>
          <a:xfrm>
            <a:off x="7581900" y="4648200"/>
            <a:ext cx="2057400" cy="523220"/>
          </a:xfrm>
          <a:prstGeom prst="rect">
            <a:avLst/>
          </a:prstGeom>
          <a:noFill/>
        </p:spPr>
        <p:txBody>
          <a:bodyPr wrap="square" rtlCol="0">
            <a:spAutoFit/>
          </a:bodyPr>
          <a:lstStyle/>
          <a:p>
            <a:pPr fontAlgn="base">
              <a:spcBef>
                <a:spcPct val="0"/>
              </a:spcBef>
              <a:spcAft>
                <a:spcPct val="0"/>
              </a:spcAft>
            </a:pPr>
            <a:r>
              <a:rPr lang="en-US" sz="2800" b="1" dirty="0">
                <a:solidFill>
                  <a:srgbClr val="FF0000"/>
                </a:solidFill>
                <a:latin typeface="Arial" charset="0"/>
              </a:rPr>
              <a:t>OUTPUT</a:t>
            </a:r>
            <a:endParaRPr lang="en-IN" sz="2800" b="1" dirty="0">
              <a:solidFill>
                <a:srgbClr val="FF0000"/>
              </a:solidFill>
              <a:latin typeface="Arial" charset="0"/>
            </a:endParaRPr>
          </a:p>
        </p:txBody>
      </p:sp>
      <p:pic>
        <p:nvPicPr>
          <p:cNvPr id="7" name="Picture 6">
            <a:extLst>
              <a:ext uri="{FF2B5EF4-FFF2-40B4-BE49-F238E27FC236}">
                <a16:creationId xmlns:a16="http://schemas.microsoft.com/office/drawing/2014/main" id="{492DA6A6-C0FE-4AB6-BB22-3A03C0F79AB5}"/>
              </a:ext>
            </a:extLst>
          </p:cNvPr>
          <p:cNvPicPr>
            <a:picLocks noChangeAspect="1"/>
          </p:cNvPicPr>
          <p:nvPr/>
        </p:nvPicPr>
        <p:blipFill>
          <a:blip r:embed="rId3"/>
          <a:stretch>
            <a:fillRect/>
          </a:stretch>
        </p:blipFill>
        <p:spPr>
          <a:xfrm>
            <a:off x="7184231" y="5178198"/>
            <a:ext cx="2852738" cy="1222602"/>
          </a:xfrm>
          <a:prstGeom prst="rect">
            <a:avLst/>
          </a:prstGeom>
        </p:spPr>
      </p:pic>
    </p:spTree>
    <p:extLst>
      <p:ext uri="{BB962C8B-B14F-4D97-AF65-F5344CB8AC3E}">
        <p14:creationId xmlns:p14="http://schemas.microsoft.com/office/powerpoint/2010/main" val="2759394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381000"/>
            <a:ext cx="7886700" cy="308048"/>
          </a:xfrm>
        </p:spPr>
        <p:txBody>
          <a:bodyPr>
            <a:normAutofit fontScale="90000"/>
          </a:bodyPr>
          <a:lstStyle/>
          <a:p>
            <a:r>
              <a:rPr lang="en-IN" b="1" dirty="0">
                <a:solidFill>
                  <a:srgbClr val="FF0000"/>
                </a:solidFill>
              </a:rPr>
              <a:t>3. Constant pointer, constant data</a:t>
            </a:r>
          </a:p>
        </p:txBody>
      </p:sp>
      <p:sp>
        <p:nvSpPr>
          <p:cNvPr id="3" name="Content Placeholder 2"/>
          <p:cNvSpPr>
            <a:spLocks noGrp="1"/>
          </p:cNvSpPr>
          <p:nvPr>
            <p:ph idx="1"/>
          </p:nvPr>
        </p:nvSpPr>
        <p:spPr>
          <a:xfrm>
            <a:off x="157163" y="914400"/>
            <a:ext cx="11844337" cy="1020690"/>
          </a:xfrm>
        </p:spPr>
        <p:txBody>
          <a:bodyPr>
            <a:noAutofit/>
          </a:bodyPr>
          <a:lstStyle/>
          <a:p>
            <a:pPr marL="0" indent="0" algn="just">
              <a:buNone/>
            </a:pPr>
            <a:r>
              <a:rPr lang="en-IN" sz="2400" b="1" dirty="0" err="1">
                <a:solidFill>
                  <a:srgbClr val="FF0000"/>
                </a:solidFill>
              </a:rPr>
              <a:t>const</a:t>
            </a:r>
            <a:r>
              <a:rPr lang="en-IN" sz="2400" b="1" dirty="0">
                <a:solidFill>
                  <a:srgbClr val="0070C0"/>
                </a:solidFill>
              </a:rPr>
              <a:t>  </a:t>
            </a:r>
            <a:r>
              <a:rPr lang="en-IN" sz="2400" b="1" dirty="0" err="1">
                <a:solidFill>
                  <a:srgbClr val="0070C0"/>
                </a:solidFill>
              </a:rPr>
              <a:t>int</a:t>
            </a:r>
            <a:r>
              <a:rPr lang="en-IN" sz="2400" b="1" dirty="0">
                <a:solidFill>
                  <a:srgbClr val="0070C0"/>
                </a:solidFill>
              </a:rPr>
              <a:t>  *  </a:t>
            </a:r>
            <a:r>
              <a:rPr lang="en-IN" sz="2400" b="1" dirty="0" err="1">
                <a:solidFill>
                  <a:srgbClr val="FF0000"/>
                </a:solidFill>
              </a:rPr>
              <a:t>const</a:t>
            </a:r>
            <a:r>
              <a:rPr lang="en-IN" sz="2400" b="1" dirty="0">
                <a:solidFill>
                  <a:srgbClr val="0070C0"/>
                </a:solidFill>
              </a:rPr>
              <a:t>  </a:t>
            </a:r>
            <a:r>
              <a:rPr lang="en-IN" sz="2400" b="1" dirty="0" err="1">
                <a:solidFill>
                  <a:srgbClr val="0070C0"/>
                </a:solidFill>
              </a:rPr>
              <a:t>ptr</a:t>
            </a:r>
            <a:r>
              <a:rPr lang="en-IN" sz="2400" b="1" dirty="0">
                <a:solidFill>
                  <a:srgbClr val="0070C0"/>
                </a:solidFill>
              </a:rPr>
              <a:t>;</a:t>
            </a:r>
          </a:p>
          <a:p>
            <a:pPr algn="just"/>
            <a:r>
              <a:rPr lang="en-IN" sz="2400" dirty="0"/>
              <a:t>It creates a constant pointer to a constant integer.</a:t>
            </a:r>
          </a:p>
          <a:p>
            <a:pPr algn="just"/>
            <a:r>
              <a:rPr lang="en-IN" sz="2400" dirty="0"/>
              <a:t>The value pointed by the pointer cannot be changed, also the pointer cannot be changed.</a:t>
            </a:r>
          </a:p>
        </p:txBody>
      </p:sp>
      <p:pic>
        <p:nvPicPr>
          <p:cNvPr id="6" name="Picture 5"/>
          <p:cNvPicPr>
            <a:picLocks noChangeAspect="1"/>
          </p:cNvPicPr>
          <p:nvPr/>
        </p:nvPicPr>
        <p:blipFill>
          <a:blip r:embed="rId2"/>
          <a:stretch>
            <a:fillRect/>
          </a:stretch>
        </p:blipFill>
        <p:spPr>
          <a:xfrm>
            <a:off x="416408" y="2614614"/>
            <a:ext cx="11422776" cy="2886074"/>
          </a:xfrm>
          <a:prstGeom prst="rect">
            <a:avLst/>
          </a:prstGeom>
        </p:spPr>
      </p:pic>
    </p:spTree>
    <p:extLst>
      <p:ext uri="{BB962C8B-B14F-4D97-AF65-F5344CB8AC3E}">
        <p14:creationId xmlns:p14="http://schemas.microsoft.com/office/powerpoint/2010/main" val="11411972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D6413-E224-4550-AD4D-E1A019B68B32}"/>
              </a:ext>
            </a:extLst>
          </p:cNvPr>
          <p:cNvSpPr>
            <a:spLocks noGrp="1"/>
          </p:cNvSpPr>
          <p:nvPr>
            <p:ph type="title"/>
          </p:nvPr>
        </p:nvSpPr>
        <p:spPr>
          <a:xfrm>
            <a:off x="838200" y="365128"/>
            <a:ext cx="10515600" cy="692148"/>
          </a:xfrm>
        </p:spPr>
        <p:txBody>
          <a:bodyPr/>
          <a:lstStyle/>
          <a:p>
            <a:r>
              <a:rPr lang="en-IN" b="1" dirty="0">
                <a:solidFill>
                  <a:srgbClr val="FF0000"/>
                </a:solidFill>
              </a:rPr>
              <a:t>Question-1</a:t>
            </a:r>
          </a:p>
        </p:txBody>
      </p:sp>
      <p:pic>
        <p:nvPicPr>
          <p:cNvPr id="4" name="Picture 3">
            <a:extLst>
              <a:ext uri="{FF2B5EF4-FFF2-40B4-BE49-F238E27FC236}">
                <a16:creationId xmlns:a16="http://schemas.microsoft.com/office/drawing/2014/main" id="{5B2A3A10-B4C1-4E5E-83EB-B412A1C69AE6}"/>
              </a:ext>
            </a:extLst>
          </p:cNvPr>
          <p:cNvPicPr>
            <a:picLocks noChangeAspect="1"/>
          </p:cNvPicPr>
          <p:nvPr/>
        </p:nvPicPr>
        <p:blipFill>
          <a:blip r:embed="rId2"/>
          <a:stretch>
            <a:fillRect/>
          </a:stretch>
        </p:blipFill>
        <p:spPr>
          <a:xfrm>
            <a:off x="485555" y="1480884"/>
            <a:ext cx="6341597" cy="3648329"/>
          </a:xfrm>
          <a:prstGeom prst="rect">
            <a:avLst/>
          </a:prstGeom>
        </p:spPr>
      </p:pic>
      <p:sp>
        <p:nvSpPr>
          <p:cNvPr id="5" name="TextBox 4">
            <a:extLst>
              <a:ext uri="{FF2B5EF4-FFF2-40B4-BE49-F238E27FC236}">
                <a16:creationId xmlns:a16="http://schemas.microsoft.com/office/drawing/2014/main" id="{63FA9696-71A6-4AA9-B6A5-247F169520A7}"/>
              </a:ext>
            </a:extLst>
          </p:cNvPr>
          <p:cNvSpPr txBox="1"/>
          <p:nvPr/>
        </p:nvSpPr>
        <p:spPr>
          <a:xfrm>
            <a:off x="6215062" y="4946398"/>
            <a:ext cx="2428875" cy="646331"/>
          </a:xfrm>
          <a:prstGeom prst="rect">
            <a:avLst/>
          </a:prstGeom>
          <a:noFill/>
        </p:spPr>
        <p:txBody>
          <a:bodyPr wrap="square" rtlCol="0">
            <a:spAutoFit/>
          </a:bodyPr>
          <a:lstStyle/>
          <a:p>
            <a:r>
              <a:rPr lang="en-IN" sz="3600" b="1" dirty="0">
                <a:solidFill>
                  <a:srgbClr val="FF0000"/>
                </a:solidFill>
              </a:rPr>
              <a:t>Error !</a:t>
            </a:r>
          </a:p>
        </p:txBody>
      </p:sp>
    </p:spTree>
    <p:extLst>
      <p:ext uri="{BB962C8B-B14F-4D97-AF65-F5344CB8AC3E}">
        <p14:creationId xmlns:p14="http://schemas.microsoft.com/office/powerpoint/2010/main" val="551379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D6413-E224-4550-AD4D-E1A019B68B32}"/>
              </a:ext>
            </a:extLst>
          </p:cNvPr>
          <p:cNvSpPr>
            <a:spLocks noGrp="1"/>
          </p:cNvSpPr>
          <p:nvPr>
            <p:ph type="title"/>
          </p:nvPr>
        </p:nvSpPr>
        <p:spPr>
          <a:xfrm>
            <a:off x="838200" y="365128"/>
            <a:ext cx="10515600" cy="692148"/>
          </a:xfrm>
        </p:spPr>
        <p:txBody>
          <a:bodyPr/>
          <a:lstStyle/>
          <a:p>
            <a:r>
              <a:rPr lang="en-IN" b="1" dirty="0">
                <a:solidFill>
                  <a:srgbClr val="FF0000"/>
                </a:solidFill>
              </a:rPr>
              <a:t>Question-2</a:t>
            </a:r>
          </a:p>
        </p:txBody>
      </p:sp>
      <p:pic>
        <p:nvPicPr>
          <p:cNvPr id="3" name="Picture 2">
            <a:extLst>
              <a:ext uri="{FF2B5EF4-FFF2-40B4-BE49-F238E27FC236}">
                <a16:creationId xmlns:a16="http://schemas.microsoft.com/office/drawing/2014/main" id="{56E11759-8FE8-41D9-8F66-D1A2D6555663}"/>
              </a:ext>
            </a:extLst>
          </p:cNvPr>
          <p:cNvPicPr>
            <a:picLocks noChangeAspect="1"/>
          </p:cNvPicPr>
          <p:nvPr/>
        </p:nvPicPr>
        <p:blipFill>
          <a:blip r:embed="rId2"/>
          <a:stretch>
            <a:fillRect/>
          </a:stretch>
        </p:blipFill>
        <p:spPr>
          <a:xfrm>
            <a:off x="476033" y="1466738"/>
            <a:ext cx="5119903" cy="2662350"/>
          </a:xfrm>
          <a:prstGeom prst="rect">
            <a:avLst/>
          </a:prstGeom>
        </p:spPr>
      </p:pic>
      <p:sp>
        <p:nvSpPr>
          <p:cNvPr id="6" name="TextBox 5">
            <a:extLst>
              <a:ext uri="{FF2B5EF4-FFF2-40B4-BE49-F238E27FC236}">
                <a16:creationId xmlns:a16="http://schemas.microsoft.com/office/drawing/2014/main" id="{65A0DE66-7106-48B6-88B2-6ED5C8CE741F}"/>
              </a:ext>
            </a:extLst>
          </p:cNvPr>
          <p:cNvSpPr txBox="1"/>
          <p:nvPr/>
        </p:nvSpPr>
        <p:spPr>
          <a:xfrm>
            <a:off x="3943349" y="3105834"/>
            <a:ext cx="2428875" cy="646331"/>
          </a:xfrm>
          <a:prstGeom prst="rect">
            <a:avLst/>
          </a:prstGeom>
          <a:noFill/>
        </p:spPr>
        <p:txBody>
          <a:bodyPr wrap="square" rtlCol="0">
            <a:spAutoFit/>
          </a:bodyPr>
          <a:lstStyle/>
          <a:p>
            <a:r>
              <a:rPr lang="en-IN" sz="3600" b="1" dirty="0">
                <a:solidFill>
                  <a:srgbClr val="FF0000"/>
                </a:solidFill>
              </a:rPr>
              <a:t>Error !</a:t>
            </a:r>
          </a:p>
        </p:txBody>
      </p:sp>
    </p:spTree>
    <p:extLst>
      <p:ext uri="{BB962C8B-B14F-4D97-AF65-F5344CB8AC3E}">
        <p14:creationId xmlns:p14="http://schemas.microsoft.com/office/powerpoint/2010/main" val="2714453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16EEB-67FD-42CA-9D4A-D3DA354B5375}"/>
              </a:ext>
            </a:extLst>
          </p:cNvPr>
          <p:cNvSpPr>
            <a:spLocks noGrp="1"/>
          </p:cNvSpPr>
          <p:nvPr>
            <p:ph type="title"/>
          </p:nvPr>
        </p:nvSpPr>
        <p:spPr>
          <a:xfrm>
            <a:off x="838200" y="622303"/>
            <a:ext cx="10515600" cy="1092198"/>
          </a:xfrm>
        </p:spPr>
        <p:txBody>
          <a:bodyPr/>
          <a:lstStyle/>
          <a:p>
            <a:r>
              <a:rPr lang="en-IN" b="1" dirty="0">
                <a:solidFill>
                  <a:srgbClr val="00B0F0"/>
                </a:solidFill>
              </a:rPr>
              <a:t>Solution:</a:t>
            </a:r>
          </a:p>
        </p:txBody>
      </p:sp>
      <p:pic>
        <p:nvPicPr>
          <p:cNvPr id="4" name="Picture 3">
            <a:extLst>
              <a:ext uri="{FF2B5EF4-FFF2-40B4-BE49-F238E27FC236}">
                <a16:creationId xmlns:a16="http://schemas.microsoft.com/office/drawing/2014/main" id="{E368089F-E759-4C2C-B2B2-97B74296823A}"/>
              </a:ext>
            </a:extLst>
          </p:cNvPr>
          <p:cNvPicPr>
            <a:picLocks noChangeAspect="1"/>
          </p:cNvPicPr>
          <p:nvPr/>
        </p:nvPicPr>
        <p:blipFill>
          <a:blip r:embed="rId2"/>
          <a:stretch>
            <a:fillRect/>
          </a:stretch>
        </p:blipFill>
        <p:spPr>
          <a:xfrm>
            <a:off x="995142" y="2319228"/>
            <a:ext cx="5682987" cy="2824272"/>
          </a:xfrm>
          <a:prstGeom prst="rect">
            <a:avLst/>
          </a:prstGeom>
        </p:spPr>
      </p:pic>
    </p:spTree>
    <p:extLst>
      <p:ext uri="{BB962C8B-B14F-4D97-AF65-F5344CB8AC3E}">
        <p14:creationId xmlns:p14="http://schemas.microsoft.com/office/powerpoint/2010/main" val="4329046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244F-F864-4A36-ADC5-3B12D81F18EC}"/>
              </a:ext>
            </a:extLst>
          </p:cNvPr>
          <p:cNvSpPr>
            <a:spLocks noGrp="1"/>
          </p:cNvSpPr>
          <p:nvPr>
            <p:ph type="title"/>
          </p:nvPr>
        </p:nvSpPr>
        <p:spPr/>
        <p:txBody>
          <a:bodyPr/>
          <a:lstStyle/>
          <a:p>
            <a:r>
              <a:rPr lang="en-IN" b="1" dirty="0">
                <a:solidFill>
                  <a:srgbClr val="C00000"/>
                </a:solidFill>
              </a:rPr>
              <a:t>Question-3</a:t>
            </a:r>
          </a:p>
        </p:txBody>
      </p:sp>
      <p:pic>
        <p:nvPicPr>
          <p:cNvPr id="4" name="Picture 3">
            <a:extLst>
              <a:ext uri="{FF2B5EF4-FFF2-40B4-BE49-F238E27FC236}">
                <a16:creationId xmlns:a16="http://schemas.microsoft.com/office/drawing/2014/main" id="{4C634904-C0EA-4C86-8640-D7F96D957447}"/>
              </a:ext>
            </a:extLst>
          </p:cNvPr>
          <p:cNvPicPr>
            <a:picLocks noChangeAspect="1"/>
          </p:cNvPicPr>
          <p:nvPr/>
        </p:nvPicPr>
        <p:blipFill>
          <a:blip r:embed="rId2"/>
          <a:stretch>
            <a:fillRect/>
          </a:stretch>
        </p:blipFill>
        <p:spPr>
          <a:xfrm>
            <a:off x="485553" y="1828673"/>
            <a:ext cx="6375017" cy="3629151"/>
          </a:xfrm>
          <a:prstGeom prst="rect">
            <a:avLst/>
          </a:prstGeom>
        </p:spPr>
      </p:pic>
      <p:sp>
        <p:nvSpPr>
          <p:cNvPr id="6" name="TextBox 5">
            <a:extLst>
              <a:ext uri="{FF2B5EF4-FFF2-40B4-BE49-F238E27FC236}">
                <a16:creationId xmlns:a16="http://schemas.microsoft.com/office/drawing/2014/main" id="{98FB6E21-A7E6-4DF5-BE65-A8E511B8308E}"/>
              </a:ext>
            </a:extLst>
          </p:cNvPr>
          <p:cNvSpPr txBox="1"/>
          <p:nvPr/>
        </p:nvSpPr>
        <p:spPr>
          <a:xfrm>
            <a:off x="5646132" y="4334559"/>
            <a:ext cx="2428875" cy="646331"/>
          </a:xfrm>
          <a:prstGeom prst="rect">
            <a:avLst/>
          </a:prstGeom>
          <a:noFill/>
        </p:spPr>
        <p:txBody>
          <a:bodyPr wrap="square" rtlCol="0">
            <a:spAutoFit/>
          </a:bodyPr>
          <a:lstStyle/>
          <a:p>
            <a:r>
              <a:rPr lang="en-IN" sz="3600" b="1" dirty="0">
                <a:solidFill>
                  <a:srgbClr val="FF0000"/>
                </a:solidFill>
              </a:rPr>
              <a:t>Error !</a:t>
            </a:r>
          </a:p>
        </p:txBody>
      </p:sp>
    </p:spTree>
    <p:extLst>
      <p:ext uri="{BB962C8B-B14F-4D97-AF65-F5344CB8AC3E}">
        <p14:creationId xmlns:p14="http://schemas.microsoft.com/office/powerpoint/2010/main" val="4178452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BC117-BD19-4418-A1A0-67E22E82A0F1}"/>
              </a:ext>
            </a:extLst>
          </p:cNvPr>
          <p:cNvSpPr>
            <a:spLocks noGrp="1"/>
          </p:cNvSpPr>
          <p:nvPr>
            <p:ph type="title"/>
          </p:nvPr>
        </p:nvSpPr>
        <p:spPr/>
        <p:txBody>
          <a:bodyPr/>
          <a:lstStyle/>
          <a:p>
            <a:r>
              <a:rPr lang="en-IN" b="1" dirty="0">
                <a:solidFill>
                  <a:srgbClr val="0070C0"/>
                </a:solidFill>
              </a:rPr>
              <a:t>Solution:</a:t>
            </a:r>
          </a:p>
        </p:txBody>
      </p:sp>
      <p:pic>
        <p:nvPicPr>
          <p:cNvPr id="4" name="Picture 3">
            <a:extLst>
              <a:ext uri="{FF2B5EF4-FFF2-40B4-BE49-F238E27FC236}">
                <a16:creationId xmlns:a16="http://schemas.microsoft.com/office/drawing/2014/main" id="{73BBA705-806F-46F9-8D69-F54CA8D0D6FE}"/>
              </a:ext>
            </a:extLst>
          </p:cNvPr>
          <p:cNvPicPr>
            <a:picLocks noChangeAspect="1"/>
          </p:cNvPicPr>
          <p:nvPr/>
        </p:nvPicPr>
        <p:blipFill>
          <a:blip r:embed="rId2"/>
          <a:stretch>
            <a:fillRect/>
          </a:stretch>
        </p:blipFill>
        <p:spPr>
          <a:xfrm>
            <a:off x="838200" y="1899987"/>
            <a:ext cx="5873284" cy="3343526"/>
          </a:xfrm>
          <a:prstGeom prst="rect">
            <a:avLst/>
          </a:prstGeom>
        </p:spPr>
      </p:pic>
    </p:spTree>
    <p:extLst>
      <p:ext uri="{BB962C8B-B14F-4D97-AF65-F5344CB8AC3E}">
        <p14:creationId xmlns:p14="http://schemas.microsoft.com/office/powerpoint/2010/main" val="6375089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SUC2010">
  <a:themeElements>
    <a:clrScheme name="PSUC201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SUC201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SUC201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SUC2010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SUC2010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SUC2010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SUC2010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SUC2010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SUC2010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SUC2010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SUC2010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SUC2010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SUC2010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SUC2010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1992</TotalTime>
  <Words>1732</Words>
  <Application>Microsoft Office PowerPoint</Application>
  <PresentationFormat>Widescreen</PresentationFormat>
  <Paragraphs>154</Paragraphs>
  <Slides>41</Slides>
  <Notes>9</Notes>
  <HiddenSlides>4</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41</vt:i4>
      </vt:variant>
    </vt:vector>
  </HeadingPairs>
  <TitlesOfParts>
    <vt:vector size="51" baseType="lpstr">
      <vt:lpstr>Angsana New</vt:lpstr>
      <vt:lpstr>Arial</vt:lpstr>
      <vt:lpstr>Calibri</vt:lpstr>
      <vt:lpstr>Calibri Light</vt:lpstr>
      <vt:lpstr>Cordia New</vt:lpstr>
      <vt:lpstr>inter-regular</vt:lpstr>
      <vt:lpstr>Times New Roman</vt:lpstr>
      <vt:lpstr>Office Theme</vt:lpstr>
      <vt:lpstr>1_PSUC2010</vt:lpstr>
      <vt:lpstr>1_Office Theme</vt:lpstr>
      <vt:lpstr>Virtual function  &amp;  Run time polymorphism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Abstract class.</vt:lpstr>
      <vt:lpstr>PowerPoint Presentation</vt:lpstr>
      <vt:lpstr>Representing Shapes</vt:lpstr>
      <vt:lpstr>PowerPoint Presentation</vt:lpstr>
      <vt:lpstr>PowerPoint Presentation</vt:lpstr>
      <vt:lpstr>PowerPoint Presentation</vt:lpstr>
      <vt:lpstr>Destructors</vt:lpstr>
      <vt:lpstr>PowerPoint Presentation</vt:lpstr>
      <vt:lpstr>PowerPoint Presentation</vt:lpstr>
      <vt:lpstr>PowerPoint Presentation</vt:lpstr>
      <vt:lpstr>PowerPoint Presentation</vt:lpstr>
      <vt:lpstr>Some topics on Pointers…</vt:lpstr>
      <vt:lpstr>Pointers and structures</vt:lpstr>
      <vt:lpstr>Pointers and structures (Contd…)</vt:lpstr>
      <vt:lpstr>Program to illustrate the use of structure pointers</vt:lpstr>
      <vt:lpstr>CONSTANT POINTERS..</vt:lpstr>
      <vt:lpstr>1. Pointer to constant</vt:lpstr>
      <vt:lpstr>2. Constant pointer, non-constant data</vt:lpstr>
      <vt:lpstr>3. Constant pointer, constant data</vt:lpstr>
      <vt:lpstr>Question-1</vt:lpstr>
      <vt:lpstr>Question-2</vt:lpstr>
      <vt:lpstr>Solution:</vt:lpstr>
      <vt:lpstr>Question-3</vt:lpstr>
      <vt:lpstr>Solution: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 FUNCTION</dc:title>
  <dc:creator>MAHE</dc:creator>
  <cp:lastModifiedBy>Linda Varghese [MAHE-MIT]</cp:lastModifiedBy>
  <cp:revision>117</cp:revision>
  <dcterms:created xsi:type="dcterms:W3CDTF">2018-09-20T09:26:41Z</dcterms:created>
  <dcterms:modified xsi:type="dcterms:W3CDTF">2024-10-03T07:25:16Z</dcterms:modified>
</cp:coreProperties>
</file>