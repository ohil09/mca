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1" r:id="rId1"/>
    <p:sldMasterId id="2147483673" r:id="rId2"/>
    <p:sldMasterId id="2147483685" r:id="rId3"/>
  </p:sldMasterIdLst>
  <p:notesMasterIdLst>
    <p:notesMasterId r:id="rId68"/>
  </p:notesMasterIdLst>
  <p:sldIdLst>
    <p:sldId id="256" r:id="rId4"/>
    <p:sldId id="257" r:id="rId5"/>
    <p:sldId id="311" r:id="rId6"/>
    <p:sldId id="260" r:id="rId7"/>
    <p:sldId id="295" r:id="rId8"/>
    <p:sldId id="297" r:id="rId9"/>
    <p:sldId id="298" r:id="rId10"/>
    <p:sldId id="310" r:id="rId11"/>
    <p:sldId id="262" r:id="rId12"/>
    <p:sldId id="312" r:id="rId13"/>
    <p:sldId id="299" r:id="rId14"/>
    <p:sldId id="350" r:id="rId15"/>
    <p:sldId id="351" r:id="rId16"/>
    <p:sldId id="352" r:id="rId17"/>
    <p:sldId id="313" r:id="rId18"/>
    <p:sldId id="314" r:id="rId19"/>
    <p:sldId id="315" r:id="rId20"/>
    <p:sldId id="316" r:id="rId21"/>
    <p:sldId id="317" r:id="rId22"/>
    <p:sldId id="319" r:id="rId23"/>
    <p:sldId id="320" r:id="rId24"/>
    <p:sldId id="321" r:id="rId25"/>
    <p:sldId id="323" r:id="rId26"/>
    <p:sldId id="324" r:id="rId27"/>
    <p:sldId id="326" r:id="rId28"/>
    <p:sldId id="327" r:id="rId29"/>
    <p:sldId id="328" r:id="rId30"/>
    <p:sldId id="330" r:id="rId31"/>
    <p:sldId id="331" r:id="rId32"/>
    <p:sldId id="332" r:id="rId33"/>
    <p:sldId id="333" r:id="rId34"/>
    <p:sldId id="334" r:id="rId35"/>
    <p:sldId id="475" r:id="rId36"/>
    <p:sldId id="335" r:id="rId37"/>
    <p:sldId id="337" r:id="rId38"/>
    <p:sldId id="338" r:id="rId39"/>
    <p:sldId id="339" r:id="rId40"/>
    <p:sldId id="343" r:id="rId41"/>
    <p:sldId id="344" r:id="rId42"/>
    <p:sldId id="345" r:id="rId43"/>
    <p:sldId id="346" r:id="rId44"/>
    <p:sldId id="347" r:id="rId45"/>
    <p:sldId id="348" r:id="rId46"/>
    <p:sldId id="340" r:id="rId47"/>
    <p:sldId id="341" r:id="rId48"/>
    <p:sldId id="342" r:id="rId49"/>
    <p:sldId id="472" r:id="rId50"/>
    <p:sldId id="300" r:id="rId51"/>
    <p:sldId id="301" r:id="rId52"/>
    <p:sldId id="473" r:id="rId53"/>
    <p:sldId id="474" r:id="rId54"/>
    <p:sldId id="304" r:id="rId55"/>
    <p:sldId id="305" r:id="rId56"/>
    <p:sldId id="306" r:id="rId57"/>
    <p:sldId id="287" r:id="rId58"/>
    <p:sldId id="292" r:id="rId59"/>
    <p:sldId id="293" r:id="rId60"/>
    <p:sldId id="289" r:id="rId61"/>
    <p:sldId id="290" r:id="rId62"/>
    <p:sldId id="291" r:id="rId63"/>
    <p:sldId id="467" r:id="rId64"/>
    <p:sldId id="468" r:id="rId65"/>
    <p:sldId id="470" r:id="rId66"/>
    <p:sldId id="285" r:id="rId6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ngsana New" pitchFamily="18" charset="-34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62" d="100"/>
          <a:sy n="62" d="100"/>
        </p:scale>
        <p:origin x="14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th-TH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endParaRPr lang="th-TH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/>
              <a:t>Click to edit Master text styles</a:t>
            </a:r>
          </a:p>
          <a:p>
            <a:pPr lvl="1"/>
            <a:r>
              <a:rPr lang="th-TH"/>
              <a:t>Second level</a:t>
            </a:r>
          </a:p>
          <a:p>
            <a:pPr lvl="2"/>
            <a:r>
              <a:rPr lang="th-TH"/>
              <a:t>Third level</a:t>
            </a:r>
          </a:p>
          <a:p>
            <a:pPr lvl="3"/>
            <a:r>
              <a:rPr lang="th-TH"/>
              <a:t>Fourth level</a:t>
            </a:r>
          </a:p>
          <a:p>
            <a:pPr lvl="4"/>
            <a:r>
              <a:rPr lang="th-TH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th-TH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fld id="{D863027E-27ED-4482-BEE2-516B78C4EAE5}" type="slidenum">
              <a:rPr lang="th-TH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27170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ngsana New" pitchFamily="18" charset="-34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both </a:t>
            </a:r>
            <a:r>
              <a:rPr lang="en-US" dirty="0" err="1"/>
              <a:t>deri</a:t>
            </a:r>
            <a:r>
              <a:rPr lang="en-US" dirty="0"/>
              <a:t> and base class contain constructors, base constructor is exe first , then </a:t>
            </a:r>
            <a:r>
              <a:rPr lang="en-US" dirty="0" err="1"/>
              <a:t>deri</a:t>
            </a:r>
            <a:r>
              <a:rPr lang="en-US" dirty="0"/>
              <a:t> class is exe.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3027E-27ED-4482-BEE2-516B78C4EAE5}" type="slidenum">
              <a:rPr lang="th-TH" smtClean="0"/>
              <a:pPr/>
              <a:t>23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24446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Default constructor in base class is compulsory for parameterized constructor to invoke.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3027E-27ED-4482-BEE2-516B78C4EAE5}" type="slidenum">
              <a:rPr lang="th-TH" smtClean="0"/>
              <a:pPr/>
              <a:t>29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58770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Constructor is not inherited  to child class, only class members are inherited. No need to check the type of inheritance.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3027E-27ED-4482-BEE2-516B78C4EAE5}" type="slidenum">
              <a:rPr lang="th-TH" smtClean="0"/>
              <a:pPr/>
              <a:t>30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98452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base class don’t have default constructor, and has an argument constructor compiler generates error. error can overcome by explicit invocation of a constructor of the base class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3027E-27ED-4482-BEE2-516B78C4EAE5}" type="slidenum">
              <a:rPr lang="th-TH" smtClean="0"/>
              <a:pPr/>
              <a:t>33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59016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63027E-27ED-4482-BEE2-516B78C4EAE5}" type="slidenum">
              <a:rPr lang="th-TH" smtClean="0"/>
              <a:pPr/>
              <a:t>34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629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E680-6511-425A-81B2-1C419E77C8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95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8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D9550-6F15-495E-B6B9-ACE496D0E4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69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42FA0-91C7-4DF7-9461-D5C238B660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350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633F6-CBC8-461E-A813-569577A83B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2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10E2C-B327-454B-9BD7-89CABC178A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3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8D969-CF82-4197-8886-80F3695221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7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1E65-AFCD-4F5A-A530-860E563856F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8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61D3-662B-410B-B368-E4BBBD30F7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5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92C40-F28A-47B5-8CA6-7123D0ADA3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2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5900C-32CA-4D8D-8BCD-58529F110F0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59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+mj-lt"/>
                <a:ea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48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06363"/>
            <a:ext cx="8763000" cy="808037"/>
          </a:xfrm>
        </p:spPr>
        <p:txBody>
          <a:bodyPr/>
          <a:lstStyle>
            <a:lvl1pPr algn="l">
              <a:defRPr>
                <a:latin typeface="+mj-lt"/>
                <a:ea typeface="Open Sans Semibold" panose="020B0706030804020204"/>
                <a:cs typeface="Open Sans Semibold" panose="020B07060308040202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990600"/>
            <a:ext cx="8763000" cy="5334000"/>
          </a:xfrm>
        </p:spPr>
        <p:txBody>
          <a:bodyPr>
            <a:normAutofit/>
          </a:bodyPr>
          <a:lstStyle>
            <a:lvl1pPr marL="342900" indent="-342900">
              <a:lnSpc>
                <a:spcPct val="114000"/>
              </a:lnSpc>
              <a:buClrTx/>
              <a:buFont typeface="Wingdings" panose="05000000000000000000" pitchFamily="2" charset="2"/>
              <a:buChar char="§"/>
              <a:defRPr sz="24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114000"/>
              </a:lnSpc>
              <a:buClrTx/>
              <a:buFont typeface="Arial" panose="020B0604020202020204" pitchFamily="34" charset="0"/>
              <a:buChar char="•"/>
              <a:defRPr sz="20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14000"/>
              </a:lnSpc>
              <a:buClrTx/>
              <a:defRPr sz="18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14000"/>
              </a:lnSpc>
              <a:buClrTx/>
              <a:defRPr sz="160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90500" y="914400"/>
            <a:ext cx="8763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6288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00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53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772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251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813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762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91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71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028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41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243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13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790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998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217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209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88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6936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7663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58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C305A-8D15-40EC-A4CF-625BD05288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0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88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23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th-TH" sz="4400"/>
              <a:t>Inheritance and Polymorphism</a:t>
            </a:r>
            <a:endParaRPr lang="th-TH"/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F3B68684-80F4-4B2A-8C24-AC0705339532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Contents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50284"/>
            <a:ext cx="7772400" cy="4114800"/>
          </a:xfrm>
        </p:spPr>
        <p:txBody>
          <a:bodyPr>
            <a:normAutofit/>
          </a:bodyPr>
          <a:lstStyle/>
          <a:p>
            <a:pPr>
              <a:spcBef>
                <a:spcPct val="30000"/>
              </a:spcBef>
            </a:pPr>
            <a:r>
              <a:rPr lang="th-TH" dirty="0"/>
              <a:t>Inheritance Concepts</a:t>
            </a:r>
          </a:p>
          <a:p>
            <a:pPr>
              <a:spcBef>
                <a:spcPct val="30000"/>
              </a:spcBef>
            </a:pPr>
            <a:r>
              <a:rPr lang="th-TH" dirty="0"/>
              <a:t>Inheritance Examples</a:t>
            </a:r>
          </a:p>
          <a:p>
            <a:pPr>
              <a:spcBef>
                <a:spcPct val="30000"/>
              </a:spcBef>
            </a:pPr>
            <a:r>
              <a:rPr lang="th-TH" dirty="0"/>
              <a:t>Implementing Inheritance in C++</a:t>
            </a:r>
          </a:p>
          <a:p>
            <a:pPr>
              <a:spcBef>
                <a:spcPct val="30000"/>
              </a:spcBef>
            </a:pPr>
            <a:r>
              <a:rPr lang="th-TH" dirty="0"/>
              <a:t>Polymorphism</a:t>
            </a:r>
          </a:p>
          <a:p>
            <a:pPr>
              <a:spcBef>
                <a:spcPct val="30000"/>
              </a:spcBef>
            </a:pPr>
            <a:r>
              <a:rPr lang="th-TH" dirty="0"/>
              <a:t>Dynamic Binding</a:t>
            </a:r>
          </a:p>
          <a:p>
            <a:pPr>
              <a:spcBef>
                <a:spcPct val="30000"/>
              </a:spcBef>
            </a:pPr>
            <a:r>
              <a:rPr lang="th-TH" dirty="0"/>
              <a:t>Virtual Function Examples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14B20-8526-4B4C-A777-2AA873EE65D8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76780"/>
            <a:ext cx="6203749" cy="67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4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th-TH" dirty="0"/>
              <a:t>Inheritance Concepts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484784"/>
            <a:ext cx="8856984" cy="446449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>
            <a:normAutofit/>
          </a:bodyPr>
          <a:lstStyle/>
          <a:p>
            <a:pPr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th-TH" sz="2400" dirty="0">
                <a:latin typeface="+mj-lt"/>
              </a:rPr>
              <a:t>Deriv</a:t>
            </a:r>
            <a:r>
              <a:rPr lang="en-IN" sz="2400" dirty="0" err="1">
                <a:latin typeface="+mj-lt"/>
              </a:rPr>
              <a:t>ing</a:t>
            </a:r>
            <a:r>
              <a:rPr lang="th-TH" sz="2400" dirty="0">
                <a:latin typeface="+mj-lt"/>
              </a:rPr>
              <a:t> a new class (</a:t>
            </a:r>
            <a:r>
              <a:rPr lang="th-TH" sz="2400" dirty="0">
                <a:solidFill>
                  <a:schemeClr val="accent2"/>
                </a:solidFill>
                <a:latin typeface="+mj-lt"/>
              </a:rPr>
              <a:t>subclass</a:t>
            </a:r>
            <a:r>
              <a:rPr lang="th-TH" sz="2400" dirty="0">
                <a:latin typeface="+mj-lt"/>
              </a:rPr>
              <a:t>) from an existing class (</a:t>
            </a:r>
            <a:r>
              <a:rPr lang="th-TH" sz="2400" dirty="0">
                <a:solidFill>
                  <a:schemeClr val="accent2"/>
                </a:solidFill>
                <a:latin typeface="+mj-lt"/>
              </a:rPr>
              <a:t>base class</a:t>
            </a:r>
            <a:r>
              <a:rPr lang="th-TH" sz="2400" dirty="0">
                <a:latin typeface="+mj-lt"/>
              </a:rPr>
              <a:t> or</a:t>
            </a:r>
            <a:r>
              <a:rPr lang="en-IN" sz="2400" dirty="0">
                <a:latin typeface="+mj-lt"/>
              </a:rPr>
              <a:t> </a:t>
            </a:r>
            <a:r>
              <a:rPr lang="th-TH" sz="2400" dirty="0">
                <a:solidFill>
                  <a:schemeClr val="accent2"/>
                </a:solidFill>
                <a:latin typeface="+mj-lt"/>
              </a:rPr>
              <a:t>superclass</a:t>
            </a:r>
            <a:r>
              <a:rPr lang="th-TH" sz="2400" dirty="0">
                <a:latin typeface="+mj-lt"/>
              </a:rPr>
              <a:t>).</a:t>
            </a:r>
            <a:br>
              <a:rPr lang="th-TH" sz="2400" dirty="0">
                <a:latin typeface="+mj-lt"/>
              </a:rPr>
            </a:br>
            <a:endParaRPr lang="th-TH" sz="2400" dirty="0">
              <a:latin typeface="+mj-lt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th-TH" sz="2400" dirty="0">
                <a:latin typeface="+mj-lt"/>
              </a:rPr>
              <a:t>Inheritance creates a hierarchy of related classes which share code and interface.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11CA8-151E-47CA-9FC9-1F00A9FE6678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3600" b="1" dirty="0"/>
              <a:t>Inheritance Examples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18B63-5BB0-40FB-B617-7126A894E8A3}" type="slidenum">
              <a:rPr lang="en-US"/>
              <a:pPr/>
              <a:t>5</a:t>
            </a:fld>
            <a:endParaRPr lang="en-US"/>
          </a:p>
        </p:txBody>
      </p:sp>
      <p:graphicFrame>
        <p:nvGraphicFramePr>
          <p:cNvPr id="501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246577"/>
              </p:ext>
            </p:extLst>
          </p:nvPr>
        </p:nvGraphicFramePr>
        <p:xfrm>
          <a:off x="1376114" y="1573311"/>
          <a:ext cx="7372350" cy="387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63" name="Document" r:id="rId3" imgW="7865237" imgH="4168287" progId="Word.Document.8">
                  <p:embed/>
                </p:oleObj>
              </mc:Choice>
              <mc:Fallback>
                <p:oleObj name="Document" r:id="rId3" imgW="7865237" imgH="4168287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114" y="1573311"/>
                        <a:ext cx="7372350" cy="387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More Examples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8B34D-8C59-42E4-8CA0-82F019200B05}" type="slidenum">
              <a:rPr lang="en-US"/>
              <a:pPr/>
              <a:t>6</a:t>
            </a:fld>
            <a:endParaRPr lang="en-US"/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1524000" y="1600200"/>
          <a:ext cx="6970713" cy="578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8" name="Document" r:id="rId3" imgW="6982920" imgH="5797440" progId="Word.Document.8">
                  <p:embed/>
                </p:oleObj>
              </mc:Choice>
              <mc:Fallback>
                <p:oleObj name="Document" r:id="rId3" imgW="6982920" imgH="579744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600200"/>
                        <a:ext cx="6970713" cy="578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b="1" dirty="0"/>
              <a:t>Shape </a:t>
            </a:r>
            <a:r>
              <a:rPr lang="th-TH" dirty="0"/>
              <a:t>class hierarchy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DD347-9F3E-4D9D-830D-715614EE6419}" type="slidenum">
              <a:rPr lang="en-US"/>
              <a:pPr/>
              <a:t>7</a:t>
            </a:fld>
            <a:endParaRPr lang="en-US"/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1524000" y="2819400"/>
            <a:ext cx="304006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>
                <a:latin typeface="Times New Roman" pitchFamily="18" charset="0"/>
              </a:rPr>
              <a:t>TwoDimensionalShape</a:t>
            </a: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4191000" y="1828800"/>
            <a:ext cx="9255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 dirty="0">
                <a:latin typeface="Times New Roman" pitchFamily="18" charset="0"/>
              </a:rPr>
              <a:t>Shape</a:t>
            </a:r>
          </a:p>
        </p:txBody>
      </p:sp>
      <p:sp>
        <p:nvSpPr>
          <p:cNvPr id="53254" name="Line 6"/>
          <p:cNvSpPr>
            <a:spLocks noChangeShapeType="1"/>
          </p:cNvSpPr>
          <p:nvPr/>
        </p:nvSpPr>
        <p:spPr bwMode="auto">
          <a:xfrm flipH="1">
            <a:off x="2819400" y="2362200"/>
            <a:ext cx="1600200" cy="5334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5" name="Line 7"/>
          <p:cNvSpPr>
            <a:spLocks noChangeShapeType="1"/>
          </p:cNvSpPr>
          <p:nvPr/>
        </p:nvSpPr>
        <p:spPr bwMode="auto">
          <a:xfrm>
            <a:off x="4724400" y="2362200"/>
            <a:ext cx="1828800" cy="5334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auto">
          <a:xfrm>
            <a:off x="5029200" y="2819400"/>
            <a:ext cx="31908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th-TH">
                <a:latin typeface="Times New Roman" pitchFamily="18" charset="0"/>
              </a:rPr>
              <a:t>ThreeDimensionalShape</a:t>
            </a:r>
          </a:p>
        </p:txBody>
      </p:sp>
      <p:grpSp>
        <p:nvGrpSpPr>
          <p:cNvPr id="53268" name="Group 20"/>
          <p:cNvGrpSpPr>
            <a:grpSpLocks/>
          </p:cNvGrpSpPr>
          <p:nvPr/>
        </p:nvGrpSpPr>
        <p:grpSpPr bwMode="auto">
          <a:xfrm>
            <a:off x="1295400" y="3352800"/>
            <a:ext cx="3497263" cy="1292225"/>
            <a:chOff x="816" y="2112"/>
            <a:chExt cx="2203" cy="814"/>
          </a:xfrm>
        </p:grpSpPr>
        <p:sp>
          <p:nvSpPr>
            <p:cNvPr id="53257" name="Rectangle 9"/>
            <p:cNvSpPr>
              <a:spLocks noChangeArrowheads="1"/>
            </p:cNvSpPr>
            <p:nvPr/>
          </p:nvSpPr>
          <p:spPr bwMode="auto">
            <a:xfrm>
              <a:off x="816" y="2640"/>
              <a:ext cx="582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th-TH">
                  <a:latin typeface="Times New Roman" pitchFamily="18" charset="0"/>
                </a:rPr>
                <a:t>Circle</a:t>
              </a:r>
            </a:p>
          </p:txBody>
        </p:sp>
        <p:sp>
          <p:nvSpPr>
            <p:cNvPr id="53258" name="Line 10"/>
            <p:cNvSpPr>
              <a:spLocks noChangeShapeType="1"/>
            </p:cNvSpPr>
            <p:nvPr/>
          </p:nvSpPr>
          <p:spPr bwMode="auto">
            <a:xfrm flipH="1">
              <a:off x="1200" y="2112"/>
              <a:ext cx="432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9" name="Line 11"/>
            <p:cNvSpPr>
              <a:spLocks noChangeShapeType="1"/>
            </p:cNvSpPr>
            <p:nvPr/>
          </p:nvSpPr>
          <p:spPr bwMode="auto">
            <a:xfrm>
              <a:off x="1968" y="2112"/>
              <a:ext cx="480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5" name="Line 17"/>
            <p:cNvSpPr>
              <a:spLocks noChangeShapeType="1"/>
            </p:cNvSpPr>
            <p:nvPr/>
          </p:nvSpPr>
          <p:spPr bwMode="auto">
            <a:xfrm>
              <a:off x="1824" y="2112"/>
              <a:ext cx="0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6" name="Rectangle 18"/>
            <p:cNvSpPr>
              <a:spLocks noChangeArrowheads="1"/>
            </p:cNvSpPr>
            <p:nvPr/>
          </p:nvSpPr>
          <p:spPr bwMode="auto">
            <a:xfrm>
              <a:off x="1536" y="2640"/>
              <a:ext cx="647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th-TH">
                  <a:latin typeface="Times New Roman" pitchFamily="18" charset="0"/>
                </a:rPr>
                <a:t>Square</a:t>
              </a:r>
            </a:p>
          </p:txBody>
        </p:sp>
        <p:sp>
          <p:nvSpPr>
            <p:cNvPr id="53267" name="Rectangle 19"/>
            <p:cNvSpPr>
              <a:spLocks noChangeArrowheads="1"/>
            </p:cNvSpPr>
            <p:nvPr/>
          </p:nvSpPr>
          <p:spPr bwMode="auto">
            <a:xfrm>
              <a:off x="2256" y="2640"/>
              <a:ext cx="763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th-TH">
                  <a:latin typeface="Times New Roman" pitchFamily="18" charset="0"/>
                </a:rPr>
                <a:t>Triangle</a:t>
              </a:r>
            </a:p>
          </p:txBody>
        </p:sp>
      </p:grpSp>
      <p:grpSp>
        <p:nvGrpSpPr>
          <p:cNvPr id="53269" name="Group 21"/>
          <p:cNvGrpSpPr>
            <a:grpSpLocks/>
          </p:cNvGrpSpPr>
          <p:nvPr/>
        </p:nvGrpSpPr>
        <p:grpSpPr bwMode="auto">
          <a:xfrm>
            <a:off x="4953000" y="3352800"/>
            <a:ext cx="3954463" cy="1292225"/>
            <a:chOff x="816" y="2112"/>
            <a:chExt cx="2491" cy="814"/>
          </a:xfrm>
        </p:grpSpPr>
        <p:sp>
          <p:nvSpPr>
            <p:cNvPr id="53270" name="Rectangle 22"/>
            <p:cNvSpPr>
              <a:spLocks noChangeArrowheads="1"/>
            </p:cNvSpPr>
            <p:nvPr/>
          </p:nvSpPr>
          <p:spPr bwMode="auto">
            <a:xfrm>
              <a:off x="816" y="2640"/>
              <a:ext cx="647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th-TH">
                  <a:latin typeface="Times New Roman" pitchFamily="18" charset="0"/>
                </a:rPr>
                <a:t>Sphere</a:t>
              </a:r>
            </a:p>
          </p:txBody>
        </p:sp>
        <p:sp>
          <p:nvSpPr>
            <p:cNvPr id="53271" name="Line 23"/>
            <p:cNvSpPr>
              <a:spLocks noChangeShapeType="1"/>
            </p:cNvSpPr>
            <p:nvPr/>
          </p:nvSpPr>
          <p:spPr bwMode="auto">
            <a:xfrm flipH="1">
              <a:off x="1200" y="2112"/>
              <a:ext cx="432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2" name="Line 24"/>
            <p:cNvSpPr>
              <a:spLocks noChangeShapeType="1"/>
            </p:cNvSpPr>
            <p:nvPr/>
          </p:nvSpPr>
          <p:spPr bwMode="auto">
            <a:xfrm>
              <a:off x="1968" y="2112"/>
              <a:ext cx="480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3" name="Line 25"/>
            <p:cNvSpPr>
              <a:spLocks noChangeShapeType="1"/>
            </p:cNvSpPr>
            <p:nvPr/>
          </p:nvSpPr>
          <p:spPr bwMode="auto">
            <a:xfrm>
              <a:off x="1824" y="2112"/>
              <a:ext cx="0" cy="52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4" name="Rectangle 26"/>
            <p:cNvSpPr>
              <a:spLocks noChangeArrowheads="1"/>
            </p:cNvSpPr>
            <p:nvPr/>
          </p:nvSpPr>
          <p:spPr bwMode="auto">
            <a:xfrm>
              <a:off x="1536" y="2640"/>
              <a:ext cx="51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th-TH">
                  <a:latin typeface="Times New Roman" pitchFamily="18" charset="0"/>
                </a:rPr>
                <a:t>Cube</a:t>
              </a:r>
            </a:p>
          </p:txBody>
        </p:sp>
        <p:sp>
          <p:nvSpPr>
            <p:cNvPr id="53275" name="Rectangle 27"/>
            <p:cNvSpPr>
              <a:spLocks noChangeArrowheads="1"/>
            </p:cNvSpPr>
            <p:nvPr/>
          </p:nvSpPr>
          <p:spPr bwMode="auto">
            <a:xfrm>
              <a:off x="2256" y="2640"/>
              <a:ext cx="1051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th-TH">
                  <a:latin typeface="Times New Roman" pitchFamily="18" charset="0"/>
                </a:rPr>
                <a:t>Tetrahedron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1442" name="Picture 2" descr="inheritanc-cp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19976"/>
            <a:ext cx="8928992" cy="556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71800" y="2996952"/>
            <a:ext cx="2448272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8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60648"/>
            <a:ext cx="7391400" cy="990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>
            <a:normAutofit/>
          </a:bodyPr>
          <a:lstStyle/>
          <a:p>
            <a:r>
              <a:rPr lang="th-TH" sz="2800" dirty="0"/>
              <a:t>Implementing Inheritance in C++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160751"/>
            <a:ext cx="8363272" cy="486251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>
            <a:normAutofit/>
          </a:bodyPr>
          <a:lstStyle/>
          <a:p>
            <a:r>
              <a:rPr lang="th-TH" sz="2400" dirty="0"/>
              <a:t>Develop a base class</a:t>
            </a:r>
            <a:r>
              <a:rPr lang="en-IN" sz="2400" dirty="0"/>
              <a:t>.</a:t>
            </a:r>
            <a:endParaRPr lang="th-TH" sz="2400" dirty="0"/>
          </a:p>
          <a:p>
            <a:r>
              <a:rPr lang="th-TH" sz="2400" dirty="0"/>
              <a:t>Use it to define a derived class</a:t>
            </a:r>
            <a:r>
              <a:rPr lang="en-IN" sz="2400" dirty="0"/>
              <a:t>.</a:t>
            </a:r>
            <a:endParaRPr lang="en-IN" sz="1800" dirty="0">
              <a:latin typeface="Courier New" pitchFamily="49" charset="0"/>
            </a:endParaRPr>
          </a:p>
          <a:p>
            <a:endParaRPr lang="en-IN" sz="2400" dirty="0">
              <a:latin typeface="Courier New" pitchFamily="49" charset="0"/>
            </a:endParaRPr>
          </a:p>
          <a:p>
            <a:pPr marL="0" indent="0">
              <a:buNone/>
            </a:pPr>
            <a:r>
              <a:rPr lang="en-IN" sz="2600" u="sng" dirty="0">
                <a:solidFill>
                  <a:srgbClr val="7030A0"/>
                </a:solidFill>
                <a:latin typeface="+mj-lt"/>
              </a:rPr>
              <a:t>Syntax: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class</a:t>
            </a:r>
            <a:r>
              <a:rPr lang="en-IN" sz="2400" dirty="0"/>
              <a:t> </a:t>
            </a:r>
            <a:r>
              <a:rPr lang="en-IN" sz="2400" i="1" dirty="0" err="1">
                <a:solidFill>
                  <a:srgbClr val="0070C0"/>
                </a:solidFill>
              </a:rPr>
              <a:t>derived_class_name</a:t>
            </a:r>
            <a:r>
              <a:rPr lang="en-IN" sz="2400" i="1" dirty="0"/>
              <a:t> : </a:t>
            </a:r>
            <a:r>
              <a:rPr lang="en-IN" sz="2400" i="1" dirty="0" err="1">
                <a:solidFill>
                  <a:srgbClr val="002060"/>
                </a:solidFill>
              </a:rPr>
              <a:t>access_mode</a:t>
            </a:r>
            <a:r>
              <a:rPr lang="en-IN" sz="2400" i="1" dirty="0"/>
              <a:t> </a:t>
            </a:r>
            <a:r>
              <a:rPr lang="en-IN" sz="2400" i="1" dirty="0" err="1">
                <a:solidFill>
                  <a:srgbClr val="00B0F0"/>
                </a:solidFill>
              </a:rPr>
              <a:t>base_class_name</a:t>
            </a:r>
            <a:r>
              <a:rPr lang="en-IN" sz="2400" i="1" dirty="0">
                <a:solidFill>
                  <a:srgbClr val="00B0F0"/>
                </a:solidFill>
              </a:rPr>
              <a:t> </a:t>
            </a:r>
          </a:p>
          <a:p>
            <a:pPr marL="0" indent="0">
              <a:buNone/>
            </a:pP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	// </a:t>
            </a:r>
            <a:r>
              <a:rPr lang="en-IN" sz="2400" i="1" dirty="0"/>
              <a:t>body of class</a:t>
            </a:r>
          </a:p>
          <a:p>
            <a:pPr marL="0" indent="0">
              <a:buNone/>
            </a:pPr>
            <a:r>
              <a:rPr lang="en-IN" sz="2400" dirty="0"/>
              <a:t>};</a:t>
            </a:r>
            <a:endParaRPr lang="th-TH" sz="1800" dirty="0">
              <a:latin typeface="Courier New" pitchFamily="49" charset="0"/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B845D-1D00-496A-A892-9718F45A14D7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71030"/>
              </p:ext>
            </p:extLst>
          </p:nvPr>
        </p:nvGraphicFramePr>
        <p:xfrm>
          <a:off x="179510" y="548680"/>
          <a:ext cx="8856988" cy="5688630"/>
        </p:xfrm>
        <a:graphic>
          <a:graphicData uri="http://schemas.openxmlformats.org/drawingml/2006/table">
            <a:tbl>
              <a:tblPr firstRow="1" firstCol="1" bandRow="1"/>
              <a:tblGrid>
                <a:gridCol w="2214247">
                  <a:extLst>
                    <a:ext uri="{9D8B030D-6E8A-4147-A177-3AD203B41FA5}">
                      <a16:colId xmlns:a16="http://schemas.microsoft.com/office/drawing/2014/main" val="1781627151"/>
                    </a:ext>
                  </a:extLst>
                </a:gridCol>
                <a:gridCol w="2214247">
                  <a:extLst>
                    <a:ext uri="{9D8B030D-6E8A-4147-A177-3AD203B41FA5}">
                      <a16:colId xmlns:a16="http://schemas.microsoft.com/office/drawing/2014/main" val="1628688498"/>
                    </a:ext>
                  </a:extLst>
                </a:gridCol>
                <a:gridCol w="2214247">
                  <a:extLst>
                    <a:ext uri="{9D8B030D-6E8A-4147-A177-3AD203B41FA5}">
                      <a16:colId xmlns:a16="http://schemas.microsoft.com/office/drawing/2014/main" val="3239041663"/>
                    </a:ext>
                  </a:extLst>
                </a:gridCol>
                <a:gridCol w="2214247">
                  <a:extLst>
                    <a:ext uri="{9D8B030D-6E8A-4147-A177-3AD203B41FA5}">
                      <a16:colId xmlns:a16="http://schemas.microsoft.com/office/drawing/2014/main" val="200054643"/>
                    </a:ext>
                  </a:extLst>
                </a:gridCol>
              </a:tblGrid>
              <a:tr h="1161144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 class member visibility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Type of inheritance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639114"/>
                  </a:ext>
                </a:extLst>
              </a:tr>
              <a:tr h="11221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public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private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protected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829396"/>
                  </a:ext>
                </a:extLst>
              </a:tr>
              <a:tr h="11611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public</a:t>
                      </a:r>
                      <a:endParaRPr lang="en-IN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public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private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protected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8029144"/>
                  </a:ext>
                </a:extLst>
              </a:tr>
              <a:tr h="11221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private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inherited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inherited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 inherited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22289"/>
                  </a:ext>
                </a:extLst>
              </a:tr>
              <a:tr h="11221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b="1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protected</a:t>
                      </a:r>
                      <a:endParaRPr lang="en-IN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protected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private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protected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887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33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397F12-183C-4966-AC8C-D752DF7C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20688"/>
            <a:ext cx="5516684" cy="28083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F15DC0-B588-4BED-8F07-647F6FB4829A}"/>
              </a:ext>
            </a:extLst>
          </p:cNvPr>
          <p:cNvSpPr txBox="1"/>
          <p:nvPr/>
        </p:nvSpPr>
        <p:spPr>
          <a:xfrm>
            <a:off x="589858" y="-23760"/>
            <a:ext cx="483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highlight>
                  <a:srgbClr val="00FFFF"/>
                </a:highlight>
              </a:rPr>
              <a:t>Example-1: Public Inheritance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11500F-3D30-42AD-83DA-8545AD7B3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3" y="3669318"/>
            <a:ext cx="4248473" cy="2877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A66F45-9480-4066-B49C-7DC2B1BB7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135" y="139296"/>
            <a:ext cx="3899362" cy="24824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56CC59-F9DC-4908-A3AA-9EE8EFD617F4}"/>
              </a:ext>
            </a:extLst>
          </p:cNvPr>
          <p:cNvSpPr txBox="1"/>
          <p:nvPr/>
        </p:nvSpPr>
        <p:spPr>
          <a:xfrm>
            <a:off x="6902897" y="4852747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OUTPUT:</a:t>
            </a:r>
            <a:endParaRPr lang="en-IN" sz="3200" b="1" dirty="0">
              <a:solidFill>
                <a:srgbClr val="C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B51264-B190-4F89-8B9D-564E78208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4301" y="5489085"/>
            <a:ext cx="867147" cy="98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15DC0-B588-4BED-8F07-647F6FB4829A}"/>
              </a:ext>
            </a:extLst>
          </p:cNvPr>
          <p:cNvSpPr txBox="1"/>
          <p:nvPr/>
        </p:nvSpPr>
        <p:spPr>
          <a:xfrm>
            <a:off x="589858" y="-23760"/>
            <a:ext cx="483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highlight>
                  <a:srgbClr val="00FFFF"/>
                </a:highlight>
              </a:rPr>
              <a:t>Example-2: Private Inheritance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1B2EC0-09BE-4D48-BD03-E6CC54E7B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" y="620688"/>
            <a:ext cx="5477204" cy="2808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2258E2-2FF9-4764-8460-C799E3F8A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2" y="3568619"/>
            <a:ext cx="4434678" cy="2942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01DE6A-FC56-4F2C-BE64-770FE0335E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6" y="172359"/>
            <a:ext cx="4265940" cy="207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2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15DC0-B588-4BED-8F07-647F6FB4829A}"/>
              </a:ext>
            </a:extLst>
          </p:cNvPr>
          <p:cNvSpPr txBox="1"/>
          <p:nvPr/>
        </p:nvSpPr>
        <p:spPr>
          <a:xfrm>
            <a:off x="589858" y="-23760"/>
            <a:ext cx="483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highlight>
                  <a:srgbClr val="00FFFF"/>
                </a:highlight>
              </a:rPr>
              <a:t>Example-3: protected members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3B6C8-09B6-4B6B-8FFB-3BE02BC0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5612761" cy="32175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59DCB1-C769-48B6-8571-041EC67E0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4013324"/>
            <a:ext cx="3960440" cy="27203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855F44-412D-48C1-814C-61F00DFD8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7129" y="136525"/>
            <a:ext cx="3381375" cy="2171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8FF878E-00B6-4A7F-8F33-7F3FBCBBCB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1300" y="5203753"/>
            <a:ext cx="1086101" cy="11525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A77D3A0-FF58-47EF-B2FD-D99BB6E963C8}"/>
              </a:ext>
            </a:extLst>
          </p:cNvPr>
          <p:cNvSpPr txBox="1"/>
          <p:nvPr/>
        </p:nvSpPr>
        <p:spPr>
          <a:xfrm>
            <a:off x="7388861" y="4645347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OUTPUT:</a:t>
            </a:r>
            <a:endParaRPr lang="en-IN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09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F15DC0-B588-4BED-8F07-647F6FB4829A}"/>
              </a:ext>
            </a:extLst>
          </p:cNvPr>
          <p:cNvSpPr txBox="1"/>
          <p:nvPr/>
        </p:nvSpPr>
        <p:spPr>
          <a:xfrm>
            <a:off x="589858" y="-23760"/>
            <a:ext cx="4834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highlight>
                  <a:srgbClr val="00FFFF"/>
                </a:highlight>
              </a:rPr>
              <a:t>Example-4: protected members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C3B6C8-09B6-4B6B-8FFB-3BE02BC02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92696"/>
            <a:ext cx="5612761" cy="321757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55C728-6851-42CB-B21F-21182F946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4007531"/>
            <a:ext cx="3328798" cy="2805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B134CC-D464-466A-BB5F-0A7D53D4E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36525"/>
            <a:ext cx="44196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1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9" y="260648"/>
            <a:ext cx="5568141" cy="32403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3692525"/>
            <a:ext cx="4895850" cy="3028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362" y="260648"/>
            <a:ext cx="3378274" cy="22055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84368" y="940658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//Error 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2360" y="1516722"/>
            <a:ext cx="1440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//Error 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3906" y="29815"/>
            <a:ext cx="483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Example-4:</a:t>
            </a:r>
          </a:p>
        </p:txBody>
      </p:sp>
    </p:spTree>
    <p:extLst>
      <p:ext uri="{BB962C8B-B14F-4D97-AF65-F5344CB8AC3E}">
        <p14:creationId xmlns:p14="http://schemas.microsoft.com/office/powerpoint/2010/main" val="323248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3932687" cy="502920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04800"/>
            <a:ext cx="4534697" cy="233449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992" y="2971800"/>
            <a:ext cx="3312368" cy="3211993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905000" y="71735"/>
            <a:ext cx="243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  <a:highlight>
                  <a:srgbClr val="00FFFF"/>
                </a:highlight>
              </a:rPr>
              <a:t>Question - 1</a:t>
            </a:r>
            <a:endParaRPr lang="en-IN" sz="3200" dirty="0">
              <a:highlight>
                <a:srgbClr val="00FFFF"/>
              </a:highligh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6376" y="4869160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//Error !</a:t>
            </a:r>
          </a:p>
        </p:txBody>
      </p:sp>
    </p:spTree>
    <p:extLst>
      <p:ext uri="{BB962C8B-B14F-4D97-AF65-F5344CB8AC3E}">
        <p14:creationId xmlns:p14="http://schemas.microsoft.com/office/powerpoint/2010/main" val="144837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>
            <a:normAutofit/>
          </a:bodyPr>
          <a:lstStyle/>
          <a:p>
            <a:r>
              <a:rPr lang="en-IN" sz="2800" b="1" u="sng" dirty="0">
                <a:solidFill>
                  <a:srgbClr val="FF0000"/>
                </a:solidFill>
                <a:highlight>
                  <a:srgbClr val="00FFFF"/>
                </a:highlight>
              </a:rPr>
              <a:t>Question - 2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28600" y="228600"/>
            <a:ext cx="3810000" cy="6629400"/>
            <a:chOff x="304800" y="152400"/>
            <a:chExt cx="3286125" cy="554355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00" y="152400"/>
              <a:ext cx="2781300" cy="241935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00" y="2743200"/>
              <a:ext cx="3286125" cy="2952750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762000"/>
            <a:ext cx="3760190" cy="332422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150" y="2519561"/>
            <a:ext cx="1038225" cy="3333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5181600"/>
            <a:ext cx="103822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1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609600"/>
            <a:ext cx="4343400" cy="43553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16832"/>
            <a:ext cx="3747729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2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532" y="152400"/>
            <a:ext cx="6477000" cy="4811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65" y="4964214"/>
            <a:ext cx="688781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96000" y="2175164"/>
            <a:ext cx="2933701" cy="21336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3125045" y="152400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Example: Multiple inheritance</a:t>
            </a:r>
          </a:p>
        </p:txBody>
      </p:sp>
    </p:spTree>
    <p:extLst>
      <p:ext uri="{BB962C8B-B14F-4D97-AF65-F5344CB8AC3E}">
        <p14:creationId xmlns:p14="http://schemas.microsoft.com/office/powerpoint/2010/main" val="167715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220" y="122349"/>
            <a:ext cx="59566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245" y="4463603"/>
            <a:ext cx="5707651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2454705" y="89305"/>
            <a:ext cx="5126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Example: Multilevel inheritance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19800" y="2057400"/>
            <a:ext cx="2973327" cy="45720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96200" y="119129"/>
            <a:ext cx="96981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5994882" y="664197"/>
            <a:ext cx="1471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16596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6858000" cy="4287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572000"/>
            <a:ext cx="5707651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10B61D-D819-41E6-9177-3B75E357A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2348880"/>
            <a:ext cx="3056338" cy="303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4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600"/>
            <a:ext cx="6270887" cy="39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572000"/>
            <a:ext cx="5707651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876800" y="563880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// </a:t>
            </a:r>
            <a:r>
              <a:rPr lang="en-US" sz="2000" b="1" dirty="0">
                <a:solidFill>
                  <a:srgbClr val="FF0000"/>
                </a:solidFill>
              </a:rPr>
              <a:t>Error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2348880"/>
            <a:ext cx="3056338" cy="3030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4168" y="2999889"/>
            <a:ext cx="144016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35734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0" y="22860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Inheritance  &amp; Constructors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2C6819-856D-4DC6-A25F-4DAFD49B2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60" y="836712"/>
            <a:ext cx="6852312" cy="38055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EF71CD-1117-47BD-8020-B4AF7841E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60" y="4848428"/>
            <a:ext cx="2682373" cy="11728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FBE9C-8558-455E-8AA1-F5F9B057FE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069" y="5080453"/>
            <a:ext cx="4583131" cy="90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4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0343B7-B0A2-4CED-9D17-3199EACD5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260648"/>
            <a:ext cx="5630061" cy="43916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E8F57F-83E0-43D6-9B53-FAA1A8B5E76C}"/>
              </a:ext>
            </a:extLst>
          </p:cNvPr>
          <p:cNvSpPr txBox="1"/>
          <p:nvPr/>
        </p:nvSpPr>
        <p:spPr>
          <a:xfrm>
            <a:off x="3563888" y="235877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Inheritance  with Constructors &amp; Destructor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B521DF-CC4C-46BE-9BD0-B267498CB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9" y="4797152"/>
            <a:ext cx="2372056" cy="1028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CB3104-2895-4EB9-9C54-34CFE54B4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4785447"/>
            <a:ext cx="4269620" cy="171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0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98347"/>
            <a:ext cx="8382000" cy="3978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953000"/>
            <a:ext cx="8408151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19800" y="195298"/>
            <a:ext cx="2743200" cy="143347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2" name="TextBox 1"/>
          <p:cNvSpPr txBox="1"/>
          <p:nvPr/>
        </p:nvSpPr>
        <p:spPr>
          <a:xfrm>
            <a:off x="2555776" y="110133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Question-1:</a:t>
            </a:r>
          </a:p>
        </p:txBody>
      </p:sp>
    </p:spTree>
    <p:extLst>
      <p:ext uri="{BB962C8B-B14F-4D97-AF65-F5344CB8AC3E}">
        <p14:creationId xmlns:p14="http://schemas.microsoft.com/office/powerpoint/2010/main" val="1956880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524000"/>
            <a:ext cx="6019800" cy="2471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24000" y="838200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FF0000"/>
                </a:solidFill>
              </a:rPr>
              <a:t>OUTPUT</a:t>
            </a:r>
            <a:r>
              <a:rPr lang="en-US" b="1" u="sng" dirty="0">
                <a:solidFill>
                  <a:srgbClr val="FF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87225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80109"/>
            <a:ext cx="6173546" cy="44680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648200"/>
            <a:ext cx="5810250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296" y="1977675"/>
            <a:ext cx="2466975" cy="1362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CA036A-C2F0-4F4B-B824-ED800E97DD49}"/>
              </a:ext>
            </a:extLst>
          </p:cNvPr>
          <p:cNvSpPr txBox="1"/>
          <p:nvPr/>
        </p:nvSpPr>
        <p:spPr>
          <a:xfrm>
            <a:off x="3355394" y="73571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Question-2: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1C55062-0DCA-41E0-8508-B33A6F9F68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3146" y="3446288"/>
            <a:ext cx="3010465" cy="116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27" y="227061"/>
            <a:ext cx="7574573" cy="663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325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Question 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759"/>
            <a:ext cx="8771295" cy="4114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87789"/>
            <a:ext cx="3429001" cy="15972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4920639"/>
            <a:ext cx="5165189" cy="8352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16016" y="4426179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OUTPUT</a:t>
            </a:r>
            <a:r>
              <a:rPr lang="en-US" b="1" u="sng" dirty="0">
                <a:solidFill>
                  <a:srgbClr val="FF0000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9840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8" y="266700"/>
            <a:ext cx="6098106" cy="35337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8" y="3922830"/>
            <a:ext cx="8844906" cy="2510041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914400" y="-197275"/>
            <a:ext cx="470186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b="1" u="sng" dirty="0">
                <a:solidFill>
                  <a:srgbClr val="FF0000"/>
                </a:solidFill>
              </a:rPr>
              <a:t>Question 2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725" y="197086"/>
            <a:ext cx="3638550" cy="13430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C27B75-BABF-4227-87A0-D3E127B008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5888" y="2166275"/>
            <a:ext cx="3108387" cy="209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5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55282" y="6858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OUTPUT</a:t>
            </a:r>
            <a:r>
              <a:rPr lang="en-US" sz="2400" b="1" u="sng" dirty="0">
                <a:solidFill>
                  <a:srgbClr val="FF0000"/>
                </a:solidFill>
              </a:rPr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282" y="1447799"/>
            <a:ext cx="5178917" cy="346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19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04" y="128789"/>
            <a:ext cx="9067800" cy="800099"/>
          </a:xfrm>
        </p:spPr>
        <p:txBody>
          <a:bodyPr>
            <a:noAutofit/>
          </a:bodyPr>
          <a:lstStyle/>
          <a:p>
            <a:pPr algn="just"/>
            <a:r>
              <a:rPr lang="en-IN" sz="2800" b="1" dirty="0">
                <a:solidFill>
                  <a:srgbClr val="0070C0"/>
                </a:solidFill>
              </a:rPr>
              <a:t>Passing Parameters to Base-Class Constructors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865" y="1114023"/>
            <a:ext cx="8979794" cy="527283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class </a:t>
            </a:r>
            <a:r>
              <a:rPr lang="en-US" sz="2800" b="1" dirty="0">
                <a:solidFill>
                  <a:srgbClr val="FF0000"/>
                </a:solidFill>
              </a:rPr>
              <a:t>base1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public: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base1( </a:t>
            </a:r>
            <a:r>
              <a:rPr lang="en-US" sz="2800" b="1" dirty="0" err="1">
                <a:solidFill>
                  <a:srgbClr val="7030A0"/>
                </a:solidFill>
              </a:rPr>
              <a:t>args</a:t>
            </a:r>
            <a:r>
              <a:rPr lang="en-US" sz="2800" dirty="0"/>
              <a:t> )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{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  </a:t>
            </a:r>
            <a:r>
              <a:rPr lang="en-US" sz="2800" b="1" dirty="0"/>
              <a:t>. . .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}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};</a:t>
            </a:r>
          </a:p>
          <a:p>
            <a:pPr>
              <a:buNone/>
            </a:pPr>
            <a:endParaRPr lang="en-US" sz="2200" dirty="0"/>
          </a:p>
          <a:p>
            <a:pPr>
              <a:buNone/>
            </a:pPr>
            <a:endParaRPr lang="en-US" sz="2200" dirty="0"/>
          </a:p>
          <a:p>
            <a:pPr>
              <a:buNone/>
            </a:pPr>
            <a:endParaRPr lang="en-US" sz="2200" dirty="0"/>
          </a:p>
          <a:p>
            <a:pPr>
              <a:buNone/>
            </a:pPr>
            <a:endParaRPr lang="en-US" sz="2200" i="1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800" i="1" dirty="0" err="1">
                <a:solidFill>
                  <a:srgbClr val="0070C0"/>
                </a:solidFill>
              </a:rPr>
              <a:t>Derived_constr</a:t>
            </a:r>
            <a:r>
              <a:rPr lang="en-US" sz="2800" i="1" dirty="0">
                <a:solidFill>
                  <a:srgbClr val="0070C0"/>
                </a:solidFill>
              </a:rPr>
              <a:t>(</a:t>
            </a:r>
            <a:r>
              <a:rPr lang="en-US" sz="2800" i="1" dirty="0" err="1">
                <a:solidFill>
                  <a:srgbClr val="0070C0"/>
                </a:solidFill>
              </a:rPr>
              <a:t>arg_list</a:t>
            </a:r>
            <a:r>
              <a:rPr lang="en-US" sz="2800" i="1" dirty="0"/>
              <a:t>) </a:t>
            </a:r>
            <a:r>
              <a:rPr lang="en-US" sz="2800" b="1" i="1" dirty="0"/>
              <a:t>: </a:t>
            </a:r>
            <a:r>
              <a:rPr lang="en-US" sz="2800" i="1" dirty="0">
                <a:solidFill>
                  <a:srgbClr val="FF0000"/>
                </a:solidFill>
              </a:rPr>
              <a:t>base1</a:t>
            </a:r>
            <a:r>
              <a:rPr lang="en-US" sz="2800" i="1" dirty="0"/>
              <a:t> ( </a:t>
            </a:r>
            <a:r>
              <a:rPr lang="en-US" sz="2800" i="1" dirty="0" err="1">
                <a:solidFill>
                  <a:srgbClr val="7030A0"/>
                </a:solidFill>
              </a:rPr>
              <a:t>arglist</a:t>
            </a:r>
            <a:r>
              <a:rPr lang="en-US" sz="2800" i="1" dirty="0"/>
              <a:t> ), </a:t>
            </a:r>
            <a:r>
              <a:rPr lang="en-US" sz="2800" i="1" dirty="0">
                <a:solidFill>
                  <a:srgbClr val="FF0000"/>
                </a:solidFill>
              </a:rPr>
              <a:t>base2</a:t>
            </a:r>
            <a:r>
              <a:rPr lang="en-US" sz="2800" i="1" dirty="0"/>
              <a:t> ( </a:t>
            </a:r>
            <a:r>
              <a:rPr lang="en-US" sz="2800" i="1" dirty="0" err="1">
                <a:solidFill>
                  <a:srgbClr val="7030A0"/>
                </a:solidFill>
              </a:rPr>
              <a:t>arglist</a:t>
            </a:r>
            <a:r>
              <a:rPr lang="en-US" sz="2800" i="1" dirty="0"/>
              <a:t> ), </a:t>
            </a:r>
            <a:r>
              <a:rPr lang="en-US" sz="2800" i="1" dirty="0">
                <a:solidFill>
                  <a:srgbClr val="FF0000"/>
                </a:solidFill>
              </a:rPr>
              <a:t>base3</a:t>
            </a:r>
            <a:r>
              <a:rPr lang="en-US" sz="2800" i="1" dirty="0"/>
              <a:t> ( </a:t>
            </a:r>
            <a:r>
              <a:rPr lang="en-US" sz="2800" i="1" dirty="0" err="1">
                <a:solidFill>
                  <a:srgbClr val="7030A0"/>
                </a:solidFill>
              </a:rPr>
              <a:t>arglist</a:t>
            </a:r>
            <a:r>
              <a:rPr lang="en-US" sz="2800" i="1" dirty="0"/>
              <a:t> )</a:t>
            </a:r>
            <a:endParaRPr lang="en-US" sz="2800" dirty="0"/>
          </a:p>
          <a:p>
            <a:pPr>
              <a:buNone/>
            </a:pPr>
            <a:r>
              <a:rPr lang="en-US" sz="2800" dirty="0"/>
              <a:t>{</a:t>
            </a:r>
          </a:p>
          <a:p>
            <a:pPr>
              <a:buNone/>
            </a:pPr>
            <a:r>
              <a:rPr lang="en-US" sz="2800" dirty="0"/>
              <a:t>	// </a:t>
            </a:r>
            <a:r>
              <a:rPr lang="en-US" sz="2800" i="1" dirty="0"/>
              <a:t>body of derived constructor</a:t>
            </a:r>
          </a:p>
          <a:p>
            <a:pPr>
              <a:buNone/>
            </a:pPr>
            <a:r>
              <a:rPr lang="en-US" sz="28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3912" y="1027626"/>
            <a:ext cx="18288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200" dirty="0"/>
              <a:t>class </a:t>
            </a:r>
            <a:r>
              <a:rPr lang="en-US" sz="2200" b="1" dirty="0">
                <a:solidFill>
                  <a:srgbClr val="FF0000"/>
                </a:solidFill>
              </a:rPr>
              <a:t>base2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public: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base2( </a:t>
            </a:r>
            <a:r>
              <a:rPr lang="en-US" sz="2200" b="1" dirty="0" err="1">
                <a:solidFill>
                  <a:srgbClr val="7030A0"/>
                </a:solidFill>
              </a:rPr>
              <a:t>args</a:t>
            </a:r>
            <a:r>
              <a:rPr lang="en-US" sz="2200" dirty="0"/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   </a:t>
            </a:r>
            <a:r>
              <a:rPr lang="en-US" sz="2200" b="1" dirty="0"/>
              <a:t>. . .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};</a:t>
            </a:r>
            <a:endParaRPr lang="en-IN" sz="2200" dirty="0"/>
          </a:p>
        </p:txBody>
      </p:sp>
      <p:sp>
        <p:nvSpPr>
          <p:cNvPr id="9" name="TextBox 8"/>
          <p:cNvSpPr txBox="1"/>
          <p:nvPr/>
        </p:nvSpPr>
        <p:spPr>
          <a:xfrm>
            <a:off x="6676086" y="990600"/>
            <a:ext cx="217277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class </a:t>
            </a:r>
            <a:r>
              <a:rPr lang="en-US" sz="2200" b="1" dirty="0">
                <a:solidFill>
                  <a:srgbClr val="FF0000"/>
                </a:solidFill>
              </a:rPr>
              <a:t>base3</a:t>
            </a:r>
          </a:p>
          <a:p>
            <a:r>
              <a:rPr lang="en-US" sz="2200" dirty="0"/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public: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base3( </a:t>
            </a:r>
            <a:r>
              <a:rPr lang="en-US" sz="2200" b="1" dirty="0" err="1">
                <a:solidFill>
                  <a:srgbClr val="7030A0"/>
                </a:solidFill>
              </a:rPr>
              <a:t>args</a:t>
            </a:r>
            <a:r>
              <a:rPr lang="en-US" sz="2200" dirty="0"/>
              <a:t> )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   </a:t>
            </a:r>
            <a:r>
              <a:rPr lang="en-US" sz="2200" b="1" dirty="0"/>
              <a:t>. . .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2200" dirty="0"/>
              <a:t>};</a:t>
            </a:r>
            <a:endParaRPr lang="en-IN" sz="2200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2819400" y="928888"/>
            <a:ext cx="0" cy="2420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52986" y="928888"/>
            <a:ext cx="38637" cy="23586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1752600" y="2546480"/>
            <a:ext cx="2648855" cy="240652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4800600" y="2438400"/>
            <a:ext cx="1476341" cy="24003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8153400" y="2438400"/>
            <a:ext cx="1" cy="240030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514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77A2E-513D-4B84-A8D6-FF6DBC431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359EB-7A0E-42E7-B88E-DD5FC441815E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5BB5FC-E826-46D4-AF18-10006DDEC2ED}"/>
              </a:ext>
            </a:extLst>
          </p:cNvPr>
          <p:cNvSpPr/>
          <p:nvPr/>
        </p:nvSpPr>
        <p:spPr>
          <a:xfrm>
            <a:off x="304800" y="14335"/>
            <a:ext cx="5635351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class B {</a:t>
            </a:r>
          </a:p>
          <a:p>
            <a:r>
              <a:rPr lang="en-IN" sz="2800" b="1" dirty="0"/>
              <a:t>              int x;</a:t>
            </a:r>
          </a:p>
          <a:p>
            <a:r>
              <a:rPr lang="en-IN" sz="2800" b="1" dirty="0"/>
              <a:t>       public:</a:t>
            </a:r>
          </a:p>
          <a:p>
            <a:r>
              <a:rPr lang="en-IN" sz="2800" b="1" dirty="0"/>
              <a:t>             B(int a) {</a:t>
            </a:r>
          </a:p>
          <a:p>
            <a:r>
              <a:rPr lang="en-IN" sz="2800" b="1" dirty="0"/>
              <a:t>                x = a;  </a:t>
            </a:r>
            <a:r>
              <a:rPr lang="en-IN" sz="2800" b="1" dirty="0" err="1"/>
              <a:t>cout</a:t>
            </a:r>
            <a:r>
              <a:rPr lang="en-IN" sz="2800" b="1" dirty="0"/>
              <a:t> &lt;&lt; "1-arg </a:t>
            </a:r>
            <a:r>
              <a:rPr lang="en-IN" sz="2800" b="1" dirty="0" err="1"/>
              <a:t>constr</a:t>
            </a:r>
            <a:r>
              <a:rPr lang="en-IN" sz="2800" b="1" dirty="0"/>
              <a:t> in </a:t>
            </a:r>
            <a:r>
              <a:rPr lang="en-IN" sz="2800" b="1" dirty="0" err="1"/>
              <a:t>baseB</a:t>
            </a:r>
            <a:r>
              <a:rPr lang="en-IN" sz="2800" b="1" dirty="0"/>
              <a:t>\n";</a:t>
            </a:r>
          </a:p>
          <a:p>
            <a:r>
              <a:rPr lang="en-IN" sz="2800" b="1" dirty="0"/>
              <a:t>                }};</a:t>
            </a:r>
          </a:p>
          <a:p>
            <a:r>
              <a:rPr lang="en-IN" sz="2800" b="1" dirty="0"/>
              <a:t>class D : public B {</a:t>
            </a:r>
          </a:p>
          <a:p>
            <a:r>
              <a:rPr lang="en-IN" sz="2800" b="1" dirty="0"/>
              <a:t>      public:</a:t>
            </a:r>
          </a:p>
          <a:p>
            <a:r>
              <a:rPr lang="en-IN" sz="2800" b="1" dirty="0"/>
              <a:t>              D(int a) : B(a) {</a:t>
            </a:r>
          </a:p>
          <a:p>
            <a:r>
              <a:rPr lang="en-IN" sz="2800" b="1" dirty="0"/>
              <a:t>                    </a:t>
            </a:r>
            <a:r>
              <a:rPr lang="en-IN" sz="2800" b="1" dirty="0" err="1"/>
              <a:t>cout</a:t>
            </a:r>
            <a:r>
              <a:rPr lang="en-IN" sz="2800" b="1" dirty="0"/>
              <a:t> &lt;&lt; "1-arg </a:t>
            </a:r>
            <a:r>
              <a:rPr lang="en-IN" sz="2800" b="1" dirty="0" err="1"/>
              <a:t>constr</a:t>
            </a:r>
            <a:r>
              <a:rPr lang="en-IN" sz="2800" b="1" dirty="0"/>
              <a:t> in D\n";</a:t>
            </a:r>
          </a:p>
          <a:p>
            <a:r>
              <a:rPr lang="en-IN" sz="2800" b="1" dirty="0"/>
              <a:t>                     }};</a:t>
            </a:r>
          </a:p>
          <a:p>
            <a:r>
              <a:rPr lang="en-IN" sz="2800" b="1" dirty="0"/>
              <a:t>int main() {</a:t>
            </a:r>
          </a:p>
          <a:p>
            <a:r>
              <a:rPr lang="en-IN" sz="2800" b="1" dirty="0"/>
              <a:t>    D </a:t>
            </a:r>
            <a:r>
              <a:rPr lang="en-IN" sz="2800" b="1" dirty="0" err="1"/>
              <a:t>objD</a:t>
            </a:r>
            <a:r>
              <a:rPr lang="en-IN" sz="2800" b="1" dirty="0"/>
              <a:t>(5);</a:t>
            </a:r>
          </a:p>
          <a:p>
            <a:r>
              <a:rPr lang="en-IN" sz="2800" b="1" dirty="0"/>
              <a:t>    return 0;</a:t>
            </a:r>
          </a:p>
          <a:p>
            <a:r>
              <a:rPr lang="en-IN" sz="2800" b="1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6BD8C7-3710-4878-A96E-D8FBEFCF25D6}"/>
              </a:ext>
            </a:extLst>
          </p:cNvPr>
          <p:cNvSpPr/>
          <p:nvPr/>
        </p:nvSpPr>
        <p:spPr>
          <a:xfrm>
            <a:off x="6012160" y="1844824"/>
            <a:ext cx="2827040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dirty="0"/>
              <a:t>OUTPUT:</a:t>
            </a:r>
            <a:endParaRPr lang="en-IN" sz="2800" b="1" dirty="0"/>
          </a:p>
          <a:p>
            <a:r>
              <a:rPr lang="en-IN" sz="2800" b="1" dirty="0"/>
              <a:t>1-arg </a:t>
            </a:r>
            <a:r>
              <a:rPr lang="en-IN" sz="2800" b="1" dirty="0" err="1"/>
              <a:t>constr</a:t>
            </a:r>
            <a:r>
              <a:rPr lang="en-IN" sz="2800" b="1" dirty="0"/>
              <a:t> in </a:t>
            </a:r>
            <a:r>
              <a:rPr lang="en-IN" sz="2800" b="1" dirty="0" err="1"/>
              <a:t>baseB</a:t>
            </a:r>
            <a:endParaRPr lang="en-IN" sz="2800" b="1" dirty="0"/>
          </a:p>
          <a:p>
            <a:r>
              <a:rPr lang="en-IN" sz="2800" b="1" dirty="0"/>
              <a:t>1-arg </a:t>
            </a:r>
            <a:r>
              <a:rPr lang="en-IN" sz="2800" b="1" dirty="0" err="1"/>
              <a:t>constr</a:t>
            </a:r>
            <a:r>
              <a:rPr lang="en-IN" sz="2800" b="1" dirty="0"/>
              <a:t> in 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757215-83A6-4E93-ABAD-02C455F9B5BD}"/>
              </a:ext>
            </a:extLst>
          </p:cNvPr>
          <p:cNvSpPr/>
          <p:nvPr/>
        </p:nvSpPr>
        <p:spPr>
          <a:xfrm>
            <a:off x="3153120" y="5542799"/>
            <a:ext cx="5739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No default constructor in the base class, so error generates,, </a:t>
            </a:r>
          </a:p>
          <a:p>
            <a:r>
              <a:rPr lang="en-US" b="1" dirty="0"/>
              <a:t>error can overcome by explicit invocation of a constructor of the base class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643281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682581"/>
            <a:ext cx="3217662" cy="29750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771240"/>
            <a:ext cx="5438104" cy="3953160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4800600"/>
            <a:ext cx="4315522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3505" y="152400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Example: passing parameters to base-class constructor</a:t>
            </a:r>
          </a:p>
        </p:txBody>
      </p:sp>
    </p:spTree>
    <p:extLst>
      <p:ext uri="{BB962C8B-B14F-4D97-AF65-F5344CB8AC3E}">
        <p14:creationId xmlns:p14="http://schemas.microsoft.com/office/powerpoint/2010/main" val="779003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Overriding Member Functions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82476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0836"/>
            <a:ext cx="6102722" cy="34073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265920"/>
            <a:ext cx="5943600" cy="339205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466" y="457200"/>
            <a:ext cx="2409825" cy="15906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02401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8" y="720435"/>
            <a:ext cx="6019801" cy="25864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486549"/>
            <a:ext cx="7239000" cy="29142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325" y="152400"/>
            <a:ext cx="2962275" cy="18669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42717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4636"/>
            <a:ext cx="5345448" cy="44611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4568536"/>
            <a:ext cx="6135012" cy="22132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8600"/>
            <a:ext cx="2667000" cy="18832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4369" y="2438400"/>
            <a:ext cx="3944831" cy="74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7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67145"/>
            <a:ext cx="5912259" cy="4890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34000"/>
            <a:ext cx="8180024" cy="114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8125"/>
            <a:ext cx="2647209" cy="1819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4DC358-6099-43A8-AC3B-E90DF2F9AC96}"/>
              </a:ext>
            </a:extLst>
          </p:cNvPr>
          <p:cNvSpPr txBox="1"/>
          <p:nvPr/>
        </p:nvSpPr>
        <p:spPr>
          <a:xfrm>
            <a:off x="4295481" y="2721114"/>
            <a:ext cx="4752528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ngsana New" pitchFamily="18" charset="-34"/>
                <a:ea typeface="+mn-ea"/>
                <a:cs typeface="+mn-cs"/>
              </a:rPr>
              <a:t>call to show() is ambiguous !!!</a:t>
            </a:r>
          </a:p>
        </p:txBody>
      </p:sp>
    </p:spTree>
    <p:extLst>
      <p:ext uri="{BB962C8B-B14F-4D97-AF65-F5344CB8AC3E}">
        <p14:creationId xmlns:p14="http://schemas.microsoft.com/office/powerpoint/2010/main" val="2738730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748145"/>
            <a:ext cx="5912259" cy="48906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15000"/>
            <a:ext cx="7162800" cy="100086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03908"/>
            <a:ext cx="3162132" cy="195656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088742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100" y="25758"/>
            <a:ext cx="8229600" cy="68580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Question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711558"/>
            <a:ext cx="4879358" cy="39578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23344C-B9B8-415C-BDEF-08E8BCACB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4869160"/>
            <a:ext cx="6042630" cy="1800200"/>
          </a:xfrm>
          <a:prstGeom prst="rect">
            <a:avLst/>
          </a:prstGeom>
          <a:ln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4617083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5791200" cy="569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93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1" y="228600"/>
            <a:ext cx="9031258" cy="5791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392" y="4191000"/>
            <a:ext cx="1219200" cy="2321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75039"/>
            <a:ext cx="4495800" cy="5214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88EBD6-8F54-4EA5-9898-D56AB7FCEE51}"/>
              </a:ext>
            </a:extLst>
          </p:cNvPr>
          <p:cNvSpPr txBox="1"/>
          <p:nvPr/>
        </p:nvSpPr>
        <p:spPr>
          <a:xfrm>
            <a:off x="4283968" y="1037927"/>
            <a:ext cx="3995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Function overriding: Stack Example</a:t>
            </a:r>
          </a:p>
        </p:txBody>
      </p:sp>
    </p:spTree>
    <p:extLst>
      <p:ext uri="{BB962C8B-B14F-4D97-AF65-F5344CB8AC3E}">
        <p14:creationId xmlns:p14="http://schemas.microsoft.com/office/powerpoint/2010/main" val="2873657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200"/>
            <a:ext cx="7315200" cy="36929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769196"/>
            <a:ext cx="7606325" cy="293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752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5366657" cy="44196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4419600"/>
            <a:ext cx="3962400" cy="16177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72200" y="389786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solidFill>
                  <a:srgbClr val="FF000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27472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/>
              <a:t>Multiple inheritance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73321"/>
            <a:ext cx="6629400" cy="44642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524000" y="5562600"/>
            <a:ext cx="76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811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25" y="1143000"/>
            <a:ext cx="886347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194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" y="152400"/>
            <a:ext cx="8867775" cy="4400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29175"/>
            <a:ext cx="7772400" cy="187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30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"/>
            <a:ext cx="6600825" cy="1571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057400"/>
            <a:ext cx="774382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322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8782050" cy="4067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67200"/>
            <a:ext cx="650557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3663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8915400" cy="3429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05250"/>
            <a:ext cx="754380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0811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52400"/>
            <a:ext cx="8724900" cy="4695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5105400"/>
            <a:ext cx="4229100" cy="6000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5791200"/>
            <a:ext cx="4457700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400800"/>
            <a:ext cx="257175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71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27389"/>
            <a:ext cx="7534275" cy="2466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638550"/>
            <a:ext cx="6581775" cy="2228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28600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0005541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IN" sz="2800" b="1" dirty="0"/>
              <a:t>Class Hierarchies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808" y="1452562"/>
            <a:ext cx="7072192" cy="494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8012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04800" y="304800"/>
            <a:ext cx="8458200" cy="6400800"/>
            <a:chOff x="457200" y="676275"/>
            <a:chExt cx="7058025" cy="519112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676275"/>
              <a:ext cx="7058025" cy="305752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75" y="4152900"/>
              <a:ext cx="5267325" cy="1714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22640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5" y="304800"/>
            <a:ext cx="878158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53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399910" cy="5105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8910" y="54864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class   laborer  :  public   employee    //laborer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777823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27059"/>
            <a:ext cx="8534400" cy="48831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45" y="5695949"/>
            <a:ext cx="8460955" cy="9750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0000" y="6172200"/>
            <a:ext cx="5181600" cy="498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9611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81000"/>
            <a:ext cx="884092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686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 Base Class</a:t>
            </a:r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1371600" y="1076951"/>
            <a:ext cx="1541569" cy="89381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A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memberA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6" name="Rectangle 7"/>
          <p:cNvSpPr>
            <a:spLocks noChangeArrowheads="1"/>
          </p:cNvSpPr>
          <p:nvPr/>
        </p:nvSpPr>
        <p:spPr bwMode="auto">
          <a:xfrm>
            <a:off x="177452" y="2206668"/>
            <a:ext cx="1541569" cy="89381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B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memberA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7" name="Rectangle 7"/>
          <p:cNvSpPr>
            <a:spLocks noChangeArrowheads="1"/>
          </p:cNvSpPr>
          <p:nvPr/>
        </p:nvSpPr>
        <p:spPr bwMode="auto">
          <a:xfrm>
            <a:off x="2463451" y="2206668"/>
            <a:ext cx="1541569" cy="89381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memberA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1371600" y="3611671"/>
            <a:ext cx="1541569" cy="893811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D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Shruti"/>
              </a:rPr>
              <a:t>memberA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0" name="Elbow Connector 39"/>
          <p:cNvCxnSpPr>
            <a:stCxn id="24" idx="1"/>
            <a:endCxn id="36" idx="0"/>
          </p:cNvCxnSpPr>
          <p:nvPr/>
        </p:nvCxnSpPr>
        <p:spPr>
          <a:xfrm rot="10800000" flipV="1">
            <a:off x="948238" y="1523856"/>
            <a:ext cx="423363" cy="682811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24" idx="3"/>
            <a:endCxn id="37" idx="0"/>
          </p:cNvCxnSpPr>
          <p:nvPr/>
        </p:nvCxnSpPr>
        <p:spPr>
          <a:xfrm>
            <a:off x="2913169" y="1523857"/>
            <a:ext cx="321067" cy="682811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stCxn id="36" idx="2"/>
            <a:endCxn id="38" idx="0"/>
          </p:cNvCxnSpPr>
          <p:nvPr/>
        </p:nvCxnSpPr>
        <p:spPr>
          <a:xfrm rot="16200000" flipH="1">
            <a:off x="1289715" y="2759001"/>
            <a:ext cx="511192" cy="1194148"/>
          </a:xfrm>
          <a:prstGeom prst="bent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/>
          <p:cNvCxnSpPr>
            <a:stCxn id="37" idx="2"/>
            <a:endCxn id="38" idx="0"/>
          </p:cNvCxnSpPr>
          <p:nvPr/>
        </p:nvCxnSpPr>
        <p:spPr>
          <a:xfrm rot="5400000">
            <a:off x="2432715" y="2810150"/>
            <a:ext cx="511192" cy="1091851"/>
          </a:xfrm>
          <a:prstGeom prst="bentConnector3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Multiply 46"/>
          <p:cNvSpPr/>
          <p:nvPr/>
        </p:nvSpPr>
        <p:spPr>
          <a:xfrm>
            <a:off x="1793285" y="3962400"/>
            <a:ext cx="698198" cy="6858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ular Callout 48"/>
          <p:cNvSpPr/>
          <p:nvPr/>
        </p:nvSpPr>
        <p:spPr>
          <a:xfrm>
            <a:off x="3581400" y="4039930"/>
            <a:ext cx="3784298" cy="446906"/>
          </a:xfrm>
          <a:prstGeom prst="wedgeRectCallout">
            <a:avLst>
              <a:gd name="adj1" fmla="val -71052"/>
              <a:gd name="adj2" fmla="val -476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Multiple copies of member A</a:t>
            </a:r>
          </a:p>
        </p:txBody>
      </p:sp>
      <p:cxnSp>
        <p:nvCxnSpPr>
          <p:cNvPr id="53" name="Straight Connector 52"/>
          <p:cNvCxnSpPr>
            <a:stCxn id="24" idx="2"/>
          </p:cNvCxnSpPr>
          <p:nvPr/>
        </p:nvCxnSpPr>
        <p:spPr>
          <a:xfrm flipH="1">
            <a:off x="2142384" y="1970762"/>
            <a:ext cx="1" cy="1385313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Line Callout 1 56"/>
          <p:cNvSpPr/>
          <p:nvPr/>
        </p:nvSpPr>
        <p:spPr>
          <a:xfrm>
            <a:off x="4495800" y="1076951"/>
            <a:ext cx="4038600" cy="1818649"/>
          </a:xfrm>
          <a:prstGeom prst="borderCallout1">
            <a:avLst>
              <a:gd name="adj1" fmla="val 154"/>
              <a:gd name="adj2" fmla="val 41"/>
              <a:gd name="adj3" fmla="val 63598"/>
              <a:gd name="adj4" fmla="val -57408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can prevent multiple copies of the base class by declaring the base class as virtual when it is being inherited.</a:t>
            </a:r>
          </a:p>
        </p:txBody>
      </p:sp>
    </p:spTree>
    <p:extLst>
      <p:ext uri="{BB962C8B-B14F-4D97-AF65-F5344CB8AC3E}">
        <p14:creationId xmlns:p14="http://schemas.microsoft.com/office/powerpoint/2010/main" val="13308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37" grpId="0" animBg="1"/>
      <p:bldP spid="38" grpId="0" animBg="1"/>
      <p:bldP spid="47" grpId="0" animBg="1"/>
      <p:bldP spid="47" grpId="1" animBg="1"/>
      <p:bldP spid="49" grpId="0" animBg="1"/>
      <p:bldP spid="49" grpId="1" animBg="1"/>
      <p:bldP spid="5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Virtual base class (</a:t>
            </a:r>
            <a:r>
              <a:rPr lang="en-IN" dirty="0" err="1"/>
              <a:t>Cont</a:t>
            </a:r>
            <a:r>
              <a:rPr lang="en-IN" dirty="0"/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IN" b="1" dirty="0">
                <a:solidFill>
                  <a:srgbClr val="C00000"/>
                </a:solidFill>
              </a:rPr>
              <a:t>Virtual base class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is used to prevent the duplication/ambiguity.</a:t>
            </a:r>
          </a:p>
          <a:p>
            <a:pPr algn="just"/>
            <a:r>
              <a:rPr lang="en-IN" dirty="0"/>
              <a:t>In hybrid inheritance child class has two direct parents which themselves have a common base class.</a:t>
            </a:r>
          </a:p>
          <a:p>
            <a:pPr algn="just"/>
            <a:r>
              <a:rPr lang="en-IN" dirty="0"/>
              <a:t>So, the child class inherits the grandparent via two separate paths. it is also called as indirect parent class.</a:t>
            </a:r>
          </a:p>
          <a:p>
            <a:pPr algn="just"/>
            <a:r>
              <a:rPr lang="en-IN" dirty="0"/>
              <a:t>All the public and protected member of grandparent are inherited twice into child.</a:t>
            </a:r>
          </a:p>
          <a:p>
            <a:pPr lvl="0" algn="just"/>
            <a:r>
              <a:rPr lang="en-US" dirty="0"/>
              <a:t>We can stop this duplication by making base class </a:t>
            </a:r>
            <a:r>
              <a:rPr lang="en-US" b="1" dirty="0">
                <a:solidFill>
                  <a:srgbClr val="C00000"/>
                </a:solidFill>
              </a:rPr>
              <a:t>virtual</a:t>
            </a:r>
            <a:r>
              <a:rPr lang="en-US" dirty="0"/>
              <a:t>.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210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152400"/>
            <a:ext cx="446448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  protected: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	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int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i;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B: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virtual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public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{ 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protected: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int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j;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C: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public virtual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{ </a:t>
            </a:r>
          </a:p>
          <a:p>
            <a:pPr lvl="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</a:t>
            </a: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protected: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int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k;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};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14694" y="389706"/>
            <a:ext cx="460983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class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D: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public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B, 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public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   i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nt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sum;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public: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   D(int v1,int</a:t>
            </a:r>
            <a:r>
              <a:rPr kumimoji="0" lang="en-I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v2,int v3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 </a:t>
            </a:r>
            <a:r>
              <a:rPr lang="en-I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=v1;j=v2;k=v3;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   void show()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   {</a:t>
            </a:r>
            <a:r>
              <a:rPr kumimoji="0" lang="en-I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 sum = </a:t>
            </a:r>
            <a:r>
              <a:rPr kumimoji="0" lang="en-IN" sz="20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i</a:t>
            </a:r>
            <a:r>
              <a:rPr kumimoji="0" lang="en-I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+ j + k;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</a:t>
            </a:r>
            <a:r>
              <a:rPr lang="en-I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&lt;&lt;sum;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   }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highlight>
                <a:srgbClr val="FFFFFF"/>
              </a:highlight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int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{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D </a:t>
            </a: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ob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(10,20,30);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ob.show</a:t>
            </a:r>
            <a:r>
              <a:rPr lang="en-IN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onsola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onsolas"/>
                <a:ea typeface="+mn-ea"/>
                <a:cs typeface="+mn-cs"/>
              </a:rPr>
              <a:t>}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527115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75658" y="1700808"/>
            <a:ext cx="1008110" cy="335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576F9-3F1C-4967-B6B7-D64DDC757916}"/>
              </a:ext>
            </a:extLst>
          </p:cNvPr>
          <p:cNvSpPr/>
          <p:nvPr/>
        </p:nvSpPr>
        <p:spPr>
          <a:xfrm>
            <a:off x="2411760" y="3309744"/>
            <a:ext cx="1008110" cy="335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27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800" b="1" dirty="0"/>
              <a:t>VIRTUAL BASE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96491" y="1905000"/>
            <a:ext cx="2389909" cy="9351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52800"/>
            <a:ext cx="2362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INTERNAL_EXAM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352800"/>
            <a:ext cx="2362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EXTERNAL_EXAM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24200" y="4800600"/>
            <a:ext cx="23622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RESULT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828800" y="2372591"/>
            <a:ext cx="0" cy="980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4" idx="1"/>
          </p:cNvCxnSpPr>
          <p:nvPr/>
        </p:nvCxnSpPr>
        <p:spPr>
          <a:xfrm>
            <a:off x="1828800" y="2372591"/>
            <a:ext cx="12676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6553200" y="2438400"/>
            <a:ext cx="0" cy="9802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5486400" y="2438400"/>
            <a:ext cx="1066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7" idx="1"/>
          </p:cNvCxnSpPr>
          <p:nvPr/>
        </p:nvCxnSpPr>
        <p:spPr>
          <a:xfrm flipH="1">
            <a:off x="1943100" y="5257800"/>
            <a:ext cx="1181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5486400" y="5257800"/>
            <a:ext cx="1181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5" idx="2"/>
          </p:cNvCxnSpPr>
          <p:nvPr/>
        </p:nvCxnSpPr>
        <p:spPr>
          <a:xfrm flipV="1">
            <a:off x="1943100" y="4267200"/>
            <a:ext cx="0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6629400" y="4267200"/>
            <a:ext cx="0" cy="99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279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</TotalTime>
  <Words>820</Words>
  <Application>Microsoft Office PowerPoint</Application>
  <PresentationFormat>On-screen Show (4:3)</PresentationFormat>
  <Paragraphs>220</Paragraphs>
  <Slides>64</Slides>
  <Notes>5</Notes>
  <HiddenSlides>1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8" baseType="lpstr">
      <vt:lpstr>Angsana New</vt:lpstr>
      <vt:lpstr>Arial</vt:lpstr>
      <vt:lpstr>Calibri</vt:lpstr>
      <vt:lpstr>Consolas</vt:lpstr>
      <vt:lpstr>Cordia New</vt:lpstr>
      <vt:lpstr>Courier New</vt:lpstr>
      <vt:lpstr>Open Sans Semibold</vt:lpstr>
      <vt:lpstr>Shruti</vt:lpstr>
      <vt:lpstr>Times New Roman</vt:lpstr>
      <vt:lpstr>Wingdings</vt:lpstr>
      <vt:lpstr>Office Theme</vt:lpstr>
      <vt:lpstr>1_Office Theme</vt:lpstr>
      <vt:lpstr>2_Office Theme</vt:lpstr>
      <vt:lpstr>Document</vt:lpstr>
      <vt:lpstr>Inheritance and Polymorphism</vt:lpstr>
      <vt:lpstr>Contents</vt:lpstr>
      <vt:lpstr>PowerPoint Presentation</vt:lpstr>
      <vt:lpstr>Inheritance Concepts</vt:lpstr>
      <vt:lpstr>Inheritance Examples</vt:lpstr>
      <vt:lpstr>More Examples</vt:lpstr>
      <vt:lpstr>Shape class hierarchy</vt:lpstr>
      <vt:lpstr>PowerPoint Presentation</vt:lpstr>
      <vt:lpstr>Implementing Inheritance in C++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- 2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1</vt:lpstr>
      <vt:lpstr>PowerPoint Presentation</vt:lpstr>
      <vt:lpstr>PowerPoint Presentation</vt:lpstr>
      <vt:lpstr>Passing Parameters to Base-Class Constructors</vt:lpstr>
      <vt:lpstr>PowerPoint Presentation</vt:lpstr>
      <vt:lpstr>PowerPoint Presentation</vt:lpstr>
      <vt:lpstr>Overriding Member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 inheritance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Hierarchies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Virtual Base Class</vt:lpstr>
      <vt:lpstr>Virtual base class (Cont…)</vt:lpstr>
      <vt:lpstr>PowerPoint Presentation</vt:lpstr>
      <vt:lpstr>VIRTUAL BASE CLASS</vt:lpstr>
    </vt:vector>
  </TitlesOfParts>
  <Company>Jubilee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with C++</dc:title>
  <dc:creator>Noppadon</dc:creator>
  <cp:lastModifiedBy>Linda Varghese [MAHE-MIT]</cp:lastModifiedBy>
  <cp:revision>68</cp:revision>
  <dcterms:created xsi:type="dcterms:W3CDTF">1999-01-09T12:30:44Z</dcterms:created>
  <dcterms:modified xsi:type="dcterms:W3CDTF">2024-09-19T06:08:00Z</dcterms:modified>
</cp:coreProperties>
</file>