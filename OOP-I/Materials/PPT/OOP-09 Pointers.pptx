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672" r:id="rId2"/>
    <p:sldMasterId id="2147483684" r:id="rId3"/>
    <p:sldMasterId id="2147483696" r:id="rId4"/>
    <p:sldMasterId id="2147483710" r:id="rId5"/>
  </p:sldMasterIdLst>
  <p:notesMasterIdLst>
    <p:notesMasterId r:id="rId50"/>
  </p:notesMasterIdLst>
  <p:handoutMasterIdLst>
    <p:handoutMasterId r:id="rId51"/>
  </p:handoutMasterIdLst>
  <p:sldIdLst>
    <p:sldId id="308" r:id="rId6"/>
    <p:sldId id="290" r:id="rId7"/>
    <p:sldId id="291" r:id="rId8"/>
    <p:sldId id="292" r:id="rId9"/>
    <p:sldId id="293" r:id="rId10"/>
    <p:sldId id="294" r:id="rId11"/>
    <p:sldId id="295" r:id="rId12"/>
    <p:sldId id="302" r:id="rId13"/>
    <p:sldId id="287" r:id="rId14"/>
    <p:sldId id="288" r:id="rId15"/>
    <p:sldId id="313" r:id="rId16"/>
    <p:sldId id="314" r:id="rId17"/>
    <p:sldId id="315" r:id="rId18"/>
    <p:sldId id="320" r:id="rId19"/>
    <p:sldId id="321" r:id="rId20"/>
    <p:sldId id="322" r:id="rId21"/>
    <p:sldId id="289" r:id="rId22"/>
    <p:sldId id="297" r:id="rId23"/>
    <p:sldId id="279" r:id="rId24"/>
    <p:sldId id="312" r:id="rId25"/>
    <p:sldId id="309" r:id="rId26"/>
    <p:sldId id="324" r:id="rId27"/>
    <p:sldId id="326" r:id="rId28"/>
    <p:sldId id="298" r:id="rId29"/>
    <p:sldId id="299" r:id="rId30"/>
    <p:sldId id="330" r:id="rId31"/>
    <p:sldId id="331" r:id="rId32"/>
    <p:sldId id="332" r:id="rId33"/>
    <p:sldId id="333" r:id="rId34"/>
    <p:sldId id="338" r:id="rId35"/>
    <p:sldId id="300" r:id="rId36"/>
    <p:sldId id="339" r:id="rId37"/>
    <p:sldId id="346" r:id="rId38"/>
    <p:sldId id="347" r:id="rId39"/>
    <p:sldId id="353" r:id="rId40"/>
    <p:sldId id="354" r:id="rId41"/>
    <p:sldId id="355" r:id="rId42"/>
    <p:sldId id="356" r:id="rId43"/>
    <p:sldId id="357" r:id="rId44"/>
    <p:sldId id="270" r:id="rId45"/>
    <p:sldId id="344" r:id="rId46"/>
    <p:sldId id="304" r:id="rId47"/>
    <p:sldId id="305" r:id="rId48"/>
    <p:sldId id="336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99FFCC"/>
    <a:srgbClr val="FFCC99"/>
    <a:srgbClr val="CCFFFF"/>
    <a:srgbClr val="660066"/>
    <a:srgbClr val="009999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 autoAdjust="0"/>
    <p:restoredTop sz="94576" autoAdjust="0"/>
  </p:normalViewPr>
  <p:slideViewPr>
    <p:cSldViewPr>
      <p:cViewPr varScale="1">
        <p:scale>
          <a:sx n="62" d="100"/>
          <a:sy n="62" d="100"/>
        </p:scale>
        <p:origin x="808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034C3307-4E06-4464-8393-F35F1F3072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1F9DB989-7CC0-47D3-BA55-7883C0C9534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140292" name="Rectangle 4">
            <a:extLst>
              <a:ext uri="{FF2B5EF4-FFF2-40B4-BE49-F238E27FC236}">
                <a16:creationId xmlns:a16="http://schemas.microsoft.com/office/drawing/2014/main" id="{57DE4172-3496-4CBE-AFDA-CC344548FF2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140293" name="Rectangle 5">
            <a:extLst>
              <a:ext uri="{FF2B5EF4-FFF2-40B4-BE49-F238E27FC236}">
                <a16:creationId xmlns:a16="http://schemas.microsoft.com/office/drawing/2014/main" id="{164A1CD6-5512-4DE2-B440-E9E28A8173F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0AF568-D773-47F6-8E7B-EC34DEA3A05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291632B-3C32-43EE-ACF2-A3C4388779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331315A-AF62-43FC-ADDD-3718928B9F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58A3BE07-B2F0-4495-A9C0-7A140A14D7D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C17C7A2F-1BF0-4D51-87E4-3F19EF39012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B33BF967-2AE2-4735-B1C4-0DE262DBC55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3458F4A0-7DA6-4665-A764-CE5BE0A805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DD8A896-DE6E-46F1-9EED-C109F81D16F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D0E5ADF-D40E-4AEF-9B24-1BE06A1795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83CCD5-0B6E-4476-92B4-A9403638CC88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9628A6BD-56C9-44B2-9C6C-228FE0FD8A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F87CA5E0-77D2-4CEC-A7D2-E11DED5E7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CFF3A79-95DA-4611-BED2-FC8385C7B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2EF99D-102A-4E6E-92A3-AFD1CD6FCEC0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BB00B5E6-DC15-4F07-8593-46FBBB56C5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F8334D6-C396-41AC-92F3-3ABF59FA38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F8DFC7-4676-4311-94BC-826AE47FFE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257A06C-62C9-44F7-B3BF-A7DCD593F5AF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525D2F6E-C6BE-439D-A63D-733ABE20A5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C8937BDD-E5D2-4842-9CF2-C4A3A82B4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20CEF35-FB46-4CEA-A95A-F7EE8F097A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C019E3-75DA-400D-BD88-05BBFB25CE85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F300C81C-8109-4065-915C-841B451DEA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56C1FF5-2E7D-4277-9273-CA704711C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2A861186-FB33-4066-85E4-9D12565BBC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242BBF-DF67-4965-AAC4-A78A95149000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5F85D933-DC6C-43E8-9C7C-0BBCFBFA06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872D72F1-288A-40B7-8960-C7246FCBEA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EB7CE7F-A5B3-42EF-9F59-53362CE08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8C1298-5F00-4D8F-8FE3-B6B3E91FAE4D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35DFC395-E2EC-49D7-ACBA-5D62A83116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F0C0A0CC-168E-4AE6-B36A-E22F3FB4F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19B6571-46CF-4E61-9761-380A0D59BF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FF2C07-72D4-4AA2-AD9F-86E5287CD09E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88A0FFA5-587F-4638-8DBF-C011C940FA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648B8674-A72D-41CF-AE56-753372A09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B7B8E9-0F50-49C4-A025-ABD374766A7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565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230717-EC0B-4AEF-A7D2-FEDB2D04D0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071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EC3034-A450-42D8-B771-E3861407871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053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4E0FE8-D511-4198-851F-A982E76A6A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322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56E1EF-83CC-4AEC-B6DB-8EA5DB8F5D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414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4641DEF-A05F-4862-B1CC-D6C4CFB07E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7EA5A-754B-4D5F-98D4-2313013212F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46F26D46-2BD1-4B37-B6FE-B25650ADFB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ED260B40-08D5-4858-A459-08BD0824D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63443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3F5DAD6-B767-4BBB-93B6-2836FDA95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476274-98B9-475F-AACE-5918ED896ED1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730D06F4-8F7E-4BC0-B7BC-0A518DC1F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3700" y="692150"/>
            <a:ext cx="6072188" cy="3416300"/>
          </a:xfrm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80854188-8706-4C49-B813-83CE4B0BE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681AA2-404F-46D9-A6DB-D4A21FA9FA13}" type="slidenum">
              <a:rPr lang="en-US" smtClean="0"/>
              <a:pPr eaLnBrk="1" hangingPunct="1"/>
              <a:t>19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260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CA1A1AB-902F-4374-96FB-47F8E2C11EB2}" type="slidenum">
              <a:rPr lang="en-US" smtClean="0"/>
              <a:pPr eaLnBrk="1" hangingPunct="1"/>
              <a:t>20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443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F5547B-9749-42CD-BB0B-CF4559C1C42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192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Deref</a:t>
            </a:r>
            <a:r>
              <a:rPr lang="en-US" dirty="0"/>
              <a:t> and postfix has equal precedence, so </a:t>
            </a:r>
            <a:r>
              <a:rPr lang="en-US" dirty="0" err="1"/>
              <a:t>associ.rule</a:t>
            </a:r>
            <a:r>
              <a:rPr lang="en-US" dirty="0"/>
              <a:t> L-&gt;R</a:t>
            </a:r>
          </a:p>
          <a:p>
            <a:pPr marL="0" indent="0">
              <a:buNone/>
            </a:pPr>
            <a:r>
              <a:rPr lang="en-US" dirty="0"/>
              <a:t>4</a:t>
            </a:r>
            <a:r>
              <a:rPr lang="en-US" baseline="30000" dirty="0"/>
              <a:t>th</a:t>
            </a:r>
            <a:r>
              <a:rPr lang="en-US" dirty="0"/>
              <a:t>…prefix ---</a:t>
            </a:r>
            <a:r>
              <a:rPr lang="en-US" dirty="0" err="1"/>
              <a:t>associ.rule</a:t>
            </a:r>
            <a:r>
              <a:rPr lang="en-US" dirty="0"/>
              <a:t> R-&gt;L</a:t>
            </a:r>
          </a:p>
          <a:p>
            <a:pPr marL="0" indent="0">
              <a:buNone/>
            </a:pPr>
            <a:r>
              <a:rPr lang="en-US"/>
              <a:t>Note</a:t>
            </a:r>
            <a:r>
              <a:rPr lang="en-US">
                <a:sym typeface="Wingdings" panose="05000000000000000000" pitchFamily="2" charset="2"/>
              </a:rPr>
              <a:t>    </a:t>
            </a:r>
            <a:r>
              <a:rPr lang="en-US"/>
              <a:t>++*</a:t>
            </a:r>
            <a:r>
              <a:rPr lang="en-US" dirty="0" err="1"/>
              <a:t>ptr</a:t>
            </a:r>
            <a:r>
              <a:rPr lang="en-US" dirty="0"/>
              <a:t>;  means value is incremented.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896-DE6E-46F1-9EED-C109F81D16F7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6071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66E0797-737C-4D1A-A488-732DE618BA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7893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9E85EB8-96CF-44A9-85E9-5E6B3F64C5D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4380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5E97D0-EE1B-49EC-99F4-B3D7088C32C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7895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867EE4-3745-450F-BD25-A0098920793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9043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FBF438-4A48-45B4-AC24-C29C547C530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0877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896-DE6E-46F1-9EED-C109F81D16F7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2873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050" b="0" dirty="0"/>
              <a:t>/* local variable is same as a </a:t>
            </a:r>
            <a:r>
              <a:rPr lang="en-IN" sz="1050" b="0"/>
              <a:t>member's name </a:t>
            </a:r>
            <a:r>
              <a:rPr lang="en-IN" sz="1050" b="0" dirty="0"/>
              <a:t>*/</a:t>
            </a:r>
          </a:p>
          <a:p>
            <a:endParaRPr lang="en-IN" sz="1050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D8A896-DE6E-46F1-9EED-C109F81D16F7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46680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hape 4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6520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652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652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652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65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DD9E61-77ED-4727-BB6C-CC8DE856EA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65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8851" name="Rectangle 67585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1963" y="722313"/>
            <a:ext cx="6392862" cy="3597275"/>
          </a:xfrm>
          <a:noFill/>
          <a:ln w="12700" cap="flat">
            <a:headEnd type="none" w="med" len="med"/>
            <a:tailEnd type="none" w="med" len="med"/>
          </a:ln>
        </p:spPr>
      </p:sp>
      <p:sp>
        <p:nvSpPr>
          <p:cNvPr id="78852" name="Rectangle 67586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041" tIns="47698" rIns="97041" bIns="47698"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698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82E104-1FF2-45E7-88EF-A9558E7F3F4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7663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6F7B-8C7C-479F-B567-D61E5784258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599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1140-2104-4FF4-82A7-BA266096C5F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9368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4A2AD-04D7-4645-98B2-0C13DA1D9D2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780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6BEE9-5EE5-4520-A05F-70426A17F3A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46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7FC5A-8873-4244-8714-48D254BC61B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99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E58C9F-5ADB-440A-80E4-D5E2C02A191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093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0DA0-A2C9-4B70-9C71-021DA9C75D9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165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BE5CD9-28B8-4969-A45A-34C99BDDEFF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046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CBD63-30E0-444D-8715-4290F3A0A43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262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4E93B-BB83-4712-AAB6-93C0146BA23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8548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2A1C53-9838-443E-8C2C-659F2AE92AE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41148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C6C3B-069C-4221-9FFD-7923832A103A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6B0AB-F396-44D1-867A-60BDE11FF2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322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47DE4-0167-4D2F-ADA7-55A11A587167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6889F-1A08-4E73-8F47-0502020A99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83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0EB1F-5B17-43AF-9749-E0896F44319D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41F68-495C-4132-B157-937C77D53F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64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CBC03-3BA2-41C6-B20B-955EAD7DA79D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BA4D8-D0DC-4E19-B8A2-2BEEB12C01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09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13EDF8-9AC0-4AE1-953A-D0F6BD19EC50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BDD62-682A-449E-A1A8-694D33720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14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D0C28E-B31F-48B1-9EBC-E99675DE4227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67E3F-9E6E-417B-8FB3-2A8B40C73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94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AD273E-24C0-4ECC-9D7A-44546F4145E6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A214E-88C6-4D5C-B6EB-6032C08DE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821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74FF4-A0B2-4121-9030-D07324231007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DA934-CBEE-4FA9-8A5E-DE4FC38DA6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838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176B0B-8C89-4AF4-A84A-9294577F27E8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BABA4-4662-40E4-B9E3-6E44763F62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437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B8441-0316-4E99-B16E-06EF89110144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5A8BD-F568-41C9-A3C2-85A5CFE345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957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2C049-7638-4F51-868C-F328CBB9E248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5EF23-7A6E-42BB-BCA1-33852040EF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01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4FEC49-757E-4CB5-A3FB-8B3D372E6A58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6B0AB-F396-44D1-867A-60BDE11FF2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481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CC268-B0B1-4B74-A9FA-82EB56447FBE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36889F-1A08-4E73-8F47-0502020A99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5263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C0028-8C6B-44A1-92F9-9E1EA48E0C52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D41F68-495C-4132-B157-937C77D53F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7949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CB2A58-7A0D-4455-B2E4-01E724C13F19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BA4D8-D0DC-4E19-B8A2-2BEEB12C01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8046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A38786-DC26-4E62-AFFE-D670D297F50C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BDD62-682A-449E-A1A8-694D337208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914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29A983-7F00-4F85-A57E-CE3AEA1498AD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67E3F-9E6E-417B-8FB3-2A8B40C738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360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FB46A5-EFDC-46BA-A76D-58E1C911D413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A214E-88C6-4D5C-B6EB-6032C08DE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3027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59537-836C-409A-B9C6-EE4AD4FBC4A2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DA934-CBEE-4FA9-8A5E-DE4FC38DA6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31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3E4146-AEF5-400B-BB27-720962330120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BABA4-4662-40E4-B9E3-6E44763F62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81762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CB1186-2ED2-4577-AEEA-E5B10D87DE27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5A8BD-F568-41C9-A3C2-85A5CFE345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62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53253-7B1C-4B3E-A8F4-3CB761014311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Dept. of CS&amp;E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5EF23-7A6E-42BB-BCA1-33852040EF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666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12662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583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047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3524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9379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6195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7194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16447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2938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96359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13809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E4169D-EA0D-4D37-925A-2CAE47583A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3895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9356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1085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3104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4398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8379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50365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0807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6576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5357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77748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1148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0871D-2EF9-4087-8A7D-8348D8D01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0821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E4169D-EA0D-4D37-925A-2CAE47583A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299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6D6CA-A89F-4764-9BA5-1B6315CC311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323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9F2A0592-DFA2-45F0-8970-DC3E0A80139F}" type="datetime1">
              <a:rPr lang="en-US"/>
              <a:pPr>
                <a:defRPr/>
              </a:pPr>
              <a:t>10/4/2024</a:t>
            </a:fld>
            <a:r>
              <a:rPr lang="en-US"/>
              <a:t> 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 dirty="0"/>
              <a:t>Dept. of Computer Applications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CD0181E-14EA-473A-BDBA-F46D7299B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0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D6730773-9186-4224-91A4-82201BF66419}" type="datetime1">
              <a:rPr lang="en-US" smtClean="0"/>
              <a:t>10/4/2024</a:t>
            </a:fld>
            <a:r>
              <a:rPr lang="en-US"/>
              <a:t> 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Dept. of CS&amp;E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CD0181E-14EA-473A-BDBA-F46D7299B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1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D01CB-AB49-4987-8D8D-B3D730217BA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C75ED-0A5E-4475-84B1-2E0F3D0CE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71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7A65B-B8DB-424A-BED6-8B9C4B8A9A47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5369A2-1AD7-4D79-848F-46D5C527E8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36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BA74D03-1966-42DB-8097-435B896698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860" b="8140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8F1AF0-2BF0-448B-B30A-881818054D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643467"/>
            <a:ext cx="10862734" cy="3569242"/>
          </a:xfrm>
        </p:spPr>
        <p:txBody>
          <a:bodyPr anchor="t">
            <a:normAutofit/>
          </a:bodyPr>
          <a:lstStyle/>
          <a:p>
            <a:r>
              <a:rPr lang="en-US" sz="11500" b="1" dirty="0"/>
              <a:t> Pointers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55A93-8C43-465E-88AF-F3465BADB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6" y="4551037"/>
            <a:ext cx="5449479" cy="1578054"/>
          </a:xfrm>
        </p:spPr>
        <p:txBody>
          <a:bodyPr anchor="b">
            <a:normAutofit/>
          </a:bodyPr>
          <a:lstStyle/>
          <a:p>
            <a:pPr algn="l"/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4A23E-6169-4E10-855B-6B62D155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F796F7B-8C7C-479F-B567-D61E57842587}" type="slidenum">
              <a:rPr lang="en-US" alt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931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3">
            <a:extLst>
              <a:ext uri="{FF2B5EF4-FFF2-40B4-BE49-F238E27FC236}">
                <a16:creationId xmlns:a16="http://schemas.microsoft.com/office/drawing/2014/main" id="{12446B1C-F7D2-4599-B951-D16D59EEB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Addresses in Memory</a:t>
            </a:r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25385E31-C4EC-42AB-A403-64F2C7331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When a variable is declared, enough memory to hold a value of that type is allocated for it at an unused memory location.  This is the address of the variable 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                     2000                2004                      2008</a:t>
            </a:r>
          </a:p>
          <a:p>
            <a:endParaRPr lang="en-US" alt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4B9588E-F877-4EE2-944F-B549E0CC3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0397353-2AC1-4499-8451-14D07BBE0501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EE3BEA87-258C-412C-AB6B-3CE707DD8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124200"/>
            <a:ext cx="3048000" cy="1371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C00000"/>
            </a:solidFill>
            <a:prstDash val="sysDash"/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dirty="0"/>
              <a:t> int     x;</a:t>
            </a:r>
          </a:p>
          <a:p>
            <a:pPr algn="ctr"/>
            <a:r>
              <a:rPr lang="en-US" altLang="en-US" sz="2400" dirty="0"/>
              <a:t> float   number;</a:t>
            </a:r>
          </a:p>
          <a:p>
            <a:pPr algn="ctr"/>
            <a:r>
              <a:rPr lang="en-US" altLang="en-US" sz="2400" dirty="0"/>
              <a:t> char    </a:t>
            </a:r>
            <a:r>
              <a:rPr lang="en-US" altLang="en-US" sz="2400" dirty="0" err="1"/>
              <a:t>ch</a:t>
            </a:r>
            <a:r>
              <a:rPr lang="en-US" altLang="en-US" sz="2400" dirty="0"/>
              <a:t>;</a:t>
            </a:r>
            <a:endParaRPr lang="en-US" sz="2400" dirty="0"/>
          </a:p>
        </p:txBody>
      </p:sp>
      <p:grpSp>
        <p:nvGrpSpPr>
          <p:cNvPr id="98309" name="Group 5">
            <a:extLst>
              <a:ext uri="{FF2B5EF4-FFF2-40B4-BE49-F238E27FC236}">
                <a16:creationId xmlns:a16="http://schemas.microsoft.com/office/drawing/2014/main" id="{74A69AFA-5DCC-43E0-AFD6-DD6B8E866896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198361"/>
            <a:ext cx="5314950" cy="577850"/>
            <a:chOff x="976" y="3292"/>
            <a:chExt cx="3348" cy="364"/>
          </a:xfrm>
        </p:grpSpPr>
        <p:sp>
          <p:nvSpPr>
            <p:cNvPr id="98310" name="Rectangle 6">
              <a:extLst>
                <a:ext uri="{FF2B5EF4-FFF2-40B4-BE49-F238E27FC236}">
                  <a16:creationId xmlns:a16="http://schemas.microsoft.com/office/drawing/2014/main" id="{263349C5-5C34-436C-80D3-0644736D4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" y="3299"/>
              <a:ext cx="736" cy="357"/>
            </a:xfrm>
            <a:prstGeom prst="rect">
              <a:avLst/>
            </a:prstGeom>
            <a:solidFill>
              <a:srgbClr val="CCFFFF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11" name="Rectangle 7">
              <a:extLst>
                <a:ext uri="{FF2B5EF4-FFF2-40B4-BE49-F238E27FC236}">
                  <a16:creationId xmlns:a16="http://schemas.microsoft.com/office/drawing/2014/main" id="{4578FF0A-ECA2-4A42-9CAC-A4BF7B1E5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0" y="3292"/>
              <a:ext cx="1312" cy="357"/>
            </a:xfrm>
            <a:prstGeom prst="rect">
              <a:avLst/>
            </a:prstGeom>
            <a:solidFill>
              <a:srgbClr val="CCFFFF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312" name="Rectangle 8">
              <a:extLst>
                <a:ext uri="{FF2B5EF4-FFF2-40B4-BE49-F238E27FC236}">
                  <a16:creationId xmlns:a16="http://schemas.microsoft.com/office/drawing/2014/main" id="{05368928-DB37-4AE2-BCCA-653D80963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0" y="3292"/>
              <a:ext cx="444" cy="357"/>
            </a:xfrm>
            <a:prstGeom prst="rect">
              <a:avLst/>
            </a:prstGeom>
            <a:solidFill>
              <a:srgbClr val="CCFFFF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8313" name="Rectangle 9">
            <a:extLst>
              <a:ext uri="{FF2B5EF4-FFF2-40B4-BE49-F238E27FC236}">
                <a16:creationId xmlns:a16="http://schemas.microsoft.com/office/drawing/2014/main" id="{0EA4A0C9-6628-4154-AB64-0547E5C9C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5831386"/>
            <a:ext cx="5383212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b="1">
                <a:latin typeface="Arial" panose="020B0604020202020204" pitchFamily="34" charset="0"/>
              </a:rPr>
              <a:t> x                        number                          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8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>
            <a:extLst>
              <a:ext uri="{FF2B5EF4-FFF2-40B4-BE49-F238E27FC236}">
                <a16:creationId xmlns:a16="http://schemas.microsoft.com/office/drawing/2014/main" id="{B822082E-55C0-4689-AA40-D5C3E3540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b="1" dirty="0"/>
              <a:t>Obtaining Memory Addresses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40B031C5-4ADF-4968-93BC-DCD348BA14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algn="just"/>
            <a:r>
              <a:rPr lang="en-US" altLang="en-US" dirty="0"/>
              <a:t>The address of a </a:t>
            </a:r>
            <a:r>
              <a:rPr lang="en-US" altLang="en-US" i="1" dirty="0"/>
              <a:t>non-array variable</a:t>
            </a:r>
            <a:r>
              <a:rPr lang="en-US" altLang="en-US" dirty="0"/>
              <a:t> can be obtained by using the </a:t>
            </a:r>
            <a:r>
              <a:rPr lang="en-US" altLang="en-US" dirty="0">
                <a:solidFill>
                  <a:schemeClr val="accent1"/>
                </a:solidFill>
              </a:rPr>
              <a:t>address-of operator</a:t>
            </a:r>
            <a:r>
              <a:rPr lang="en-US" altLang="en-US" b="1" dirty="0">
                <a:solidFill>
                  <a:schemeClr val="accent1"/>
                </a:solidFill>
              </a:rPr>
              <a:t> </a:t>
            </a:r>
            <a:r>
              <a:rPr lang="en-US" altLang="en-US" b="1" dirty="0">
                <a:solidFill>
                  <a:srgbClr val="C00000"/>
                </a:solidFill>
              </a:rPr>
              <a:t>&amp;   </a:t>
            </a:r>
          </a:p>
          <a:p>
            <a:endParaRPr lang="en-US" alt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2B5AFB3-4050-446B-94CC-A529875A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2204A79-48E6-441E-8AF2-6A11A56A0FF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0F466D82-9458-4EC7-9AA5-BF9F79C3D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4" y="2943497"/>
            <a:ext cx="9525000" cy="3581400"/>
          </a:xfrm>
          <a:prstGeom prst="rect">
            <a:avLst/>
          </a:prstGeom>
          <a:solidFill>
            <a:srgbClr val="FF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2400" b="1" dirty="0"/>
              <a:t>int     x;</a:t>
            </a:r>
          </a:p>
          <a:p>
            <a:r>
              <a:rPr lang="en-US" altLang="en-US" sz="2400" b="1" dirty="0"/>
              <a:t>float   number;</a:t>
            </a:r>
          </a:p>
          <a:p>
            <a:r>
              <a:rPr lang="en-US" altLang="en-US" sz="2400" b="1" dirty="0"/>
              <a:t>char    </a:t>
            </a:r>
            <a:r>
              <a:rPr lang="en-US" altLang="en-US" sz="2400" b="1" dirty="0" err="1"/>
              <a:t>ch</a:t>
            </a:r>
            <a:r>
              <a:rPr lang="en-US" altLang="en-US" sz="2400" b="1" dirty="0"/>
              <a:t>;</a:t>
            </a:r>
          </a:p>
          <a:p>
            <a:endParaRPr lang="en-US" altLang="en-US" sz="2400" b="1" dirty="0"/>
          </a:p>
          <a:p>
            <a:r>
              <a:rPr lang="en-US" altLang="en-US" sz="2400" b="1" dirty="0" err="1"/>
              <a:t>cout</a:t>
            </a:r>
            <a:r>
              <a:rPr lang="en-US" altLang="en-US" sz="2400" b="1" dirty="0"/>
              <a:t> &lt;&lt; “Address of x is “ &lt;&lt; &amp;x &lt;&lt; </a:t>
            </a:r>
            <a:r>
              <a:rPr lang="en-US" altLang="en-US" sz="2400" b="1" dirty="0" err="1"/>
              <a:t>endl</a:t>
            </a:r>
            <a:r>
              <a:rPr lang="en-US" altLang="en-US" sz="2400" b="1" dirty="0"/>
              <a:t>;</a:t>
            </a:r>
          </a:p>
          <a:p>
            <a:endParaRPr lang="en-US" altLang="en-US" sz="2400" b="1" dirty="0"/>
          </a:p>
          <a:p>
            <a:r>
              <a:rPr lang="en-US" altLang="en-US" sz="2400" b="1" dirty="0" err="1"/>
              <a:t>cout</a:t>
            </a:r>
            <a:r>
              <a:rPr lang="en-US" altLang="en-US" sz="2400" b="1" dirty="0"/>
              <a:t> &lt;&lt; “Address of number is “ &lt;&lt; &amp;number &lt;&lt; </a:t>
            </a:r>
            <a:r>
              <a:rPr lang="en-US" altLang="en-US" sz="2400" b="1" dirty="0" err="1"/>
              <a:t>endl</a:t>
            </a:r>
            <a:r>
              <a:rPr lang="en-US" altLang="en-US" sz="2400" b="1" dirty="0"/>
              <a:t>;</a:t>
            </a:r>
          </a:p>
          <a:p>
            <a:endParaRPr lang="en-US" altLang="en-US" sz="2400" b="1" dirty="0"/>
          </a:p>
          <a:p>
            <a:r>
              <a:rPr lang="en-US" altLang="en-US" sz="2400" b="1" dirty="0" err="1"/>
              <a:t>cout</a:t>
            </a:r>
            <a:r>
              <a:rPr lang="en-US" altLang="en-US" sz="2400" b="1" dirty="0"/>
              <a:t> &lt;&lt; “Address of </a:t>
            </a:r>
            <a:r>
              <a:rPr lang="en-US" altLang="en-US" sz="2400" b="1" dirty="0" err="1"/>
              <a:t>ch</a:t>
            </a:r>
            <a:r>
              <a:rPr lang="en-US" altLang="en-US" sz="2400" b="1" dirty="0"/>
              <a:t> is “ &lt;&lt; &amp;</a:t>
            </a:r>
            <a:r>
              <a:rPr lang="en-US" altLang="en-US" sz="2400" b="1" dirty="0" err="1"/>
              <a:t>ch</a:t>
            </a:r>
            <a:r>
              <a:rPr lang="en-US" altLang="en-US" sz="2400" b="1" dirty="0"/>
              <a:t> &lt;&lt; </a:t>
            </a:r>
            <a:r>
              <a:rPr lang="en-US" altLang="en-US" sz="2400" b="1" dirty="0" err="1"/>
              <a:t>endl</a:t>
            </a:r>
            <a:r>
              <a:rPr lang="en-US" altLang="en-US" sz="2400" b="1" dirty="0"/>
              <a:t>;</a:t>
            </a:r>
          </a:p>
          <a:p>
            <a:r>
              <a:rPr lang="en-US" altLang="en-US" sz="2400" b="1" dirty="0"/>
              <a:t>       </a:t>
            </a:r>
          </a:p>
        </p:txBody>
      </p:sp>
      <p:sp>
        <p:nvSpPr>
          <p:cNvPr id="100364" name="Rectangle 12">
            <a:extLst>
              <a:ext uri="{FF2B5EF4-FFF2-40B4-BE49-F238E27FC236}">
                <a16:creationId xmlns:a16="http://schemas.microsoft.com/office/drawing/2014/main" id="{CE96E929-4536-45B8-8787-9A2272CCC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2016" y="3016250"/>
            <a:ext cx="5638800" cy="1371600"/>
          </a:xfrm>
          <a:prstGeom prst="rect">
            <a:avLst/>
          </a:prstGeom>
          <a:solidFill>
            <a:srgbClr val="99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0362" name="Group 10">
            <a:extLst>
              <a:ext uri="{FF2B5EF4-FFF2-40B4-BE49-F238E27FC236}">
                <a16:creationId xmlns:a16="http://schemas.microsoft.com/office/drawing/2014/main" id="{FEA8B46E-3EE1-40CA-B529-CAABA98EA224}"/>
              </a:ext>
            </a:extLst>
          </p:cNvPr>
          <p:cNvGrpSpPr>
            <a:grpSpLocks/>
          </p:cNvGrpSpPr>
          <p:nvPr/>
        </p:nvGrpSpPr>
        <p:grpSpPr bwMode="auto">
          <a:xfrm>
            <a:off x="5481729" y="3619364"/>
            <a:ext cx="5399087" cy="577850"/>
            <a:chOff x="2054" y="2276"/>
            <a:chExt cx="3401" cy="364"/>
          </a:xfrm>
        </p:grpSpPr>
        <p:grpSp>
          <p:nvGrpSpPr>
            <p:cNvPr id="100357" name="Group 5">
              <a:extLst>
                <a:ext uri="{FF2B5EF4-FFF2-40B4-BE49-F238E27FC236}">
                  <a16:creationId xmlns:a16="http://schemas.microsoft.com/office/drawing/2014/main" id="{F273B798-30E1-4090-BB8F-040FFC2832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4" y="2276"/>
              <a:ext cx="3348" cy="364"/>
              <a:chOff x="976" y="3292"/>
              <a:chExt cx="3348" cy="364"/>
            </a:xfrm>
          </p:grpSpPr>
          <p:sp>
            <p:nvSpPr>
              <p:cNvPr id="100358" name="Rectangle 6">
                <a:extLst>
                  <a:ext uri="{FF2B5EF4-FFF2-40B4-BE49-F238E27FC236}">
                    <a16:creationId xmlns:a16="http://schemas.microsoft.com/office/drawing/2014/main" id="{860CD639-15F9-4978-983D-89376F608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6" y="3299"/>
                <a:ext cx="736" cy="357"/>
              </a:xfrm>
              <a:prstGeom prst="rect">
                <a:avLst/>
              </a:prstGeom>
              <a:solidFill>
                <a:srgbClr val="CCFFFF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359" name="Rectangle 7">
                <a:extLst>
                  <a:ext uri="{FF2B5EF4-FFF2-40B4-BE49-F238E27FC236}">
                    <a16:creationId xmlns:a16="http://schemas.microsoft.com/office/drawing/2014/main" id="{2C296F2B-0B98-40B5-8335-9EF2D1308D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0" y="3292"/>
                <a:ext cx="1312" cy="357"/>
              </a:xfrm>
              <a:prstGeom prst="rect">
                <a:avLst/>
              </a:prstGeom>
              <a:solidFill>
                <a:srgbClr val="CCFFFF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0360" name="Rectangle 8">
                <a:extLst>
                  <a:ext uri="{FF2B5EF4-FFF2-40B4-BE49-F238E27FC236}">
                    <a16:creationId xmlns:a16="http://schemas.microsoft.com/office/drawing/2014/main" id="{E91D2662-AE70-4EA2-9EAB-9C000637D4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0" y="3292"/>
                <a:ext cx="444" cy="357"/>
              </a:xfrm>
              <a:prstGeom prst="rect">
                <a:avLst/>
              </a:prstGeom>
              <a:solidFill>
                <a:srgbClr val="CCFFFF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0361" name="Rectangle 9">
              <a:extLst>
                <a:ext uri="{FF2B5EF4-FFF2-40B4-BE49-F238E27FC236}">
                  <a16:creationId xmlns:a16="http://schemas.microsoft.com/office/drawing/2014/main" id="{4A8C84B2-C547-4785-B3B2-D7C8DBED4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332"/>
              <a:ext cx="339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/>
            <a:p>
              <a:r>
                <a:rPr lang="en-US" altLang="en-US" sz="2000" b="1" dirty="0">
                  <a:latin typeface="Arial" panose="020B0604020202020204" pitchFamily="34" charset="0"/>
                </a:rPr>
                <a:t> x                        number                          </a:t>
              </a:r>
              <a:r>
                <a:rPr lang="en-US" altLang="en-US" sz="2000" b="1" dirty="0" err="1">
                  <a:latin typeface="Arial" panose="020B0604020202020204" pitchFamily="34" charset="0"/>
                </a:rPr>
                <a:t>ch</a:t>
              </a:r>
              <a:endParaRPr lang="en-US" altLang="en-US" sz="20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100363" name="Text Box 11">
            <a:extLst>
              <a:ext uri="{FF2B5EF4-FFF2-40B4-BE49-F238E27FC236}">
                <a16:creationId xmlns:a16="http://schemas.microsoft.com/office/drawing/2014/main" id="{0C481574-4EC8-4A20-A8A6-7DD958B35F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7941" y="3124926"/>
            <a:ext cx="5426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2000" dirty="0"/>
              <a:t>2000		2004			                    2008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6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>
            <a:extLst>
              <a:ext uri="{FF2B5EF4-FFF2-40B4-BE49-F238E27FC236}">
                <a16:creationId xmlns:a16="http://schemas.microsoft.com/office/drawing/2014/main" id="{4284F048-14E0-49A1-B226-D6C16ED929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b="1" dirty="0"/>
              <a:t>What is a pointer variable?</a:t>
            </a:r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B154ED4C-A539-4EDC-9CDE-9A4E04945A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algn="just"/>
            <a:r>
              <a:rPr lang="en-US" altLang="en-US" dirty="0"/>
              <a:t>A pointer variable is a </a:t>
            </a:r>
            <a:r>
              <a:rPr lang="en-US" altLang="en-US" b="1" i="1" dirty="0">
                <a:solidFill>
                  <a:schemeClr val="accent1"/>
                </a:solidFill>
              </a:rPr>
              <a:t>variable whose value is the address of a location in memory.</a:t>
            </a:r>
          </a:p>
          <a:p>
            <a:endParaRPr lang="en-US" altLang="en-US" dirty="0"/>
          </a:p>
          <a:p>
            <a:pPr algn="just"/>
            <a:r>
              <a:rPr lang="en-US" altLang="en-US" dirty="0"/>
              <a:t>To declare a pointer variable, you must specify the type of value that the pointer will point to, for example,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CB0A8-F824-4F29-8F86-E1E9CDA0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83B61E2-BBEB-406F-8F36-B0DD35943210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F6B9C26F-796C-4B75-A93A-E910D94EC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559300"/>
            <a:ext cx="8382000" cy="175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C00000"/>
            </a:solidFill>
            <a:prstDash val="sys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 dirty="0"/>
          </a:p>
          <a:p>
            <a:pPr>
              <a:buFontTx/>
              <a:buNone/>
            </a:pPr>
            <a:endParaRPr lang="en-US" altLang="en-US" dirty="0"/>
          </a:p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int  *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ptr</a:t>
            </a:r>
            <a:r>
              <a:rPr lang="en-US" altLang="en-US" sz="2000" b="1" dirty="0">
                <a:latin typeface="Courier New" panose="02070309020205020404" pitchFamily="49" charset="0"/>
              </a:rPr>
              <a:t>;</a:t>
            </a:r>
            <a:r>
              <a:rPr lang="en-US" altLang="en-US" b="1" dirty="0">
                <a:solidFill>
                  <a:srgbClr val="CC0000"/>
                </a:solidFill>
                <a:latin typeface="Courier New" panose="02070309020205020404" pitchFamily="49" charset="0"/>
              </a:rPr>
              <a:t> // </a:t>
            </a:r>
            <a:r>
              <a:rPr lang="en-US" altLang="en-US" b="1" dirty="0" err="1">
                <a:solidFill>
                  <a:srgbClr val="CC0000"/>
                </a:solidFill>
                <a:latin typeface="Courier New" panose="02070309020205020404" pitchFamily="49" charset="0"/>
              </a:rPr>
              <a:t>ptr</a:t>
            </a:r>
            <a:r>
              <a:rPr lang="en-US" altLang="en-US" b="1" dirty="0">
                <a:solidFill>
                  <a:srgbClr val="CC0000"/>
                </a:solidFill>
                <a:latin typeface="Courier New" panose="02070309020205020404" pitchFamily="49" charset="0"/>
              </a:rPr>
              <a:t> will hold the address of an int</a:t>
            </a:r>
            <a:endParaRPr lang="en-US" altLang="en-US" b="1" dirty="0">
              <a:solidFill>
                <a:srgbClr val="CC3300"/>
              </a:solidFill>
            </a:endParaRPr>
          </a:p>
          <a:p>
            <a:pPr>
              <a:buFontTx/>
              <a:buNone/>
            </a:pPr>
            <a:endParaRPr lang="en-US" altLang="en-US" sz="900" b="1" dirty="0"/>
          </a:p>
          <a:p>
            <a:pPr>
              <a:buFontTx/>
              <a:buNone/>
            </a:pPr>
            <a:r>
              <a:rPr lang="en-US" altLang="en-US" sz="2000" b="1" dirty="0">
                <a:latin typeface="Courier New" panose="02070309020205020404" pitchFamily="49" charset="0"/>
              </a:rPr>
              <a:t>char  *q;</a:t>
            </a:r>
            <a:r>
              <a:rPr lang="en-US" altLang="en-US" b="1" dirty="0">
                <a:latin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CC0000"/>
                </a:solidFill>
                <a:latin typeface="Courier New" panose="02070309020205020404" pitchFamily="49" charset="0"/>
              </a:rPr>
              <a:t>// q will hold the address of a char</a:t>
            </a:r>
            <a:endParaRPr lang="en-US" altLang="en-US" b="1" dirty="0">
              <a:solidFill>
                <a:srgbClr val="CC0000"/>
              </a:solidFill>
            </a:endParaRPr>
          </a:p>
          <a:p>
            <a:pPr>
              <a:buFontTx/>
              <a:buNone/>
            </a:pPr>
            <a:endParaRPr lang="en-US" altLang="en-US" b="1" dirty="0">
              <a:solidFill>
                <a:srgbClr val="CC0000"/>
              </a:solidFill>
            </a:endParaRPr>
          </a:p>
          <a:p>
            <a:pPr>
              <a:buFontTx/>
              <a:buNone/>
            </a:pPr>
            <a:r>
              <a:rPr lang="en-US" altLang="en-US" b="1" dirty="0"/>
              <a:t>       </a:t>
            </a:r>
            <a:endParaRPr lang="en-US" altLang="en-US" sz="2000" b="1" dirty="0"/>
          </a:p>
          <a:p>
            <a:pPr>
              <a:buFontTx/>
              <a:buNone/>
            </a:pPr>
            <a:r>
              <a:rPr lang="en-US" altLang="en-US" sz="2000" b="1" dirty="0"/>
              <a:t>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>
            <a:extLst>
              <a:ext uri="{FF2B5EF4-FFF2-40B4-BE49-F238E27FC236}">
                <a16:creationId xmlns:a16="http://schemas.microsoft.com/office/drawing/2014/main" id="{74F684BC-F896-412F-9E3C-F80F890E8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Using a Pointer Variable</a:t>
            </a:r>
          </a:p>
        </p:txBody>
      </p:sp>
      <p:sp>
        <p:nvSpPr>
          <p:cNvPr id="104452" name="Rectangle 4">
            <a:extLst>
              <a:ext uri="{FF2B5EF4-FFF2-40B4-BE49-F238E27FC236}">
                <a16:creationId xmlns:a16="http://schemas.microsoft.com/office/drawing/2014/main" id="{CFF496CB-1E6F-44D7-9779-1B3059273D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NOTE:  Because </a:t>
            </a:r>
            <a:r>
              <a:rPr lang="en-US" altLang="en-US" dirty="0" err="1"/>
              <a:t>ptr</a:t>
            </a:r>
            <a:r>
              <a:rPr lang="en-US" altLang="en-US" dirty="0"/>
              <a:t> holds the address of x, we say that </a:t>
            </a:r>
            <a:r>
              <a:rPr lang="en-US" altLang="en-US" dirty="0" err="1"/>
              <a:t>ptr</a:t>
            </a:r>
            <a:r>
              <a:rPr lang="en-US" altLang="en-US" dirty="0"/>
              <a:t> “points to” x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A3E9C53-C651-4130-8842-C32616194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FABBCF5-FD26-41B3-B82F-351CE4F23FCA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C4F5D4EF-76AE-4D2B-A410-007552EA3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797" y="2047438"/>
            <a:ext cx="3581400" cy="3048000"/>
          </a:xfrm>
          <a:prstGeom prst="rect">
            <a:avLst/>
          </a:prstGeom>
          <a:solidFill>
            <a:srgbClr val="FF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3200" b="1" dirty="0"/>
              <a:t>int  x;</a:t>
            </a:r>
          </a:p>
          <a:p>
            <a:r>
              <a:rPr lang="en-US" altLang="en-US" sz="3200" b="1" dirty="0"/>
              <a:t> x = 12;</a:t>
            </a:r>
          </a:p>
          <a:p>
            <a:endParaRPr lang="en-US" altLang="en-US" sz="3200" b="1" dirty="0"/>
          </a:p>
          <a:p>
            <a:r>
              <a:rPr lang="en-US" altLang="en-US" sz="3200" b="1" dirty="0"/>
              <a:t> int *</a:t>
            </a:r>
            <a:r>
              <a:rPr lang="en-US" altLang="en-US" sz="3200" b="1" dirty="0" err="1"/>
              <a:t>ptr</a:t>
            </a:r>
            <a:r>
              <a:rPr lang="en-US" altLang="en-US" sz="3200" b="1" dirty="0"/>
              <a:t>;</a:t>
            </a:r>
          </a:p>
          <a:p>
            <a:r>
              <a:rPr lang="en-US" altLang="en-US" sz="3200" b="1" dirty="0"/>
              <a:t> </a:t>
            </a:r>
            <a:r>
              <a:rPr lang="en-US" altLang="en-US" sz="3200" b="1" dirty="0" err="1"/>
              <a:t>ptr</a:t>
            </a:r>
            <a:r>
              <a:rPr lang="en-US" altLang="en-US" sz="3200" b="1" dirty="0"/>
              <a:t> = &amp;x;</a:t>
            </a:r>
          </a:p>
        </p:txBody>
      </p:sp>
      <p:sp>
        <p:nvSpPr>
          <p:cNvPr id="104453" name="Rectangle 5">
            <a:extLst>
              <a:ext uri="{FF2B5EF4-FFF2-40B4-BE49-F238E27FC236}">
                <a16:creationId xmlns:a16="http://schemas.microsoft.com/office/drawing/2014/main" id="{3490FD88-9774-415C-8D38-7C268DDC2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3050" y="2189164"/>
            <a:ext cx="1168400" cy="566737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4" name="Rectangle 6">
            <a:extLst>
              <a:ext uri="{FF2B5EF4-FFF2-40B4-BE49-F238E27FC236}">
                <a16:creationId xmlns:a16="http://schemas.microsoft.com/office/drawing/2014/main" id="{803EDC95-F8FC-420E-8627-9BAF9231C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3350" y="3740150"/>
            <a:ext cx="1549400" cy="566738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5" name="Line 7">
            <a:extLst>
              <a:ext uri="{FF2B5EF4-FFF2-40B4-BE49-F238E27FC236}">
                <a16:creationId xmlns:a16="http://schemas.microsoft.com/office/drawing/2014/main" id="{6DE6A504-FF1F-4A01-8188-EDEBED3056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1675" y="2479675"/>
            <a:ext cx="833438" cy="13668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456" name="Rectangle 8">
            <a:extLst>
              <a:ext uri="{FF2B5EF4-FFF2-40B4-BE49-F238E27FC236}">
                <a16:creationId xmlns:a16="http://schemas.microsoft.com/office/drawing/2014/main" id="{509DBC47-81F7-4571-9AF2-F89F92C78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26" y="1790701"/>
            <a:ext cx="3425825" cy="3293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b="1">
                <a:solidFill>
                  <a:srgbClr val="CC0000"/>
                </a:solidFill>
                <a:latin typeface="Arial" panose="020B0604020202020204" pitchFamily="34" charset="0"/>
              </a:rPr>
              <a:t>                    2000</a:t>
            </a:r>
            <a:endParaRPr lang="en-US" altLang="en-US" sz="2000" b="1">
              <a:latin typeface="Arial" panose="020B0604020202020204" pitchFamily="34" charset="0"/>
            </a:endParaRPr>
          </a:p>
          <a:p>
            <a:endParaRPr lang="en-US" altLang="en-US" sz="14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                   </a:t>
            </a: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</a:rPr>
              <a:t>12</a:t>
            </a:r>
          </a:p>
          <a:p>
            <a:endParaRPr lang="en-US" altLang="en-US" sz="10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                 </a:t>
            </a: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</a:p>
          <a:p>
            <a:endParaRPr lang="en-US" altLang="en-US" sz="2000" b="1">
              <a:latin typeface="Arial" panose="020B0604020202020204" pitchFamily="34" charset="0"/>
            </a:endParaRPr>
          </a:p>
          <a:p>
            <a:r>
              <a:rPr lang="en-US" altLang="en-US" sz="2000" b="1">
                <a:solidFill>
                  <a:srgbClr val="CC0000"/>
                </a:solidFill>
                <a:latin typeface="Arial" panose="020B0604020202020204" pitchFamily="34" charset="0"/>
              </a:rPr>
              <a:t>3000</a:t>
            </a:r>
            <a:endParaRPr lang="en-US" altLang="en-US" sz="2000" b="1">
              <a:latin typeface="Arial" panose="020B0604020202020204" pitchFamily="34" charset="0"/>
            </a:endParaRPr>
          </a:p>
          <a:p>
            <a:endParaRPr lang="en-US" altLang="en-US" sz="14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2000</a:t>
            </a:r>
          </a:p>
          <a:p>
            <a:endParaRPr lang="en-US" altLang="en-US" sz="10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</a:t>
            </a:r>
            <a:r>
              <a:rPr lang="en-US" altLang="en-US" sz="2000" b="1">
                <a:solidFill>
                  <a:srgbClr val="660066"/>
                </a:solidFill>
                <a:latin typeface="Arial" panose="020B0604020202020204" pitchFamily="34" charset="0"/>
              </a:rPr>
              <a:t>ptr</a:t>
            </a:r>
          </a:p>
          <a:p>
            <a:r>
              <a:rPr lang="en-US" altLang="en-US" sz="2000" b="1">
                <a:latin typeface="Arial" panose="020B0604020202020204" pitchFamily="34" charset="0"/>
              </a:rPr>
              <a:t>      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10445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05" name="Rectangle 9">
            <a:extLst>
              <a:ext uri="{FF2B5EF4-FFF2-40B4-BE49-F238E27FC236}">
                <a16:creationId xmlns:a16="http://schemas.microsoft.com/office/drawing/2014/main" id="{4F31F025-4C10-48AF-BD38-AF83333848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b="1" dirty="0">
                <a:solidFill>
                  <a:srgbClr val="C00000"/>
                </a:solidFill>
              </a:rPr>
              <a:t>* is the</a:t>
            </a:r>
            <a:r>
              <a:rPr lang="en-US" altLang="en-US" b="1" dirty="0"/>
              <a:t> dereference operator</a:t>
            </a:r>
          </a:p>
        </p:txBody>
      </p:sp>
      <p:sp>
        <p:nvSpPr>
          <p:cNvPr id="106504" name="Rectangle 8">
            <a:extLst>
              <a:ext uri="{FF2B5EF4-FFF2-40B4-BE49-F238E27FC236}">
                <a16:creationId xmlns:a16="http://schemas.microsoft.com/office/drawing/2014/main" id="{D397E420-9852-478F-8C48-5EF21FD7B3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4953000"/>
            <a:ext cx="10515600" cy="1223962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altLang="en-US" dirty="0"/>
              <a:t> </a:t>
            </a:r>
          </a:p>
          <a:p>
            <a:pPr marL="0" indent="0" algn="just">
              <a:buNone/>
            </a:pPr>
            <a:endParaRPr lang="en-US" altLang="en-US" dirty="0"/>
          </a:p>
          <a:p>
            <a:pPr marL="0" indent="0" algn="just">
              <a:buNone/>
            </a:pPr>
            <a:r>
              <a:rPr lang="en-US" altLang="en-US" dirty="0"/>
              <a:t>NOTE:  The value pointed to by </a:t>
            </a:r>
            <a:r>
              <a:rPr lang="en-US" altLang="en-US" dirty="0" err="1"/>
              <a:t>ptr</a:t>
            </a:r>
            <a:r>
              <a:rPr lang="en-US" altLang="en-US" dirty="0"/>
              <a:t> is denoted by *</a:t>
            </a:r>
            <a:r>
              <a:rPr lang="en-US" altLang="en-US" dirty="0" err="1"/>
              <a:t>ptr</a:t>
            </a:r>
            <a:r>
              <a:rPr lang="en-US" altLang="en-US" dirty="0"/>
              <a:t> 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245A50F-A88B-4565-81D8-2BD2C94FE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1F9C4CB-B76D-4B6B-B3A1-D4014383DA6E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035D7616-C84D-4896-AEA4-862588163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4999" y="1752600"/>
            <a:ext cx="4570413" cy="3733800"/>
          </a:xfrm>
          <a:prstGeom prst="rect">
            <a:avLst/>
          </a:prstGeom>
          <a:solidFill>
            <a:srgbClr val="FF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3200" dirty="0"/>
              <a:t>int  x;</a:t>
            </a:r>
          </a:p>
          <a:p>
            <a:r>
              <a:rPr lang="en-US" altLang="en-US" sz="3200" dirty="0"/>
              <a:t>x = 12;</a:t>
            </a:r>
          </a:p>
          <a:p>
            <a:endParaRPr lang="en-US" altLang="en-US" sz="3200" dirty="0"/>
          </a:p>
          <a:p>
            <a:r>
              <a:rPr lang="en-US" altLang="en-US" sz="3200" dirty="0"/>
              <a:t>int *</a:t>
            </a:r>
            <a:r>
              <a:rPr lang="en-US" altLang="en-US" sz="3200" dirty="0" err="1"/>
              <a:t>ptr</a:t>
            </a:r>
            <a:r>
              <a:rPr lang="en-US" altLang="en-US" sz="3200" dirty="0"/>
              <a:t>;</a:t>
            </a:r>
          </a:p>
          <a:p>
            <a:r>
              <a:rPr lang="en-US" altLang="en-US" sz="3200" dirty="0" err="1"/>
              <a:t>ptr</a:t>
            </a:r>
            <a:r>
              <a:rPr lang="en-US" altLang="en-US" sz="3200" dirty="0"/>
              <a:t> = &amp;x;</a:t>
            </a:r>
          </a:p>
          <a:p>
            <a:endParaRPr lang="en-US" altLang="en-US" sz="3200" dirty="0"/>
          </a:p>
          <a:p>
            <a:r>
              <a:rPr lang="en-US" altLang="en-US" sz="3200" b="1" dirty="0" err="1">
                <a:solidFill>
                  <a:srgbClr val="C00000"/>
                </a:solidFill>
              </a:rPr>
              <a:t>cout</a:t>
            </a:r>
            <a:r>
              <a:rPr lang="en-US" altLang="en-US" sz="3200" b="1" dirty="0">
                <a:solidFill>
                  <a:srgbClr val="C00000"/>
                </a:solidFill>
              </a:rPr>
              <a:t>  &lt;&lt;  *</a:t>
            </a:r>
            <a:r>
              <a:rPr lang="en-US" altLang="en-US" sz="3200" b="1" dirty="0" err="1">
                <a:solidFill>
                  <a:srgbClr val="C00000"/>
                </a:solidFill>
              </a:rPr>
              <a:t>ptr</a:t>
            </a:r>
            <a:r>
              <a:rPr lang="en-US" altLang="en-US" sz="3200" b="1" dirty="0">
                <a:solidFill>
                  <a:srgbClr val="C00000"/>
                </a:solidFill>
              </a:rPr>
              <a:t>;</a:t>
            </a:r>
          </a:p>
        </p:txBody>
      </p:sp>
      <p:sp>
        <p:nvSpPr>
          <p:cNvPr id="106509" name="Rectangle 13">
            <a:extLst>
              <a:ext uri="{FF2B5EF4-FFF2-40B4-BE49-F238E27FC236}">
                <a16:creationId xmlns:a16="http://schemas.microsoft.com/office/drawing/2014/main" id="{17811B08-25A8-4BC3-81B3-C4F0B9DBD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4" y="2455863"/>
            <a:ext cx="1168400" cy="566737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0" name="Rectangle 14">
            <a:extLst>
              <a:ext uri="{FF2B5EF4-FFF2-40B4-BE49-F238E27FC236}">
                <a16:creationId xmlns:a16="http://schemas.microsoft.com/office/drawing/2014/main" id="{ABE29F50-3113-474E-BD79-3FA9DF73E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4" y="4006849"/>
            <a:ext cx="1549400" cy="566738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1" name="Line 15">
            <a:extLst>
              <a:ext uri="{FF2B5EF4-FFF2-40B4-BE49-F238E27FC236}">
                <a16:creationId xmlns:a16="http://schemas.microsoft.com/office/drawing/2014/main" id="{EDCFC07A-CFD8-4387-88A7-113B9D4796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00949" y="2746374"/>
            <a:ext cx="833438" cy="13668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512" name="Rectangle 16">
            <a:extLst>
              <a:ext uri="{FF2B5EF4-FFF2-40B4-BE49-F238E27FC236}">
                <a16:creationId xmlns:a16="http://schemas.microsoft.com/office/drawing/2014/main" id="{C6B19079-6B37-49B4-A951-B087C69995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057400"/>
            <a:ext cx="3425825" cy="3293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b="1">
                <a:solidFill>
                  <a:srgbClr val="CC0000"/>
                </a:solidFill>
                <a:latin typeface="Arial" panose="020B0604020202020204" pitchFamily="34" charset="0"/>
              </a:rPr>
              <a:t>                    2000</a:t>
            </a:r>
            <a:endParaRPr lang="en-US" altLang="en-US" sz="2000" b="1">
              <a:latin typeface="Arial" panose="020B0604020202020204" pitchFamily="34" charset="0"/>
            </a:endParaRPr>
          </a:p>
          <a:p>
            <a:endParaRPr lang="en-US" altLang="en-US" sz="14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                   </a:t>
            </a: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</a:rPr>
              <a:t>12</a:t>
            </a:r>
          </a:p>
          <a:p>
            <a:endParaRPr lang="en-US" altLang="en-US" sz="10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                 </a:t>
            </a: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</a:p>
          <a:p>
            <a:endParaRPr lang="en-US" altLang="en-US" sz="2000" b="1">
              <a:latin typeface="Arial" panose="020B0604020202020204" pitchFamily="34" charset="0"/>
            </a:endParaRPr>
          </a:p>
          <a:p>
            <a:r>
              <a:rPr lang="en-US" altLang="en-US" sz="2000" b="1">
                <a:solidFill>
                  <a:srgbClr val="CC0000"/>
                </a:solidFill>
                <a:latin typeface="Arial" panose="020B0604020202020204" pitchFamily="34" charset="0"/>
              </a:rPr>
              <a:t>3000</a:t>
            </a:r>
            <a:endParaRPr lang="en-US" altLang="en-US" sz="2000" b="1">
              <a:latin typeface="Arial" panose="020B0604020202020204" pitchFamily="34" charset="0"/>
            </a:endParaRPr>
          </a:p>
          <a:p>
            <a:endParaRPr lang="en-US" altLang="en-US" sz="14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2000</a:t>
            </a:r>
          </a:p>
          <a:p>
            <a:endParaRPr lang="en-US" altLang="en-US" sz="10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</a:t>
            </a:r>
            <a:r>
              <a:rPr lang="en-US" altLang="en-US" sz="2000" b="1">
                <a:solidFill>
                  <a:srgbClr val="660066"/>
                </a:solidFill>
                <a:latin typeface="Arial" panose="020B0604020202020204" pitchFamily="34" charset="0"/>
              </a:rPr>
              <a:t>ptr</a:t>
            </a:r>
          </a:p>
          <a:p>
            <a:r>
              <a:rPr lang="en-US" altLang="en-US" sz="2000" b="1">
                <a:latin typeface="Arial" panose="020B0604020202020204" pitchFamily="34" charset="0"/>
              </a:rPr>
              <a:t>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Rectangle 4">
            <a:extLst>
              <a:ext uri="{FF2B5EF4-FFF2-40B4-BE49-F238E27FC236}">
                <a16:creationId xmlns:a16="http://schemas.microsoft.com/office/drawing/2014/main" id="{7CCCFCE1-D6C9-426F-9263-BD9041B7BE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b="1" dirty="0"/>
              <a:t>Using the Dereference Operator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B912677-4116-4A19-9F52-718C635BE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0533F73-CA47-4EDD-BFF2-63B0F4FC0CC5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A0B446F1-174D-407B-A851-497DD01B4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787435"/>
            <a:ext cx="3048000" cy="4038600"/>
          </a:xfrm>
          <a:prstGeom prst="rect">
            <a:avLst/>
          </a:prstGeom>
          <a:solidFill>
            <a:srgbClr val="FF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3200" dirty="0"/>
              <a:t>int  x;</a:t>
            </a:r>
          </a:p>
          <a:p>
            <a:r>
              <a:rPr lang="en-US" altLang="en-US" sz="3200" dirty="0"/>
              <a:t>x = 12;</a:t>
            </a:r>
          </a:p>
          <a:p>
            <a:endParaRPr lang="en-US" altLang="en-US" sz="3200" dirty="0"/>
          </a:p>
          <a:p>
            <a:endParaRPr lang="en-US" altLang="en-US" sz="3200" dirty="0"/>
          </a:p>
          <a:p>
            <a:r>
              <a:rPr lang="en-US" altLang="en-US" sz="3200" dirty="0"/>
              <a:t>int *</a:t>
            </a:r>
            <a:r>
              <a:rPr lang="en-US" altLang="en-US" sz="3200" dirty="0" err="1"/>
              <a:t>ptr</a:t>
            </a:r>
            <a:r>
              <a:rPr lang="en-US" altLang="en-US" sz="3200" dirty="0"/>
              <a:t>;</a:t>
            </a:r>
          </a:p>
          <a:p>
            <a:r>
              <a:rPr lang="en-US" altLang="en-US" sz="3200" dirty="0" err="1"/>
              <a:t>ptr</a:t>
            </a:r>
            <a:r>
              <a:rPr lang="en-US" altLang="en-US" sz="3200" dirty="0"/>
              <a:t> = &amp;x;</a:t>
            </a:r>
          </a:p>
          <a:p>
            <a:endParaRPr lang="en-US" altLang="en-US" sz="3200" dirty="0"/>
          </a:p>
          <a:p>
            <a:r>
              <a:rPr lang="en-US" altLang="en-US" sz="3200" b="1" dirty="0">
                <a:solidFill>
                  <a:srgbClr val="C00000"/>
                </a:solidFill>
              </a:rPr>
              <a:t>*</a:t>
            </a:r>
            <a:r>
              <a:rPr lang="en-US" altLang="en-US" sz="3200" b="1" dirty="0" err="1">
                <a:solidFill>
                  <a:srgbClr val="C00000"/>
                </a:solidFill>
              </a:rPr>
              <a:t>ptr</a:t>
            </a:r>
            <a:r>
              <a:rPr lang="en-US" altLang="en-US" sz="3200" b="1" dirty="0">
                <a:solidFill>
                  <a:srgbClr val="C00000"/>
                </a:solidFill>
              </a:rPr>
              <a:t> = 5;  </a:t>
            </a:r>
            <a:r>
              <a:rPr lang="en-US" altLang="en-US" sz="3200" dirty="0"/>
              <a:t> </a:t>
            </a:r>
          </a:p>
        </p:txBody>
      </p:sp>
      <p:sp>
        <p:nvSpPr>
          <p:cNvPr id="108556" name="Rectangle 12">
            <a:extLst>
              <a:ext uri="{FF2B5EF4-FFF2-40B4-BE49-F238E27FC236}">
                <a16:creationId xmlns:a16="http://schemas.microsoft.com/office/drawing/2014/main" id="{2A272059-1AD5-492C-A16B-243AD02F7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4125" y="2189164"/>
            <a:ext cx="1168400" cy="566737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7" name="Rectangle 13">
            <a:extLst>
              <a:ext uri="{FF2B5EF4-FFF2-40B4-BE49-F238E27FC236}">
                <a16:creationId xmlns:a16="http://schemas.microsoft.com/office/drawing/2014/main" id="{51192272-4711-41F2-B2D2-F9C257003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4425" y="3740150"/>
            <a:ext cx="1549400" cy="566738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8" name="Line 14">
            <a:extLst>
              <a:ext uri="{FF2B5EF4-FFF2-40B4-BE49-F238E27FC236}">
                <a16:creationId xmlns:a16="http://schemas.microsoft.com/office/drawing/2014/main" id="{7A1F8C8F-AB70-4D3B-A4DC-8DD3E263AF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62750" y="2479675"/>
            <a:ext cx="833438" cy="13668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559" name="Rectangle 15">
            <a:extLst>
              <a:ext uri="{FF2B5EF4-FFF2-40B4-BE49-F238E27FC236}">
                <a16:creationId xmlns:a16="http://schemas.microsoft.com/office/drawing/2014/main" id="{7E88B65C-6682-4430-BBEB-455944D4A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1" y="1790701"/>
            <a:ext cx="3425825" cy="3293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b="1">
                <a:solidFill>
                  <a:srgbClr val="CC0000"/>
                </a:solidFill>
                <a:latin typeface="Arial" panose="020B0604020202020204" pitchFamily="34" charset="0"/>
              </a:rPr>
              <a:t>                    2000</a:t>
            </a:r>
            <a:endParaRPr lang="en-US" altLang="en-US" sz="2000" b="1">
              <a:latin typeface="Arial" panose="020B0604020202020204" pitchFamily="34" charset="0"/>
            </a:endParaRPr>
          </a:p>
          <a:p>
            <a:endParaRPr lang="en-US" altLang="en-US" sz="14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                   </a:t>
            </a: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</a:rPr>
              <a:t>12</a:t>
            </a:r>
          </a:p>
          <a:p>
            <a:endParaRPr lang="en-US" altLang="en-US" sz="10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                 </a:t>
            </a:r>
            <a:r>
              <a:rPr lang="en-US" altLang="en-US" sz="2000" b="1">
                <a:solidFill>
                  <a:schemeClr val="accent2"/>
                </a:solidFill>
                <a:latin typeface="Arial" panose="020B0604020202020204" pitchFamily="34" charset="0"/>
              </a:rPr>
              <a:t>x</a:t>
            </a:r>
          </a:p>
          <a:p>
            <a:endParaRPr lang="en-US" altLang="en-US" sz="2000" b="1">
              <a:latin typeface="Arial" panose="020B0604020202020204" pitchFamily="34" charset="0"/>
            </a:endParaRPr>
          </a:p>
          <a:p>
            <a:r>
              <a:rPr lang="en-US" altLang="en-US" sz="2000" b="1">
                <a:solidFill>
                  <a:srgbClr val="CC0000"/>
                </a:solidFill>
                <a:latin typeface="Arial" panose="020B0604020202020204" pitchFamily="34" charset="0"/>
              </a:rPr>
              <a:t>3000</a:t>
            </a:r>
            <a:endParaRPr lang="en-US" altLang="en-US" sz="2000" b="1">
              <a:latin typeface="Arial" panose="020B0604020202020204" pitchFamily="34" charset="0"/>
            </a:endParaRPr>
          </a:p>
          <a:p>
            <a:endParaRPr lang="en-US" altLang="en-US" sz="14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2000</a:t>
            </a:r>
          </a:p>
          <a:p>
            <a:endParaRPr lang="en-US" altLang="en-US" sz="10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</a:t>
            </a:r>
            <a:r>
              <a:rPr lang="en-US" altLang="en-US" sz="2000" b="1">
                <a:solidFill>
                  <a:srgbClr val="660066"/>
                </a:solidFill>
                <a:latin typeface="Arial" panose="020B0604020202020204" pitchFamily="34" charset="0"/>
              </a:rPr>
              <a:t>ptr</a:t>
            </a:r>
          </a:p>
          <a:p>
            <a:r>
              <a:rPr lang="en-US" altLang="en-US" sz="2000" b="1">
                <a:latin typeface="Arial" panose="020B0604020202020204" pitchFamily="34" charset="0"/>
              </a:rPr>
              <a:t>           </a:t>
            </a:r>
          </a:p>
        </p:txBody>
      </p:sp>
      <p:grpSp>
        <p:nvGrpSpPr>
          <p:cNvPr id="108562" name="Group 18">
            <a:extLst>
              <a:ext uri="{FF2B5EF4-FFF2-40B4-BE49-F238E27FC236}">
                <a16:creationId xmlns:a16="http://schemas.microsoft.com/office/drawing/2014/main" id="{C0B81B15-81DF-428A-BB5D-0DA2B3B0BA70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286001"/>
            <a:ext cx="782638" cy="396875"/>
            <a:chOff x="3984" y="1440"/>
            <a:chExt cx="493" cy="250"/>
          </a:xfrm>
        </p:grpSpPr>
        <p:sp>
          <p:nvSpPr>
            <p:cNvPr id="108560" name="Text Box 16">
              <a:extLst>
                <a:ext uri="{FF2B5EF4-FFF2-40B4-BE49-F238E27FC236}">
                  <a16:creationId xmlns:a16="http://schemas.microsoft.com/office/drawing/2014/main" id="{479B0B86-87B9-47F0-B6F7-3F7D2C3F9E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440"/>
              <a:ext cx="205" cy="25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Arial" panose="020B0604020202020204" pitchFamily="34" charset="0"/>
                </a:rPr>
                <a:t>5</a:t>
              </a:r>
            </a:p>
          </p:txBody>
        </p:sp>
        <p:sp>
          <p:nvSpPr>
            <p:cNvPr id="108561" name="Line 17">
              <a:extLst>
                <a:ext uri="{FF2B5EF4-FFF2-40B4-BE49-F238E27FC236}">
                  <a16:creationId xmlns:a16="http://schemas.microsoft.com/office/drawing/2014/main" id="{371E5362-CE8A-4D00-AE5B-56523B4BD2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1536"/>
              <a:ext cx="240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8563" name="Rectangle 19">
            <a:extLst>
              <a:ext uri="{FF2B5EF4-FFF2-40B4-BE49-F238E27FC236}">
                <a16:creationId xmlns:a16="http://schemas.microsoft.com/office/drawing/2014/main" id="{BE9EC24A-D97D-4C8D-9E3A-9FEAD5EBD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181600"/>
            <a:ext cx="5181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  <a:latin typeface="Courier New" panose="02070309020205020404" pitchFamily="49" charset="0"/>
              </a:rPr>
              <a:t>// changes the value at the </a:t>
            </a:r>
          </a:p>
          <a:p>
            <a:pPr>
              <a:buFontTx/>
              <a:buNone/>
            </a:pPr>
            <a:r>
              <a:rPr lang="en-US" altLang="en-US" sz="2400" b="1">
                <a:solidFill>
                  <a:srgbClr val="CC0000"/>
                </a:solidFill>
                <a:latin typeface="Courier New" panose="02070309020205020404" pitchFamily="49" charset="0"/>
              </a:rPr>
              <a:t>   address ptr points to 5</a:t>
            </a:r>
            <a:endParaRPr lang="en-US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8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8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>
            <a:extLst>
              <a:ext uri="{FF2B5EF4-FFF2-40B4-BE49-F238E27FC236}">
                <a16:creationId xmlns:a16="http://schemas.microsoft.com/office/drawing/2014/main" id="{8BA1D94B-3B7E-4372-8E4A-29048F3B1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b="1" dirty="0"/>
              <a:t>Self –Test on Pointers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D5B6B9D9-2808-4A70-B313-F738331AD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E40C1FC-4637-4DAF-B3EC-B6A50A0D0A68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A654F743-8420-4C75-845A-8A07256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371600"/>
            <a:ext cx="2514600" cy="4648200"/>
          </a:xfrm>
          <a:prstGeom prst="rect">
            <a:avLst/>
          </a:prstGeom>
          <a:solidFill>
            <a:srgbClr val="FF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 sz="3200" dirty="0"/>
              <a:t> char  </a:t>
            </a:r>
            <a:r>
              <a:rPr lang="en-US" altLang="en-US" sz="3200" dirty="0" err="1"/>
              <a:t>ch</a:t>
            </a:r>
            <a:r>
              <a:rPr lang="en-US" altLang="en-US" sz="3200" dirty="0"/>
              <a:t>;</a:t>
            </a:r>
          </a:p>
          <a:p>
            <a:r>
              <a:rPr lang="en-US" altLang="en-US" sz="3200" dirty="0"/>
              <a:t> </a:t>
            </a:r>
            <a:r>
              <a:rPr lang="en-US" altLang="en-US" sz="3200" dirty="0" err="1"/>
              <a:t>ch</a:t>
            </a:r>
            <a:r>
              <a:rPr lang="en-US" altLang="en-US" sz="3200" dirty="0"/>
              <a:t> =  ‘A’;</a:t>
            </a:r>
          </a:p>
          <a:p>
            <a:endParaRPr lang="en-US" altLang="en-US" sz="3200" dirty="0"/>
          </a:p>
          <a:p>
            <a:r>
              <a:rPr lang="en-US" altLang="en-US" sz="3200" dirty="0"/>
              <a:t> char *q;</a:t>
            </a:r>
          </a:p>
          <a:p>
            <a:r>
              <a:rPr lang="en-US" altLang="en-US" sz="3200" dirty="0"/>
              <a:t> q  = &amp;</a:t>
            </a:r>
            <a:r>
              <a:rPr lang="en-US" altLang="en-US" sz="3200" dirty="0" err="1"/>
              <a:t>ch</a:t>
            </a:r>
            <a:r>
              <a:rPr lang="en-US" altLang="en-US" sz="3200" dirty="0"/>
              <a:t>; </a:t>
            </a:r>
          </a:p>
          <a:p>
            <a:endParaRPr lang="en-US" altLang="en-US" sz="3200" dirty="0"/>
          </a:p>
          <a:p>
            <a:r>
              <a:rPr lang="en-US" altLang="en-US" sz="3200" dirty="0"/>
              <a:t> *q = ‘Z’;</a:t>
            </a:r>
          </a:p>
          <a:p>
            <a:r>
              <a:rPr lang="en-US" altLang="en-US" sz="3200" dirty="0"/>
              <a:t> char *p;</a:t>
            </a:r>
          </a:p>
          <a:p>
            <a:r>
              <a:rPr lang="en-US" altLang="en-US" sz="3200" dirty="0"/>
              <a:t> p = q;     </a:t>
            </a:r>
          </a:p>
        </p:txBody>
      </p:sp>
      <p:sp>
        <p:nvSpPr>
          <p:cNvPr id="123910" name="Line 6">
            <a:extLst>
              <a:ext uri="{FF2B5EF4-FFF2-40B4-BE49-F238E27FC236}">
                <a16:creationId xmlns:a16="http://schemas.microsoft.com/office/drawing/2014/main" id="{AE134C38-260D-4945-AA32-35DBF124DB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16825" y="2003425"/>
            <a:ext cx="585788" cy="1476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11" name="Rectangle 7">
            <a:extLst>
              <a:ext uri="{FF2B5EF4-FFF2-40B4-BE49-F238E27FC236}">
                <a16:creationId xmlns:a16="http://schemas.microsoft.com/office/drawing/2014/main" id="{6C956EBA-7CEE-45C4-AFC3-3D7657DA5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5700" y="1808164"/>
            <a:ext cx="1168400" cy="566737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12" name="Rectangle 8">
            <a:extLst>
              <a:ext uri="{FF2B5EF4-FFF2-40B4-BE49-F238E27FC236}">
                <a16:creationId xmlns:a16="http://schemas.microsoft.com/office/drawing/2014/main" id="{D870188F-88C2-4DE8-AE47-F9061A8D6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359150"/>
            <a:ext cx="1549400" cy="566738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13" name="Line 9">
            <a:extLst>
              <a:ext uri="{FF2B5EF4-FFF2-40B4-BE49-F238E27FC236}">
                <a16:creationId xmlns:a16="http://schemas.microsoft.com/office/drawing/2014/main" id="{AB202377-E5D7-42AC-BB8A-526461B7E8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25" y="2098675"/>
            <a:ext cx="833438" cy="13668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14" name="Rectangle 10">
            <a:extLst>
              <a:ext uri="{FF2B5EF4-FFF2-40B4-BE49-F238E27FC236}">
                <a16:creationId xmlns:a16="http://schemas.microsoft.com/office/drawing/2014/main" id="{C0C4A44E-8FAD-4E27-9DE9-B1F89CC1B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0926" y="1390651"/>
            <a:ext cx="3425825" cy="3293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b="1">
                <a:solidFill>
                  <a:srgbClr val="CC0000"/>
                </a:solidFill>
                <a:latin typeface="Arial" panose="020B0604020202020204" pitchFamily="34" charset="0"/>
              </a:rPr>
              <a:t>                    4000</a:t>
            </a:r>
            <a:endParaRPr lang="en-US" altLang="en-US" sz="2000" b="1">
              <a:latin typeface="Arial" panose="020B0604020202020204" pitchFamily="34" charset="0"/>
            </a:endParaRPr>
          </a:p>
          <a:p>
            <a:endParaRPr lang="en-US" altLang="en-US" sz="14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                 A</a:t>
            </a:r>
          </a:p>
          <a:p>
            <a:endParaRPr lang="en-US" altLang="en-US" sz="10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                  ch</a:t>
            </a:r>
          </a:p>
          <a:p>
            <a:endParaRPr lang="en-US" altLang="en-US" sz="2000" b="1">
              <a:solidFill>
                <a:srgbClr val="CC0000"/>
              </a:solidFill>
              <a:latin typeface="Arial" panose="020B0604020202020204" pitchFamily="34" charset="0"/>
            </a:endParaRPr>
          </a:p>
          <a:p>
            <a:r>
              <a:rPr lang="en-US" altLang="en-US" sz="2000" b="1">
                <a:solidFill>
                  <a:srgbClr val="CC0000"/>
                </a:solidFill>
                <a:latin typeface="Arial" panose="020B0604020202020204" pitchFamily="34" charset="0"/>
              </a:rPr>
              <a:t>5000</a:t>
            </a:r>
          </a:p>
          <a:p>
            <a:endParaRPr lang="en-US" altLang="en-US" sz="14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 4000</a:t>
            </a:r>
          </a:p>
          <a:p>
            <a:endParaRPr lang="en-US" altLang="en-US" sz="1000" b="1">
              <a:latin typeface="Arial" panose="020B0604020202020204" pitchFamily="34" charset="0"/>
            </a:endParaRPr>
          </a:p>
          <a:p>
            <a:r>
              <a:rPr lang="en-US" altLang="en-US" sz="2000" b="1">
                <a:latin typeface="Arial" panose="020B0604020202020204" pitchFamily="34" charset="0"/>
              </a:rPr>
              <a:t>  q</a:t>
            </a:r>
          </a:p>
          <a:p>
            <a:r>
              <a:rPr lang="en-US" altLang="en-US" sz="2000" b="1">
                <a:latin typeface="Arial" panose="020B0604020202020204" pitchFamily="34" charset="0"/>
              </a:rPr>
              <a:t>           </a:t>
            </a:r>
          </a:p>
        </p:txBody>
      </p:sp>
      <p:sp>
        <p:nvSpPr>
          <p:cNvPr id="123915" name="Line 11">
            <a:extLst>
              <a:ext uri="{FF2B5EF4-FFF2-40B4-BE49-F238E27FC236}">
                <a16:creationId xmlns:a16="http://schemas.microsoft.com/office/drawing/2014/main" id="{767BE66F-C06A-4825-A17D-2443C324070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64575" y="2136775"/>
            <a:ext cx="795338" cy="1404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3916" name="Text Box 12">
            <a:extLst>
              <a:ext uri="{FF2B5EF4-FFF2-40B4-BE49-F238E27FC236}">
                <a16:creationId xmlns:a16="http://schemas.microsoft.com/office/drawing/2014/main" id="{471C9666-CFC9-4906-B6A2-E839E18FE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1" y="1905001"/>
            <a:ext cx="339725" cy="3968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latin typeface="Arial" panose="020B0604020202020204" pitchFamily="34" charset="0"/>
              </a:rPr>
              <a:t>Z</a:t>
            </a:r>
          </a:p>
        </p:txBody>
      </p:sp>
      <p:sp>
        <p:nvSpPr>
          <p:cNvPr id="123917" name="Line 13">
            <a:extLst>
              <a:ext uri="{FF2B5EF4-FFF2-40B4-BE49-F238E27FC236}">
                <a16:creationId xmlns:a16="http://schemas.microsoft.com/office/drawing/2014/main" id="{BAA841BA-77C8-4505-8ADB-632D023C07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0000" y="2057400"/>
            <a:ext cx="38100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8" name="Line 14">
            <a:extLst>
              <a:ext uri="{FF2B5EF4-FFF2-40B4-BE49-F238E27FC236}">
                <a16:creationId xmlns:a16="http://schemas.microsoft.com/office/drawing/2014/main" id="{A9A303DB-39C0-476C-A2ED-2F3EEAE4E9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10364" y="2062164"/>
            <a:ext cx="833437" cy="13668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3923" name="Group 19">
            <a:extLst>
              <a:ext uri="{FF2B5EF4-FFF2-40B4-BE49-F238E27FC236}">
                <a16:creationId xmlns:a16="http://schemas.microsoft.com/office/drawing/2014/main" id="{F6A9E2C6-61EA-496A-A1C9-C96EE63ECF43}"/>
              </a:ext>
            </a:extLst>
          </p:cNvPr>
          <p:cNvGrpSpPr>
            <a:grpSpLocks/>
          </p:cNvGrpSpPr>
          <p:nvPr/>
        </p:nvGrpSpPr>
        <p:grpSpPr bwMode="auto">
          <a:xfrm>
            <a:off x="8134350" y="2906714"/>
            <a:ext cx="1549400" cy="1463675"/>
            <a:chOff x="4164" y="1927"/>
            <a:chExt cx="976" cy="922"/>
          </a:xfrm>
        </p:grpSpPr>
        <p:sp>
          <p:nvSpPr>
            <p:cNvPr id="123924" name="Rectangle 20">
              <a:extLst>
                <a:ext uri="{FF2B5EF4-FFF2-40B4-BE49-F238E27FC236}">
                  <a16:creationId xmlns:a16="http://schemas.microsoft.com/office/drawing/2014/main" id="{8C710102-B78D-4B86-95F2-DDC6A7108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" y="2224"/>
              <a:ext cx="976" cy="357"/>
            </a:xfrm>
            <a:prstGeom prst="rect">
              <a:avLst/>
            </a:prstGeom>
            <a:solidFill>
              <a:srgbClr val="CCFFFF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25" name="Text Box 21">
              <a:extLst>
                <a:ext uri="{FF2B5EF4-FFF2-40B4-BE49-F238E27FC236}">
                  <a16:creationId xmlns:a16="http://schemas.microsoft.com/office/drawing/2014/main" id="{F6897086-8CD2-4FF0-99CF-A8D7C0350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6" y="1927"/>
              <a:ext cx="47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solidFill>
                    <a:srgbClr val="800000"/>
                  </a:solidFill>
                  <a:latin typeface="Arial" panose="020B0604020202020204" pitchFamily="34" charset="0"/>
                </a:rPr>
                <a:t>6000</a:t>
              </a:r>
            </a:p>
          </p:txBody>
        </p:sp>
        <p:sp>
          <p:nvSpPr>
            <p:cNvPr id="123926" name="Text Box 22">
              <a:extLst>
                <a:ext uri="{FF2B5EF4-FFF2-40B4-BE49-F238E27FC236}">
                  <a16:creationId xmlns:a16="http://schemas.microsoft.com/office/drawing/2014/main" id="{6A2E72BD-7AEF-4D92-8FBE-E6DB9117E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1" y="2599"/>
              <a:ext cx="21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000" b="1">
                  <a:latin typeface="Arial" panose="020B0604020202020204" pitchFamily="34" charset="0"/>
                </a:rPr>
                <a:t>p</a:t>
              </a:r>
            </a:p>
          </p:txBody>
        </p:sp>
      </p:grpSp>
      <p:sp>
        <p:nvSpPr>
          <p:cNvPr id="123927" name="Text Box 23">
            <a:extLst>
              <a:ext uri="{FF2B5EF4-FFF2-40B4-BE49-F238E27FC236}">
                <a16:creationId xmlns:a16="http://schemas.microsoft.com/office/drawing/2014/main" id="{50FFC393-F9EA-4BCB-92F1-AD940323B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489326"/>
            <a:ext cx="7493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800000"/>
                </a:solidFill>
                <a:latin typeface="Arial" panose="020B0604020202020204" pitchFamily="34" charset="0"/>
              </a:rPr>
              <a:t>4000</a:t>
            </a:r>
          </a:p>
        </p:txBody>
      </p:sp>
      <p:sp>
        <p:nvSpPr>
          <p:cNvPr id="123928" name="Rectangle 24">
            <a:extLst>
              <a:ext uri="{FF2B5EF4-FFF2-40B4-BE49-F238E27FC236}">
                <a16:creationId xmlns:a16="http://schemas.microsoft.com/office/drawing/2014/main" id="{6474FAA5-9C37-4F15-BE11-01C3AF8BD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5486400"/>
            <a:ext cx="61722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en-US" altLang="en-US" sz="2400" b="1">
                <a:solidFill>
                  <a:srgbClr val="A50021"/>
                </a:solidFill>
                <a:latin typeface="Courier New" panose="02070309020205020404" pitchFamily="49" charset="0"/>
              </a:rPr>
              <a:t>// the rhs has value 4000</a:t>
            </a:r>
          </a:p>
          <a:p>
            <a:pPr>
              <a:buFontTx/>
              <a:buNone/>
            </a:pPr>
            <a:r>
              <a:rPr lang="en-US" altLang="en-US" sz="2400" b="1">
                <a:solidFill>
                  <a:srgbClr val="A50021"/>
                </a:solidFill>
                <a:latin typeface="Courier New" panose="02070309020205020404" pitchFamily="49" charset="0"/>
              </a:rPr>
              <a:t>// now p and q both point to ch</a:t>
            </a:r>
            <a:r>
              <a:rPr lang="en-US" altLang="en-US" sz="3600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23929" name="AutoShape 25">
            <a:extLst>
              <a:ext uri="{FF2B5EF4-FFF2-40B4-BE49-F238E27FC236}">
                <a16:creationId xmlns:a16="http://schemas.microsoft.com/office/drawing/2014/main" id="{26998475-3D42-4879-8BED-1CCE302D0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962400"/>
            <a:ext cx="304800" cy="2286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3937" name="Group 33">
            <a:extLst>
              <a:ext uri="{FF2B5EF4-FFF2-40B4-BE49-F238E27FC236}">
                <a16:creationId xmlns:a16="http://schemas.microsoft.com/office/drawing/2014/main" id="{14558D33-5CC0-407C-A08A-B0D823C54C8B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886200"/>
            <a:ext cx="304800" cy="838200"/>
            <a:chOff x="2304" y="2736"/>
            <a:chExt cx="192" cy="528"/>
          </a:xfrm>
        </p:grpSpPr>
        <p:sp>
          <p:nvSpPr>
            <p:cNvPr id="123930" name="AutoShape 26">
              <a:extLst>
                <a:ext uri="{FF2B5EF4-FFF2-40B4-BE49-F238E27FC236}">
                  <a16:creationId xmlns:a16="http://schemas.microsoft.com/office/drawing/2014/main" id="{DF4D3280-4D4F-452B-8550-08ABAC6E2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35" name="Rectangle 31">
              <a:extLst>
                <a:ext uri="{FF2B5EF4-FFF2-40B4-BE49-F238E27FC236}">
                  <a16:creationId xmlns:a16="http://schemas.microsoft.com/office/drawing/2014/main" id="{6C3E5D17-E305-4481-904D-E5E780F49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3938" name="Group 34">
            <a:extLst>
              <a:ext uri="{FF2B5EF4-FFF2-40B4-BE49-F238E27FC236}">
                <a16:creationId xmlns:a16="http://schemas.microsoft.com/office/drawing/2014/main" id="{1FF21F3A-1203-455A-AC36-748F332B11F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343400"/>
            <a:ext cx="304800" cy="838200"/>
            <a:chOff x="2304" y="2736"/>
            <a:chExt cx="192" cy="528"/>
          </a:xfrm>
        </p:grpSpPr>
        <p:sp>
          <p:nvSpPr>
            <p:cNvPr id="123939" name="AutoShape 35">
              <a:extLst>
                <a:ext uri="{FF2B5EF4-FFF2-40B4-BE49-F238E27FC236}">
                  <a16:creationId xmlns:a16="http://schemas.microsoft.com/office/drawing/2014/main" id="{1EBC3EE9-DEC4-4085-AA71-2B7BE6757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0" name="Rectangle 36">
              <a:extLst>
                <a:ext uri="{FF2B5EF4-FFF2-40B4-BE49-F238E27FC236}">
                  <a16:creationId xmlns:a16="http://schemas.microsoft.com/office/drawing/2014/main" id="{2EFF084D-9EC5-4525-B500-986145AF6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3941" name="Group 37">
            <a:extLst>
              <a:ext uri="{FF2B5EF4-FFF2-40B4-BE49-F238E27FC236}">
                <a16:creationId xmlns:a16="http://schemas.microsoft.com/office/drawing/2014/main" id="{831B8FED-219C-4F88-93E6-56CF237789C8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876800"/>
            <a:ext cx="304800" cy="838200"/>
            <a:chOff x="2304" y="2736"/>
            <a:chExt cx="192" cy="528"/>
          </a:xfrm>
        </p:grpSpPr>
        <p:sp>
          <p:nvSpPr>
            <p:cNvPr id="123942" name="AutoShape 38">
              <a:extLst>
                <a:ext uri="{FF2B5EF4-FFF2-40B4-BE49-F238E27FC236}">
                  <a16:creationId xmlns:a16="http://schemas.microsoft.com/office/drawing/2014/main" id="{C7E1F5D2-3369-4259-95C2-55A1BDDF99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943" name="Rectangle 39">
              <a:extLst>
                <a:ext uri="{FF2B5EF4-FFF2-40B4-BE49-F238E27FC236}">
                  <a16:creationId xmlns:a16="http://schemas.microsoft.com/office/drawing/2014/main" id="{A90EFFBF-3343-4C86-A396-CB286F3C1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3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2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16" grpId="0" animBg="1"/>
      <p:bldP spid="1239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A7B400C3-27E1-49E5-8908-DD1BB342D495}" type="datetime1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10/4/2024</a:t>
            </a:fld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662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A8EC4EBF-4BA2-4A7D-B82C-CB1BC00A3597}" type="slidenum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sz="4000">
                <a:solidFill>
                  <a:schemeClr val="tx1"/>
                </a:solidFill>
              </a:rPr>
              <a:t>Pointers and arrays</a:t>
            </a:r>
            <a:r>
              <a:rPr lang="en-US"/>
              <a:t> </a:t>
            </a:r>
          </a:p>
        </p:txBody>
      </p:sp>
      <p:sp>
        <p:nvSpPr>
          <p:cNvPr id="266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0" y="1371600"/>
            <a:ext cx="7772400" cy="4724400"/>
          </a:xfrm>
        </p:spPr>
        <p:txBody>
          <a:bodyPr/>
          <a:lstStyle/>
          <a:p>
            <a:pPr eaLnBrk="1" hangingPunct="1"/>
            <a:r>
              <a:rPr lang="en-US" sz="2400" dirty="0"/>
              <a:t>When an array is declared, the compiler allocates a </a:t>
            </a:r>
            <a:r>
              <a:rPr lang="en-US" sz="2400" b="1" dirty="0">
                <a:solidFill>
                  <a:srgbClr val="FF0000"/>
                </a:solidFill>
              </a:rPr>
              <a:t>base address </a:t>
            </a:r>
            <a:r>
              <a:rPr lang="en-US" sz="2400" dirty="0"/>
              <a:t>and sufficient amount of storage to contain all the elements of the array in contiguous memory locations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The base address is the location of the first element (index 0) of the array.</a:t>
            </a:r>
          </a:p>
          <a:p>
            <a:pPr eaLnBrk="1" hangingPunct="1"/>
            <a:r>
              <a:rPr lang="en-US" sz="2400" dirty="0"/>
              <a:t>The compiler also defines the </a:t>
            </a:r>
            <a:r>
              <a:rPr lang="en-US" sz="2400" b="1" dirty="0">
                <a:solidFill>
                  <a:srgbClr val="FF0000"/>
                </a:solidFill>
              </a:rPr>
              <a:t>array name as a constant pointer to the first element</a:t>
            </a:r>
            <a:r>
              <a:rPr lang="en-US" sz="2400" dirty="0"/>
              <a:t>.</a:t>
            </a:r>
            <a:endParaRPr lang="en-US" sz="2400" b="1" dirty="0">
              <a:solidFill>
                <a:srgbClr val="FF0000"/>
              </a:solidFill>
            </a:endParaRPr>
          </a:p>
          <a:p>
            <a:pPr marL="0" indent="0" eaLnBrk="1" hangingPunct="1">
              <a:buNone/>
            </a:pPr>
            <a:r>
              <a:rPr lang="en-US" sz="2400" dirty="0"/>
              <a:t>		compiler converts:</a:t>
            </a:r>
            <a:r>
              <a:rPr lang="en-US" sz="2400" b="1" dirty="0">
                <a:solidFill>
                  <a:srgbClr val="FF0000"/>
                </a:solidFill>
              </a:rPr>
              <a:t>	</a:t>
            </a:r>
            <a:r>
              <a:rPr lang="en-US" sz="2400" b="1" dirty="0"/>
              <a:t>x[i] = *(x + i)</a:t>
            </a:r>
          </a:p>
          <a:p>
            <a:pPr eaLnBrk="1" hangingPunct="1"/>
            <a:endParaRPr lang="en-US" sz="2400" dirty="0"/>
          </a:p>
          <a:p>
            <a:pPr eaLnBrk="1" hangingPunct="1"/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52600" y="457200"/>
            <a:ext cx="8686800" cy="1981200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en-US" sz="2400" dirty="0"/>
              <a:t>Suppose we declare an array A as follows:</a:t>
            </a:r>
          </a:p>
          <a:p>
            <a:pPr algn="just" eaLnBrk="1" hangingPunct="1">
              <a:buFontTx/>
              <a:buNone/>
            </a:pPr>
            <a:r>
              <a:rPr lang="en-US" sz="2400" dirty="0"/>
              <a:t>int A[5] ={ 11,22,33,44,55 };</a:t>
            </a:r>
          </a:p>
          <a:p>
            <a:pPr algn="just" eaLnBrk="1" hangingPunct="1">
              <a:buFontTx/>
              <a:buNone/>
            </a:pPr>
            <a:r>
              <a:rPr lang="en-US" sz="2400" dirty="0"/>
              <a:t>Suppose the base address of A is 1000, and assuming that each integer requires 4 bytes, the five elements will be stored as follows.</a:t>
            </a:r>
          </a:p>
          <a:p>
            <a:pPr algn="just" eaLnBrk="1" hangingPunct="1">
              <a:buFontTx/>
              <a:buNone/>
            </a:pPr>
            <a:endParaRPr lang="en-US" sz="2400" dirty="0"/>
          </a:p>
          <a:p>
            <a:pPr algn="just" eaLnBrk="1" hangingPunct="1">
              <a:buFontTx/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4834B8-F4A4-4016-89E0-F55022151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010" y="3068950"/>
            <a:ext cx="8448990" cy="3484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E603771B-B860-4625-A18B-02859939C23A}" type="datetime1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10/4/2024</a:t>
            </a:fld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40939BAF-BE8D-4B95-8475-9F89DDC15BBF}" type="slidenum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67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" y="381000"/>
            <a:ext cx="11811000" cy="58674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sz="2400" dirty="0"/>
              <a:t>The name A is defined as a constant pointer pointing to the first element, A[0]  and therefore the value of A is 1000, the location where A[0] is stored.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	That is </a:t>
            </a:r>
            <a:r>
              <a:rPr lang="en-US" sz="2400" b="1" dirty="0"/>
              <a:t>A =&amp;A[0] =1000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endParaRPr lang="en-US" sz="2400" b="1" dirty="0"/>
          </a:p>
          <a:p>
            <a:pPr algn="just" eaLnBrk="1" hangingPunct="1">
              <a:lnSpc>
                <a:spcPct val="150000"/>
              </a:lnSpc>
              <a:buFontTx/>
              <a:buChar char="•"/>
            </a:pPr>
            <a:r>
              <a:rPr lang="en-US" sz="2400" dirty="0"/>
              <a:t>If we declare p as an integer pointer, then we can make the pointer p to the array A by the following statement. 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/>
              <a:t>		p=A</a:t>
            </a:r>
            <a:r>
              <a:rPr lang="en-US" sz="2400" dirty="0"/>
              <a:t>; This is equivalent to </a:t>
            </a:r>
            <a:r>
              <a:rPr lang="en-US" sz="2400" b="1" dirty="0"/>
              <a:t>p=&amp;A[0]</a:t>
            </a:r>
            <a:r>
              <a:rPr lang="en-US" sz="2400" dirty="0"/>
              <a:t>;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Now we can access every value of A using p++ to move from one element to another.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		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3200400"/>
            <a:ext cx="11582400" cy="3276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dirty="0"/>
              <a:t>p= &amp;A[0]    (=1000)</a:t>
            </a:r>
          </a:p>
          <a:p>
            <a:pPr eaLnBrk="1" hangingPunct="1">
              <a:buFontTx/>
              <a:buNone/>
            </a:pPr>
            <a:r>
              <a:rPr lang="en-US" sz="2400" dirty="0"/>
              <a:t>p+1=&amp;A[1] (=1004)</a:t>
            </a:r>
          </a:p>
          <a:p>
            <a:pPr eaLnBrk="1" hangingPunct="1">
              <a:buFontTx/>
              <a:buNone/>
            </a:pPr>
            <a:r>
              <a:rPr lang="en-US" sz="2400" dirty="0"/>
              <a:t>p+2=&amp;A[2] (=1008)</a:t>
            </a:r>
          </a:p>
          <a:p>
            <a:pPr eaLnBrk="1" hangingPunct="1">
              <a:buFontTx/>
              <a:buNone/>
            </a:pPr>
            <a:r>
              <a:rPr lang="en-US" sz="2400" dirty="0"/>
              <a:t>p+3=&amp;A[3] (=1012)</a:t>
            </a:r>
          </a:p>
          <a:p>
            <a:pPr eaLnBrk="1" hangingPunct="1">
              <a:buFontTx/>
              <a:buNone/>
            </a:pPr>
            <a:r>
              <a:rPr lang="en-US" sz="2400" dirty="0"/>
              <a:t>p+4=&amp;A[4] (=1016)</a:t>
            </a:r>
          </a:p>
          <a:p>
            <a:pPr eaLnBrk="1" hangingPunct="1">
              <a:buFontTx/>
              <a:buNone/>
            </a:pPr>
            <a:r>
              <a:rPr lang="en-US" sz="2400" b="1" dirty="0">
                <a:solidFill>
                  <a:srgbClr val="FF0000"/>
                </a:solidFill>
              </a:rPr>
              <a:t>Address of A[3]  =  base address + (3 x scale factor of integer)		</a:t>
            </a:r>
            <a:r>
              <a:rPr lang="en-US" sz="2400" dirty="0"/>
              <a:t>	        		       =1000 +(3*4) =1012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291FC-E161-4055-92C1-326C8D5DD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81000"/>
            <a:ext cx="6629400" cy="27338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5C6C6-5EE0-4B2C-AC34-3BECF21C8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C5C47DE4-0167-4D2F-ADA7-55A11A587167}" type="datetime1">
              <a:rPr lang="en-US">
                <a:solidFill>
                  <a:srgbClr val="000000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10/4/2024</a:t>
            </a:fld>
            <a:r>
              <a:rPr lang="en-US">
                <a:solidFill>
                  <a:srgbClr val="000000"/>
                </a:solidFill>
                <a:latin typeface="Arial" charset="0"/>
              </a:rPr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629C-4A73-4748-A126-AB1749D54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C36889F-1A08-4E73-8F47-0502020A99B2}" type="slidenum">
              <a:rPr lang="en-US">
                <a:solidFill>
                  <a:srgbClr val="000000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BE45A4-14A9-40BE-831F-95914D0A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47800"/>
            <a:ext cx="5475064" cy="274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467CF2-A2F2-4C24-AA6D-FD11A47B29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544" y="4743432"/>
            <a:ext cx="4929332" cy="666769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73A9496A-D5A4-408B-ADAD-A04623ABD6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1215" y="-1172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defTabSz="914400" eaLnBrk="1" hangingPunct="1"/>
            <a:r>
              <a:rPr lang="en-US" sz="2800" kern="0" dirty="0">
                <a:solidFill>
                  <a:srgbClr val="0070C0"/>
                </a:solidFill>
                <a:latin typeface="Arial"/>
              </a:rPr>
              <a:t>Accessing array elements using constant pointer</a:t>
            </a:r>
          </a:p>
        </p:txBody>
      </p:sp>
    </p:spTree>
    <p:extLst>
      <p:ext uri="{BB962C8B-B14F-4D97-AF65-F5344CB8AC3E}">
        <p14:creationId xmlns:p14="http://schemas.microsoft.com/office/powerpoint/2010/main" val="932554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C36889F-1A08-4E73-8F47-0502020A99B2}" type="slidenum">
              <a:rPr lang="en-US">
                <a:solidFill>
                  <a:srgbClr val="000000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4383"/>
            <a:ext cx="7620000" cy="4267200"/>
          </a:xfrm>
          <a:prstGeom prst="rect">
            <a:avLst/>
          </a:prstGeom>
        </p:spPr>
      </p:pic>
      <p:sp>
        <p:nvSpPr>
          <p:cNvPr id="9" name="Oval Callout 8"/>
          <p:cNvSpPr/>
          <p:nvPr/>
        </p:nvSpPr>
        <p:spPr>
          <a:xfrm rot="5724844">
            <a:off x="6838768" y="2907993"/>
            <a:ext cx="1220951" cy="2208895"/>
          </a:xfrm>
          <a:prstGeom prst="wedgeEllipseCallout">
            <a:avLst>
              <a:gd name="adj1" fmla="val -20350"/>
              <a:gd name="adj2" fmla="val 94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defTabSz="914400" fontAlgn="base">
              <a:spcBef>
                <a:spcPts val="1200"/>
              </a:spcBef>
              <a:spcAft>
                <a:spcPct val="0"/>
              </a:spcAft>
              <a:defRPr/>
            </a:pPr>
            <a:r>
              <a:rPr lang="en-IN" sz="3600" b="1" dirty="0">
                <a:solidFill>
                  <a:srgbClr val="FF0000"/>
                </a:solidFill>
                <a:latin typeface="Arial"/>
              </a:rPr>
              <a:t>Error</a:t>
            </a:r>
            <a:endParaRPr lang="en-IN" b="1" dirty="0">
              <a:solidFill>
                <a:srgbClr val="FF0000"/>
              </a:solidFill>
              <a:latin typeface="Arial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IN" b="1" dirty="0">
              <a:solidFill>
                <a:srgbClr val="FF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6703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5C36889F-1A08-4E73-8F47-0502020A99B2}" type="slidenum">
              <a:rPr lang="en-US">
                <a:solidFill>
                  <a:srgbClr val="000000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371600"/>
            <a:ext cx="7929372" cy="2514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62200" y="381001"/>
            <a:ext cx="8001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dirty="0">
                <a:solidFill>
                  <a:srgbClr val="0070C0"/>
                </a:solidFill>
                <a:latin typeface="Arial" charset="0"/>
              </a:rPr>
              <a:t>Array accessed with pointer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IN" sz="2800" dirty="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036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D8A1280E-E03E-4C79-B108-4DCE7D3BEA85}" type="slidenum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title"/>
          </p:nvPr>
        </p:nvSpPr>
        <p:spPr>
          <a:xfrm>
            <a:off x="1534886" y="304800"/>
            <a:ext cx="8915400" cy="914400"/>
          </a:xfrm>
        </p:spPr>
        <p:txBody>
          <a:bodyPr/>
          <a:lstStyle/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/>
              <a:t>Write a C++ program to  compute the sum of all elements stored in an array using pointers.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630030"/>
            <a:ext cx="5334000" cy="4853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0A164F0D-C5DA-4302-AF95-B8ECA4EB4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b="1" dirty="0">
                <a:solidFill>
                  <a:srgbClr val="C00000"/>
                </a:solidFill>
              </a:rPr>
              <a:t>If you remember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DFE10EE8-94AF-4373-AF34-FCC43B625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10515600" cy="4351338"/>
          </a:xfrm>
          <a:solidFill>
            <a:schemeClr val="accent1">
              <a:lumMod val="20000"/>
              <a:lumOff val="80000"/>
            </a:schemeClr>
          </a:solidFill>
          <a:ln w="28575">
            <a:solidFill>
              <a:srgbClr val="C00000"/>
            </a:solidFill>
            <a:prstDash val="sysDash"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char  str [ 8 ];   </a:t>
            </a:r>
          </a:p>
          <a:p>
            <a:r>
              <a:rPr lang="en-US" altLang="en-US" b="1" dirty="0"/>
              <a:t>str</a:t>
            </a:r>
            <a:r>
              <a:rPr lang="en-US" altLang="en-US" dirty="0"/>
              <a:t> is the </a:t>
            </a:r>
            <a:r>
              <a:rPr lang="en-US" altLang="en-US" b="1" i="1" dirty="0">
                <a:solidFill>
                  <a:srgbClr val="C00000"/>
                </a:solidFill>
              </a:rPr>
              <a:t>base address</a:t>
            </a:r>
            <a:r>
              <a:rPr lang="en-US" altLang="en-US" dirty="0"/>
              <a:t> of the array.  </a:t>
            </a:r>
          </a:p>
          <a:p>
            <a:r>
              <a:rPr lang="en-US" altLang="en-US" dirty="0"/>
              <a:t>We say </a:t>
            </a:r>
            <a:r>
              <a:rPr lang="en-US" altLang="en-US" b="1" i="1" dirty="0">
                <a:solidFill>
                  <a:srgbClr val="C00000"/>
                </a:solidFill>
              </a:rPr>
              <a:t>str is a pointer </a:t>
            </a:r>
            <a:r>
              <a:rPr lang="en-US" altLang="en-US" dirty="0"/>
              <a:t>because its value is an address.  </a:t>
            </a:r>
          </a:p>
          <a:p>
            <a:r>
              <a:rPr lang="en-US" altLang="en-US" dirty="0"/>
              <a:t>It is a pointer constant because the value of str itself cannot be changed by assignment.  It “points” to the memory location of a char.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3C6E3D02-B32C-44AB-803C-CA6BE0D41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6E0307-9C7E-49EC-90CA-B131CFF11416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6260" name="Group 4">
            <a:extLst>
              <a:ext uri="{FF2B5EF4-FFF2-40B4-BE49-F238E27FC236}">
                <a16:creationId xmlns:a16="http://schemas.microsoft.com/office/drawing/2014/main" id="{120F80E3-6BF5-4A05-8EEE-98CB5533BDBD}"/>
              </a:ext>
            </a:extLst>
          </p:cNvPr>
          <p:cNvGrpSpPr>
            <a:grpSpLocks/>
          </p:cNvGrpSpPr>
          <p:nvPr/>
        </p:nvGrpSpPr>
        <p:grpSpPr bwMode="auto">
          <a:xfrm>
            <a:off x="1908176" y="4525963"/>
            <a:ext cx="7858125" cy="1466850"/>
            <a:chOff x="242" y="2851"/>
            <a:chExt cx="4950" cy="924"/>
          </a:xfrm>
        </p:grpSpPr>
        <p:sp>
          <p:nvSpPr>
            <p:cNvPr id="96261" name="Rectangle 5">
              <a:extLst>
                <a:ext uri="{FF2B5EF4-FFF2-40B4-BE49-F238E27FC236}">
                  <a16:creationId xmlns:a16="http://schemas.microsoft.com/office/drawing/2014/main" id="{867775AC-D80E-477E-B0FB-1AC59FC1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" y="3124"/>
              <a:ext cx="4456" cy="376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6262" name="Group 6">
              <a:extLst>
                <a:ext uri="{FF2B5EF4-FFF2-40B4-BE49-F238E27FC236}">
                  <a16:creationId xmlns:a16="http://schemas.microsoft.com/office/drawing/2014/main" id="{4E0BF81B-76EA-41E5-88E9-610589040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" y="3123"/>
              <a:ext cx="4456" cy="381"/>
              <a:chOff x="736" y="3123"/>
              <a:chExt cx="4456" cy="381"/>
            </a:xfrm>
          </p:grpSpPr>
          <p:grpSp>
            <p:nvGrpSpPr>
              <p:cNvPr id="96263" name="Group 7">
                <a:extLst>
                  <a:ext uri="{FF2B5EF4-FFF2-40B4-BE49-F238E27FC236}">
                    <a16:creationId xmlns:a16="http://schemas.microsoft.com/office/drawing/2014/main" id="{ACC7CC70-86D0-49CA-BAB1-56557FFCFE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6" y="3123"/>
                <a:ext cx="2841" cy="381"/>
                <a:chOff x="736" y="3123"/>
                <a:chExt cx="2841" cy="381"/>
              </a:xfrm>
            </p:grpSpPr>
            <p:sp>
              <p:nvSpPr>
                <p:cNvPr id="96264" name="Rectangle 8">
                  <a:extLst>
                    <a:ext uri="{FF2B5EF4-FFF2-40B4-BE49-F238E27FC236}">
                      <a16:creationId xmlns:a16="http://schemas.microsoft.com/office/drawing/2014/main" id="{EAF826E7-3E34-4532-A996-97B4CA8139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6" y="3124"/>
                  <a:ext cx="2841" cy="376"/>
                </a:xfrm>
                <a:prstGeom prst="rect">
                  <a:avLst/>
                </a:prstGeom>
                <a:solidFill>
                  <a:srgbClr val="CCFFFF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265" name="Line 9">
                  <a:extLst>
                    <a:ext uri="{FF2B5EF4-FFF2-40B4-BE49-F238E27FC236}">
                      <a16:creationId xmlns:a16="http://schemas.microsoft.com/office/drawing/2014/main" id="{C5524ED8-D9CE-4832-946A-4EABE48CCD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88" y="3123"/>
                  <a:ext cx="0" cy="381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266" name="Line 10">
                  <a:extLst>
                    <a:ext uri="{FF2B5EF4-FFF2-40B4-BE49-F238E27FC236}">
                      <a16:creationId xmlns:a16="http://schemas.microsoft.com/office/drawing/2014/main" id="{2CDC594B-F5A5-483F-B774-7693F2F068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45" y="3123"/>
                  <a:ext cx="0" cy="381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267" name="Line 11">
                  <a:extLst>
                    <a:ext uri="{FF2B5EF4-FFF2-40B4-BE49-F238E27FC236}">
                      <a16:creationId xmlns:a16="http://schemas.microsoft.com/office/drawing/2014/main" id="{15638B4C-9186-43AB-B6B0-8F2EEDD046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03" y="3123"/>
                  <a:ext cx="0" cy="381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268" name="Line 12">
                  <a:extLst>
                    <a:ext uri="{FF2B5EF4-FFF2-40B4-BE49-F238E27FC236}">
                      <a16:creationId xmlns:a16="http://schemas.microsoft.com/office/drawing/2014/main" id="{58F141D1-420E-43A0-BF1E-90F77002CA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1" y="3123"/>
                  <a:ext cx="0" cy="381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6269" name="Rectangle 13">
                <a:extLst>
                  <a:ext uri="{FF2B5EF4-FFF2-40B4-BE49-F238E27FC236}">
                    <a16:creationId xmlns:a16="http://schemas.microsoft.com/office/drawing/2014/main" id="{261E9A24-0A36-41E9-8596-60D3400C3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5" y="3124"/>
                <a:ext cx="1607" cy="376"/>
              </a:xfrm>
              <a:prstGeom prst="rect">
                <a:avLst/>
              </a:prstGeom>
              <a:solidFill>
                <a:srgbClr val="CCFFFF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270" name="Line 14">
                <a:extLst>
                  <a:ext uri="{FF2B5EF4-FFF2-40B4-BE49-F238E27FC236}">
                    <a16:creationId xmlns:a16="http://schemas.microsoft.com/office/drawing/2014/main" id="{FE3E0BF9-1B42-4466-96C8-5288EB74E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40" y="3123"/>
                <a:ext cx="0" cy="381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271" name="Line 15">
                <a:extLst>
                  <a:ext uri="{FF2B5EF4-FFF2-40B4-BE49-F238E27FC236}">
                    <a16:creationId xmlns:a16="http://schemas.microsoft.com/office/drawing/2014/main" id="{10B9ED0F-273E-4EC3-B6AC-AB8DBA60AC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8" y="3123"/>
                <a:ext cx="0" cy="381"/>
              </a:xfrm>
              <a:prstGeom prst="line">
                <a:avLst/>
              </a:prstGeom>
              <a:noFill/>
              <a:ln w="12699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6272" name="Rectangle 16">
              <a:extLst>
                <a:ext uri="{FF2B5EF4-FFF2-40B4-BE49-F238E27FC236}">
                  <a16:creationId xmlns:a16="http://schemas.microsoft.com/office/drawing/2014/main" id="{A19E9630-FABC-4434-818A-712078AFE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" y="3523"/>
              <a:ext cx="4916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        </a:t>
              </a: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+mn-cs"/>
                </a:rPr>
                <a:t>str</a:t>
              </a: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 [0]      [1]        [2]        [3]         [4]         [5]        [6]        [7]</a:t>
              </a:r>
            </a:p>
          </p:txBody>
        </p:sp>
        <p:sp>
          <p:nvSpPr>
            <p:cNvPr id="96273" name="Rectangle 17">
              <a:extLst>
                <a:ext uri="{FF2B5EF4-FFF2-40B4-BE49-F238E27FC236}">
                  <a16:creationId xmlns:a16="http://schemas.microsoft.com/office/drawing/2014/main" id="{C1E349DE-0F8D-4415-9F5F-6B1204318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" y="3206"/>
              <a:ext cx="301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‘H’       ‘e’          ‘l’             ‘l’           ‘o’        ‘\0’</a:t>
              </a:r>
            </a:p>
          </p:txBody>
        </p:sp>
        <p:sp>
          <p:nvSpPr>
            <p:cNvPr id="96274" name="Rectangle 18">
              <a:extLst>
                <a:ext uri="{FF2B5EF4-FFF2-40B4-BE49-F238E27FC236}">
                  <a16:creationId xmlns:a16="http://schemas.microsoft.com/office/drawing/2014/main" id="{1C5DDE46-D7A1-4D71-8751-2AE732F1D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2851"/>
              <a:ext cx="47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rPr>
                <a:t>6000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368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5" name="Rectangle 5">
            <a:extLst>
              <a:ext uri="{FF2B5EF4-FFF2-40B4-BE49-F238E27FC236}">
                <a16:creationId xmlns:a16="http://schemas.microsoft.com/office/drawing/2014/main" id="{926A227A-0880-46A6-A492-6866AD5391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 algn="ctr"/>
            <a:r>
              <a:rPr lang="en-US" altLang="en-US" sz="4000" b="1" dirty="0"/>
              <a:t>Using a Pointer to Access the Elements of a String</a:t>
            </a:r>
          </a:p>
        </p:txBody>
      </p:sp>
      <p:sp>
        <p:nvSpPr>
          <p:cNvPr id="48" name="Slide Number Placeholder 5">
            <a:extLst>
              <a:ext uri="{FF2B5EF4-FFF2-40B4-BE49-F238E27FC236}">
                <a16:creationId xmlns:a16="http://schemas.microsoft.com/office/drawing/2014/main" id="{F9865AAF-02BB-4EE2-9AEE-56480C89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0CB00BA-8839-4383-9568-33260969740B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9F4A5545-26B9-4E88-8868-D7874912C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905636"/>
            <a:ext cx="3724275" cy="3292477"/>
          </a:xfrm>
          <a:prstGeom prst="rect">
            <a:avLst/>
          </a:prstGeom>
          <a:solidFill>
            <a:srgbClr val="FF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t"/>
          <a:lstStyle/>
          <a:p>
            <a:r>
              <a:rPr lang="en-US" altLang="en-US" sz="2800" dirty="0"/>
              <a:t>char   msg[ ] =“Hello”;          </a:t>
            </a:r>
          </a:p>
          <a:p>
            <a:r>
              <a:rPr lang="en-US" altLang="en-US" sz="2800" dirty="0"/>
              <a:t>char *</a:t>
            </a:r>
            <a:r>
              <a:rPr lang="en-US" altLang="en-US" sz="2800" dirty="0" err="1"/>
              <a:t>ptr</a:t>
            </a:r>
            <a:r>
              <a:rPr lang="en-US" altLang="en-US" sz="2800" dirty="0"/>
              <a:t>; </a:t>
            </a:r>
          </a:p>
          <a:p>
            <a:r>
              <a:rPr lang="en-US" altLang="en-US" sz="2800" dirty="0" err="1"/>
              <a:t>ptr</a:t>
            </a:r>
            <a:r>
              <a:rPr lang="en-US" altLang="en-US" sz="2800" dirty="0"/>
              <a:t>  =  msg; </a:t>
            </a:r>
          </a:p>
          <a:p>
            <a:r>
              <a:rPr lang="en-US" altLang="en-US" sz="2800" dirty="0"/>
              <a:t>*</a:t>
            </a:r>
            <a:r>
              <a:rPr lang="en-US" altLang="en-US" sz="2800" dirty="0" err="1"/>
              <a:t>ptr</a:t>
            </a:r>
            <a:r>
              <a:rPr lang="en-US" altLang="en-US" sz="2800" dirty="0"/>
              <a:t>  = ‘M’ ; </a:t>
            </a:r>
          </a:p>
          <a:p>
            <a:r>
              <a:rPr lang="en-US" altLang="en-US" sz="2800" dirty="0" err="1"/>
              <a:t>ptr</a:t>
            </a:r>
            <a:r>
              <a:rPr lang="en-US" altLang="en-US" sz="2800" dirty="0"/>
              <a:t>++;		</a:t>
            </a:r>
          </a:p>
          <a:p>
            <a:endParaRPr lang="en-US" altLang="en-US" sz="2800" dirty="0"/>
          </a:p>
          <a:p>
            <a:r>
              <a:rPr lang="en-US" altLang="en-US" sz="2800" dirty="0"/>
              <a:t>*</a:t>
            </a:r>
            <a:r>
              <a:rPr lang="en-US" altLang="en-US" sz="2800" dirty="0" err="1"/>
              <a:t>ptr</a:t>
            </a:r>
            <a:r>
              <a:rPr lang="en-US" altLang="en-US" sz="2800" dirty="0"/>
              <a:t> = ‘a’;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4F4014D5-6656-4E8E-A5F5-C5A445399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925" y="4713288"/>
            <a:ext cx="1168400" cy="755650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4" name="Rectangle 4">
            <a:extLst>
              <a:ext uri="{FF2B5EF4-FFF2-40B4-BE49-F238E27FC236}">
                <a16:creationId xmlns:a16="http://schemas.microsoft.com/office/drawing/2014/main" id="{D7B320D3-4BA7-43D8-89DF-22043A0C0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1" y="5470525"/>
            <a:ext cx="1006475" cy="40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r>
              <a:rPr lang="en-US" altLang="en-US" sz="2000" b="1">
                <a:latin typeface="Arial" panose="020B0604020202020204" pitchFamily="34" charset="0"/>
              </a:rPr>
              <a:t> ptr</a:t>
            </a:r>
          </a:p>
        </p:txBody>
      </p:sp>
      <p:sp>
        <p:nvSpPr>
          <p:cNvPr id="112646" name="Rectangle 6">
            <a:extLst>
              <a:ext uri="{FF2B5EF4-FFF2-40B4-BE49-F238E27FC236}">
                <a16:creationId xmlns:a16="http://schemas.microsoft.com/office/drawing/2014/main" id="{5411A132-F6C6-4E97-8C2F-07C40F33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825" y="3003550"/>
            <a:ext cx="4406900" cy="730250"/>
          </a:xfrm>
          <a:prstGeom prst="rect">
            <a:avLst/>
          </a:prstGeom>
          <a:solidFill>
            <a:srgbClr val="CCFFFF"/>
          </a:solidFill>
          <a:ln w="12699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7" name="Rectangle 7">
            <a:extLst>
              <a:ext uri="{FF2B5EF4-FFF2-40B4-BE49-F238E27FC236}">
                <a16:creationId xmlns:a16="http://schemas.microsoft.com/office/drawing/2014/main" id="{516B745C-2F44-4DFC-A8E5-C25F0D50B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7817" y="3047120"/>
            <a:ext cx="4200252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‘H’      ‘e’          ‘l’       ‘l’          ‘o’    ‘\0’ </a:t>
            </a:r>
          </a:p>
        </p:txBody>
      </p:sp>
      <p:sp>
        <p:nvSpPr>
          <p:cNvPr id="112648" name="Line 8">
            <a:extLst>
              <a:ext uri="{FF2B5EF4-FFF2-40B4-BE49-F238E27FC236}">
                <a16:creationId xmlns:a16="http://schemas.microsoft.com/office/drawing/2014/main" id="{2882E00D-F9B2-4C75-A873-E5088E636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432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49" name="Line 9">
            <a:extLst>
              <a:ext uri="{FF2B5EF4-FFF2-40B4-BE49-F238E27FC236}">
                <a16:creationId xmlns:a16="http://schemas.microsoft.com/office/drawing/2014/main" id="{4E8E3416-6162-48E0-A842-C31041DCA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727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0" name="Line 10">
            <a:extLst>
              <a:ext uri="{FF2B5EF4-FFF2-40B4-BE49-F238E27FC236}">
                <a16:creationId xmlns:a16="http://schemas.microsoft.com/office/drawing/2014/main" id="{6394F539-CE93-4686-8BFF-4642331F5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022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1" name="Line 11">
            <a:extLst>
              <a:ext uri="{FF2B5EF4-FFF2-40B4-BE49-F238E27FC236}">
                <a16:creationId xmlns:a16="http://schemas.microsoft.com/office/drawing/2014/main" id="{B4D09D6B-4CC0-4983-844C-37DE073D3BEA}"/>
              </a:ext>
            </a:extLst>
          </p:cNvPr>
          <p:cNvSpPr>
            <a:spLocks noChangeShapeType="1"/>
          </p:cNvSpPr>
          <p:nvPr/>
        </p:nvSpPr>
        <p:spPr bwMode="auto">
          <a:xfrm>
            <a:off x="889317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2" name="Line 12">
            <a:extLst>
              <a:ext uri="{FF2B5EF4-FFF2-40B4-BE49-F238E27FC236}">
                <a16:creationId xmlns:a16="http://schemas.microsoft.com/office/drawing/2014/main" id="{C1D6EC9D-7B4A-4A29-BD60-1F93EDF17E16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6125" y="3070225"/>
            <a:ext cx="0" cy="719138"/>
          </a:xfrm>
          <a:prstGeom prst="line">
            <a:avLst/>
          </a:prstGeom>
          <a:noFill/>
          <a:ln w="12699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657" name="Text Box 17">
            <a:extLst>
              <a:ext uri="{FF2B5EF4-FFF2-40B4-BE49-F238E27FC236}">
                <a16:creationId xmlns:a16="http://schemas.microsoft.com/office/drawing/2014/main" id="{BB3B2A74-4D31-4C0A-A97F-B709A37F6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1" y="2135188"/>
            <a:ext cx="709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b="1"/>
              <a:t>msg</a:t>
            </a:r>
          </a:p>
        </p:txBody>
      </p:sp>
      <p:sp>
        <p:nvSpPr>
          <p:cNvPr id="112658" name="Line 18">
            <a:extLst>
              <a:ext uri="{FF2B5EF4-FFF2-40B4-BE49-F238E27FC236}">
                <a16:creationId xmlns:a16="http://schemas.microsoft.com/office/drawing/2014/main" id="{08184D43-CFF8-48B3-97E4-D6AEAC09A60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2590800"/>
            <a:ext cx="30480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659" name="Group 19">
            <a:extLst>
              <a:ext uri="{FF2B5EF4-FFF2-40B4-BE49-F238E27FC236}">
                <a16:creationId xmlns:a16="http://schemas.microsoft.com/office/drawing/2014/main" id="{81F6F060-54FE-4644-AA06-D5A44C4F3DD3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447800"/>
            <a:ext cx="304800" cy="838200"/>
            <a:chOff x="2304" y="2736"/>
            <a:chExt cx="192" cy="528"/>
          </a:xfrm>
        </p:grpSpPr>
        <p:sp>
          <p:nvSpPr>
            <p:cNvPr id="112660" name="AutoShape 20">
              <a:extLst>
                <a:ext uri="{FF2B5EF4-FFF2-40B4-BE49-F238E27FC236}">
                  <a16:creationId xmlns:a16="http://schemas.microsoft.com/office/drawing/2014/main" id="{8ABA0828-CF7E-4118-8303-005E3D31F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61" name="Rectangle 21">
              <a:extLst>
                <a:ext uri="{FF2B5EF4-FFF2-40B4-BE49-F238E27FC236}">
                  <a16:creationId xmlns:a16="http://schemas.microsoft.com/office/drawing/2014/main" id="{C8B2EE0E-5D7A-416C-8583-0AD7286389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662" name="Group 22">
            <a:extLst>
              <a:ext uri="{FF2B5EF4-FFF2-40B4-BE49-F238E27FC236}">
                <a16:creationId xmlns:a16="http://schemas.microsoft.com/office/drawing/2014/main" id="{9B004BCD-78DB-4C88-8BD1-1903DF3AFF9E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05000"/>
            <a:ext cx="304800" cy="838200"/>
            <a:chOff x="2304" y="2736"/>
            <a:chExt cx="192" cy="528"/>
          </a:xfrm>
        </p:grpSpPr>
        <p:sp>
          <p:nvSpPr>
            <p:cNvPr id="112663" name="AutoShape 23">
              <a:extLst>
                <a:ext uri="{FF2B5EF4-FFF2-40B4-BE49-F238E27FC236}">
                  <a16:creationId xmlns:a16="http://schemas.microsoft.com/office/drawing/2014/main" id="{12491B9A-98EF-46C4-AF3E-7E3629E39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64" name="Rectangle 24">
              <a:extLst>
                <a:ext uri="{FF2B5EF4-FFF2-40B4-BE49-F238E27FC236}">
                  <a16:creationId xmlns:a16="http://schemas.microsoft.com/office/drawing/2014/main" id="{0E7078C7-5A98-4832-B9DB-1F66A41FE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665" name="Group 25">
            <a:extLst>
              <a:ext uri="{FF2B5EF4-FFF2-40B4-BE49-F238E27FC236}">
                <a16:creationId xmlns:a16="http://schemas.microsoft.com/office/drawing/2014/main" id="{A15722B3-5A60-4029-A7EB-FB1FAF09331E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362200"/>
            <a:ext cx="304800" cy="838200"/>
            <a:chOff x="2304" y="2736"/>
            <a:chExt cx="192" cy="528"/>
          </a:xfrm>
        </p:grpSpPr>
        <p:sp>
          <p:nvSpPr>
            <p:cNvPr id="112666" name="AutoShape 26">
              <a:extLst>
                <a:ext uri="{FF2B5EF4-FFF2-40B4-BE49-F238E27FC236}">
                  <a16:creationId xmlns:a16="http://schemas.microsoft.com/office/drawing/2014/main" id="{6A89FFC2-202F-4949-A3D9-C4952581DD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67" name="Rectangle 27">
              <a:extLst>
                <a:ext uri="{FF2B5EF4-FFF2-40B4-BE49-F238E27FC236}">
                  <a16:creationId xmlns:a16="http://schemas.microsoft.com/office/drawing/2014/main" id="{C9CDB06A-6860-4209-B087-4886851F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2668" name="Text Box 28">
            <a:extLst>
              <a:ext uri="{FF2B5EF4-FFF2-40B4-BE49-F238E27FC236}">
                <a16:creationId xmlns:a16="http://schemas.microsoft.com/office/drawing/2014/main" id="{6DE31BE8-777C-4799-B41E-6F85E0D2E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651126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CC0000"/>
                </a:solidFill>
                <a:latin typeface="Courier New" panose="02070309020205020404" pitchFamily="49" charset="0"/>
              </a:rPr>
              <a:t>3000</a:t>
            </a:r>
          </a:p>
        </p:txBody>
      </p:sp>
      <p:sp>
        <p:nvSpPr>
          <p:cNvPr id="112669" name="Text Box 29">
            <a:extLst>
              <a:ext uri="{FF2B5EF4-FFF2-40B4-BE49-F238E27FC236}">
                <a16:creationId xmlns:a16="http://schemas.microsoft.com/office/drawing/2014/main" id="{CE64F630-EC13-40B6-8FE7-70176DF90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0450" y="4708526"/>
            <a:ext cx="7937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CC0000"/>
                </a:solidFill>
                <a:latin typeface="Courier New" panose="02070309020205020404" pitchFamily="49" charset="0"/>
              </a:rPr>
              <a:t>3000</a:t>
            </a:r>
          </a:p>
        </p:txBody>
      </p:sp>
      <p:sp>
        <p:nvSpPr>
          <p:cNvPr id="112670" name="Line 30">
            <a:extLst>
              <a:ext uri="{FF2B5EF4-FFF2-40B4-BE49-F238E27FC236}">
                <a16:creationId xmlns:a16="http://schemas.microsoft.com/office/drawing/2014/main" id="{27B76F6F-2CC1-48AD-A33A-2BAAA8CA2C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2200" y="3810000"/>
            <a:ext cx="1524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2676" name="Group 36">
            <a:extLst>
              <a:ext uri="{FF2B5EF4-FFF2-40B4-BE49-F238E27FC236}">
                <a16:creationId xmlns:a16="http://schemas.microsoft.com/office/drawing/2014/main" id="{645B8342-2641-4532-ADAD-16C6FBF31CCF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200400"/>
            <a:ext cx="674688" cy="685800"/>
            <a:chOff x="2784" y="2016"/>
            <a:chExt cx="425" cy="432"/>
          </a:xfrm>
        </p:grpSpPr>
        <p:sp>
          <p:nvSpPr>
            <p:cNvPr id="112671" name="Text Box 31">
              <a:extLst>
                <a:ext uri="{FF2B5EF4-FFF2-40B4-BE49-F238E27FC236}">
                  <a16:creationId xmlns:a16="http://schemas.microsoft.com/office/drawing/2014/main" id="{D2649B4D-5844-4C58-9085-1E31D6D3E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160"/>
              <a:ext cx="4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chemeClr val="accent2"/>
                  </a:solidFill>
                </a:rPr>
                <a:t>‘M’</a:t>
              </a:r>
            </a:p>
          </p:txBody>
        </p:sp>
        <p:sp>
          <p:nvSpPr>
            <p:cNvPr id="112672" name="Line 32">
              <a:extLst>
                <a:ext uri="{FF2B5EF4-FFF2-40B4-BE49-F238E27FC236}">
                  <a16:creationId xmlns:a16="http://schemas.microsoft.com/office/drawing/2014/main" id="{C4E0E87F-D21E-4A38-9041-EEFA04F473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2016"/>
              <a:ext cx="33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dirty="0"/>
                <a:t>   </a:t>
              </a:r>
            </a:p>
          </p:txBody>
        </p:sp>
      </p:grpSp>
      <p:grpSp>
        <p:nvGrpSpPr>
          <p:cNvPr id="112677" name="Group 37">
            <a:extLst>
              <a:ext uri="{FF2B5EF4-FFF2-40B4-BE49-F238E27FC236}">
                <a16:creationId xmlns:a16="http://schemas.microsoft.com/office/drawing/2014/main" id="{C07C498F-D693-4311-A57C-BAE7193E32B1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2819400"/>
            <a:ext cx="304800" cy="838200"/>
            <a:chOff x="2304" y="2736"/>
            <a:chExt cx="192" cy="528"/>
          </a:xfrm>
        </p:grpSpPr>
        <p:sp>
          <p:nvSpPr>
            <p:cNvPr id="112678" name="AutoShape 38">
              <a:extLst>
                <a:ext uri="{FF2B5EF4-FFF2-40B4-BE49-F238E27FC236}">
                  <a16:creationId xmlns:a16="http://schemas.microsoft.com/office/drawing/2014/main" id="{FADCB029-F735-4DAB-A5AE-DACA34F41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79" name="Rectangle 39">
              <a:extLst>
                <a:ext uri="{FF2B5EF4-FFF2-40B4-BE49-F238E27FC236}">
                  <a16:creationId xmlns:a16="http://schemas.microsoft.com/office/drawing/2014/main" id="{407AA74D-B949-45FE-972C-A96DB9554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680" name="Group 40">
            <a:extLst>
              <a:ext uri="{FF2B5EF4-FFF2-40B4-BE49-F238E27FC236}">
                <a16:creationId xmlns:a16="http://schemas.microsoft.com/office/drawing/2014/main" id="{C29915BA-CED2-45FC-BA7E-4D8E7565D629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276600"/>
            <a:ext cx="304800" cy="838200"/>
            <a:chOff x="2304" y="2736"/>
            <a:chExt cx="192" cy="528"/>
          </a:xfrm>
        </p:grpSpPr>
        <p:sp>
          <p:nvSpPr>
            <p:cNvPr id="112681" name="AutoShape 41">
              <a:extLst>
                <a:ext uri="{FF2B5EF4-FFF2-40B4-BE49-F238E27FC236}">
                  <a16:creationId xmlns:a16="http://schemas.microsoft.com/office/drawing/2014/main" id="{7DB931C7-5502-4FCF-AF43-90C77A30B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82" name="Rectangle 42">
              <a:extLst>
                <a:ext uri="{FF2B5EF4-FFF2-40B4-BE49-F238E27FC236}">
                  <a16:creationId xmlns:a16="http://schemas.microsoft.com/office/drawing/2014/main" id="{39E65C30-D86D-445E-A057-2832C40C7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683" name="Group 43">
            <a:extLst>
              <a:ext uri="{FF2B5EF4-FFF2-40B4-BE49-F238E27FC236}">
                <a16:creationId xmlns:a16="http://schemas.microsoft.com/office/drawing/2014/main" id="{7F38AB6D-8894-4FA2-8AC6-F85C0DE7E91F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3733800"/>
            <a:ext cx="304800" cy="838200"/>
            <a:chOff x="2304" y="2736"/>
            <a:chExt cx="192" cy="528"/>
          </a:xfrm>
        </p:grpSpPr>
        <p:sp>
          <p:nvSpPr>
            <p:cNvPr id="112684" name="AutoShape 44">
              <a:extLst>
                <a:ext uri="{FF2B5EF4-FFF2-40B4-BE49-F238E27FC236}">
                  <a16:creationId xmlns:a16="http://schemas.microsoft.com/office/drawing/2014/main" id="{529292FE-0FAD-4504-B61F-E99BD0457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120"/>
              <a:ext cx="192" cy="144"/>
            </a:xfrm>
            <a:prstGeom prst="rightArrow">
              <a:avLst>
                <a:gd name="adj1" fmla="val 50000"/>
                <a:gd name="adj2" fmla="val 33333"/>
              </a:avLst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85" name="Rectangle 45">
              <a:extLst>
                <a:ext uri="{FF2B5EF4-FFF2-40B4-BE49-F238E27FC236}">
                  <a16:creationId xmlns:a16="http://schemas.microsoft.com/office/drawing/2014/main" id="{FD93A67F-7849-4F47-8CF5-E893B05A3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73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12688" name="Group 48">
            <a:extLst>
              <a:ext uri="{FF2B5EF4-FFF2-40B4-BE49-F238E27FC236}">
                <a16:creationId xmlns:a16="http://schemas.microsoft.com/office/drawing/2014/main" id="{59B56C8C-8F33-4641-B7B8-4EB21E79103B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3810000"/>
            <a:ext cx="914400" cy="838200"/>
            <a:chOff x="2880" y="2400"/>
            <a:chExt cx="576" cy="528"/>
          </a:xfrm>
        </p:grpSpPr>
        <p:sp>
          <p:nvSpPr>
            <p:cNvPr id="112687" name="Rectangle 47">
              <a:extLst>
                <a:ext uri="{FF2B5EF4-FFF2-40B4-BE49-F238E27FC236}">
                  <a16:creationId xmlns:a16="http://schemas.microsoft.com/office/drawing/2014/main" id="{AD7383E2-A4E6-4116-B753-0BCF82DAC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2400"/>
              <a:ext cx="288" cy="5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686" name="Line 46">
              <a:extLst>
                <a:ext uri="{FF2B5EF4-FFF2-40B4-BE49-F238E27FC236}">
                  <a16:creationId xmlns:a16="http://schemas.microsoft.com/office/drawing/2014/main" id="{8404D5C0-368B-4E78-8EA9-73FA6B08E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2400"/>
              <a:ext cx="480" cy="4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92" name="Group 52">
            <a:extLst>
              <a:ext uri="{FF2B5EF4-FFF2-40B4-BE49-F238E27FC236}">
                <a16:creationId xmlns:a16="http://schemas.microsoft.com/office/drawing/2014/main" id="{9D67B720-7821-4C32-A277-53A2AFC7B415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3123497"/>
            <a:ext cx="701675" cy="788988"/>
            <a:chOff x="4358" y="2815"/>
            <a:chExt cx="442" cy="497"/>
          </a:xfrm>
        </p:grpSpPr>
        <p:sp>
          <p:nvSpPr>
            <p:cNvPr id="112690" name="Text Box 50">
              <a:extLst>
                <a:ext uri="{FF2B5EF4-FFF2-40B4-BE49-F238E27FC236}">
                  <a16:creationId xmlns:a16="http://schemas.microsoft.com/office/drawing/2014/main" id="{56250C6A-3583-43D8-8CC0-BA4B551EA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0" y="3024"/>
              <a:ext cx="3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b="1">
                  <a:solidFill>
                    <a:schemeClr val="accent2"/>
                  </a:solidFill>
                </a:rPr>
                <a:t>‘a’</a:t>
              </a:r>
            </a:p>
          </p:txBody>
        </p:sp>
        <p:sp>
          <p:nvSpPr>
            <p:cNvPr id="112691" name="Line 51">
              <a:extLst>
                <a:ext uri="{FF2B5EF4-FFF2-40B4-BE49-F238E27FC236}">
                  <a16:creationId xmlns:a16="http://schemas.microsoft.com/office/drawing/2014/main" id="{490FE9DA-3D05-422A-895B-9CC3E901BD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8" y="2815"/>
              <a:ext cx="336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r>
                <a:rPr lang="en-US" dirty="0"/>
                <a:t>     </a:t>
              </a:r>
            </a:p>
          </p:txBody>
        </p:sp>
      </p:grpSp>
      <p:sp>
        <p:nvSpPr>
          <p:cNvPr id="112693" name="Text Box 53">
            <a:extLst>
              <a:ext uri="{FF2B5EF4-FFF2-40B4-BE49-F238E27FC236}">
                <a16:creationId xmlns:a16="http://schemas.microsoft.com/office/drawing/2014/main" id="{4BA6266C-E547-4D57-8AA4-4441F61AB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724401"/>
            <a:ext cx="793750" cy="39687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000" b="1">
                <a:solidFill>
                  <a:srgbClr val="CC0000"/>
                </a:solidFill>
                <a:latin typeface="Courier New" panose="02070309020205020404" pitchFamily="49" charset="0"/>
              </a:rPr>
              <a:t>3001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2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2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2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1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2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1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12669" grpId="0"/>
      <p:bldP spid="11269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CF3596A-870F-4C8E-BF00-B4D65E9296CF}" type="slidenum">
              <a:rPr lang="en-US" smtClean="0"/>
              <a:pPr eaLnBrk="1" hangingPunct="1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5486401"/>
            <a:ext cx="4304334" cy="10306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29" y="633742"/>
            <a:ext cx="8828236" cy="4648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38800" y="480060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OUTPUT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C9A2FC-2C05-4E99-A0C4-D728CF1E51B3}"/>
              </a:ext>
            </a:extLst>
          </p:cNvPr>
          <p:cNvSpPr txBox="1">
            <a:spLocks/>
          </p:cNvSpPr>
          <p:nvPr/>
        </p:nvSpPr>
        <p:spPr>
          <a:xfrm>
            <a:off x="4191000" y="124802"/>
            <a:ext cx="4800600" cy="625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highlight>
                  <a:srgbClr val="99FFCC"/>
                </a:highlight>
              </a:rPr>
              <a:t>Question-1: What is the output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3BF3465-2462-4420-95F7-F9D5864567F4}" type="slidenum">
              <a:rPr lang="en-US" smtClean="0"/>
              <a:pPr eaLnBrk="1" hangingPunct="1"/>
              <a:t>20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28600"/>
            <a:ext cx="6705600" cy="55486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5129667"/>
            <a:ext cx="3390900" cy="16012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91600" y="4419600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OUTPUT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9C8F666-E797-450A-95A9-1F9D158A4E5E}"/>
              </a:ext>
            </a:extLst>
          </p:cNvPr>
          <p:cNvSpPr txBox="1">
            <a:spLocks/>
          </p:cNvSpPr>
          <p:nvPr/>
        </p:nvSpPr>
        <p:spPr>
          <a:xfrm>
            <a:off x="5147603" y="136525"/>
            <a:ext cx="4800600" cy="625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highlight>
                  <a:srgbClr val="99FFCC"/>
                </a:highlight>
              </a:rPr>
              <a:t>Question-2: What is the output 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4B6B13-877C-477E-A9EF-2D8B6399C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C1140-2104-4FF4-82A7-BA266096C5F4}" type="slidenum">
              <a:rPr lang="en-US" altLang="en-US" smtClean="0"/>
              <a:pPr/>
              <a:t>21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1CE63-B3E1-4BC8-9A5E-FFF788AEE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6525"/>
            <a:ext cx="7205058" cy="65849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6D4EFDE-6E4A-4ACF-B5C7-73883D5F72D6}"/>
              </a:ext>
            </a:extLst>
          </p:cNvPr>
          <p:cNvSpPr txBox="1">
            <a:spLocks/>
          </p:cNvSpPr>
          <p:nvPr/>
        </p:nvSpPr>
        <p:spPr>
          <a:xfrm>
            <a:off x="4191000" y="124802"/>
            <a:ext cx="4800600" cy="625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highlight>
                  <a:srgbClr val="99FFCC"/>
                </a:highlight>
              </a:rPr>
              <a:t>Question-1: What is the output 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EBEECE-98A9-4C9A-AE90-3179B783F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922" y="1256177"/>
            <a:ext cx="1758535" cy="20290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5ABA66-AF29-4E8B-BBFD-B4F6C7233D14}"/>
              </a:ext>
            </a:extLst>
          </p:cNvPr>
          <p:cNvSpPr txBox="1"/>
          <p:nvPr/>
        </p:nvSpPr>
        <p:spPr>
          <a:xfrm>
            <a:off x="9601199" y="609600"/>
            <a:ext cx="2138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OUTPUT: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858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FAA1A544-6600-434F-9A6B-69C46627D6C3}" type="slidenum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870" name="Rectangle 3"/>
          <p:cNvSpPr>
            <a:spLocks noGrp="1" noChangeArrowheads="1"/>
          </p:cNvSpPr>
          <p:nvPr>
            <p:ph type="title"/>
          </p:nvPr>
        </p:nvSpPr>
        <p:spPr>
          <a:xfrm>
            <a:off x="1752600" y="-228600"/>
            <a:ext cx="8229600" cy="1143000"/>
          </a:xfrm>
        </p:spPr>
        <p:txBody>
          <a:bodyPr/>
          <a:lstStyle/>
          <a:p>
            <a:pPr eaLnBrk="1" hangingPunct="1"/>
            <a:r>
              <a:rPr lang="en-US" sz="2400" b="1" dirty="0">
                <a:solidFill>
                  <a:srgbClr val="FF0000"/>
                </a:solidFill>
              </a:rPr>
              <a:t>Question-2: What is the content of the array?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685800"/>
            <a:ext cx="4440546" cy="4419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181600"/>
            <a:ext cx="5638800" cy="1524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876" y="1828800"/>
            <a:ext cx="5060633" cy="628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10840"/>
            <a:ext cx="2508994" cy="570289"/>
          </a:xfrm>
        </p:spPr>
        <p:txBody>
          <a:bodyPr/>
          <a:lstStyle/>
          <a:p>
            <a:r>
              <a:rPr lang="en-IN" sz="3200" b="1" dirty="0">
                <a:solidFill>
                  <a:srgbClr val="FF0000"/>
                </a:solidFill>
              </a:rPr>
              <a:t>Question-3: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72578" y="990600"/>
            <a:ext cx="228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N" sz="3200" b="1" dirty="0">
                <a:solidFill>
                  <a:srgbClr val="FF0000"/>
                </a:solidFill>
                <a:highlight>
                  <a:srgbClr val="00FFFF"/>
                </a:highlight>
                <a:latin typeface="Arial" charset="0"/>
              </a:rPr>
              <a:t>OUTPUT: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494026-B129-4350-BBFB-F9ACC7D65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87" y="838200"/>
            <a:ext cx="9286504" cy="4572000"/>
          </a:xfrm>
          <a:prstGeom prst="rect">
            <a:avLst/>
          </a:prstGeom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B64E3C-9739-4A3F-B14B-4417A35DF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578" y="1790779"/>
            <a:ext cx="1661417" cy="407662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DBADE7-4B51-4FFB-AE0F-74B5726C67C4}"/>
              </a:ext>
            </a:extLst>
          </p:cNvPr>
          <p:cNvCxnSpPr/>
          <p:nvPr/>
        </p:nvCxnSpPr>
        <p:spPr>
          <a:xfrm>
            <a:off x="8915400" y="2286000"/>
            <a:ext cx="533400" cy="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0878071-7910-45F6-A5D8-F3C3F89FC50D}"/>
              </a:ext>
            </a:extLst>
          </p:cNvPr>
          <p:cNvCxnSpPr/>
          <p:nvPr/>
        </p:nvCxnSpPr>
        <p:spPr>
          <a:xfrm>
            <a:off x="8839200" y="3276600"/>
            <a:ext cx="533400" cy="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0D7C21-C393-412E-A70C-351535904C7D}"/>
              </a:ext>
            </a:extLst>
          </p:cNvPr>
          <p:cNvCxnSpPr>
            <a:cxnSpLocks/>
          </p:cNvCxnSpPr>
          <p:nvPr/>
        </p:nvCxnSpPr>
        <p:spPr>
          <a:xfrm>
            <a:off x="8839200" y="4343400"/>
            <a:ext cx="533400" cy="0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E29EE56-0279-44E6-B6FF-F06EBEA8A375}"/>
              </a:ext>
            </a:extLst>
          </p:cNvPr>
          <p:cNvCxnSpPr>
            <a:cxnSpLocks/>
          </p:cNvCxnSpPr>
          <p:nvPr/>
        </p:nvCxnSpPr>
        <p:spPr>
          <a:xfrm>
            <a:off x="8839200" y="5257800"/>
            <a:ext cx="533400" cy="1"/>
          </a:xfrm>
          <a:prstGeom prst="straightConnector1">
            <a:avLst/>
          </a:prstGeom>
          <a:ln w="508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54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52D820E9-24E0-4B78-9002-F41EA01F5BB8}" type="slidenum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7893" name="Rectangle 2"/>
          <p:cNvSpPr>
            <a:spLocks noGrp="1" noChangeArrowheads="1"/>
          </p:cNvSpPr>
          <p:nvPr>
            <p:ph type="title"/>
          </p:nvPr>
        </p:nvSpPr>
        <p:spPr>
          <a:xfrm>
            <a:off x="1494692" y="152400"/>
            <a:ext cx="8229600" cy="762000"/>
          </a:xfrm>
        </p:spPr>
        <p:txBody>
          <a:bodyPr/>
          <a:lstStyle/>
          <a:p>
            <a:pPr eaLnBrk="1" hangingPunct="1"/>
            <a:r>
              <a:rPr lang="en-US" sz="3200" b="1" dirty="0"/>
              <a:t>Pointers and character strings</a:t>
            </a:r>
          </a:p>
        </p:txBody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31985"/>
            <a:ext cx="10668000" cy="531324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statement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char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cp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 =name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</a:p>
          <a:p>
            <a:pPr algn="just" eaLnBrk="1" hangingPunct="1">
              <a:lnSpc>
                <a:spcPct val="150000"/>
              </a:lnSpc>
              <a:buFontTx/>
              <a:buNone/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	declares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cp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as a pointer to a character and assigns address of the first character of name as the initial value.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 statement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while(*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cp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!=‘\0’)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i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 true until the end of the string is reached.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When the while loop is terminated, the pointer </a:t>
            </a:r>
            <a:r>
              <a:rPr lang="en-US" sz="2400" b="1" dirty="0" err="1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cp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holds the address of the null character.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sz="24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statement </a:t>
            </a:r>
            <a:r>
              <a:rPr lang="en-US" sz="24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length = </a:t>
            </a:r>
            <a:r>
              <a:rPr lang="en-US" sz="2400" b="1" dirty="0" err="1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cp</a:t>
            </a:r>
            <a:r>
              <a:rPr lang="en-US" sz="2400" b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name</a:t>
            </a:r>
            <a:r>
              <a:rPr lang="en-US" sz="2400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gives the length of the string name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 algn="just" eaLnBrk="1" hangingPunct="1">
              <a:lnSpc>
                <a:spcPct val="150000"/>
              </a:lnSpc>
              <a:buNone/>
              <a:defRPr/>
            </a:pP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64C34884-209B-48D4-9733-A41CC3804F69}" type="slidenum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685800"/>
            <a:ext cx="11506200" cy="45720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r>
              <a:rPr lang="en-US" sz="2400" dirty="0"/>
              <a:t>The following statements are valid.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char *name;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name =“Delhi”;</a:t>
            </a:r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r>
              <a:rPr lang="en-US" sz="2400" dirty="0"/>
              <a:t>These statements will declare name  as a pointer to character and assign to name the constant character string “Delhi”</a:t>
            </a:r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r>
              <a:rPr lang="en-US" sz="2400" dirty="0"/>
              <a:t>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DD4646BC-4D45-4E8D-9591-03E2F8EA2F52}" type="slidenum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9941" name="Rectangle 2"/>
          <p:cNvSpPr txBox="1">
            <a:spLocks noChangeArrowheads="1"/>
          </p:cNvSpPr>
          <p:nvPr/>
        </p:nvSpPr>
        <p:spPr bwMode="auto">
          <a:xfrm>
            <a:off x="2078038" y="838200"/>
            <a:ext cx="77724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sym typeface="Wingdings" pitchFamily="2" charset="2"/>
              </a:rPr>
              <a:t>//Program to find the length of the string</a:t>
            </a:r>
          </a:p>
          <a:p>
            <a:pPr defTabSz="914400" eaLnBrk="1" fontAlgn="base" hangingPunct="1">
              <a:spcBef>
                <a:spcPct val="2000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  <a:p>
            <a:pPr defTabSz="914400" eaLnBrk="1" fontAlgn="base" hangingPunct="1">
              <a:spcBef>
                <a:spcPct val="2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703022"/>
            <a:ext cx="8107144" cy="35547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959" y="1728138"/>
            <a:ext cx="8985953" cy="246459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76400" y="152401"/>
            <a:ext cx="6934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IN" sz="2400" b="1" u="sng" dirty="0" err="1">
                <a:solidFill>
                  <a:srgbClr val="000000"/>
                </a:solidFill>
                <a:latin typeface="Arial" charset="0"/>
              </a:rPr>
              <a:t>Strcmp</a:t>
            </a:r>
            <a:r>
              <a:rPr lang="en-IN" sz="2400" b="1" u="sng" dirty="0">
                <a:solidFill>
                  <a:srgbClr val="000000"/>
                </a:solidFill>
                <a:latin typeface="Arial" charset="0"/>
              </a:rPr>
              <a:t>() function</a:t>
            </a:r>
            <a:r>
              <a:rPr lang="en-IN" sz="2400" b="1" dirty="0">
                <a:solidFill>
                  <a:srgbClr val="000000"/>
                </a:solidFill>
                <a:latin typeface="Arial" charset="0"/>
              </a:rPr>
              <a:t>: </a:t>
            </a: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en-IN" sz="2400" b="1" dirty="0">
              <a:solidFill>
                <a:srgbClr val="000000"/>
              </a:solidFill>
              <a:latin typeface="Arial" charset="0"/>
            </a:endParaRPr>
          </a:p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IN" sz="2400" b="1" dirty="0" err="1">
                <a:solidFill>
                  <a:srgbClr val="000000"/>
                </a:solidFill>
                <a:latin typeface="Arial" charset="0"/>
              </a:rPr>
              <a:t>int</a:t>
            </a:r>
            <a:r>
              <a:rPr lang="en-IN" sz="2400" b="1" dirty="0">
                <a:solidFill>
                  <a:srgbClr val="000000"/>
                </a:solidFill>
                <a:latin typeface="Arial" charset="0"/>
              </a:rPr>
              <a:t>   </a:t>
            </a:r>
            <a:r>
              <a:rPr lang="en-IN" sz="2400" b="1" dirty="0" err="1">
                <a:solidFill>
                  <a:srgbClr val="FF0000"/>
                </a:solidFill>
                <a:latin typeface="Arial" charset="0"/>
              </a:rPr>
              <a:t>my_strcmp</a:t>
            </a:r>
            <a:r>
              <a:rPr lang="en-IN" sz="2400" b="1" dirty="0">
                <a:solidFill>
                  <a:srgbClr val="000000"/>
                </a:solidFill>
                <a:latin typeface="Arial" charset="0"/>
              </a:rPr>
              <a:t> ( char  *s1 ,  char  *s2 )</a:t>
            </a:r>
          </a:p>
        </p:txBody>
      </p:sp>
    </p:spTree>
    <p:extLst>
      <p:ext uri="{BB962C8B-B14F-4D97-AF65-F5344CB8AC3E}">
        <p14:creationId xmlns:p14="http://schemas.microsoft.com/office/powerpoint/2010/main" val="336706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706562"/>
          </a:xfrm>
        </p:spPr>
        <p:txBody>
          <a:bodyPr>
            <a:normAutofit/>
          </a:bodyPr>
          <a:lstStyle/>
          <a:p>
            <a:r>
              <a:rPr lang="en-IN" sz="2800" b="1" u="sng" dirty="0" err="1"/>
              <a:t>Strcpy</a:t>
            </a:r>
            <a:r>
              <a:rPr lang="en-IN" sz="2800" b="1" u="sng" dirty="0"/>
              <a:t>() function:</a:t>
            </a:r>
            <a:br>
              <a:rPr lang="en-IN" sz="2800" b="1" u="sng" dirty="0"/>
            </a:br>
            <a:br>
              <a:rPr lang="en-IN" sz="2100" b="1" dirty="0"/>
            </a:br>
            <a:r>
              <a:rPr lang="en-IN" sz="2100" b="1" dirty="0"/>
              <a:t>void  </a:t>
            </a:r>
            <a:r>
              <a:rPr lang="en-IN" sz="2100" b="1" dirty="0" err="1">
                <a:solidFill>
                  <a:srgbClr val="FF0000"/>
                </a:solidFill>
              </a:rPr>
              <a:t>my_strcpy</a:t>
            </a:r>
            <a:r>
              <a:rPr lang="en-IN" sz="2100" b="1" dirty="0">
                <a:solidFill>
                  <a:srgbClr val="FF0000"/>
                </a:solidFill>
              </a:rPr>
              <a:t> </a:t>
            </a:r>
            <a:r>
              <a:rPr lang="en-IN" sz="2100" b="1" dirty="0"/>
              <a:t>( char  *</a:t>
            </a:r>
            <a:r>
              <a:rPr lang="en-IN" sz="2100" b="1" dirty="0" err="1"/>
              <a:t>dest</a:t>
            </a:r>
            <a:r>
              <a:rPr lang="en-IN" sz="2100" b="1" dirty="0"/>
              <a:t>,  char  *</a:t>
            </a:r>
            <a:r>
              <a:rPr lang="en-IN" sz="2100" b="1" dirty="0" err="1"/>
              <a:t>src</a:t>
            </a:r>
            <a:r>
              <a:rPr lang="en-IN" sz="2100" b="1" dirty="0"/>
              <a:t> )</a:t>
            </a:r>
            <a:r>
              <a:rPr lang="en-IN" sz="2100" dirty="0"/>
              <a:t> 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89" y="2444352"/>
            <a:ext cx="7228625" cy="278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6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2152651" y="1394012"/>
            <a:ext cx="6790459" cy="574127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214245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685800"/>
            <a:r>
              <a:rPr lang="en-US" altLang="en-US" sz="2100" dirty="0"/>
              <a:t>void  </a:t>
            </a:r>
            <a:r>
              <a:rPr lang="en-US" altLang="en-US" sz="2100" b="1" dirty="0" err="1">
                <a:solidFill>
                  <a:srgbClr val="FF0000"/>
                </a:solidFill>
              </a:rPr>
              <a:t>my_strcat</a:t>
            </a:r>
            <a:r>
              <a:rPr lang="en-US" altLang="en-US" sz="2100" dirty="0"/>
              <a:t> ( char   *</a:t>
            </a:r>
            <a:r>
              <a:rPr lang="en-US" altLang="en-US" sz="2100" dirty="0" err="1"/>
              <a:t>dest</a:t>
            </a:r>
            <a:r>
              <a:rPr lang="en-US" altLang="en-US" sz="2100" dirty="0"/>
              <a:t>,   char *</a:t>
            </a:r>
            <a:r>
              <a:rPr lang="en-US" altLang="en-US" sz="2100" dirty="0" err="1"/>
              <a:t>src</a:t>
            </a:r>
            <a:r>
              <a:rPr lang="en-US" altLang="en-US" sz="2100" dirty="0"/>
              <a:t> 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512" y="2363728"/>
            <a:ext cx="7543800" cy="331745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152650" y="381000"/>
            <a:ext cx="4476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IN" sz="2800" b="1" u="sng" dirty="0" err="1">
                <a:solidFill>
                  <a:srgbClr val="000000"/>
                </a:solidFill>
                <a:latin typeface="Arial" charset="0"/>
              </a:rPr>
              <a:t>Strcat</a:t>
            </a:r>
            <a:r>
              <a:rPr lang="en-IN" sz="2800" b="1" u="sng" dirty="0">
                <a:solidFill>
                  <a:srgbClr val="000000"/>
                </a:solidFill>
                <a:latin typeface="Arial" charset="0"/>
              </a:rPr>
              <a:t>() function:</a:t>
            </a:r>
          </a:p>
        </p:txBody>
      </p:sp>
    </p:spTree>
    <p:extLst>
      <p:ext uri="{BB962C8B-B14F-4D97-AF65-F5344CB8AC3E}">
        <p14:creationId xmlns:p14="http://schemas.microsoft.com/office/powerpoint/2010/main" val="265162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72584"/>
            <a:ext cx="7886700" cy="247751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Question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066801"/>
            <a:ext cx="8022991" cy="5638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850524"/>
            <a:ext cx="3158544" cy="2435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0" y="388860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en-IN" sz="2400" b="1" dirty="0">
                <a:solidFill>
                  <a:srgbClr val="FF0000"/>
                </a:solidFill>
                <a:latin typeface="Arial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221264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fld id="{605F2A7D-D5EB-43E5-8666-96654FEA807D}" type="slidenum">
              <a:rPr lang="en-US">
                <a:solidFill>
                  <a:srgbClr val="000000"/>
                </a:solidFill>
              </a:rPr>
              <a:pPr defTabSz="914400" eaLnBrk="1" fontAlgn="base" hangingPunct="1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66700" y="1530350"/>
            <a:ext cx="11658600" cy="49530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b="1" dirty="0"/>
              <a:t>char name[3][25];</a:t>
            </a:r>
          </a:p>
          <a:p>
            <a:pPr algn="just" eaLnBrk="1" hangingPunct="1">
              <a:lnSpc>
                <a:spcPct val="150000"/>
              </a:lnSpc>
              <a:buFontTx/>
              <a:buNone/>
            </a:pPr>
            <a:r>
              <a:rPr lang="en-US" sz="2400" dirty="0"/>
              <a:t>	This says that the name is a table containing 3 names, each with a maximum length of 25 characters (including null character)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/>
              <a:t>The </a:t>
            </a:r>
            <a:r>
              <a:rPr lang="en-US" sz="2400" b="1" dirty="0"/>
              <a:t>total storage</a:t>
            </a:r>
            <a:r>
              <a:rPr lang="en-US" sz="2400" dirty="0"/>
              <a:t> requirements for the  name table are </a:t>
            </a:r>
            <a:r>
              <a:rPr lang="en-US" sz="2400" b="1" dirty="0"/>
              <a:t>75 bytes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/>
              <a:t>We know that rarely the individual strings will be of equal lengths.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/>
              <a:t>Therefore, instead of making each row a fixed number of characters, we can make it a pointer to a string of varying length.</a:t>
            </a:r>
          </a:p>
        </p:txBody>
      </p:sp>
      <p:sp>
        <p:nvSpPr>
          <p:cNvPr id="40966" name="Rectangle 3"/>
          <p:cNvSpPr>
            <a:spLocks noGrp="1" noChangeArrowheads="1"/>
          </p:cNvSpPr>
          <p:nvPr>
            <p:ph type="title"/>
          </p:nvPr>
        </p:nvSpPr>
        <p:spPr>
          <a:xfrm>
            <a:off x="1981200" y="685800"/>
            <a:ext cx="8229600" cy="609600"/>
          </a:xfrm>
        </p:spPr>
        <p:txBody>
          <a:bodyPr/>
          <a:lstStyle/>
          <a:p>
            <a:pPr eaLnBrk="1" hangingPunct="1"/>
            <a:r>
              <a:rPr lang="en-US" sz="2800" b="1"/>
              <a:t>Handling Table of Strings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52600" y="228600"/>
            <a:ext cx="8763000" cy="6324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b="1" u="sng" dirty="0"/>
              <a:t>Array of strings</a:t>
            </a:r>
          </a:p>
          <a:p>
            <a:pPr eaLnBrk="1" hangingPunct="1">
              <a:buFontTx/>
              <a:buNone/>
            </a:pPr>
            <a:endParaRPr lang="en-US" sz="2400" b="1" u="sng" dirty="0"/>
          </a:p>
          <a:p>
            <a:pPr eaLnBrk="1" hangingPunct="1">
              <a:buFontTx/>
              <a:buNone/>
            </a:pPr>
            <a:r>
              <a:rPr lang="en-US" sz="2400" b="1" dirty="0"/>
              <a:t>char *name[3] = { “New Zealand”, “Australia”, India”};</a:t>
            </a:r>
          </a:p>
          <a:p>
            <a:pPr algn="just" eaLnBrk="1" hangingPunct="1">
              <a:buFontTx/>
              <a:buNone/>
            </a:pPr>
            <a:r>
              <a:rPr lang="en-US" sz="2400" dirty="0">
                <a:solidFill>
                  <a:srgbClr val="0070C0"/>
                </a:solidFill>
              </a:rPr>
              <a:t>Declares name to be an array of 3 pointers to characters, each pointer pointing to a particular name as shown below.</a:t>
            </a:r>
          </a:p>
          <a:p>
            <a:pPr eaLnBrk="1" hangingPunct="1">
              <a:buFontTx/>
              <a:buNone/>
            </a:pPr>
            <a:endParaRPr lang="en-US" sz="2400" b="1" dirty="0"/>
          </a:p>
          <a:p>
            <a:pPr eaLnBrk="1" hangingPunct="1">
              <a:buFontTx/>
              <a:buNone/>
            </a:pPr>
            <a:r>
              <a:rPr lang="en-US" sz="2400" b="1" dirty="0"/>
              <a:t>name[0] </a:t>
            </a:r>
            <a:r>
              <a:rPr lang="en-US" sz="2400" b="1" dirty="0">
                <a:sym typeface="Wingdings" pitchFamily="2" charset="2"/>
              </a:rPr>
              <a:t> </a:t>
            </a:r>
            <a:r>
              <a:rPr lang="en-US" sz="2400" b="1" dirty="0"/>
              <a:t>New Zealand 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name[1]</a:t>
            </a:r>
            <a:r>
              <a:rPr lang="en-US" sz="2400" b="1" dirty="0">
                <a:sym typeface="Wingdings" pitchFamily="2" charset="2"/>
              </a:rPr>
              <a:t> </a:t>
            </a:r>
            <a:r>
              <a:rPr lang="en-US" sz="2400" b="1" dirty="0"/>
              <a:t>Australia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name[2]</a:t>
            </a:r>
            <a:r>
              <a:rPr lang="en-US" sz="2400" b="1" dirty="0">
                <a:sym typeface="Wingdings" pitchFamily="2" charset="2"/>
              </a:rPr>
              <a:t> </a:t>
            </a:r>
            <a:r>
              <a:rPr lang="en-US" sz="2400" b="1" dirty="0"/>
              <a:t>India</a:t>
            </a:r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0070C0"/>
                </a:solidFill>
              </a:rPr>
              <a:t>The following statement would print out all the 3 names.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for( </a:t>
            </a:r>
            <a:r>
              <a:rPr lang="en-US" sz="2400" b="1" dirty="0" err="1"/>
              <a:t>i</a:t>
            </a:r>
            <a:r>
              <a:rPr lang="en-US" sz="2400" b="1" dirty="0"/>
              <a:t> = 0 ; </a:t>
            </a:r>
            <a:r>
              <a:rPr lang="en-US" sz="2400" b="1" dirty="0" err="1"/>
              <a:t>i</a:t>
            </a:r>
            <a:r>
              <a:rPr lang="en-US" sz="2400" b="1" dirty="0"/>
              <a:t> &lt; 3 ; </a:t>
            </a:r>
            <a:r>
              <a:rPr lang="en-US" sz="2400" b="1" dirty="0" err="1"/>
              <a:t>i</a:t>
            </a:r>
            <a:r>
              <a:rPr lang="en-US" sz="2400" b="1" dirty="0"/>
              <a:t>++ )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	 </a:t>
            </a:r>
            <a:r>
              <a:rPr lang="en-US" sz="2400" b="1" dirty="0" err="1"/>
              <a:t>cout</a:t>
            </a:r>
            <a:r>
              <a:rPr lang="en-US" sz="2400" b="1" dirty="0"/>
              <a:t> &lt;&lt; name[ </a:t>
            </a:r>
            <a:r>
              <a:rPr lang="en-US" sz="2400" b="1" dirty="0" err="1"/>
              <a:t>i</a:t>
            </a:r>
            <a:r>
              <a:rPr lang="en-US" sz="2400" b="1" dirty="0"/>
              <a:t> ];</a:t>
            </a:r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</a:rPr>
              <a:t>Dynamic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524000"/>
            <a:ext cx="8839200" cy="4800600"/>
          </a:xfrm>
        </p:spPr>
        <p:txBody>
          <a:bodyPr/>
          <a:lstStyle/>
          <a:p>
            <a:pPr algn="just"/>
            <a:r>
              <a:rPr lang="en-US" b="1" dirty="0"/>
              <a:t>new </a:t>
            </a:r>
            <a:r>
              <a:rPr lang="en-US" dirty="0"/>
              <a:t>and </a:t>
            </a:r>
            <a:r>
              <a:rPr lang="en-US" b="1" dirty="0"/>
              <a:t>delete</a:t>
            </a:r>
            <a:endParaRPr lang="en-US" dirty="0"/>
          </a:p>
          <a:p>
            <a:pPr lvl="1" algn="just"/>
            <a:r>
              <a:rPr lang="en-US" dirty="0"/>
              <a:t>operators used to allocate and free memory at run time</a:t>
            </a:r>
          </a:p>
          <a:p>
            <a:pPr algn="just"/>
            <a:r>
              <a:rPr lang="en-US" dirty="0"/>
              <a:t>The </a:t>
            </a:r>
            <a:r>
              <a:rPr lang="en-US" b="1" dirty="0"/>
              <a:t>new </a:t>
            </a:r>
            <a:r>
              <a:rPr lang="en-US" dirty="0"/>
              <a:t>operator allocates memory and returns a pointer to the start of it</a:t>
            </a:r>
          </a:p>
          <a:p>
            <a:pPr algn="just"/>
            <a:r>
              <a:rPr lang="en-US" b="1" dirty="0"/>
              <a:t>delete </a:t>
            </a:r>
            <a:r>
              <a:rPr lang="en-US" dirty="0"/>
              <a:t>operator frees memory previously allocated using </a:t>
            </a:r>
            <a:r>
              <a:rPr lang="en-US" b="1" dirty="0"/>
              <a:t>new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592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730" y="170629"/>
            <a:ext cx="7886700" cy="7620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Dynamic Memory Management : </a:t>
            </a:r>
            <a:r>
              <a:rPr lang="en-US" sz="2400" b="1" dirty="0">
                <a:solidFill>
                  <a:srgbClr val="0070C0"/>
                </a:solidFill>
              </a:rPr>
              <a:t>new </a:t>
            </a:r>
            <a:r>
              <a:rPr lang="en-US" sz="2400" dirty="0">
                <a:solidFill>
                  <a:srgbClr val="0070C0"/>
                </a:solidFill>
              </a:rPr>
              <a:t>and </a:t>
            </a:r>
            <a:r>
              <a:rPr lang="en-US" sz="2400" b="1" dirty="0">
                <a:solidFill>
                  <a:srgbClr val="0070C0"/>
                </a:solidFill>
              </a:rPr>
              <a:t>delete:</a:t>
            </a:r>
            <a:endParaRPr lang="en-IN" sz="2400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5730" y="932629"/>
            <a:ext cx="8421832" cy="4401371"/>
          </a:xfrm>
        </p:spPr>
        <p:txBody>
          <a:bodyPr>
            <a:normAutofit/>
          </a:bodyPr>
          <a:lstStyle/>
          <a:p>
            <a:pPr marL="342900" lvl="1" indent="0">
              <a:buNone/>
            </a:pPr>
            <a:r>
              <a:rPr lang="en-IN" sz="2400" b="1" u="sng" dirty="0">
                <a:solidFill>
                  <a:srgbClr val="0070C0"/>
                </a:solidFill>
              </a:rPr>
              <a:t>Syntax</a:t>
            </a:r>
            <a:r>
              <a:rPr lang="en-IN" sz="2400" dirty="0">
                <a:solidFill>
                  <a:srgbClr val="0070C0"/>
                </a:solidFill>
              </a:rPr>
              <a:t>:</a:t>
            </a:r>
          </a:p>
          <a:p>
            <a:pPr marL="342900" lvl="1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		</a:t>
            </a:r>
            <a:r>
              <a:rPr lang="en-IN" sz="2400" dirty="0" err="1">
                <a:solidFill>
                  <a:srgbClr val="FF0000"/>
                </a:solidFill>
              </a:rPr>
              <a:t>Pointer_variable</a:t>
            </a:r>
            <a:r>
              <a:rPr lang="en-IN" sz="2400" dirty="0"/>
              <a:t> =  </a:t>
            </a:r>
            <a:r>
              <a:rPr lang="en-IN" sz="2400" dirty="0">
                <a:solidFill>
                  <a:srgbClr val="FF0000"/>
                </a:solidFill>
              </a:rPr>
              <a:t>new</a:t>
            </a:r>
            <a:r>
              <a:rPr lang="en-IN" sz="2400" dirty="0"/>
              <a:t>  </a:t>
            </a:r>
            <a:r>
              <a:rPr lang="en-IN" sz="2400" dirty="0" err="1">
                <a:solidFill>
                  <a:srgbClr val="0070C0"/>
                </a:solidFill>
              </a:rPr>
              <a:t>data_type</a:t>
            </a:r>
            <a:r>
              <a:rPr lang="en-IN" sz="2400" dirty="0"/>
              <a:t>;</a:t>
            </a:r>
          </a:p>
          <a:p>
            <a:pPr marL="342900" lvl="1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		</a:t>
            </a:r>
            <a:r>
              <a:rPr lang="en-IN" sz="2400" dirty="0" err="1">
                <a:solidFill>
                  <a:srgbClr val="FF0000"/>
                </a:solidFill>
              </a:rPr>
              <a:t>Pointer_variable</a:t>
            </a:r>
            <a:r>
              <a:rPr lang="en-IN" sz="2400" dirty="0"/>
              <a:t> =  </a:t>
            </a:r>
            <a:r>
              <a:rPr lang="en-IN" sz="2400" dirty="0">
                <a:solidFill>
                  <a:srgbClr val="FF0000"/>
                </a:solidFill>
              </a:rPr>
              <a:t>new</a:t>
            </a:r>
            <a:r>
              <a:rPr lang="en-IN" sz="2400" dirty="0"/>
              <a:t>  </a:t>
            </a:r>
            <a:r>
              <a:rPr lang="en-IN" sz="2400" dirty="0" err="1">
                <a:solidFill>
                  <a:srgbClr val="0070C0"/>
                </a:solidFill>
              </a:rPr>
              <a:t>data_type</a:t>
            </a:r>
            <a:r>
              <a:rPr lang="en-IN" sz="2400" dirty="0">
                <a:solidFill>
                  <a:srgbClr val="0070C0"/>
                </a:solidFill>
              </a:rPr>
              <a:t>(value)</a:t>
            </a:r>
            <a:r>
              <a:rPr lang="en-IN" sz="2400" dirty="0"/>
              <a:t>;</a:t>
            </a:r>
          </a:p>
          <a:p>
            <a:pPr marL="342900" lvl="1" indent="0">
              <a:buNone/>
            </a:pPr>
            <a:r>
              <a:rPr lang="en-IN" sz="2400" dirty="0">
                <a:solidFill>
                  <a:srgbClr val="FF0000"/>
                </a:solidFill>
              </a:rPr>
              <a:t>		</a:t>
            </a:r>
            <a:r>
              <a:rPr lang="en-IN" sz="2400" dirty="0" err="1">
                <a:solidFill>
                  <a:srgbClr val="FF0000"/>
                </a:solidFill>
              </a:rPr>
              <a:t>Pointer_variable</a:t>
            </a:r>
            <a:r>
              <a:rPr lang="en-IN" sz="2400" dirty="0"/>
              <a:t> =  </a:t>
            </a:r>
            <a:r>
              <a:rPr lang="en-IN" sz="2400" dirty="0">
                <a:solidFill>
                  <a:srgbClr val="FF0000"/>
                </a:solidFill>
              </a:rPr>
              <a:t>new</a:t>
            </a:r>
            <a:r>
              <a:rPr lang="en-IN" sz="2400" dirty="0"/>
              <a:t>  </a:t>
            </a:r>
            <a:r>
              <a:rPr lang="en-IN" sz="2400" dirty="0" err="1">
                <a:solidFill>
                  <a:srgbClr val="0070C0"/>
                </a:solidFill>
              </a:rPr>
              <a:t>data_type</a:t>
            </a:r>
            <a:r>
              <a:rPr lang="en-IN" sz="2400" dirty="0">
                <a:solidFill>
                  <a:srgbClr val="0070C0"/>
                </a:solidFill>
              </a:rPr>
              <a:t>[size]</a:t>
            </a:r>
            <a:r>
              <a:rPr lang="en-IN" sz="2400" dirty="0"/>
              <a:t>;</a:t>
            </a:r>
          </a:p>
          <a:p>
            <a:pPr marL="342900" lvl="1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800" u="sng" dirty="0" err="1">
                <a:solidFill>
                  <a:srgbClr val="0070C0"/>
                </a:solidFill>
              </a:rPr>
              <a:t>Eg</a:t>
            </a:r>
            <a:r>
              <a:rPr lang="en-IN" sz="2800" u="sng" dirty="0">
                <a:solidFill>
                  <a:srgbClr val="0070C0"/>
                </a:solidFill>
              </a:rPr>
              <a:t>: </a:t>
            </a:r>
            <a:r>
              <a:rPr lang="en-IN" sz="2800" dirty="0"/>
              <a:t>	</a:t>
            </a:r>
            <a:r>
              <a:rPr lang="en-IN" sz="2800" dirty="0" err="1"/>
              <a:t>int</a:t>
            </a:r>
            <a:r>
              <a:rPr lang="en-IN" sz="2800" dirty="0"/>
              <a:t> 	*p1   =  new  </a:t>
            </a:r>
            <a:r>
              <a:rPr lang="en-IN" sz="2800" dirty="0" err="1"/>
              <a:t>int</a:t>
            </a:r>
            <a:r>
              <a:rPr lang="en-IN" sz="2800" dirty="0"/>
              <a:t>; </a:t>
            </a:r>
          </a:p>
          <a:p>
            <a:pPr marL="0" indent="0">
              <a:buNone/>
            </a:pPr>
            <a:r>
              <a:rPr lang="en-IN" sz="2800" dirty="0"/>
              <a:t>	</a:t>
            </a:r>
            <a:r>
              <a:rPr lang="en-IN" sz="2800" dirty="0" err="1"/>
              <a:t>int</a:t>
            </a:r>
            <a:r>
              <a:rPr lang="en-IN" sz="2800" dirty="0"/>
              <a:t> 	*p2   =  new  </a:t>
            </a:r>
            <a:r>
              <a:rPr lang="en-IN" sz="2800" dirty="0" err="1"/>
              <a:t>int</a:t>
            </a:r>
            <a:r>
              <a:rPr lang="en-IN" sz="2800" dirty="0"/>
              <a:t>(5); </a:t>
            </a:r>
          </a:p>
          <a:p>
            <a:pPr marL="0" indent="0">
              <a:buNone/>
            </a:pPr>
            <a:r>
              <a:rPr lang="en-IN" sz="2800" dirty="0"/>
              <a:t>	int 	*</a:t>
            </a:r>
            <a:r>
              <a:rPr lang="en-IN" sz="2800" dirty="0" err="1"/>
              <a:t>p_arr</a:t>
            </a:r>
            <a:r>
              <a:rPr lang="en-IN" sz="2800" dirty="0"/>
              <a:t>   =  new  int[10];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8022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01030"/>
            <a:ext cx="7543800" cy="6477111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48400" y="0"/>
            <a:ext cx="3853070" cy="7620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Memory allocation to 2D array</a:t>
            </a:r>
            <a:endParaRPr lang="en-IN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7537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7BE0D4-6EDB-4312-9A2D-B76DE15F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99" y="838200"/>
            <a:ext cx="5029200" cy="5636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C391C4-56E3-4504-AD29-941DF7B6E4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5324440"/>
            <a:ext cx="3412952" cy="1081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80B21-418F-40B8-BBEB-FBB3261AC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990600"/>
            <a:ext cx="5319888" cy="4191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2AAFD6-0357-4DFE-B94F-4A38C9F4DD93}"/>
              </a:ext>
            </a:extLst>
          </p:cNvPr>
          <p:cNvSpPr txBox="1"/>
          <p:nvPr/>
        </p:nvSpPr>
        <p:spPr>
          <a:xfrm>
            <a:off x="2504899" y="22860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00FFFF"/>
                </a:highlight>
              </a:rPr>
              <a:t>Pointer to object: Example-1</a:t>
            </a:r>
            <a:endParaRPr lang="en-IN" sz="28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9117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830728-5BBD-4977-A677-B0837B5F5B24}"/>
              </a:ext>
            </a:extLst>
          </p:cNvPr>
          <p:cNvSpPr txBox="1"/>
          <p:nvPr/>
        </p:nvSpPr>
        <p:spPr>
          <a:xfrm>
            <a:off x="3124200" y="35069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00FFFF"/>
                </a:highlight>
              </a:rPr>
              <a:t>Pointer to object: Example-2</a:t>
            </a:r>
            <a:endParaRPr lang="en-IN" sz="2800" b="1" dirty="0">
              <a:highlight>
                <a:srgbClr val="00FFFF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C6C500-8839-42D4-B6E7-EAD3C1FF8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4724400" cy="5178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406409-3D34-41DE-8183-6C2F52A9F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380" y="1600200"/>
            <a:ext cx="6019480" cy="304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08D0D6-3CA8-4EF9-8C09-D4E1B9F65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628" y="5221726"/>
            <a:ext cx="3723543" cy="102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9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C8C5C3-FF71-4421-8DFC-9533CED1A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33400"/>
            <a:ext cx="6258737" cy="5257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4C9BA-606B-4AE6-A00B-14D567365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066800"/>
            <a:ext cx="4474155" cy="31996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B4AF78-8AB5-45A1-AE3B-3FACD6FEC814}"/>
              </a:ext>
            </a:extLst>
          </p:cNvPr>
          <p:cNvSpPr txBox="1"/>
          <p:nvPr/>
        </p:nvSpPr>
        <p:spPr>
          <a:xfrm>
            <a:off x="3581400" y="27179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00FFFF"/>
                </a:highlight>
              </a:rPr>
              <a:t>“this” pointer</a:t>
            </a:r>
            <a:endParaRPr lang="en-IN" sz="2800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057784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21B6F6-E89C-4F3B-952F-1A6F7933E498}"/>
              </a:ext>
            </a:extLst>
          </p:cNvPr>
          <p:cNvSpPr/>
          <p:nvPr/>
        </p:nvSpPr>
        <p:spPr>
          <a:xfrm>
            <a:off x="304800" y="1028343"/>
            <a:ext cx="7543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/>
              <a:t>class Test</a:t>
            </a:r>
          </a:p>
          <a:p>
            <a:r>
              <a:rPr lang="en-IN" sz="2400" b="1" dirty="0"/>
              <a:t>{</a:t>
            </a:r>
          </a:p>
          <a:p>
            <a:r>
              <a:rPr lang="en-IN" sz="2400" b="1" dirty="0"/>
              <a:t>private:</a:t>
            </a:r>
          </a:p>
          <a:p>
            <a:r>
              <a:rPr lang="en-IN" sz="2400" b="1" dirty="0"/>
              <a:t>   int a;</a:t>
            </a:r>
          </a:p>
          <a:p>
            <a:r>
              <a:rPr lang="en-IN" sz="2400" b="1" dirty="0"/>
              <a:t>public:</a:t>
            </a:r>
          </a:p>
          <a:p>
            <a:r>
              <a:rPr lang="en-IN" sz="2400" b="1" dirty="0"/>
              <a:t>   void assign (int a)</a:t>
            </a:r>
          </a:p>
          <a:p>
            <a:r>
              <a:rPr lang="en-IN" sz="2400" b="1" dirty="0"/>
              <a:t>   {</a:t>
            </a:r>
          </a:p>
          <a:p>
            <a:r>
              <a:rPr lang="en-IN" sz="2400" b="1" dirty="0"/>
              <a:t>       // The 'this' pointer is used to retrieve the object's x</a:t>
            </a:r>
          </a:p>
          <a:p>
            <a:r>
              <a:rPr lang="en-IN" sz="2400" b="1" dirty="0"/>
              <a:t>       // hidden by the local variable 'x'</a:t>
            </a:r>
          </a:p>
          <a:p>
            <a:r>
              <a:rPr lang="en-IN" sz="2400" b="1" dirty="0"/>
              <a:t>       this-&gt;a = a;</a:t>
            </a:r>
          </a:p>
          <a:p>
            <a:r>
              <a:rPr lang="en-IN" sz="2400" b="1" dirty="0"/>
              <a:t>   }</a:t>
            </a:r>
          </a:p>
          <a:p>
            <a:r>
              <a:rPr lang="en-IN" sz="2400" b="1" dirty="0"/>
              <a:t>   void print() { </a:t>
            </a:r>
            <a:r>
              <a:rPr lang="en-IN" sz="2400" b="1" dirty="0" err="1"/>
              <a:t>cout</a:t>
            </a:r>
            <a:r>
              <a:rPr lang="en-IN" sz="2400" b="1" dirty="0"/>
              <a:t> &lt;&lt; “a = " &lt;&lt; a &lt;&lt; </a:t>
            </a:r>
            <a:r>
              <a:rPr lang="en-IN" sz="2400" b="1" dirty="0" err="1"/>
              <a:t>endl</a:t>
            </a:r>
            <a:r>
              <a:rPr lang="en-IN" sz="2400" b="1" dirty="0"/>
              <a:t>; }</a:t>
            </a:r>
          </a:p>
          <a:p>
            <a:r>
              <a:rPr lang="en-IN" sz="2400" b="1" dirty="0"/>
              <a:t>};</a:t>
            </a:r>
          </a:p>
          <a:p>
            <a:endParaRPr lang="en-IN" sz="2400" b="1" dirty="0"/>
          </a:p>
          <a:p>
            <a:endParaRPr lang="en-IN" sz="2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503DC6-5F81-4C50-B814-B49FF7036752}"/>
              </a:ext>
            </a:extLst>
          </p:cNvPr>
          <p:cNvSpPr/>
          <p:nvPr/>
        </p:nvSpPr>
        <p:spPr>
          <a:xfrm>
            <a:off x="8610600" y="1295400"/>
            <a:ext cx="1981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int main()</a:t>
            </a:r>
          </a:p>
          <a:p>
            <a:r>
              <a:rPr lang="en-US" sz="2400" b="1" dirty="0"/>
              <a:t>{</a:t>
            </a:r>
          </a:p>
          <a:p>
            <a:r>
              <a:rPr lang="en-US" sz="2400" b="1" dirty="0"/>
              <a:t>   Test t1;</a:t>
            </a:r>
          </a:p>
          <a:p>
            <a:r>
              <a:rPr lang="en-US" sz="2400" b="1" dirty="0"/>
              <a:t>   int a = 20;</a:t>
            </a:r>
          </a:p>
          <a:p>
            <a:r>
              <a:rPr lang="en-US" sz="2400" b="1" dirty="0"/>
              <a:t>   t1.assign(a);</a:t>
            </a:r>
          </a:p>
          <a:p>
            <a:r>
              <a:rPr lang="en-US" sz="2400" b="1" dirty="0"/>
              <a:t>   t1.print();</a:t>
            </a:r>
          </a:p>
          <a:p>
            <a:r>
              <a:rPr lang="en-US" sz="2400" b="1" dirty="0"/>
              <a:t>   return 0;</a:t>
            </a:r>
          </a:p>
          <a:p>
            <a:r>
              <a:rPr lang="en-US" sz="2400" b="1" dirty="0"/>
              <a:t>}</a:t>
            </a:r>
            <a:endParaRPr lang="en-IN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31954-E04B-44A3-9E6A-3B2A138E1AF0}"/>
              </a:ext>
            </a:extLst>
          </p:cNvPr>
          <p:cNvSpPr/>
          <p:nvPr/>
        </p:nvSpPr>
        <p:spPr>
          <a:xfrm>
            <a:off x="4876800" y="381000"/>
            <a:ext cx="14893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highlight>
                  <a:srgbClr val="00FFFF"/>
                </a:highlight>
              </a:rPr>
              <a:t>“this” pointer</a:t>
            </a:r>
            <a:endParaRPr lang="en-IN" b="1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5390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hape 66561"/>
          <p:cNvSpPr>
            <a:spLocks noGrp="1" noChangeArrowheads="1"/>
          </p:cNvSpPr>
          <p:nvPr>
            <p:ph type="title"/>
          </p:nvPr>
        </p:nvSpPr>
        <p:spPr/>
        <p:txBody>
          <a:bodyPr vert="horz" lIns="92075" tIns="46038" rIns="92075" bIns="46038" rtlCol="0" anchor="ctr">
            <a:normAutofit/>
          </a:bodyPr>
          <a:lstStyle/>
          <a:p>
            <a:r>
              <a:rPr lang="en-US"/>
              <a:t>Destructors</a:t>
            </a:r>
          </a:p>
        </p:txBody>
      </p:sp>
      <p:sp>
        <p:nvSpPr>
          <p:cNvPr id="22531" name="Shape 66562"/>
          <p:cNvSpPr>
            <a:spLocks noGrp="1" noChangeArrowheads="1"/>
          </p:cNvSpPr>
          <p:nvPr>
            <p:ph type="body" idx="1"/>
          </p:nvPr>
        </p:nvSpPr>
        <p:spPr>
          <a:xfrm>
            <a:off x="1798638" y="1600201"/>
            <a:ext cx="8609012" cy="4525963"/>
          </a:xfrm>
        </p:spPr>
        <p:txBody>
          <a:bodyPr vert="horz" lIns="92075" tIns="46038" rIns="92075" bIns="46038" rtlCol="0">
            <a:normAutofit/>
          </a:bodyPr>
          <a:lstStyle/>
          <a:p>
            <a:pPr>
              <a:buNone/>
            </a:pPr>
            <a:endParaRPr lang="en-US" b="1" dirty="0">
              <a:latin typeface="Courier New" pitchFamily="49" charset="0"/>
            </a:endParaRPr>
          </a:p>
          <a:p>
            <a:r>
              <a:rPr lang="en-US" b="1" dirty="0">
                <a:latin typeface="Courier New" pitchFamily="49" charset="0"/>
              </a:rPr>
              <a:t>delete</a:t>
            </a:r>
            <a:r>
              <a:rPr lang="en-US" dirty="0"/>
              <a:t> calls the object’s </a:t>
            </a:r>
            <a:r>
              <a:rPr lang="en-US" b="1" dirty="0"/>
              <a:t>destructor</a:t>
            </a:r>
            <a:r>
              <a:rPr lang="en-US" dirty="0"/>
              <a:t>.</a:t>
            </a:r>
          </a:p>
          <a:p>
            <a:r>
              <a:rPr lang="en-US" b="1" dirty="0">
                <a:latin typeface="Courier New" pitchFamily="49" charset="0"/>
              </a:rPr>
              <a:t>delete</a:t>
            </a:r>
            <a:r>
              <a:rPr lang="en-US" dirty="0"/>
              <a:t> frees space occupied by the object.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destructor</a:t>
            </a:r>
            <a:r>
              <a:rPr lang="en-US" dirty="0"/>
              <a:t> cleans up after the object.</a:t>
            </a:r>
          </a:p>
          <a:p>
            <a:r>
              <a:rPr lang="en-US" dirty="0"/>
              <a:t>Releases resources such as memory.</a:t>
            </a:r>
          </a:p>
          <a:p>
            <a:pPr marL="0" indent="0">
              <a:buNone/>
            </a:pPr>
            <a:r>
              <a:rPr lang="en-US" dirty="0"/>
              <a:t>Syntax: delete </a:t>
            </a:r>
            <a:r>
              <a:rPr lang="en-US" dirty="0" err="1"/>
              <a:t>pointer_variable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delete []</a:t>
            </a:r>
            <a:r>
              <a:rPr lang="en-US" dirty="0" err="1"/>
              <a:t>array_pointer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372499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45" name="Group 45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1643576" y="304800"/>
          <a:ext cx="8795825" cy="5943600"/>
        </p:xfrm>
        <a:graphic>
          <a:graphicData uri="http://schemas.openxmlformats.org/drawingml/2006/table">
            <a:tbl>
              <a:tblPr/>
              <a:tblGrid>
                <a:gridCol w="4320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5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413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Malloc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New</a:t>
                      </a:r>
                    </a:p>
                  </a:txBody>
                  <a:tcPr marL="68580" marR="68580" marT="34288" marB="342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787"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Standard C Function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Operator 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Used sparingly in C++; used frequently in C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Only in C++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Does not invoke any constructor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Invokes constructor of the class for object initialization.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Returns void* and requires explicit casting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Returns the proper type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Returns NULL when there is not enough memory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Throws an exception when there is not enough memory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Every 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malloc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() should be matched with a free()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Every new/new[] should be matched with a delete/delete[]</a:t>
                      </a:r>
                    </a:p>
                  </a:txBody>
                  <a:tcPr marL="68580" marR="68580"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6611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38F2AD-12AD-4A93-A04E-E71E991BA0F1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40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Pointers and structures</a:t>
            </a:r>
          </a:p>
        </p:txBody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417639"/>
            <a:ext cx="8991600" cy="4708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Consider the following structure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 err="1"/>
              <a:t>struct</a:t>
            </a:r>
            <a:r>
              <a:rPr lang="en-US" sz="2400" b="1" dirty="0"/>
              <a:t> inventory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	char  name[30];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	</a:t>
            </a:r>
            <a:r>
              <a:rPr lang="en-US" sz="2400" b="1" dirty="0" err="1"/>
              <a:t>int</a:t>
            </a:r>
            <a:r>
              <a:rPr lang="en-US" sz="2400" b="1" dirty="0"/>
              <a:t>  number;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	float  price;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} product[2], *p;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b="1" dirty="0"/>
              <a:t>p=product; </a:t>
            </a:r>
            <a:r>
              <a:rPr lang="en-US" sz="2400" dirty="0">
                <a:solidFill>
                  <a:srgbClr val="0070C0"/>
                </a:solidFill>
              </a:rPr>
              <a:t>assigns the address of the zeroth element of </a:t>
            </a:r>
            <a:r>
              <a:rPr lang="en-US" sz="2400" b="1" dirty="0"/>
              <a:t>product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to</a:t>
            </a:r>
            <a:r>
              <a:rPr lang="en-US" sz="2400" dirty="0"/>
              <a:t> </a:t>
            </a:r>
            <a:r>
              <a:rPr lang="en-US" sz="2400" b="1" dirty="0"/>
              <a:t>p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400" b="1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solidFill>
                  <a:srgbClr val="0070C0"/>
                </a:solidFill>
              </a:rPr>
              <a:t>or</a:t>
            </a:r>
            <a:r>
              <a:rPr lang="en-US" sz="2400" b="1" dirty="0"/>
              <a:t> p </a:t>
            </a:r>
            <a:r>
              <a:rPr lang="en-US" sz="2400" dirty="0">
                <a:solidFill>
                  <a:srgbClr val="0070C0"/>
                </a:solidFill>
              </a:rPr>
              <a:t>points to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/>
              <a:t>product[0];</a:t>
            </a:r>
          </a:p>
        </p:txBody>
      </p:sp>
    </p:spTree>
    <p:extLst>
      <p:ext uri="{BB962C8B-B14F-4D97-AF65-F5344CB8AC3E}">
        <p14:creationId xmlns:p14="http://schemas.microsoft.com/office/powerpoint/2010/main" val="20876266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6EAD09-C8C2-4F02-BBA3-5F02CD90C744}" type="slidenum"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8"/>
            <a:ext cx="8229600" cy="639762"/>
          </a:xfrm>
        </p:spPr>
        <p:txBody>
          <a:bodyPr/>
          <a:lstStyle/>
          <a:p>
            <a:pPr eaLnBrk="1" hangingPunct="1"/>
            <a:r>
              <a:rPr lang="en-US" sz="4000"/>
              <a:t>Pointers and structures (Contd…)</a:t>
            </a:r>
          </a:p>
        </p:txBody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066800"/>
            <a:ext cx="8686800" cy="5334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dirty="0"/>
              <a:t>Its members are accessed using the following notation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p-&gt;name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p-&gt;number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p-&gt;price</a:t>
            </a:r>
          </a:p>
          <a:p>
            <a:pPr eaLnBrk="1" hangingPunct="1">
              <a:buFontTx/>
              <a:buNone/>
            </a:pPr>
            <a:r>
              <a:rPr lang="en-US" sz="2400" dirty="0"/>
              <a:t>The symbol </a:t>
            </a:r>
            <a:r>
              <a:rPr lang="en-US" sz="2400" b="1" dirty="0"/>
              <a:t>-&gt;</a:t>
            </a:r>
            <a:r>
              <a:rPr lang="en-US" sz="2400" dirty="0"/>
              <a:t> is called </a:t>
            </a:r>
            <a:r>
              <a:rPr lang="en-US" sz="2400" b="1" dirty="0"/>
              <a:t>arrow operator</a:t>
            </a:r>
            <a:r>
              <a:rPr lang="en-US" sz="2400" dirty="0"/>
              <a:t> (also known as </a:t>
            </a:r>
            <a:r>
              <a:rPr lang="en-US" sz="2400" b="1" dirty="0"/>
              <a:t>member selection operator</a:t>
            </a:r>
            <a:r>
              <a:rPr lang="en-US" sz="2400" dirty="0"/>
              <a:t>)</a:t>
            </a:r>
          </a:p>
          <a:p>
            <a:pPr eaLnBrk="1" hangingPunct="1">
              <a:buFontTx/>
              <a:buNone/>
            </a:pPr>
            <a:endParaRPr lang="en-US" sz="2400" dirty="0"/>
          </a:p>
          <a:p>
            <a:pPr eaLnBrk="1" hangingPunct="1">
              <a:buFontTx/>
              <a:buNone/>
            </a:pPr>
            <a:r>
              <a:rPr lang="en-US" sz="2400" dirty="0"/>
              <a:t>The member number can also be accessed using</a:t>
            </a:r>
          </a:p>
          <a:p>
            <a:pPr eaLnBrk="1" hangingPunct="1">
              <a:buFontTx/>
              <a:buNone/>
            </a:pPr>
            <a:r>
              <a:rPr lang="en-US" sz="2400" b="1" dirty="0"/>
              <a:t>(*p).number</a:t>
            </a:r>
          </a:p>
          <a:p>
            <a:pPr eaLnBrk="1" hangingPunct="1">
              <a:buFontTx/>
              <a:buNone/>
            </a:pPr>
            <a:endParaRPr lang="en-US" sz="2400" b="1" dirty="0"/>
          </a:p>
          <a:p>
            <a:pPr eaLnBrk="1" hangingPunct="1">
              <a:buFontTx/>
              <a:buNone/>
            </a:pPr>
            <a:r>
              <a:rPr lang="en-US" sz="2400" dirty="0" err="1"/>
              <a:t>Parantheses</a:t>
            </a:r>
            <a:r>
              <a:rPr lang="en-US" sz="2400" dirty="0"/>
              <a:t> is required because </a:t>
            </a:r>
            <a:r>
              <a:rPr lang="en-US" sz="2400" b="1" dirty="0"/>
              <a:t>‘.’ </a:t>
            </a:r>
            <a:r>
              <a:rPr lang="en-US" sz="2400" dirty="0"/>
              <a:t>has higher precedence than the operator *</a:t>
            </a:r>
          </a:p>
        </p:txBody>
      </p:sp>
    </p:spTree>
    <p:extLst>
      <p:ext uri="{BB962C8B-B14F-4D97-AF65-F5344CB8AC3E}">
        <p14:creationId xmlns:p14="http://schemas.microsoft.com/office/powerpoint/2010/main" val="12316658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080A3-BE44-4A21-9D2F-4158636BE13F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6085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81000"/>
            <a:ext cx="7753350" cy="381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b="1" dirty="0">
                <a:solidFill>
                  <a:srgbClr val="7030A0"/>
                </a:solidFill>
              </a:rPr>
              <a:t>Program to illustrate the use of structure pointers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990600"/>
            <a:ext cx="9274510" cy="536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3618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SUC2010">
  <a:themeElements>
    <a:clrScheme name="PSUC2010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SUC201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SUC201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PSUC2010">
  <a:themeElements>
    <a:clrScheme name="PSUC2010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SUC201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SUC2010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SUC2010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SUC2010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1983</Words>
  <Application>Microsoft Office PowerPoint</Application>
  <PresentationFormat>Widescreen</PresentationFormat>
  <Paragraphs>391</Paragraphs>
  <Slides>44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44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Times New Roman</vt:lpstr>
      <vt:lpstr>Wingdings</vt:lpstr>
      <vt:lpstr>Default Design</vt:lpstr>
      <vt:lpstr>PSUC2010</vt:lpstr>
      <vt:lpstr>1_PSUC2010</vt:lpstr>
      <vt:lpstr>Office Theme</vt:lpstr>
      <vt:lpstr>1_Office Theme</vt:lpstr>
      <vt:lpstr> Pointers</vt:lpstr>
      <vt:lpstr>Addresses in Memory</vt:lpstr>
      <vt:lpstr>Obtaining Memory Addresses</vt:lpstr>
      <vt:lpstr>What is a pointer variable?</vt:lpstr>
      <vt:lpstr>Using a Pointer Variable</vt:lpstr>
      <vt:lpstr>* is the dereference operator</vt:lpstr>
      <vt:lpstr>Using the Dereference Operator</vt:lpstr>
      <vt:lpstr>Self –Test on Pointers</vt:lpstr>
      <vt:lpstr>Pointers and arrays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Write a C++ program to  compute the sum of all elements stored in an array using pointers.</vt:lpstr>
      <vt:lpstr>If you remember</vt:lpstr>
      <vt:lpstr>Using a Pointer to Access the Elements of a String</vt:lpstr>
      <vt:lpstr>PowerPoint Presentation</vt:lpstr>
      <vt:lpstr>PowerPoint Presentation</vt:lpstr>
      <vt:lpstr>PowerPoint Presentation</vt:lpstr>
      <vt:lpstr>Question-2: What is the content of the array?</vt:lpstr>
      <vt:lpstr>Question-3:</vt:lpstr>
      <vt:lpstr>Pointers and character strings</vt:lpstr>
      <vt:lpstr>PowerPoint Presentation</vt:lpstr>
      <vt:lpstr>PowerPoint Presentation</vt:lpstr>
      <vt:lpstr>PowerPoint Presentation</vt:lpstr>
      <vt:lpstr>Strcpy() function:  void  my_strcpy ( char  *dest,  char  *src ) </vt:lpstr>
      <vt:lpstr>void  my_strcat ( char   *dest,   char *src ) </vt:lpstr>
      <vt:lpstr>Question</vt:lpstr>
      <vt:lpstr>Handling Table of Strings</vt:lpstr>
      <vt:lpstr>PowerPoint Presentation</vt:lpstr>
      <vt:lpstr>Dynamic memory allocation</vt:lpstr>
      <vt:lpstr>Dynamic Memory Management : new and delete:</vt:lpstr>
      <vt:lpstr>Memory allocation to 2D array</vt:lpstr>
      <vt:lpstr>PowerPoint Presentation</vt:lpstr>
      <vt:lpstr>PowerPoint Presentation</vt:lpstr>
      <vt:lpstr>PowerPoint Presentation</vt:lpstr>
      <vt:lpstr>PowerPoint Presentation</vt:lpstr>
      <vt:lpstr>Destructors</vt:lpstr>
      <vt:lpstr>PowerPoint Presentation</vt:lpstr>
      <vt:lpstr>Pointers and structures</vt:lpstr>
      <vt:lpstr>Pointers and structures (Contd…)</vt:lpstr>
      <vt:lpstr>Program to illustrate the use of structure pointers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 to Pointers</dc:title>
  <dc:creator>Poornima Panduranga Kundapur [MAHE-MIT]</dc:creator>
  <cp:lastModifiedBy>Linda Varghese [MAHE-MIT]</cp:lastModifiedBy>
  <cp:revision>51</cp:revision>
  <dcterms:created xsi:type="dcterms:W3CDTF">2020-12-09T01:43:42Z</dcterms:created>
  <dcterms:modified xsi:type="dcterms:W3CDTF">2024-10-04T05:46:02Z</dcterms:modified>
</cp:coreProperties>
</file>