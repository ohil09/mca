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1" r:id="rId2"/>
    <p:sldMasterId id="2147483673" r:id="rId3"/>
    <p:sldMasterId id="2147483685" r:id="rId4"/>
    <p:sldMasterId id="2147483697" r:id="rId5"/>
  </p:sldMasterIdLst>
  <p:notesMasterIdLst>
    <p:notesMasterId r:id="rId81"/>
  </p:notesMasterIdLst>
  <p:handoutMasterIdLst>
    <p:handoutMasterId r:id="rId82"/>
  </p:handoutMasterIdLst>
  <p:sldIdLst>
    <p:sldId id="310" r:id="rId6"/>
    <p:sldId id="352" r:id="rId7"/>
    <p:sldId id="355" r:id="rId8"/>
    <p:sldId id="349" r:id="rId9"/>
    <p:sldId id="379" r:id="rId10"/>
    <p:sldId id="380" r:id="rId11"/>
    <p:sldId id="377" r:id="rId12"/>
    <p:sldId id="362" r:id="rId13"/>
    <p:sldId id="353" r:id="rId14"/>
    <p:sldId id="561" r:id="rId15"/>
    <p:sldId id="382" r:id="rId16"/>
    <p:sldId id="356" r:id="rId17"/>
    <p:sldId id="363" r:id="rId18"/>
    <p:sldId id="376" r:id="rId19"/>
    <p:sldId id="357" r:id="rId20"/>
    <p:sldId id="358" r:id="rId21"/>
    <p:sldId id="487" r:id="rId22"/>
    <p:sldId id="523" r:id="rId23"/>
    <p:sldId id="525" r:id="rId24"/>
    <p:sldId id="526" r:id="rId25"/>
    <p:sldId id="527" r:id="rId26"/>
    <p:sldId id="528" r:id="rId27"/>
    <p:sldId id="529" r:id="rId28"/>
    <p:sldId id="531" r:id="rId29"/>
    <p:sldId id="533" r:id="rId30"/>
    <p:sldId id="562" r:id="rId31"/>
    <p:sldId id="580" r:id="rId32"/>
    <p:sldId id="581" r:id="rId33"/>
    <p:sldId id="360" r:id="rId34"/>
    <p:sldId id="373" r:id="rId35"/>
    <p:sldId id="610" r:id="rId36"/>
    <p:sldId id="392" r:id="rId37"/>
    <p:sldId id="611" r:id="rId38"/>
    <p:sldId id="492" r:id="rId39"/>
    <p:sldId id="493" r:id="rId40"/>
    <p:sldId id="494" r:id="rId41"/>
    <p:sldId id="584" r:id="rId42"/>
    <p:sldId id="583" r:id="rId43"/>
    <p:sldId id="586" r:id="rId44"/>
    <p:sldId id="400" r:id="rId45"/>
    <p:sldId id="587" r:id="rId46"/>
    <p:sldId id="384" r:id="rId47"/>
    <p:sldId id="385" r:id="rId48"/>
    <p:sldId id="585" r:id="rId49"/>
    <p:sldId id="588" r:id="rId50"/>
    <p:sldId id="590" r:id="rId51"/>
    <p:sldId id="591" r:id="rId52"/>
    <p:sldId id="389" r:id="rId53"/>
    <p:sldId id="592" r:id="rId54"/>
    <p:sldId id="593" r:id="rId55"/>
    <p:sldId id="390" r:id="rId56"/>
    <p:sldId id="589" r:id="rId57"/>
    <p:sldId id="257" r:id="rId58"/>
    <p:sldId id="276" r:id="rId59"/>
    <p:sldId id="278" r:id="rId60"/>
    <p:sldId id="596" r:id="rId61"/>
    <p:sldId id="259" r:id="rId62"/>
    <p:sldId id="260" r:id="rId63"/>
    <p:sldId id="262" r:id="rId64"/>
    <p:sldId id="601" r:id="rId65"/>
    <p:sldId id="602" r:id="rId66"/>
    <p:sldId id="265" r:id="rId67"/>
    <p:sldId id="266" r:id="rId68"/>
    <p:sldId id="261" r:id="rId69"/>
    <p:sldId id="603" r:id="rId70"/>
    <p:sldId id="608" r:id="rId71"/>
    <p:sldId id="609" r:id="rId72"/>
    <p:sldId id="258" r:id="rId73"/>
    <p:sldId id="263" r:id="rId74"/>
    <p:sldId id="264" r:id="rId75"/>
    <p:sldId id="267" r:id="rId76"/>
    <p:sldId id="268" r:id="rId77"/>
    <p:sldId id="604" r:id="rId78"/>
    <p:sldId id="605" r:id="rId79"/>
    <p:sldId id="606" r:id="rId80"/>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Arial" charset="0"/>
      </a:defRPr>
    </a:lvl1pPr>
    <a:lvl2pPr marL="457200" algn="l" rtl="0" fontAlgn="base">
      <a:spcBef>
        <a:spcPct val="0"/>
      </a:spcBef>
      <a:spcAft>
        <a:spcPct val="0"/>
      </a:spcAft>
      <a:defRPr sz="2400" kern="1200">
        <a:solidFill>
          <a:schemeClr val="tx1"/>
        </a:solidFill>
        <a:latin typeface="Times New Roman" pitchFamily="18" charset="0"/>
        <a:ea typeface="+mn-ea"/>
        <a:cs typeface="Arial" charset="0"/>
      </a:defRPr>
    </a:lvl2pPr>
    <a:lvl3pPr marL="914400" algn="l" rtl="0" fontAlgn="base">
      <a:spcBef>
        <a:spcPct val="0"/>
      </a:spcBef>
      <a:spcAft>
        <a:spcPct val="0"/>
      </a:spcAft>
      <a:defRPr sz="2400" kern="1200">
        <a:solidFill>
          <a:schemeClr val="tx1"/>
        </a:solidFill>
        <a:latin typeface="Times New Roman" pitchFamily="18" charset="0"/>
        <a:ea typeface="+mn-ea"/>
        <a:cs typeface="Arial" charset="0"/>
      </a:defRPr>
    </a:lvl3pPr>
    <a:lvl4pPr marL="1371600" algn="l" rtl="0" fontAlgn="base">
      <a:spcBef>
        <a:spcPct val="0"/>
      </a:spcBef>
      <a:spcAft>
        <a:spcPct val="0"/>
      </a:spcAft>
      <a:defRPr sz="2400" kern="1200">
        <a:solidFill>
          <a:schemeClr val="tx1"/>
        </a:solidFill>
        <a:latin typeface="Times New Roman" pitchFamily="18" charset="0"/>
        <a:ea typeface="+mn-ea"/>
        <a:cs typeface="Arial" charset="0"/>
      </a:defRPr>
    </a:lvl4pPr>
    <a:lvl5pPr marL="1828800" algn="l" rtl="0" fontAlgn="base">
      <a:spcBef>
        <a:spcPct val="0"/>
      </a:spcBef>
      <a:spcAft>
        <a:spcPct val="0"/>
      </a:spcAft>
      <a:defRPr sz="2400" kern="1200">
        <a:solidFill>
          <a:schemeClr val="tx1"/>
        </a:solidFill>
        <a:latin typeface="Times New Roman" pitchFamily="18" charset="0"/>
        <a:ea typeface="+mn-ea"/>
        <a:cs typeface="Arial" charset="0"/>
      </a:defRPr>
    </a:lvl5pPr>
    <a:lvl6pPr marL="2286000" algn="l" defTabSz="914400" rtl="0" eaLnBrk="1" latinLnBrk="0" hangingPunct="1">
      <a:defRPr sz="2400" kern="1200">
        <a:solidFill>
          <a:schemeClr val="tx1"/>
        </a:solidFill>
        <a:latin typeface="Times New Roman" pitchFamily="18" charset="0"/>
        <a:ea typeface="+mn-ea"/>
        <a:cs typeface="Arial" charset="0"/>
      </a:defRPr>
    </a:lvl6pPr>
    <a:lvl7pPr marL="2743200" algn="l" defTabSz="914400" rtl="0" eaLnBrk="1" latinLnBrk="0" hangingPunct="1">
      <a:defRPr sz="2400" kern="1200">
        <a:solidFill>
          <a:schemeClr val="tx1"/>
        </a:solidFill>
        <a:latin typeface="Times New Roman" pitchFamily="18" charset="0"/>
        <a:ea typeface="+mn-ea"/>
        <a:cs typeface="Arial" charset="0"/>
      </a:defRPr>
    </a:lvl7pPr>
    <a:lvl8pPr marL="3200400" algn="l" defTabSz="914400" rtl="0" eaLnBrk="1" latinLnBrk="0" hangingPunct="1">
      <a:defRPr sz="2400" kern="1200">
        <a:solidFill>
          <a:schemeClr val="tx1"/>
        </a:solidFill>
        <a:latin typeface="Times New Roman" pitchFamily="18" charset="0"/>
        <a:ea typeface="+mn-ea"/>
        <a:cs typeface="Arial" charset="0"/>
      </a:defRPr>
    </a:lvl8pPr>
    <a:lvl9pPr marL="3657600" algn="l" defTabSz="914400" rtl="0" eaLnBrk="1" latinLnBrk="0" hangingPunct="1">
      <a:defRPr sz="2400" kern="1200">
        <a:solidFill>
          <a:schemeClr val="tx1"/>
        </a:solidFill>
        <a:latin typeface="Times New Roman" pitchFamily="18"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00"/>
    <a:srgbClr val="00CC00"/>
    <a:srgbClr val="663300"/>
    <a:srgbClr val="A50021"/>
    <a:srgbClr val="FFFF66"/>
    <a:srgbClr val="66FF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2" d="100"/>
          <a:sy n="62" d="100"/>
        </p:scale>
        <p:origin x="1400"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7668"/>
    </p:cViewPr>
  </p:sorterViewPr>
  <p:notesViewPr>
    <p:cSldViewPr>
      <p:cViewPr varScale="1">
        <p:scale>
          <a:sx n="36" d="100"/>
          <a:sy n="36" d="100"/>
        </p:scale>
        <p:origin x="-1494"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viewProps" Target="viewProps.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5" Type="http://schemas.openxmlformats.org/officeDocument/2006/relationships/slideMaster" Target="slideMasters/slideMaster5.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slide" Target="slides/slide72.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slide" Target="slides/slide75.xml"/><Relationship Id="rId85"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notesMaster" Target="notesMasters/notesMaster1.xml"/><Relationship Id="rId86"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slideMaster" Target="slideMasters/slideMaster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61" Type="http://schemas.openxmlformats.org/officeDocument/2006/relationships/slide" Target="slides/slide56.xml"/><Relationship Id="rId8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smtClean="0"/>
            </a:lvl1pPr>
          </a:lstStyle>
          <a:p>
            <a:pPr>
              <a:defRPr/>
            </a:pPr>
            <a:endParaRPr lang="en-US"/>
          </a:p>
        </p:txBody>
      </p:sp>
      <p:sp>
        <p:nvSpPr>
          <p:cNvPr id="35843"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smtClean="0"/>
            </a:lvl1pPr>
          </a:lstStyle>
          <a:p>
            <a:pPr>
              <a:defRPr/>
            </a:pPr>
            <a:endParaRPr lang="en-US"/>
          </a:p>
        </p:txBody>
      </p:sp>
      <p:sp>
        <p:nvSpPr>
          <p:cNvPr id="35844"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smtClean="0"/>
            </a:lvl1pPr>
          </a:lstStyle>
          <a:p>
            <a:pPr>
              <a:defRPr/>
            </a:pPr>
            <a:endParaRPr lang="en-US"/>
          </a:p>
        </p:txBody>
      </p:sp>
      <p:sp>
        <p:nvSpPr>
          <p:cNvPr id="35845"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smtClean="0"/>
            </a:lvl1pPr>
          </a:lstStyle>
          <a:p>
            <a:pPr>
              <a:defRPr/>
            </a:pPr>
            <a:fld id="{67321643-5F9D-40C7-B929-EAC7FD32E124}" type="slidenum">
              <a:rPr lang="en-US"/>
              <a:pPr>
                <a:defRPr/>
              </a:pPr>
              <a:t>‹#›</a:t>
            </a:fld>
            <a:endParaRPr lang="en-US"/>
          </a:p>
        </p:txBody>
      </p:sp>
    </p:spTree>
    <p:extLst>
      <p:ext uri="{BB962C8B-B14F-4D97-AF65-F5344CB8AC3E}">
        <p14:creationId xmlns:p14="http://schemas.microsoft.com/office/powerpoint/2010/main" val="91728631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smtClean="0"/>
            </a:lvl1pPr>
          </a:lstStyle>
          <a:p>
            <a:pPr>
              <a:defRPr/>
            </a:pPr>
            <a:endParaRPr lang="en-US"/>
          </a:p>
        </p:txBody>
      </p:sp>
      <p:sp>
        <p:nvSpPr>
          <p:cNvPr id="2662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smtClean="0"/>
            </a:lvl1pPr>
          </a:lstStyle>
          <a:p>
            <a:pPr>
              <a:defRPr/>
            </a:pPr>
            <a:endParaRPr lang="en-US"/>
          </a:p>
        </p:txBody>
      </p:sp>
      <p:sp>
        <p:nvSpPr>
          <p:cNvPr id="3379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662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663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smtClean="0"/>
            </a:lvl1pPr>
          </a:lstStyle>
          <a:p>
            <a:pPr>
              <a:defRPr/>
            </a:pPr>
            <a:endParaRPr lang="en-US"/>
          </a:p>
        </p:txBody>
      </p:sp>
      <p:sp>
        <p:nvSpPr>
          <p:cNvPr id="2663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smtClean="0"/>
            </a:lvl1pPr>
          </a:lstStyle>
          <a:p>
            <a:pPr>
              <a:defRPr/>
            </a:pPr>
            <a:fld id="{E9363D29-DE73-41BF-9742-7EC94842DA0C}" type="slidenum">
              <a:rPr lang="en-US"/>
              <a:pPr>
                <a:defRPr/>
              </a:pPr>
              <a:t>‹#›</a:t>
            </a:fld>
            <a:endParaRPr lang="en-US"/>
          </a:p>
        </p:txBody>
      </p:sp>
    </p:spTree>
    <p:extLst>
      <p:ext uri="{BB962C8B-B14F-4D97-AF65-F5344CB8AC3E}">
        <p14:creationId xmlns:p14="http://schemas.microsoft.com/office/powerpoint/2010/main" val="285809457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Arial" charset="0"/>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Arial" charset="0"/>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200" dirty="0"/>
              <a:t>Executes statements and return to calling function</a:t>
            </a:r>
            <a:endParaRPr lang="en-IN" sz="1200" b="1" dirty="0">
              <a:solidFill>
                <a:srgbClr val="FF0000"/>
              </a:solidFill>
              <a:latin typeface="Courier New" panose="02070309020205020404" pitchFamily="49" charset="0"/>
              <a:cs typeface="Courier New" panose="02070309020205020404" pitchFamily="49" charset="0"/>
            </a:endParaRPr>
          </a:p>
          <a:p>
            <a:endParaRPr lang="en-IN"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7A3D7D-4DD0-4519-9573-665089B66871}"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386703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7A3D7D-4DD0-4519-9573-665089B66871}"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0130897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These are special type of Constructors, and is used to copy values of data members of one object into other object.</a:t>
            </a:r>
          </a:p>
          <a:p>
            <a:endParaRPr lang="en-IN"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7A3D7D-4DD0-4519-9573-665089B66871}"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7023801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7A3D7D-4DD0-4519-9573-665089B66871}"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0603042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 and shallow copy constructor</a:t>
            </a:r>
            <a:endParaRPr lang="en-IN" dirty="0"/>
          </a:p>
        </p:txBody>
      </p:sp>
      <p:sp>
        <p:nvSpPr>
          <p:cNvPr id="4" name="Slide Number Placeholder 3"/>
          <p:cNvSpPr>
            <a:spLocks noGrp="1"/>
          </p:cNvSpPr>
          <p:nvPr>
            <p:ph type="sldNum" sz="quarter" idx="5"/>
          </p:nvPr>
        </p:nvSpPr>
        <p:spPr/>
        <p:txBody>
          <a:bodyPr/>
          <a:lstStyle/>
          <a:p>
            <a:pPr>
              <a:defRPr/>
            </a:pPr>
            <a:fld id="{E9363D29-DE73-41BF-9742-7EC94842DA0C}" type="slidenum">
              <a:rPr lang="en-US" smtClean="0"/>
              <a:pPr>
                <a:defRPr/>
              </a:pPr>
              <a:t>31</a:t>
            </a:fld>
            <a:endParaRPr lang="en-US"/>
          </a:p>
        </p:txBody>
      </p:sp>
    </p:spTree>
    <p:extLst>
      <p:ext uri="{BB962C8B-B14F-4D97-AF65-F5344CB8AC3E}">
        <p14:creationId xmlns:p14="http://schemas.microsoft.com/office/powerpoint/2010/main" val="39560696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might think this would require us to define a one-argument constructor</a:t>
            </a:r>
            <a:r>
              <a:rPr lang="en-US" dirty="0">
                <a:solidFill>
                  <a:srgbClr val="FF0000"/>
                </a:solidFill>
              </a:rPr>
              <a:t>, but initializing an object with another object of the same type is a special case</a:t>
            </a:r>
            <a:r>
              <a:rPr lang="en-US" dirty="0"/>
              <a:t>. </a:t>
            </a:r>
            <a:r>
              <a:rPr lang="en-US" dirty="0">
                <a:solidFill>
                  <a:srgbClr val="CC0000"/>
                </a:solidFill>
              </a:rPr>
              <a:t>This causes the default copy constructor for the Distance class to perform a member-by-member copy of dist1 into dist2.</a:t>
            </a:r>
            <a:endParaRPr lang="en-IN" dirty="0">
              <a:solidFill>
                <a:srgbClr val="CC0000"/>
              </a:solidFill>
            </a:endParaRPr>
          </a:p>
          <a:p>
            <a:endParaRPr lang="en-IN" dirty="0"/>
          </a:p>
        </p:txBody>
      </p:sp>
      <p:sp>
        <p:nvSpPr>
          <p:cNvPr id="4" name="Slide Number Placeholder 3"/>
          <p:cNvSpPr>
            <a:spLocks noGrp="1"/>
          </p:cNvSpPr>
          <p:nvPr>
            <p:ph type="sldNum" sz="quarter" idx="5"/>
          </p:nvPr>
        </p:nvSpPr>
        <p:spPr/>
        <p:txBody>
          <a:bodyPr/>
          <a:lstStyle/>
          <a:p>
            <a:pPr>
              <a:defRPr/>
            </a:pPr>
            <a:fld id="{E9363D29-DE73-41BF-9742-7EC94842DA0C}" type="slidenum">
              <a:rPr lang="en-US" smtClean="0"/>
              <a:pPr>
                <a:defRPr/>
              </a:pPr>
              <a:t>32</a:t>
            </a:fld>
            <a:endParaRPr lang="en-US"/>
          </a:p>
        </p:txBody>
      </p:sp>
    </p:spTree>
    <p:extLst>
      <p:ext uri="{BB962C8B-B14F-4D97-AF65-F5344CB8AC3E}">
        <p14:creationId xmlns:p14="http://schemas.microsoft.com/office/powerpoint/2010/main" val="37634051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u="none" strike="noStrike" kern="1200" baseline="0" dirty="0">
                <a:solidFill>
                  <a:schemeClr val="tx1"/>
                </a:solidFill>
                <a:latin typeface="Times New Roman" pitchFamily="18" charset="0"/>
                <a:ea typeface="+mn-ea"/>
                <a:cs typeface="Arial" charset="0"/>
              </a:rPr>
              <a:t>A const member function guarantees that it will never modify any of its class’s member </a:t>
            </a:r>
            <a:r>
              <a:rPr lang="en-US" sz="1200" b="0" i="0" u="none" strike="noStrike" kern="1200" baseline="0" dirty="0" err="1">
                <a:solidFill>
                  <a:schemeClr val="tx1"/>
                </a:solidFill>
                <a:latin typeface="Times New Roman" pitchFamily="18" charset="0"/>
                <a:ea typeface="+mn-ea"/>
                <a:cs typeface="Arial" charset="0"/>
              </a:rPr>
              <a:t>data.</a:t>
            </a:r>
            <a:r>
              <a:rPr lang="en-US" sz="1200" b="0" i="0" kern="1200" dirty="0" err="1">
                <a:solidFill>
                  <a:schemeClr val="tx1"/>
                </a:solidFill>
                <a:effectLst/>
                <a:latin typeface="Times New Roman" pitchFamily="18" charset="0"/>
                <a:ea typeface="+mn-ea"/>
                <a:cs typeface="Arial" charset="0"/>
              </a:rPr>
              <a:t>The</a:t>
            </a:r>
            <a:r>
              <a:rPr lang="en-US" sz="1200" b="0" i="0" kern="1200" dirty="0">
                <a:solidFill>
                  <a:schemeClr val="tx1"/>
                </a:solidFill>
                <a:effectLst/>
                <a:latin typeface="Times New Roman" pitchFamily="18" charset="0"/>
                <a:ea typeface="+mn-ea"/>
                <a:cs typeface="Arial" charset="0"/>
              </a:rPr>
              <a:t> idea of const functions is not to allow them to modify the object on which they are called. It is recommended practice to make as many functions const as possible so that accidental changes to objects are avoided.</a:t>
            </a:r>
          </a:p>
          <a:p>
            <a:endParaRPr lang="en-IN" dirty="0"/>
          </a:p>
        </p:txBody>
      </p:sp>
      <p:sp>
        <p:nvSpPr>
          <p:cNvPr id="4" name="Slide Number Placeholder 3"/>
          <p:cNvSpPr>
            <a:spLocks noGrp="1"/>
          </p:cNvSpPr>
          <p:nvPr>
            <p:ph type="sldNum" sz="quarter" idx="5"/>
          </p:nvPr>
        </p:nvSpPr>
        <p:spPr/>
        <p:txBody>
          <a:bodyPr/>
          <a:lstStyle/>
          <a:p>
            <a:pPr>
              <a:defRPr/>
            </a:pPr>
            <a:fld id="{E9363D29-DE73-41BF-9742-7EC94842DA0C}" type="slidenum">
              <a:rPr lang="en-US" smtClean="0"/>
              <a:pPr>
                <a:defRPr/>
              </a:pPr>
              <a:t>46</a:t>
            </a:fld>
            <a:endParaRPr lang="en-US"/>
          </a:p>
        </p:txBody>
      </p:sp>
    </p:spTree>
    <p:extLst>
      <p:ext uri="{BB962C8B-B14F-4D97-AF65-F5344CB8AC3E}">
        <p14:creationId xmlns:p14="http://schemas.microsoft.com/office/powerpoint/2010/main" val="12836904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Times New Roman" pitchFamily="18" charset="0"/>
                <a:ea typeface="+mn-ea"/>
                <a:cs typeface="Arial" charset="0"/>
              </a:rPr>
              <a:t>Const object can only call CONST </a:t>
            </a:r>
            <a:r>
              <a:rPr lang="en-US" sz="1200" b="0" i="0" kern="1200">
                <a:solidFill>
                  <a:schemeClr val="tx1"/>
                </a:solidFill>
                <a:effectLst/>
                <a:latin typeface="Times New Roman" pitchFamily="18" charset="0"/>
                <a:ea typeface="+mn-ea"/>
                <a:cs typeface="Arial" charset="0"/>
              </a:rPr>
              <a:t>member function…An </a:t>
            </a:r>
            <a:r>
              <a:rPr lang="en-US" sz="1200" b="0" i="0" kern="1200" dirty="0">
                <a:solidFill>
                  <a:schemeClr val="tx1"/>
                </a:solidFill>
                <a:effectLst/>
                <a:latin typeface="Times New Roman" pitchFamily="18" charset="0"/>
                <a:ea typeface="+mn-ea"/>
                <a:cs typeface="Arial" charset="0"/>
              </a:rPr>
              <a:t>object declared as const cannot be modified and hence, can invoke only const member functions as these functions ensure not to modify the object. A const object can be created by prefixing the const keyword to the object declaration.</a:t>
            </a:r>
            <a:endParaRPr lang="en-IN" dirty="0"/>
          </a:p>
        </p:txBody>
      </p:sp>
      <p:sp>
        <p:nvSpPr>
          <p:cNvPr id="4" name="Slide Number Placeholder 3"/>
          <p:cNvSpPr>
            <a:spLocks noGrp="1"/>
          </p:cNvSpPr>
          <p:nvPr>
            <p:ph type="sldNum" sz="quarter" idx="5"/>
          </p:nvPr>
        </p:nvSpPr>
        <p:spPr/>
        <p:txBody>
          <a:bodyPr/>
          <a:lstStyle/>
          <a:p>
            <a:pPr>
              <a:defRPr/>
            </a:pPr>
            <a:fld id="{E9363D29-DE73-41BF-9742-7EC94842DA0C}" type="slidenum">
              <a:rPr lang="en-US" smtClean="0"/>
              <a:pPr>
                <a:defRPr/>
              </a:pPr>
              <a:t>48</a:t>
            </a:fld>
            <a:endParaRPr lang="en-US"/>
          </a:p>
        </p:txBody>
      </p:sp>
    </p:spTree>
    <p:extLst>
      <p:ext uri="{BB962C8B-B14F-4D97-AF65-F5344CB8AC3E}">
        <p14:creationId xmlns:p14="http://schemas.microsoft.com/office/powerpoint/2010/main" val="6647655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Times New Roman" pitchFamily="18" charset="0"/>
                <a:ea typeface="+mn-ea"/>
                <a:cs typeface="Arial" charset="0"/>
              </a:rPr>
              <a:t>The qualifier const tells the compiler that the function should not modify the argument. The compiler will generate an error when this condition is violated. This type of declaration is significant only when we pass arguments by reference or pointers.</a:t>
            </a:r>
            <a:endParaRPr lang="en-IN" dirty="0"/>
          </a:p>
        </p:txBody>
      </p:sp>
      <p:sp>
        <p:nvSpPr>
          <p:cNvPr id="4" name="Slide Number Placeholder 3"/>
          <p:cNvSpPr>
            <a:spLocks noGrp="1"/>
          </p:cNvSpPr>
          <p:nvPr>
            <p:ph type="sldNum" sz="quarter" idx="5"/>
          </p:nvPr>
        </p:nvSpPr>
        <p:spPr/>
        <p:txBody>
          <a:bodyPr/>
          <a:lstStyle/>
          <a:p>
            <a:pPr>
              <a:defRPr/>
            </a:pPr>
            <a:fld id="{E9363D29-DE73-41BF-9742-7EC94842DA0C}" type="slidenum">
              <a:rPr lang="en-US" smtClean="0"/>
              <a:pPr>
                <a:defRPr/>
              </a:pPr>
              <a:t>49</a:t>
            </a:fld>
            <a:endParaRPr lang="en-US"/>
          </a:p>
        </p:txBody>
      </p:sp>
    </p:spTree>
    <p:extLst>
      <p:ext uri="{BB962C8B-B14F-4D97-AF65-F5344CB8AC3E}">
        <p14:creationId xmlns:p14="http://schemas.microsoft.com/office/powerpoint/2010/main" val="39595977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Times New Roman" pitchFamily="18" charset="0"/>
                <a:ea typeface="+mn-ea"/>
                <a:cs typeface="Arial" charset="0"/>
              </a:rPr>
              <a:t>we can apply const to objects of classes. When an object is declared as const, you can’t modify it. It follows that you can</a:t>
            </a:r>
          </a:p>
          <a:p>
            <a:r>
              <a:rPr lang="en-US" sz="1200" b="0" i="0" u="none" strike="noStrike" kern="1200" baseline="0" dirty="0">
                <a:solidFill>
                  <a:schemeClr val="tx1"/>
                </a:solidFill>
                <a:latin typeface="Times New Roman" pitchFamily="18" charset="0"/>
                <a:ea typeface="+mn-ea"/>
                <a:cs typeface="Arial" charset="0"/>
              </a:rPr>
              <a:t>use only const member functions with it, because they’re the only ones that guarantee not to </a:t>
            </a:r>
            <a:r>
              <a:rPr lang="en-IN" sz="1200" b="0" i="0" u="none" strike="noStrike" kern="1200" baseline="0" dirty="0">
                <a:solidFill>
                  <a:schemeClr val="tx1"/>
                </a:solidFill>
                <a:latin typeface="Times New Roman" pitchFamily="18" charset="0"/>
                <a:ea typeface="+mn-ea"/>
                <a:cs typeface="Arial" charset="0"/>
              </a:rPr>
              <a:t>modify it.</a:t>
            </a:r>
            <a:endParaRPr lang="en-IN" dirty="0"/>
          </a:p>
        </p:txBody>
      </p:sp>
      <p:sp>
        <p:nvSpPr>
          <p:cNvPr id="4" name="Slide Number Placeholder 3"/>
          <p:cNvSpPr>
            <a:spLocks noGrp="1"/>
          </p:cNvSpPr>
          <p:nvPr>
            <p:ph type="sldNum" sz="quarter" idx="5"/>
          </p:nvPr>
        </p:nvSpPr>
        <p:spPr/>
        <p:txBody>
          <a:bodyPr/>
          <a:lstStyle/>
          <a:p>
            <a:pPr>
              <a:defRPr/>
            </a:pPr>
            <a:fld id="{E9363D29-DE73-41BF-9742-7EC94842DA0C}" type="slidenum">
              <a:rPr lang="en-US" smtClean="0"/>
              <a:pPr>
                <a:defRPr/>
              </a:pPr>
              <a:t>51</a:t>
            </a:fld>
            <a:endParaRPr lang="en-US"/>
          </a:p>
        </p:txBody>
      </p:sp>
    </p:spTree>
    <p:extLst>
      <p:ext uri="{BB962C8B-B14F-4D97-AF65-F5344CB8AC3E}">
        <p14:creationId xmlns:p14="http://schemas.microsoft.com/office/powerpoint/2010/main" val="28152533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Times New Roman" pitchFamily="18" charset="0"/>
                <a:ea typeface="+mn-ea"/>
                <a:cs typeface="Arial" charset="0"/>
              </a:rPr>
              <a:t>to access the global </a:t>
            </a:r>
            <a:r>
              <a:rPr lang="en-IN" sz="1200" b="0" i="0" kern="1200" dirty="0" err="1">
                <a:solidFill>
                  <a:schemeClr val="tx1"/>
                </a:solidFill>
                <a:effectLst/>
                <a:latin typeface="Times New Roman" pitchFamily="18" charset="0"/>
                <a:ea typeface="+mn-ea"/>
                <a:cs typeface="Arial" charset="0"/>
              </a:rPr>
              <a:t>num</a:t>
            </a:r>
            <a:r>
              <a:rPr lang="en-IN" sz="1200" b="0" i="0" kern="1200" dirty="0">
                <a:solidFill>
                  <a:schemeClr val="tx1"/>
                </a:solidFill>
                <a:effectLst/>
                <a:latin typeface="Times New Roman" pitchFamily="18" charset="0"/>
                <a:ea typeface="+mn-ea"/>
                <a:cs typeface="Arial" charset="0"/>
              </a:rPr>
              <a:t> variable in the main class you need to use scope resolution operator (i.e. ::</a:t>
            </a:r>
            <a:r>
              <a:rPr lang="en-IN" sz="1200" b="0" i="0" kern="1200" dirty="0" err="1">
                <a:solidFill>
                  <a:schemeClr val="tx1"/>
                </a:solidFill>
                <a:effectLst/>
                <a:latin typeface="Times New Roman" pitchFamily="18" charset="0"/>
                <a:ea typeface="+mn-ea"/>
                <a:cs typeface="Arial" charset="0"/>
              </a:rPr>
              <a:t>num</a:t>
            </a:r>
            <a:r>
              <a:rPr lang="en-IN" sz="1200" b="0" i="0" kern="1200" dirty="0">
                <a:solidFill>
                  <a:schemeClr val="tx1"/>
                </a:solidFill>
                <a:effectLst/>
                <a:latin typeface="Times New Roman" pitchFamily="18" charset="0"/>
                <a:ea typeface="+mn-ea"/>
                <a:cs typeface="Arial" charset="0"/>
              </a:rPr>
              <a:t>).</a:t>
            </a:r>
          </a:p>
          <a:p>
            <a:r>
              <a:rPr lang="en-IN" sz="1200" b="1" i="0" kern="1200" dirty="0">
                <a:solidFill>
                  <a:schemeClr val="tx1"/>
                </a:solidFill>
                <a:effectLst/>
                <a:latin typeface="Times New Roman" pitchFamily="18" charset="0"/>
                <a:ea typeface="+mn-ea"/>
                <a:cs typeface="Arial" charset="0"/>
              </a:rPr>
              <a:t>Example</a:t>
            </a:r>
            <a:endParaRPr lang="en-IN" sz="1200" b="0" i="0" kern="1200" dirty="0">
              <a:solidFill>
                <a:schemeClr val="tx1"/>
              </a:solidFill>
              <a:effectLst/>
              <a:latin typeface="Times New Roman" pitchFamily="18" charset="0"/>
              <a:ea typeface="+mn-ea"/>
              <a:cs typeface="Arial" charset="0"/>
            </a:endParaRPr>
          </a:p>
          <a:p>
            <a:pPr rtl="0" fontAlgn="base"/>
            <a:r>
              <a:rPr lang="en-IN" sz="1200" b="0" i="0" kern="1200" dirty="0">
                <a:solidFill>
                  <a:schemeClr val="tx1"/>
                </a:solidFill>
                <a:effectLst/>
                <a:latin typeface="Times New Roman" pitchFamily="18" charset="0"/>
                <a:ea typeface="+mn-ea"/>
                <a:cs typeface="Arial" charset="0"/>
              </a:rPr>
              <a:t>1</a:t>
            </a:r>
          </a:p>
          <a:p>
            <a:pPr rtl="0" fontAlgn="base"/>
            <a:r>
              <a:rPr lang="en-IN" sz="1200" b="0" i="0" kern="1200" dirty="0">
                <a:solidFill>
                  <a:schemeClr val="tx1"/>
                </a:solidFill>
                <a:effectLst/>
                <a:latin typeface="Times New Roman" pitchFamily="18" charset="0"/>
                <a:ea typeface="+mn-ea"/>
                <a:cs typeface="Arial" charset="0"/>
              </a:rPr>
              <a:t>2</a:t>
            </a:r>
          </a:p>
          <a:p>
            <a:pPr rtl="0" fontAlgn="base"/>
            <a:r>
              <a:rPr lang="en-IN" sz="1200" b="0" i="0" kern="1200" dirty="0">
                <a:solidFill>
                  <a:schemeClr val="tx1"/>
                </a:solidFill>
                <a:effectLst/>
                <a:latin typeface="Times New Roman" pitchFamily="18" charset="0"/>
                <a:ea typeface="+mn-ea"/>
                <a:cs typeface="Arial" charset="0"/>
              </a:rPr>
              <a:t>3</a:t>
            </a:r>
          </a:p>
          <a:p>
            <a:pPr rtl="0" fontAlgn="base"/>
            <a:r>
              <a:rPr lang="en-IN" sz="1200" b="0" i="0" kern="1200" dirty="0">
                <a:solidFill>
                  <a:schemeClr val="tx1"/>
                </a:solidFill>
                <a:effectLst/>
                <a:latin typeface="Times New Roman" pitchFamily="18" charset="0"/>
                <a:ea typeface="+mn-ea"/>
                <a:cs typeface="Arial" charset="0"/>
              </a:rPr>
              <a:t>4</a:t>
            </a:r>
          </a:p>
          <a:p>
            <a:pPr rtl="0" fontAlgn="base"/>
            <a:r>
              <a:rPr lang="en-IN" sz="1200" b="0" i="0" kern="1200" dirty="0">
                <a:solidFill>
                  <a:schemeClr val="tx1"/>
                </a:solidFill>
                <a:effectLst/>
                <a:latin typeface="Times New Roman" pitchFamily="18" charset="0"/>
                <a:ea typeface="+mn-ea"/>
                <a:cs typeface="Arial" charset="0"/>
              </a:rPr>
              <a:t>5</a:t>
            </a:r>
          </a:p>
          <a:p>
            <a:pPr rtl="0" fontAlgn="base"/>
            <a:r>
              <a:rPr lang="en-IN" sz="1200" b="0" i="0" kern="1200" dirty="0">
                <a:solidFill>
                  <a:schemeClr val="tx1"/>
                </a:solidFill>
                <a:effectLst/>
                <a:latin typeface="Times New Roman" pitchFamily="18" charset="0"/>
                <a:ea typeface="+mn-ea"/>
                <a:cs typeface="Arial" charset="0"/>
              </a:rPr>
              <a:t>6</a:t>
            </a:r>
          </a:p>
          <a:p>
            <a:pPr rtl="0" fontAlgn="base"/>
            <a:r>
              <a:rPr lang="en-IN" sz="1200" b="0" i="0" kern="1200" dirty="0">
                <a:solidFill>
                  <a:schemeClr val="tx1"/>
                </a:solidFill>
                <a:effectLst/>
                <a:latin typeface="Times New Roman" pitchFamily="18" charset="0"/>
                <a:ea typeface="+mn-ea"/>
                <a:cs typeface="Arial" charset="0"/>
              </a:rPr>
              <a:t>7</a:t>
            </a:r>
          </a:p>
          <a:p>
            <a:pPr rtl="0" fontAlgn="base"/>
            <a:r>
              <a:rPr lang="en-IN" sz="1200" b="0" i="0" kern="1200" dirty="0">
                <a:solidFill>
                  <a:schemeClr val="tx1"/>
                </a:solidFill>
                <a:effectLst/>
                <a:latin typeface="Times New Roman" pitchFamily="18" charset="0"/>
                <a:ea typeface="+mn-ea"/>
                <a:cs typeface="Arial" charset="0"/>
              </a:rPr>
              <a:t>8</a:t>
            </a:r>
          </a:p>
          <a:p>
            <a:pPr rtl="0" fontAlgn="base"/>
            <a:r>
              <a:rPr lang="en-IN" sz="1200" b="0" i="0" kern="1200" dirty="0">
                <a:solidFill>
                  <a:schemeClr val="tx1"/>
                </a:solidFill>
                <a:effectLst/>
                <a:latin typeface="Times New Roman" pitchFamily="18" charset="0"/>
                <a:ea typeface="+mn-ea"/>
                <a:cs typeface="Arial" charset="0"/>
              </a:rPr>
              <a:t>9</a:t>
            </a:r>
          </a:p>
          <a:p>
            <a:pPr rtl="0" fontAlgn="base"/>
            <a:r>
              <a:rPr lang="en-IN" sz="1200" b="0" i="0" kern="1200" dirty="0">
                <a:solidFill>
                  <a:schemeClr val="tx1"/>
                </a:solidFill>
                <a:effectLst/>
                <a:latin typeface="Times New Roman" pitchFamily="18" charset="0"/>
                <a:ea typeface="+mn-ea"/>
                <a:cs typeface="Arial" charset="0"/>
              </a:rPr>
              <a:t>10</a:t>
            </a:r>
          </a:p>
          <a:p>
            <a:pPr rtl="0" fontAlgn="base"/>
            <a:r>
              <a:rPr lang="en-IN" sz="1200" b="0" i="0" kern="1200" dirty="0">
                <a:solidFill>
                  <a:schemeClr val="tx1"/>
                </a:solidFill>
                <a:effectLst/>
                <a:latin typeface="Times New Roman" pitchFamily="18" charset="0"/>
                <a:ea typeface="+mn-ea"/>
                <a:cs typeface="Arial" charset="0"/>
              </a:rPr>
              <a:t>#include&lt;iostream&gt;  </a:t>
            </a:r>
          </a:p>
          <a:p>
            <a:pPr rtl="0" fontAlgn="base"/>
            <a:r>
              <a:rPr lang="en-IN" sz="1200" b="0" i="0" kern="1200" dirty="0">
                <a:solidFill>
                  <a:schemeClr val="tx1"/>
                </a:solidFill>
                <a:effectLst/>
                <a:latin typeface="Times New Roman" pitchFamily="18" charset="0"/>
                <a:ea typeface="+mn-ea"/>
                <a:cs typeface="Arial" charset="0"/>
              </a:rPr>
              <a:t>using namespace std;    </a:t>
            </a:r>
          </a:p>
          <a:p>
            <a:pPr rtl="0" fontAlgn="base"/>
            <a:r>
              <a:rPr lang="en-IN" sz="1200" b="0" i="0" kern="1200" dirty="0">
                <a:solidFill>
                  <a:schemeClr val="tx1"/>
                </a:solidFill>
                <a:effectLst/>
                <a:latin typeface="Times New Roman" pitchFamily="18" charset="0"/>
                <a:ea typeface="+mn-ea"/>
                <a:cs typeface="Arial" charset="0"/>
              </a:rPr>
              <a:t>int </a:t>
            </a:r>
            <a:r>
              <a:rPr lang="en-IN" sz="1200" b="0" i="0" kern="1200" dirty="0" err="1">
                <a:solidFill>
                  <a:schemeClr val="tx1"/>
                </a:solidFill>
                <a:effectLst/>
                <a:latin typeface="Times New Roman" pitchFamily="18" charset="0"/>
                <a:ea typeface="+mn-ea"/>
                <a:cs typeface="Arial" charset="0"/>
              </a:rPr>
              <a:t>num</a:t>
            </a:r>
            <a:r>
              <a:rPr lang="en-IN" sz="1200" b="0" i="0" kern="1200" dirty="0">
                <a:solidFill>
                  <a:schemeClr val="tx1"/>
                </a:solidFill>
                <a:effectLst/>
                <a:latin typeface="Times New Roman" pitchFamily="18" charset="0"/>
                <a:ea typeface="+mn-ea"/>
                <a:cs typeface="Arial" charset="0"/>
              </a:rPr>
              <a:t> = 30;  // Initializing a global variable </a:t>
            </a:r>
            <a:r>
              <a:rPr lang="en-IN" sz="1200" b="0" i="0" kern="1200" dirty="0" err="1">
                <a:solidFill>
                  <a:schemeClr val="tx1"/>
                </a:solidFill>
                <a:effectLst/>
                <a:latin typeface="Times New Roman" pitchFamily="18" charset="0"/>
                <a:ea typeface="+mn-ea"/>
                <a:cs typeface="Arial" charset="0"/>
              </a:rPr>
              <a:t>num</a:t>
            </a:r>
            <a:r>
              <a:rPr lang="en-IN" sz="1200" b="0" i="0" kern="1200" dirty="0">
                <a:solidFill>
                  <a:schemeClr val="tx1"/>
                </a:solidFill>
                <a:effectLst/>
                <a:latin typeface="Times New Roman" pitchFamily="18" charset="0"/>
                <a:ea typeface="+mn-ea"/>
                <a:cs typeface="Arial" charset="0"/>
              </a:rPr>
              <a:t>   </a:t>
            </a:r>
          </a:p>
          <a:p>
            <a:pPr rtl="0" fontAlgn="base"/>
            <a:r>
              <a:rPr lang="en-IN" sz="1200" b="0" i="0" kern="1200" dirty="0">
                <a:solidFill>
                  <a:schemeClr val="tx1"/>
                </a:solidFill>
                <a:effectLst/>
                <a:latin typeface="Times New Roman" pitchFamily="18" charset="0"/>
                <a:ea typeface="+mn-ea"/>
                <a:cs typeface="Arial" charset="0"/>
              </a:rPr>
              <a:t>int main() </a:t>
            </a:r>
          </a:p>
          <a:p>
            <a:pPr rtl="0" fontAlgn="base"/>
            <a:r>
              <a:rPr lang="en-IN" sz="1200" b="0" i="0" kern="1200" dirty="0">
                <a:solidFill>
                  <a:schemeClr val="tx1"/>
                </a:solidFill>
                <a:effectLst/>
                <a:latin typeface="Times New Roman" pitchFamily="18" charset="0"/>
                <a:ea typeface="+mn-ea"/>
                <a:cs typeface="Arial" charset="0"/>
              </a:rPr>
              <a:t>{ </a:t>
            </a:r>
          </a:p>
          <a:p>
            <a:pPr rtl="0" fontAlgn="base"/>
            <a:r>
              <a:rPr lang="en-IN" sz="1200" b="0" i="0" kern="1200" dirty="0">
                <a:solidFill>
                  <a:schemeClr val="tx1"/>
                </a:solidFill>
                <a:effectLst/>
                <a:latin typeface="Times New Roman" pitchFamily="18" charset="0"/>
                <a:ea typeface="+mn-ea"/>
                <a:cs typeface="Arial" charset="0"/>
              </a:rPr>
              <a:t>int </a:t>
            </a:r>
            <a:r>
              <a:rPr lang="en-IN" sz="1200" b="0" i="0" kern="1200" dirty="0" err="1">
                <a:solidFill>
                  <a:schemeClr val="tx1"/>
                </a:solidFill>
                <a:effectLst/>
                <a:latin typeface="Times New Roman" pitchFamily="18" charset="0"/>
                <a:ea typeface="+mn-ea"/>
                <a:cs typeface="Arial" charset="0"/>
              </a:rPr>
              <a:t>num</a:t>
            </a:r>
            <a:r>
              <a:rPr lang="en-IN" sz="1200" b="0" i="0" kern="1200" dirty="0">
                <a:solidFill>
                  <a:schemeClr val="tx1"/>
                </a:solidFill>
                <a:effectLst/>
                <a:latin typeface="Times New Roman" pitchFamily="18" charset="0"/>
                <a:ea typeface="+mn-ea"/>
                <a:cs typeface="Arial" charset="0"/>
              </a:rPr>
              <a:t> = 10; // Initializing the local variable </a:t>
            </a:r>
            <a:r>
              <a:rPr lang="en-IN" sz="1200" b="0" i="0" kern="1200" dirty="0" err="1">
                <a:solidFill>
                  <a:schemeClr val="tx1"/>
                </a:solidFill>
                <a:effectLst/>
                <a:latin typeface="Times New Roman" pitchFamily="18" charset="0"/>
                <a:ea typeface="+mn-ea"/>
                <a:cs typeface="Arial" charset="0"/>
              </a:rPr>
              <a:t>num</a:t>
            </a:r>
            <a:endParaRPr lang="en-IN" sz="1200" b="0" i="0" kern="1200" dirty="0">
              <a:solidFill>
                <a:schemeClr val="tx1"/>
              </a:solidFill>
              <a:effectLst/>
              <a:latin typeface="Times New Roman" pitchFamily="18" charset="0"/>
              <a:ea typeface="+mn-ea"/>
              <a:cs typeface="Arial" charset="0"/>
            </a:endParaRPr>
          </a:p>
          <a:p>
            <a:pPr rtl="0" fontAlgn="base"/>
            <a:r>
              <a:rPr lang="en-IN" sz="1200" b="0" i="0" kern="1200" dirty="0" err="1">
                <a:solidFill>
                  <a:schemeClr val="tx1"/>
                </a:solidFill>
                <a:effectLst/>
                <a:latin typeface="Times New Roman" pitchFamily="18" charset="0"/>
                <a:ea typeface="+mn-ea"/>
                <a:cs typeface="Arial" charset="0"/>
              </a:rPr>
              <a:t>cout</a:t>
            </a:r>
            <a:r>
              <a:rPr lang="en-IN" sz="1200" b="0" i="0" kern="1200" dirty="0">
                <a:solidFill>
                  <a:schemeClr val="tx1"/>
                </a:solidFill>
                <a:effectLst/>
                <a:latin typeface="Times New Roman" pitchFamily="18" charset="0"/>
                <a:ea typeface="+mn-ea"/>
                <a:cs typeface="Arial" charset="0"/>
              </a:rPr>
              <a:t> &lt;&lt; "Value of global </a:t>
            </a:r>
            <a:r>
              <a:rPr lang="en-IN" sz="1200" b="0" i="0" kern="1200" dirty="0" err="1">
                <a:solidFill>
                  <a:schemeClr val="tx1"/>
                </a:solidFill>
                <a:effectLst/>
                <a:latin typeface="Times New Roman" pitchFamily="18" charset="0"/>
                <a:ea typeface="+mn-ea"/>
                <a:cs typeface="Arial" charset="0"/>
              </a:rPr>
              <a:t>num</a:t>
            </a:r>
            <a:r>
              <a:rPr lang="en-IN" sz="1200" b="0" i="0" kern="1200" dirty="0">
                <a:solidFill>
                  <a:schemeClr val="tx1"/>
                </a:solidFill>
                <a:effectLst/>
                <a:latin typeface="Times New Roman" pitchFamily="18" charset="0"/>
                <a:ea typeface="+mn-ea"/>
                <a:cs typeface="Arial" charset="0"/>
              </a:rPr>
              <a:t> is " &lt;&lt; ::</a:t>
            </a:r>
            <a:r>
              <a:rPr lang="en-IN" sz="1200" b="0" i="0" kern="1200" dirty="0" err="1">
                <a:solidFill>
                  <a:schemeClr val="tx1"/>
                </a:solidFill>
                <a:effectLst/>
                <a:latin typeface="Times New Roman" pitchFamily="18" charset="0"/>
                <a:ea typeface="+mn-ea"/>
                <a:cs typeface="Arial" charset="0"/>
              </a:rPr>
              <a:t>num</a:t>
            </a:r>
            <a:r>
              <a:rPr lang="en-IN" sz="1200" b="0" i="0" kern="1200" dirty="0">
                <a:solidFill>
                  <a:schemeClr val="tx1"/>
                </a:solidFill>
                <a:effectLst/>
                <a:latin typeface="Times New Roman" pitchFamily="18" charset="0"/>
                <a:ea typeface="+mn-ea"/>
                <a:cs typeface="Arial" charset="0"/>
              </a:rPr>
              <a:t>; </a:t>
            </a:r>
          </a:p>
          <a:p>
            <a:pPr rtl="0" fontAlgn="base"/>
            <a:r>
              <a:rPr lang="en-IN" sz="1200" b="0" i="0" kern="1200" dirty="0" err="1">
                <a:solidFill>
                  <a:schemeClr val="tx1"/>
                </a:solidFill>
                <a:effectLst/>
                <a:latin typeface="Times New Roman" pitchFamily="18" charset="0"/>
                <a:ea typeface="+mn-ea"/>
                <a:cs typeface="Arial" charset="0"/>
              </a:rPr>
              <a:t>cout</a:t>
            </a:r>
            <a:r>
              <a:rPr lang="en-IN" sz="1200" b="0" i="0" kern="1200" dirty="0">
                <a:solidFill>
                  <a:schemeClr val="tx1"/>
                </a:solidFill>
                <a:effectLst/>
                <a:latin typeface="Times New Roman" pitchFamily="18" charset="0"/>
                <a:ea typeface="+mn-ea"/>
                <a:cs typeface="Arial" charset="0"/>
              </a:rPr>
              <a:t> &lt;&lt; "</a:t>
            </a:r>
            <a:r>
              <a:rPr lang="en-IN" sz="1200" b="0" i="0" kern="1200" dirty="0" err="1">
                <a:solidFill>
                  <a:schemeClr val="tx1"/>
                </a:solidFill>
                <a:effectLst/>
                <a:latin typeface="Times New Roman" pitchFamily="18" charset="0"/>
                <a:ea typeface="+mn-ea"/>
                <a:cs typeface="Arial" charset="0"/>
              </a:rPr>
              <a:t>nValue</a:t>
            </a:r>
            <a:r>
              <a:rPr lang="en-IN" sz="1200" b="0" i="0" kern="1200" dirty="0">
                <a:solidFill>
                  <a:schemeClr val="tx1"/>
                </a:solidFill>
                <a:effectLst/>
                <a:latin typeface="Times New Roman" pitchFamily="18" charset="0"/>
                <a:ea typeface="+mn-ea"/>
                <a:cs typeface="Arial" charset="0"/>
              </a:rPr>
              <a:t> of local </a:t>
            </a:r>
            <a:r>
              <a:rPr lang="en-IN" sz="1200" b="0" i="0" kern="1200" dirty="0" err="1">
                <a:solidFill>
                  <a:schemeClr val="tx1"/>
                </a:solidFill>
                <a:effectLst/>
                <a:latin typeface="Times New Roman" pitchFamily="18" charset="0"/>
                <a:ea typeface="+mn-ea"/>
                <a:cs typeface="Arial" charset="0"/>
              </a:rPr>
              <a:t>num</a:t>
            </a:r>
            <a:r>
              <a:rPr lang="en-IN" sz="1200" b="0" i="0" kern="1200" dirty="0">
                <a:solidFill>
                  <a:schemeClr val="tx1"/>
                </a:solidFill>
                <a:effectLst/>
                <a:latin typeface="Times New Roman" pitchFamily="18" charset="0"/>
                <a:ea typeface="+mn-ea"/>
                <a:cs typeface="Arial" charset="0"/>
              </a:rPr>
              <a:t> is " &lt;&lt; </a:t>
            </a:r>
            <a:r>
              <a:rPr lang="en-IN" sz="1200" b="0" i="0" kern="1200" dirty="0" err="1">
                <a:solidFill>
                  <a:schemeClr val="tx1"/>
                </a:solidFill>
                <a:effectLst/>
                <a:latin typeface="Times New Roman" pitchFamily="18" charset="0"/>
                <a:ea typeface="+mn-ea"/>
                <a:cs typeface="Arial" charset="0"/>
              </a:rPr>
              <a:t>num</a:t>
            </a:r>
            <a:r>
              <a:rPr lang="en-IN" sz="1200" b="0" i="0" kern="1200" dirty="0">
                <a:solidFill>
                  <a:schemeClr val="tx1"/>
                </a:solidFill>
                <a:effectLst/>
                <a:latin typeface="Times New Roman" pitchFamily="18" charset="0"/>
                <a:ea typeface="+mn-ea"/>
                <a:cs typeface="Arial" charset="0"/>
              </a:rPr>
              <a:t>;   </a:t>
            </a:r>
          </a:p>
          <a:p>
            <a:pPr rtl="0" fontAlgn="base"/>
            <a:r>
              <a:rPr lang="en-IN" sz="1200" b="0" i="0" kern="1200" dirty="0">
                <a:solidFill>
                  <a:schemeClr val="tx1"/>
                </a:solidFill>
                <a:effectLst/>
                <a:latin typeface="Times New Roman" pitchFamily="18" charset="0"/>
                <a:ea typeface="+mn-ea"/>
                <a:cs typeface="Arial" charset="0"/>
              </a:rPr>
              <a:t>return 0;</a:t>
            </a:r>
          </a:p>
          <a:p>
            <a:endParaRPr lang="en-IN" dirty="0"/>
          </a:p>
        </p:txBody>
      </p:sp>
      <p:sp>
        <p:nvSpPr>
          <p:cNvPr id="4" name="Slide Number Placeholder 3"/>
          <p:cNvSpPr>
            <a:spLocks noGrp="1"/>
          </p:cNvSpPr>
          <p:nvPr>
            <p:ph type="sldNum" sz="quarter" idx="5"/>
          </p:nvPr>
        </p:nvSpPr>
        <p:spPr/>
        <p:txBody>
          <a:bodyPr/>
          <a:lstStyle/>
          <a:p>
            <a:pPr>
              <a:defRPr/>
            </a:pPr>
            <a:fld id="{E9363D29-DE73-41BF-9742-7EC94842DA0C}" type="slidenum">
              <a:rPr lang="en-US" smtClean="0"/>
              <a:pPr>
                <a:defRPr/>
              </a:pPr>
              <a:t>53</a:t>
            </a:fld>
            <a:endParaRPr lang="en-US"/>
          </a:p>
        </p:txBody>
      </p:sp>
    </p:spTree>
    <p:extLst>
      <p:ext uri="{BB962C8B-B14F-4D97-AF65-F5344CB8AC3E}">
        <p14:creationId xmlns:p14="http://schemas.microsoft.com/office/powerpoint/2010/main" val="1705328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IN" sz="1200" kern="1200" dirty="0">
                <a:solidFill>
                  <a:schemeClr val="tx1"/>
                </a:solidFill>
                <a:latin typeface="+mn-lt"/>
                <a:ea typeface="+mn-ea"/>
                <a:cs typeface="+mn-cs"/>
              </a:rPr>
              <a:t>you cannot initialize a static member variable inside the class declaration. While defining the static variable, some initial value can also be assigned to the variable. </a:t>
            </a:r>
            <a:r>
              <a:rPr lang="en-IN" sz="1200" kern="1200" dirty="0" err="1">
                <a:solidFill>
                  <a:schemeClr val="tx1"/>
                </a:solidFill>
                <a:latin typeface="+mn-lt"/>
                <a:ea typeface="+mn-ea"/>
                <a:cs typeface="+mn-cs"/>
              </a:rPr>
              <a:t>Eg</a:t>
            </a:r>
            <a:r>
              <a:rPr lang="en-IN" sz="1200" kern="1200" dirty="0">
                <a:solidFill>
                  <a:schemeClr val="tx1"/>
                </a:solidFill>
                <a:latin typeface="+mn-lt"/>
                <a:ea typeface="+mn-ea"/>
                <a:cs typeface="+mn-cs"/>
              </a:rPr>
              <a:t>:- int item :: count=10;</a:t>
            </a:r>
            <a:endParaRPr lang="en-IN"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7A3D7D-4DD0-4519-9573-665089B66871}"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0656607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4766D620-91E2-49AD-B5F3-5D957465618C}" type="slidenum">
              <a:rPr lang="en-US"/>
              <a:pPr>
                <a:defRPr/>
              </a:pPr>
              <a:t>‹#›</a:t>
            </a:fld>
            <a:endParaRPr lang="en-US"/>
          </a:p>
        </p:txBody>
      </p:sp>
    </p:spTree>
    <p:extLst>
      <p:ext uri="{BB962C8B-B14F-4D97-AF65-F5344CB8AC3E}">
        <p14:creationId xmlns:p14="http://schemas.microsoft.com/office/powerpoint/2010/main" val="3168256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476BE0B1-C626-45C8-98EA-E403C7C65479}" type="slidenum">
              <a:rPr lang="en-US"/>
              <a:pPr>
                <a:defRPr/>
              </a:pPr>
              <a:t>‹#›</a:t>
            </a:fld>
            <a:endParaRPr lang="en-US"/>
          </a:p>
        </p:txBody>
      </p:sp>
    </p:spTree>
    <p:extLst>
      <p:ext uri="{BB962C8B-B14F-4D97-AF65-F5344CB8AC3E}">
        <p14:creationId xmlns:p14="http://schemas.microsoft.com/office/powerpoint/2010/main" val="19329503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3CBDCF93-7161-461C-9A49-E6E956BCF340}" type="slidenum">
              <a:rPr lang="en-US"/>
              <a:pPr>
                <a:defRPr/>
              </a:pPr>
              <a:t>‹#›</a:t>
            </a:fld>
            <a:endParaRPr lang="en-US"/>
          </a:p>
        </p:txBody>
      </p:sp>
    </p:spTree>
    <p:extLst>
      <p:ext uri="{BB962C8B-B14F-4D97-AF65-F5344CB8AC3E}">
        <p14:creationId xmlns:p14="http://schemas.microsoft.com/office/powerpoint/2010/main" val="13764770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sldNum" sz="quarter" idx="11"/>
          </p:nvPr>
        </p:nvSpPr>
        <p:spPr>
          <a:ln/>
        </p:spPr>
        <p:txBody>
          <a:bodyPr/>
          <a:lstStyle>
            <a:lvl1pPr>
              <a:defRPr/>
            </a:lvl1pPr>
          </a:lstStyle>
          <a:p>
            <a:pPr>
              <a:defRPr/>
            </a:pPr>
            <a:fld id="{0C77F2C7-1CEF-415F-979B-D2FF48797066}" type="slidenum">
              <a:rPr lang="en-US"/>
              <a:pPr>
                <a:defRPr/>
              </a:pPr>
              <a:t>‹#›</a:t>
            </a:fld>
            <a:endParaRPr lang="en-US"/>
          </a:p>
        </p:txBody>
      </p:sp>
    </p:spTree>
    <p:extLst>
      <p:ext uri="{BB962C8B-B14F-4D97-AF65-F5344CB8AC3E}">
        <p14:creationId xmlns:p14="http://schemas.microsoft.com/office/powerpoint/2010/main" val="15401963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6"/>
          <p:cNvSpPr>
            <a:spLocks noGrp="1" noChangeArrowheads="1"/>
          </p:cNvSpPr>
          <p:nvPr>
            <p:ph type="sldNum" sz="quarter" idx="11"/>
          </p:nvPr>
        </p:nvSpPr>
        <p:spPr>
          <a:ln/>
        </p:spPr>
        <p:txBody>
          <a:bodyPr/>
          <a:lstStyle>
            <a:lvl1pPr>
              <a:defRPr/>
            </a:lvl1pPr>
          </a:lstStyle>
          <a:p>
            <a:pPr>
              <a:defRPr/>
            </a:pPr>
            <a:fld id="{F1CCC322-9916-45F7-BEF7-4066DB039C7B}" type="slidenum">
              <a:rPr lang="en-US"/>
              <a:pPr>
                <a:defRPr/>
              </a:pPr>
              <a:t>‹#›</a:t>
            </a:fld>
            <a:endParaRPr lang="en-US"/>
          </a:p>
        </p:txBody>
      </p:sp>
    </p:spTree>
    <p:extLst>
      <p:ext uri="{BB962C8B-B14F-4D97-AF65-F5344CB8AC3E}">
        <p14:creationId xmlns:p14="http://schemas.microsoft.com/office/powerpoint/2010/main" val="1471807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6"/>
          <p:cNvSpPr>
            <a:spLocks noGrp="1" noChangeArrowheads="1"/>
          </p:cNvSpPr>
          <p:nvPr>
            <p:ph type="sldNum" sz="quarter" idx="11"/>
          </p:nvPr>
        </p:nvSpPr>
        <p:spPr>
          <a:ln/>
        </p:spPr>
        <p:txBody>
          <a:bodyPr/>
          <a:lstStyle>
            <a:lvl1pPr>
              <a:defRPr/>
            </a:lvl1pPr>
          </a:lstStyle>
          <a:p>
            <a:pPr>
              <a:defRPr/>
            </a:pPr>
            <a:fld id="{D7A3997C-A84A-4EDD-B18C-7A5F591526A9}" type="slidenum">
              <a:rPr lang="en-US"/>
              <a:pPr>
                <a:defRPr/>
              </a:pPr>
              <a:t>‹#›</a:t>
            </a:fld>
            <a:endParaRPr lang="en-US"/>
          </a:p>
        </p:txBody>
      </p:sp>
    </p:spTree>
    <p:extLst>
      <p:ext uri="{BB962C8B-B14F-4D97-AF65-F5344CB8AC3E}">
        <p14:creationId xmlns:p14="http://schemas.microsoft.com/office/powerpoint/2010/main" val="21326759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6"/>
          <p:cNvSpPr>
            <a:spLocks noGrp="1" noChangeArrowheads="1"/>
          </p:cNvSpPr>
          <p:nvPr>
            <p:ph type="sldNum" sz="quarter" idx="11"/>
          </p:nvPr>
        </p:nvSpPr>
        <p:spPr>
          <a:ln/>
        </p:spPr>
        <p:txBody>
          <a:bodyPr/>
          <a:lstStyle>
            <a:lvl1pPr>
              <a:defRPr/>
            </a:lvl1pPr>
          </a:lstStyle>
          <a:p>
            <a:pPr>
              <a:defRPr/>
            </a:pPr>
            <a:fld id="{59EFACA4-3E44-407A-87F9-61412EF79D47}" type="slidenum">
              <a:rPr lang="en-US"/>
              <a:pPr>
                <a:defRPr/>
              </a:pPr>
              <a:t>‹#›</a:t>
            </a:fld>
            <a:endParaRPr lang="en-US"/>
          </a:p>
        </p:txBody>
      </p:sp>
    </p:spTree>
    <p:extLst>
      <p:ext uri="{BB962C8B-B14F-4D97-AF65-F5344CB8AC3E}">
        <p14:creationId xmlns:p14="http://schemas.microsoft.com/office/powerpoint/2010/main" val="10071612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sldNum" sz="quarter" idx="11"/>
          </p:nvPr>
        </p:nvSpPr>
        <p:spPr>
          <a:ln/>
        </p:spPr>
        <p:txBody>
          <a:bodyPr/>
          <a:lstStyle>
            <a:lvl1pPr>
              <a:defRPr/>
            </a:lvl1pPr>
          </a:lstStyle>
          <a:p>
            <a:pPr>
              <a:defRPr/>
            </a:pPr>
            <a:fld id="{7F6ACD1F-0C95-445C-A7F6-8311CF81DAE6}" type="slidenum">
              <a:rPr lang="en-US"/>
              <a:pPr>
                <a:defRPr/>
              </a:pPr>
              <a:t>‹#›</a:t>
            </a:fld>
            <a:endParaRPr lang="en-US"/>
          </a:p>
        </p:txBody>
      </p:sp>
    </p:spTree>
    <p:extLst>
      <p:ext uri="{BB962C8B-B14F-4D97-AF65-F5344CB8AC3E}">
        <p14:creationId xmlns:p14="http://schemas.microsoft.com/office/powerpoint/2010/main" val="40768892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sldNum" sz="quarter" idx="11"/>
          </p:nvPr>
        </p:nvSpPr>
        <p:spPr>
          <a:ln/>
        </p:spPr>
        <p:txBody>
          <a:bodyPr/>
          <a:lstStyle>
            <a:lvl1pPr>
              <a:defRPr/>
            </a:lvl1pPr>
          </a:lstStyle>
          <a:p>
            <a:pPr>
              <a:defRPr/>
            </a:pPr>
            <a:fld id="{DF4AA73A-47C6-4DC0-835B-96AB8BDE3B07}" type="slidenum">
              <a:rPr lang="en-US"/>
              <a:pPr>
                <a:defRPr/>
              </a:pPr>
              <a:t>‹#›</a:t>
            </a:fld>
            <a:endParaRPr lang="en-US"/>
          </a:p>
        </p:txBody>
      </p:sp>
    </p:spTree>
    <p:extLst>
      <p:ext uri="{BB962C8B-B14F-4D97-AF65-F5344CB8AC3E}">
        <p14:creationId xmlns:p14="http://schemas.microsoft.com/office/powerpoint/2010/main" val="15857388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B488BE29-39F6-4A34-B9A2-1E1AE5AA19DC}" type="slidenum">
              <a:rPr lang="en-US"/>
              <a:pPr>
                <a:defRPr/>
              </a:pPr>
              <a:t>‹#›</a:t>
            </a:fld>
            <a:endParaRPr lang="en-US"/>
          </a:p>
        </p:txBody>
      </p:sp>
    </p:spTree>
    <p:extLst>
      <p:ext uri="{BB962C8B-B14F-4D97-AF65-F5344CB8AC3E}">
        <p14:creationId xmlns:p14="http://schemas.microsoft.com/office/powerpoint/2010/main" val="33761424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288C99E7-2F9E-4E1F-A4E7-111447EC4C70}" type="slidenum">
              <a:rPr lang="en-US"/>
              <a:pPr>
                <a:defRPr/>
              </a:pPr>
              <a:t>‹#›</a:t>
            </a:fld>
            <a:endParaRPr lang="en-US"/>
          </a:p>
        </p:txBody>
      </p:sp>
    </p:spTree>
    <p:extLst>
      <p:ext uri="{BB962C8B-B14F-4D97-AF65-F5344CB8AC3E}">
        <p14:creationId xmlns:p14="http://schemas.microsoft.com/office/powerpoint/2010/main" val="29563844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Table Placeholder 2"/>
          <p:cNvSpPr>
            <a:spLocks noGrp="1"/>
          </p:cNvSpPr>
          <p:nvPr>
            <p:ph type="tbl" idx="1"/>
          </p:nvPr>
        </p:nvSpPr>
        <p:spPr>
          <a:xfrm>
            <a:off x="685800" y="1981200"/>
            <a:ext cx="7772400" cy="4114800"/>
          </a:xfrm>
        </p:spPr>
        <p:txBody>
          <a:bodyPr/>
          <a:lstStyle/>
          <a:p>
            <a:pPr lvl="0"/>
            <a:endParaRPr lang="en-US"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FB1C4A21-983F-460C-B4BF-1D37B84783E9}" type="slidenum">
              <a:rPr lang="en-US"/>
              <a:pPr>
                <a:defRPr/>
              </a:pPr>
              <a:t>‹#›</a:t>
            </a:fld>
            <a:endParaRPr lang="en-US"/>
          </a:p>
        </p:txBody>
      </p:sp>
    </p:spTree>
    <p:extLst>
      <p:ext uri="{BB962C8B-B14F-4D97-AF65-F5344CB8AC3E}">
        <p14:creationId xmlns:p14="http://schemas.microsoft.com/office/powerpoint/2010/main" val="29953765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503440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363468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421731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5263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8/20/2024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278197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8/20/2024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732234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624218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1816444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712282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3106750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319800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lvl1pPr>
              <a:defRPr>
                <a:latin typeface="+mj-lt"/>
                <a:ea typeface="Courier New" panose="02070309020205020404" pitchFamily="49" charset="0"/>
                <a:cs typeface="Courier New" panose="02070309020205020404" pitchFamily="49" charset="0"/>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extLst>
      <p:ext uri="{BB962C8B-B14F-4D97-AF65-F5344CB8AC3E}">
        <p14:creationId xmlns:p14="http://schemas.microsoft.com/office/powerpoint/2010/main" val="18275860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0500" y="106365"/>
            <a:ext cx="8763000" cy="808037"/>
          </a:xfrm>
        </p:spPr>
        <p:txBody>
          <a:bodyPr/>
          <a:lstStyle>
            <a:lvl1pPr algn="l">
              <a:defRPr>
                <a:latin typeface="+mj-lt"/>
                <a:ea typeface="Open Sans Semibold" panose="020B0706030804020204"/>
                <a:cs typeface="Open Sans Semibold" panose="020B0706030804020204"/>
              </a:defRPr>
            </a:lvl1pPr>
          </a:lstStyle>
          <a:p>
            <a:r>
              <a:rPr lang="en-US" dirty="0"/>
              <a:t>Click to edit Master title style</a:t>
            </a:r>
          </a:p>
        </p:txBody>
      </p:sp>
      <p:sp>
        <p:nvSpPr>
          <p:cNvPr id="3" name="Content Placeholder 2"/>
          <p:cNvSpPr>
            <a:spLocks noGrp="1"/>
          </p:cNvSpPr>
          <p:nvPr>
            <p:ph idx="1"/>
          </p:nvPr>
        </p:nvSpPr>
        <p:spPr>
          <a:xfrm>
            <a:off x="190500" y="990600"/>
            <a:ext cx="8763000" cy="5334000"/>
          </a:xfrm>
        </p:spPr>
        <p:txBody>
          <a:bodyPr>
            <a:normAutofit/>
          </a:bodyPr>
          <a:lstStyle>
            <a:lvl1pPr marL="257175" indent="-257175">
              <a:lnSpc>
                <a:spcPct val="114000"/>
              </a:lnSpc>
              <a:buClrTx/>
              <a:buFont typeface="Wingdings" panose="05000000000000000000" pitchFamily="2" charset="2"/>
              <a:buChar char="§"/>
              <a:defRPr sz="1800">
                <a:latin typeface="+mj-lt"/>
                <a:ea typeface="Times New Roman" panose="02020603050405020304" pitchFamily="18" charset="0"/>
                <a:cs typeface="Times New Roman" panose="02020603050405020304" pitchFamily="18" charset="0"/>
              </a:defRPr>
            </a:lvl1pPr>
            <a:lvl2pPr marL="557213" indent="-214313">
              <a:lnSpc>
                <a:spcPct val="114000"/>
              </a:lnSpc>
              <a:buClrTx/>
              <a:buFont typeface="Arial" panose="020B0604020202020204" pitchFamily="34" charset="0"/>
              <a:buChar char="•"/>
              <a:defRPr sz="1500">
                <a:latin typeface="+mj-lt"/>
                <a:ea typeface="Times New Roman" panose="02020603050405020304" pitchFamily="18" charset="0"/>
                <a:cs typeface="Times New Roman" panose="02020603050405020304" pitchFamily="18" charset="0"/>
              </a:defRPr>
            </a:lvl2pPr>
            <a:lvl3pPr>
              <a:lnSpc>
                <a:spcPct val="114000"/>
              </a:lnSpc>
              <a:buClrTx/>
              <a:defRPr sz="1350">
                <a:latin typeface="+mj-lt"/>
                <a:ea typeface="Times New Roman" panose="02020603050405020304" pitchFamily="18" charset="0"/>
                <a:cs typeface="Times New Roman" panose="02020603050405020304" pitchFamily="18" charset="0"/>
              </a:defRPr>
            </a:lvl3pPr>
            <a:lvl4pPr>
              <a:lnSpc>
                <a:spcPct val="114000"/>
              </a:lnSpc>
              <a:buClrTx/>
              <a:defRPr sz="1200">
                <a:latin typeface="+mj-lt"/>
                <a:ea typeface="Times New Roman" panose="02020603050405020304" pitchFamily="18" charset="0"/>
                <a:cs typeface="Times New Roman" panose="02020603050405020304" pitchFamily="18" charset="0"/>
              </a:defRPr>
            </a:lvl4pPr>
            <a:lvl5pPr>
              <a:lnSpc>
                <a:spcPct val="114000"/>
              </a:lnSpc>
              <a:buClrTx/>
              <a:defRPr sz="1200">
                <a:latin typeface="+mj-lt"/>
                <a:ea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p:cNvCxnSpPr/>
          <p:nvPr userDrawn="1"/>
        </p:nvCxnSpPr>
        <p:spPr>
          <a:xfrm>
            <a:off x="190500" y="914400"/>
            <a:ext cx="8763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userDrawn="1"/>
        </p:nvCxnSpPr>
        <p:spPr>
          <a:xfrm>
            <a:off x="190500" y="914400"/>
            <a:ext cx="8763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userDrawn="1"/>
        </p:nvSpPr>
        <p:spPr>
          <a:xfrm>
            <a:off x="2069723" y="2644171"/>
            <a:ext cx="5004556" cy="1200329"/>
          </a:xfrm>
          <a:prstGeom prst="rect">
            <a:avLst/>
          </a:prstGeom>
          <a:noFill/>
        </p:spPr>
        <p:txBody>
          <a:bodyPr wrap="square" rtlCol="0">
            <a:spAutoFit/>
          </a:bodyPr>
          <a:lstStyle/>
          <a:p>
            <a:r>
              <a:rPr lang="en-US" sz="3600" dirty="0">
                <a:solidFill>
                  <a:srgbClr val="FFFFFE"/>
                </a:solidFill>
              </a:rPr>
              <a:t>I like</a:t>
            </a:r>
            <a:r>
              <a:rPr lang="en-US" sz="3600" baseline="0" dirty="0">
                <a:solidFill>
                  <a:srgbClr val="FFFFFE"/>
                </a:solidFill>
              </a:rPr>
              <a:t> C++ so much</a:t>
            </a:r>
          </a:p>
          <a:p>
            <a:r>
              <a:rPr lang="en-US" sz="3600" baseline="0" dirty="0">
                <a:solidFill>
                  <a:srgbClr val="FFFFFE"/>
                </a:solidFill>
              </a:rPr>
              <a:t>I like Rupesh sir</a:t>
            </a:r>
            <a:endParaRPr lang="en-US" sz="3600" dirty="0">
              <a:solidFill>
                <a:srgbClr val="FFFFFE"/>
              </a:solidFill>
            </a:endParaRPr>
          </a:p>
        </p:txBody>
      </p:sp>
    </p:spTree>
    <p:extLst>
      <p:ext uri="{BB962C8B-B14F-4D97-AF65-F5344CB8AC3E}">
        <p14:creationId xmlns:p14="http://schemas.microsoft.com/office/powerpoint/2010/main" val="223123672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extLst>
      <p:ext uri="{BB962C8B-B14F-4D97-AF65-F5344CB8AC3E}">
        <p14:creationId xmlns:p14="http://schemas.microsoft.com/office/powerpoint/2010/main" val="206716544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2"/>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2"/>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extLst>
      <p:ext uri="{BB962C8B-B14F-4D97-AF65-F5344CB8AC3E}">
        <p14:creationId xmlns:p14="http://schemas.microsoft.com/office/powerpoint/2010/main" val="275566136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A8BEFB-AE5B-48F9-BBAD-B489CDE48C80}" type="slidenum">
              <a:rPr lang="en-US" smtClean="0"/>
              <a:pPr/>
              <a:t>‹#›</a:t>
            </a:fld>
            <a:endParaRPr lang="en-US"/>
          </a:p>
        </p:txBody>
      </p:sp>
    </p:spTree>
    <p:extLst>
      <p:ext uri="{BB962C8B-B14F-4D97-AF65-F5344CB8AC3E}">
        <p14:creationId xmlns:p14="http://schemas.microsoft.com/office/powerpoint/2010/main" val="142317029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A8BEFB-AE5B-48F9-BBAD-B489CDE48C80}" type="slidenum">
              <a:rPr lang="en-US" smtClean="0"/>
              <a:pPr/>
              <a:t>‹#›</a:t>
            </a:fld>
            <a:endParaRPr lang="en-US"/>
          </a:p>
        </p:txBody>
      </p:sp>
    </p:spTree>
    <p:extLst>
      <p:ext uri="{BB962C8B-B14F-4D97-AF65-F5344CB8AC3E}">
        <p14:creationId xmlns:p14="http://schemas.microsoft.com/office/powerpoint/2010/main" val="424673687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A8BEFB-AE5B-48F9-BBAD-B489CDE48C80}" type="slidenum">
              <a:rPr lang="en-US" smtClean="0"/>
              <a:pPr/>
              <a:t>‹#›</a:t>
            </a:fld>
            <a:endParaRPr lang="en-US"/>
          </a:p>
        </p:txBody>
      </p:sp>
    </p:spTree>
    <p:extLst>
      <p:ext uri="{BB962C8B-B14F-4D97-AF65-F5344CB8AC3E}">
        <p14:creationId xmlns:p14="http://schemas.microsoft.com/office/powerpoint/2010/main" val="371115664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extLst>
      <p:ext uri="{BB962C8B-B14F-4D97-AF65-F5344CB8AC3E}">
        <p14:creationId xmlns:p14="http://schemas.microsoft.com/office/powerpoint/2010/main" val="157357846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extLst>
      <p:ext uri="{BB962C8B-B14F-4D97-AF65-F5344CB8AC3E}">
        <p14:creationId xmlns:p14="http://schemas.microsoft.com/office/powerpoint/2010/main" val="128692906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extLst>
      <p:ext uri="{BB962C8B-B14F-4D97-AF65-F5344CB8AC3E}">
        <p14:creationId xmlns:p14="http://schemas.microsoft.com/office/powerpoint/2010/main" val="76114175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extLst>
      <p:ext uri="{BB962C8B-B14F-4D97-AF65-F5344CB8AC3E}">
        <p14:creationId xmlns:p14="http://schemas.microsoft.com/office/powerpoint/2010/main" val="328372687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283448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7814268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6377528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2"/>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2"/>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9934343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8/20/2024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931128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8/20/2024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1421074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8334600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0025587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2079248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6718116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4562855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5F401DFC-497E-4D91-83E7-5CD9EF658CC2}" type="datetimeFigureOut">
              <a:rPr lang="en-IN" smtClean="0"/>
              <a:t>20-08-2024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02C2F6-CA45-4267-BB04-99FDB3ADBDC8}" type="slidenum">
              <a:rPr lang="en-IN" smtClean="0"/>
              <a:t>‹#›</a:t>
            </a:fld>
            <a:endParaRPr lang="en-IN"/>
          </a:p>
        </p:txBody>
      </p:sp>
    </p:spTree>
    <p:extLst>
      <p:ext uri="{BB962C8B-B14F-4D97-AF65-F5344CB8AC3E}">
        <p14:creationId xmlns:p14="http://schemas.microsoft.com/office/powerpoint/2010/main" val="321052691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F401DFC-497E-4D91-83E7-5CD9EF658CC2}" type="datetimeFigureOut">
              <a:rPr lang="en-IN" smtClean="0"/>
              <a:t>20-08-2024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02C2F6-CA45-4267-BB04-99FDB3ADBDC8}" type="slidenum">
              <a:rPr lang="en-IN" smtClean="0"/>
              <a:t>‹#›</a:t>
            </a:fld>
            <a:endParaRPr lang="en-IN"/>
          </a:p>
        </p:txBody>
      </p:sp>
    </p:spTree>
    <p:extLst>
      <p:ext uri="{BB962C8B-B14F-4D97-AF65-F5344CB8AC3E}">
        <p14:creationId xmlns:p14="http://schemas.microsoft.com/office/powerpoint/2010/main" val="405929362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IN"/>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F401DFC-497E-4D91-83E7-5CD9EF658CC2}" type="datetimeFigureOut">
              <a:rPr lang="en-IN" smtClean="0"/>
              <a:t>20-08-2024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02C2F6-CA45-4267-BB04-99FDB3ADBDC8}" type="slidenum">
              <a:rPr lang="en-IN" smtClean="0"/>
              <a:t>‹#›</a:t>
            </a:fld>
            <a:endParaRPr lang="en-IN"/>
          </a:p>
        </p:txBody>
      </p:sp>
    </p:spTree>
    <p:extLst>
      <p:ext uri="{BB962C8B-B14F-4D97-AF65-F5344CB8AC3E}">
        <p14:creationId xmlns:p14="http://schemas.microsoft.com/office/powerpoint/2010/main" val="108251949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5F401DFC-497E-4D91-83E7-5CD9EF658CC2}" type="datetimeFigureOut">
              <a:rPr lang="en-IN" smtClean="0"/>
              <a:t>20-08-2024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602C2F6-CA45-4267-BB04-99FDB3ADBDC8}" type="slidenum">
              <a:rPr lang="en-IN" smtClean="0"/>
              <a:t>‹#›</a:t>
            </a:fld>
            <a:endParaRPr lang="en-IN"/>
          </a:p>
        </p:txBody>
      </p:sp>
    </p:spTree>
    <p:extLst>
      <p:ext uri="{BB962C8B-B14F-4D97-AF65-F5344CB8AC3E}">
        <p14:creationId xmlns:p14="http://schemas.microsoft.com/office/powerpoint/2010/main" val="51252480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5F401DFC-497E-4D91-83E7-5CD9EF658CC2}" type="datetimeFigureOut">
              <a:rPr lang="en-IN" smtClean="0"/>
              <a:t>20-08-2024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602C2F6-CA45-4267-BB04-99FDB3ADBDC8}" type="slidenum">
              <a:rPr lang="en-IN" smtClean="0"/>
              <a:t>‹#›</a:t>
            </a:fld>
            <a:endParaRPr lang="en-IN"/>
          </a:p>
        </p:txBody>
      </p:sp>
    </p:spTree>
    <p:extLst>
      <p:ext uri="{BB962C8B-B14F-4D97-AF65-F5344CB8AC3E}">
        <p14:creationId xmlns:p14="http://schemas.microsoft.com/office/powerpoint/2010/main" val="185760155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5F401DFC-497E-4D91-83E7-5CD9EF658CC2}" type="datetimeFigureOut">
              <a:rPr lang="en-IN" smtClean="0"/>
              <a:t>20-08-2024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602C2F6-CA45-4267-BB04-99FDB3ADBDC8}" type="slidenum">
              <a:rPr lang="en-IN" smtClean="0"/>
              <a:t>‹#›</a:t>
            </a:fld>
            <a:endParaRPr lang="en-IN"/>
          </a:p>
        </p:txBody>
      </p:sp>
    </p:spTree>
    <p:extLst>
      <p:ext uri="{BB962C8B-B14F-4D97-AF65-F5344CB8AC3E}">
        <p14:creationId xmlns:p14="http://schemas.microsoft.com/office/powerpoint/2010/main" val="125651186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401DFC-497E-4D91-83E7-5CD9EF658CC2}" type="datetimeFigureOut">
              <a:rPr lang="en-IN" smtClean="0"/>
              <a:t>20-08-2024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602C2F6-CA45-4267-BB04-99FDB3ADBDC8}" type="slidenum">
              <a:rPr lang="en-IN" smtClean="0"/>
              <a:t>‹#›</a:t>
            </a:fld>
            <a:endParaRPr lang="en-IN"/>
          </a:p>
        </p:txBody>
      </p:sp>
    </p:spTree>
    <p:extLst>
      <p:ext uri="{BB962C8B-B14F-4D97-AF65-F5344CB8AC3E}">
        <p14:creationId xmlns:p14="http://schemas.microsoft.com/office/powerpoint/2010/main" val="400179628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5F401DFC-497E-4D91-83E7-5CD9EF658CC2}" type="datetimeFigureOut">
              <a:rPr lang="en-IN" smtClean="0"/>
              <a:t>20-08-2024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602C2F6-CA45-4267-BB04-99FDB3ADBDC8}" type="slidenum">
              <a:rPr lang="en-IN" smtClean="0"/>
              <a:t>‹#›</a:t>
            </a:fld>
            <a:endParaRPr lang="en-IN"/>
          </a:p>
        </p:txBody>
      </p:sp>
    </p:spTree>
    <p:extLst>
      <p:ext uri="{BB962C8B-B14F-4D97-AF65-F5344CB8AC3E}">
        <p14:creationId xmlns:p14="http://schemas.microsoft.com/office/powerpoint/2010/main" val="384683879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5F401DFC-497E-4D91-83E7-5CD9EF658CC2}" type="datetimeFigureOut">
              <a:rPr lang="en-IN" smtClean="0"/>
              <a:t>20-08-2024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602C2F6-CA45-4267-BB04-99FDB3ADBDC8}" type="slidenum">
              <a:rPr lang="en-IN" smtClean="0"/>
              <a:t>‹#›</a:t>
            </a:fld>
            <a:endParaRPr lang="en-IN"/>
          </a:p>
        </p:txBody>
      </p:sp>
    </p:spTree>
    <p:extLst>
      <p:ext uri="{BB962C8B-B14F-4D97-AF65-F5344CB8AC3E}">
        <p14:creationId xmlns:p14="http://schemas.microsoft.com/office/powerpoint/2010/main" val="124414528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F401DFC-497E-4D91-83E7-5CD9EF658CC2}" type="datetimeFigureOut">
              <a:rPr lang="en-IN" smtClean="0"/>
              <a:t>20-08-2024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02C2F6-CA45-4267-BB04-99FDB3ADBDC8}" type="slidenum">
              <a:rPr lang="en-IN" smtClean="0"/>
              <a:t>‹#›</a:t>
            </a:fld>
            <a:endParaRPr lang="en-IN"/>
          </a:p>
        </p:txBody>
      </p:sp>
    </p:spTree>
    <p:extLst>
      <p:ext uri="{BB962C8B-B14F-4D97-AF65-F5344CB8AC3E}">
        <p14:creationId xmlns:p14="http://schemas.microsoft.com/office/powerpoint/2010/main" val="69827466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F401DFC-497E-4D91-83E7-5CD9EF658CC2}" type="datetimeFigureOut">
              <a:rPr lang="en-IN" smtClean="0"/>
              <a:t>20-08-2024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02C2F6-CA45-4267-BB04-99FDB3ADBDC8}" type="slidenum">
              <a:rPr lang="en-IN" smtClean="0"/>
              <a:t>‹#›</a:t>
            </a:fld>
            <a:endParaRPr lang="en-IN"/>
          </a:p>
        </p:txBody>
      </p:sp>
    </p:spTree>
    <p:extLst>
      <p:ext uri="{BB962C8B-B14F-4D97-AF65-F5344CB8AC3E}">
        <p14:creationId xmlns:p14="http://schemas.microsoft.com/office/powerpoint/2010/main" val="3362881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3.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theme" Target="../theme/theme5.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smtClean="0"/>
            </a:lvl1pPr>
          </a:lstStyle>
          <a:p>
            <a:pPr>
              <a:defRPr/>
            </a:pPr>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smtClean="0"/>
            </a:lvl1pPr>
          </a:lstStyle>
          <a:p>
            <a:pPr>
              <a:defRPr/>
            </a:pPr>
            <a:fld id="{F42AE742-DF09-4485-BFF3-EABA54953ECA}"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cs typeface="Arial" charset="0"/>
        </a:defRPr>
      </a:lvl2pPr>
      <a:lvl3pPr algn="ctr" rtl="0" eaLnBrk="0" fontAlgn="base" hangingPunct="0">
        <a:spcBef>
          <a:spcPct val="0"/>
        </a:spcBef>
        <a:spcAft>
          <a:spcPct val="0"/>
        </a:spcAft>
        <a:defRPr sz="4400">
          <a:solidFill>
            <a:schemeClr val="tx2"/>
          </a:solidFill>
          <a:latin typeface="Times New Roman" pitchFamily="18" charset="0"/>
          <a:cs typeface="Arial" charset="0"/>
        </a:defRPr>
      </a:lvl3pPr>
      <a:lvl4pPr algn="ctr" rtl="0" eaLnBrk="0" fontAlgn="base" hangingPunct="0">
        <a:spcBef>
          <a:spcPct val="0"/>
        </a:spcBef>
        <a:spcAft>
          <a:spcPct val="0"/>
        </a:spcAft>
        <a:defRPr sz="4400">
          <a:solidFill>
            <a:schemeClr val="tx2"/>
          </a:solidFill>
          <a:latin typeface="Times New Roman" pitchFamily="18" charset="0"/>
          <a:cs typeface="Arial" charset="0"/>
        </a:defRPr>
      </a:lvl4pPr>
      <a:lvl5pPr algn="ctr" rtl="0" eaLnBrk="0" fontAlgn="base" hangingPunct="0">
        <a:spcBef>
          <a:spcPct val="0"/>
        </a:spcBef>
        <a:spcAft>
          <a:spcPct val="0"/>
        </a:spcAft>
        <a:defRPr sz="4400">
          <a:solidFill>
            <a:schemeClr val="tx2"/>
          </a:solidFill>
          <a:latin typeface="Times New Roman" pitchFamily="18" charset="0"/>
          <a:cs typeface="Arial" charset="0"/>
        </a:defRPr>
      </a:lvl5pPr>
      <a:lvl6pPr marL="457200" algn="ctr" rtl="0" fontAlgn="base">
        <a:spcBef>
          <a:spcPct val="0"/>
        </a:spcBef>
        <a:spcAft>
          <a:spcPct val="0"/>
        </a:spcAft>
        <a:defRPr sz="4400">
          <a:solidFill>
            <a:schemeClr val="tx2"/>
          </a:solidFill>
          <a:latin typeface="Times New Roman" pitchFamily="18" charset="0"/>
          <a:cs typeface="Arial" charset="0"/>
        </a:defRPr>
      </a:lvl6pPr>
      <a:lvl7pPr marL="914400" algn="ctr" rtl="0" fontAlgn="base">
        <a:spcBef>
          <a:spcPct val="0"/>
        </a:spcBef>
        <a:spcAft>
          <a:spcPct val="0"/>
        </a:spcAft>
        <a:defRPr sz="4400">
          <a:solidFill>
            <a:schemeClr val="tx2"/>
          </a:solidFill>
          <a:latin typeface="Times New Roman" pitchFamily="18" charset="0"/>
          <a:cs typeface="Arial" charset="0"/>
        </a:defRPr>
      </a:lvl7pPr>
      <a:lvl8pPr marL="1371600" algn="ctr" rtl="0" fontAlgn="base">
        <a:spcBef>
          <a:spcPct val="0"/>
        </a:spcBef>
        <a:spcAft>
          <a:spcPct val="0"/>
        </a:spcAft>
        <a:defRPr sz="4400">
          <a:solidFill>
            <a:schemeClr val="tx2"/>
          </a:solidFill>
          <a:latin typeface="Times New Roman" pitchFamily="18" charset="0"/>
          <a:cs typeface="Arial" charset="0"/>
        </a:defRPr>
      </a:lvl8pPr>
      <a:lvl9pPr marL="1828800" algn="ctr" rtl="0" fontAlgn="base">
        <a:spcBef>
          <a:spcPct val="0"/>
        </a:spcBef>
        <a:spcAft>
          <a:spcPct val="0"/>
        </a:spcAft>
        <a:defRPr sz="4400">
          <a:solidFill>
            <a:schemeClr val="tx2"/>
          </a:solidFill>
          <a:latin typeface="Times New Roman" pitchFamily="18" charset="0"/>
          <a:cs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8/20/2024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011308596"/>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2"/>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EA8BEFB-AE5B-48F9-BBAD-B489CDE48C80}" type="slidenum">
              <a:rPr lang="en-US" smtClean="0"/>
              <a:pPr/>
              <a:t>‹#›</a:t>
            </a:fld>
            <a:endParaRPr lang="en-US"/>
          </a:p>
        </p:txBody>
      </p:sp>
    </p:spTree>
    <p:extLst>
      <p:ext uri="{BB962C8B-B14F-4D97-AF65-F5344CB8AC3E}">
        <p14:creationId xmlns:p14="http://schemas.microsoft.com/office/powerpoint/2010/main" val="2711055023"/>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sldNum="0" hdr="0" dt="0"/>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2"/>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D8BD707-D9CF-40AE-B4C6-C98DA3205C09}" type="datetimeFigureOut">
              <a:rPr lang="en-US" smtClean="0"/>
              <a:pPr/>
              <a:t>8/20/2024</a:t>
            </a:fld>
            <a:endParaRPr lang="en-US"/>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170863654"/>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5F401DFC-497E-4D91-83E7-5CD9EF658CC2}" type="datetimeFigureOut">
              <a:rPr lang="en-IN" smtClean="0"/>
              <a:t>20-08-2024</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602C2F6-CA45-4267-BB04-99FDB3ADBDC8}" type="slidenum">
              <a:rPr lang="en-IN" smtClean="0"/>
              <a:t>‹#›</a:t>
            </a:fld>
            <a:endParaRPr lang="en-IN"/>
          </a:p>
        </p:txBody>
      </p:sp>
    </p:spTree>
    <p:extLst>
      <p:ext uri="{BB962C8B-B14F-4D97-AF65-F5344CB8AC3E}">
        <p14:creationId xmlns:p14="http://schemas.microsoft.com/office/powerpoint/2010/main" val="2709050408"/>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0.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5.xml"/><Relationship Id="rId4" Type="http://schemas.openxmlformats.org/officeDocument/2006/relationships/image" Target="../media/image29.png"/></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5.xml"/></Relationships>
</file>

<file path=ppt/slides/_rels/slide2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5.xml"/></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4.xml"/><Relationship Id="rId4" Type="http://schemas.openxmlformats.org/officeDocument/2006/relationships/image" Target="../media/image35.png"/></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xml"/><Relationship Id="rId1" Type="http://schemas.openxmlformats.org/officeDocument/2006/relationships/slideLayout" Target="../slideLayouts/slideLayout14.xml"/><Relationship Id="rId4" Type="http://schemas.openxmlformats.org/officeDocument/2006/relationships/image" Target="../media/image3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5.xml"/><Relationship Id="rId4" Type="http://schemas.openxmlformats.org/officeDocument/2006/relationships/image" Target="../media/image42.png"/></Relationships>
</file>

<file path=ppt/slides/_rels/slide3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5.xml"/><Relationship Id="rId4" Type="http://schemas.openxmlformats.org/officeDocument/2006/relationships/image" Target="../media/image45.png"/></Relationships>
</file>

<file path=ppt/slides/_rels/slide3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4.xml"/><Relationship Id="rId4" Type="http://schemas.openxmlformats.org/officeDocument/2006/relationships/image" Target="../media/image48.png"/></Relationships>
</file>

<file path=ppt/slides/_rels/slide4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jpeg"/><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4.xml"/><Relationship Id="rId4" Type="http://schemas.openxmlformats.org/officeDocument/2006/relationships/image" Target="../media/image53.png"/></Relationships>
</file>

<file path=ppt/slides/_rels/slide4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14.xml"/><Relationship Id="rId4" Type="http://schemas.openxmlformats.org/officeDocument/2006/relationships/image" Target="../media/image57.png"/></Relationships>
</file>

<file path=ppt/slides/_rels/slide44.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5.xml"/></Relationships>
</file>

<file path=ppt/slides/_rels/slide4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5.xml"/></Relationships>
</file>

<file path=ppt/slides/_rels/slide4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7.xml"/><Relationship Id="rId1" Type="http://schemas.openxmlformats.org/officeDocument/2006/relationships/slideLayout" Target="../slideLayouts/slideLayout14.xml"/><Relationship Id="rId4" Type="http://schemas.openxmlformats.org/officeDocument/2006/relationships/image" Target="../media/image62.png"/></Relationships>
</file>

<file path=ppt/slides/_rels/slide47.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8.xml"/><Relationship Id="rId1" Type="http://schemas.openxmlformats.org/officeDocument/2006/relationships/slideLayout" Target="../slideLayouts/slideLayout14.xml"/><Relationship Id="rId4" Type="http://schemas.openxmlformats.org/officeDocument/2006/relationships/image" Target="../media/image65.png"/></Relationships>
</file>

<file path=ppt/slides/_rels/slide4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5.xml"/></Relationships>
</file>

<file path=ppt/slides/_rels/slide54.xml.rels><?xml version="1.0" encoding="UTF-8" standalone="yes"?>
<Relationships xmlns="http://schemas.openxmlformats.org/package/2006/relationships"><Relationship Id="rId2" Type="http://schemas.openxmlformats.org/officeDocument/2006/relationships/image" Target="../media/image70.jpg"/><Relationship Id="rId1" Type="http://schemas.openxmlformats.org/officeDocument/2006/relationships/slideLayout" Target="../slideLayouts/slideLayout47.xml"/></Relationships>
</file>

<file path=ppt/slides/_rels/slide55.xml.rels><?xml version="1.0" encoding="UTF-8" standalone="yes"?>
<Relationships xmlns="http://schemas.openxmlformats.org/package/2006/relationships"><Relationship Id="rId2" Type="http://schemas.openxmlformats.org/officeDocument/2006/relationships/image" Target="../media/image71.jpeg"/><Relationship Id="rId1" Type="http://schemas.openxmlformats.org/officeDocument/2006/relationships/slideLayout" Target="../slideLayouts/slideLayout4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5.xml"/></Relationships>
</file>

<file path=ppt/slides/_rels/slide59.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5.xml"/><Relationship Id="rId4" Type="http://schemas.openxmlformats.org/officeDocument/2006/relationships/image" Target="../media/image74.png"/></Relationships>
</file>

<file path=ppt/slides/_rels/slide60.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5.xml"/><Relationship Id="rId4" Type="http://schemas.openxmlformats.org/officeDocument/2006/relationships/image" Target="../media/image77.png"/></Relationships>
</file>

<file path=ppt/slides/_rels/slide61.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47.xml"/><Relationship Id="rId4" Type="http://schemas.openxmlformats.org/officeDocument/2006/relationships/image" Target="../media/image80.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4.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47.xml"/><Relationship Id="rId4" Type="http://schemas.openxmlformats.org/officeDocument/2006/relationships/image" Target="../media/image83.png"/></Relationships>
</file>

<file path=ppt/slides/_rels/slide65.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47.xml"/></Relationships>
</file>

<file path=ppt/slides/_rels/slide66.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47.xml"/></Relationships>
</file>

<file path=ppt/slides/_rels/slide67.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4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69.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36.xml"/><Relationship Id="rId4" Type="http://schemas.openxmlformats.org/officeDocument/2006/relationships/image" Target="../media/image90.png"/></Relationships>
</file>

<file path=ppt/slides/_rels/slide70.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36.xml"/><Relationship Id="rId6" Type="http://schemas.openxmlformats.org/officeDocument/2006/relationships/image" Target="../media/image95.png"/><Relationship Id="rId5" Type="http://schemas.openxmlformats.org/officeDocument/2006/relationships/image" Target="../media/image94.png"/><Relationship Id="rId4" Type="http://schemas.openxmlformats.org/officeDocument/2006/relationships/image" Target="../media/image93.png"/></Relationships>
</file>

<file path=ppt/slides/_rels/slide71.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36.xml"/></Relationships>
</file>

<file path=ppt/slides/_rels/slide72.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36.xml"/><Relationship Id="rId4" Type="http://schemas.openxmlformats.org/officeDocument/2006/relationships/image" Target="../media/image100.png"/></Relationships>
</file>

<file path=ppt/slides/_rels/slide73.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36.xml"/></Relationships>
</file>

<file path=ppt/slides/_rels/slide74.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36.xml"/></Relationships>
</file>

<file path=ppt/slides/_rels/slide75.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Slide Number Placeholder 5"/>
          <p:cNvSpPr>
            <a:spLocks noGrp="1"/>
          </p:cNvSpPr>
          <p:nvPr>
            <p:ph type="sldNum" sz="quarter" idx="11"/>
          </p:nvPr>
        </p:nvSpPr>
        <p:spPr>
          <a:noFill/>
        </p:spPr>
        <p:txBody>
          <a:bodyPr/>
          <a:lstStyle>
            <a:lvl1pPr eaLnBrk="0" hangingPunct="0">
              <a:defRPr sz="2400">
                <a:solidFill>
                  <a:schemeClr val="tx1"/>
                </a:solidFill>
                <a:latin typeface="Times New Roman" pitchFamily="18" charset="0"/>
                <a:cs typeface="Arial" charset="0"/>
              </a:defRPr>
            </a:lvl1pPr>
            <a:lvl2pPr marL="742950" indent="-285750" eaLnBrk="0" hangingPunct="0">
              <a:defRPr sz="2400">
                <a:solidFill>
                  <a:schemeClr val="tx1"/>
                </a:solidFill>
                <a:latin typeface="Times New Roman" pitchFamily="18" charset="0"/>
                <a:cs typeface="Arial" charset="0"/>
              </a:defRPr>
            </a:lvl2pPr>
            <a:lvl3pPr marL="1143000" indent="-228600" eaLnBrk="0" hangingPunct="0">
              <a:defRPr sz="2400">
                <a:solidFill>
                  <a:schemeClr val="tx1"/>
                </a:solidFill>
                <a:latin typeface="Times New Roman" pitchFamily="18" charset="0"/>
                <a:cs typeface="Arial" charset="0"/>
              </a:defRPr>
            </a:lvl3pPr>
            <a:lvl4pPr marL="1600200" indent="-228600" eaLnBrk="0" hangingPunct="0">
              <a:defRPr sz="2400">
                <a:solidFill>
                  <a:schemeClr val="tx1"/>
                </a:solidFill>
                <a:latin typeface="Times New Roman" pitchFamily="18" charset="0"/>
                <a:cs typeface="Arial" charset="0"/>
              </a:defRPr>
            </a:lvl4pPr>
            <a:lvl5pPr marL="2057400" indent="-228600" eaLnBrk="0" hangingPunct="0">
              <a:defRPr sz="2400">
                <a:solidFill>
                  <a:schemeClr val="tx1"/>
                </a:solidFill>
                <a:latin typeface="Times New Roman" pitchFamily="18" charset="0"/>
                <a:cs typeface="Arial" charset="0"/>
              </a:defRPr>
            </a:lvl5pPr>
            <a:lvl6pPr marL="2514600" indent="-228600" eaLnBrk="0" fontAlgn="base" hangingPunct="0">
              <a:spcBef>
                <a:spcPct val="0"/>
              </a:spcBef>
              <a:spcAft>
                <a:spcPct val="0"/>
              </a:spcAft>
              <a:defRPr sz="2400">
                <a:solidFill>
                  <a:schemeClr val="tx1"/>
                </a:solidFill>
                <a:latin typeface="Times New Roman" pitchFamily="18" charset="0"/>
                <a:cs typeface="Arial" charset="0"/>
              </a:defRPr>
            </a:lvl6pPr>
            <a:lvl7pPr marL="2971800" indent="-228600" eaLnBrk="0" fontAlgn="base" hangingPunct="0">
              <a:spcBef>
                <a:spcPct val="0"/>
              </a:spcBef>
              <a:spcAft>
                <a:spcPct val="0"/>
              </a:spcAft>
              <a:defRPr sz="2400">
                <a:solidFill>
                  <a:schemeClr val="tx1"/>
                </a:solidFill>
                <a:latin typeface="Times New Roman" pitchFamily="18" charset="0"/>
                <a:cs typeface="Arial" charset="0"/>
              </a:defRPr>
            </a:lvl7pPr>
            <a:lvl8pPr marL="3429000" indent="-228600" eaLnBrk="0" fontAlgn="base" hangingPunct="0">
              <a:spcBef>
                <a:spcPct val="0"/>
              </a:spcBef>
              <a:spcAft>
                <a:spcPct val="0"/>
              </a:spcAft>
              <a:defRPr sz="2400">
                <a:solidFill>
                  <a:schemeClr val="tx1"/>
                </a:solidFill>
                <a:latin typeface="Times New Roman" pitchFamily="18" charset="0"/>
                <a:cs typeface="Arial" charset="0"/>
              </a:defRPr>
            </a:lvl8pPr>
            <a:lvl9pPr marL="3886200" indent="-228600" eaLnBrk="0" fontAlgn="base" hangingPunct="0">
              <a:spcBef>
                <a:spcPct val="0"/>
              </a:spcBef>
              <a:spcAft>
                <a:spcPct val="0"/>
              </a:spcAft>
              <a:defRPr sz="2400">
                <a:solidFill>
                  <a:schemeClr val="tx1"/>
                </a:solidFill>
                <a:latin typeface="Times New Roman" pitchFamily="18" charset="0"/>
                <a:cs typeface="Arial" charset="0"/>
              </a:defRPr>
            </a:lvl9pPr>
          </a:lstStyle>
          <a:p>
            <a:pPr eaLnBrk="1" hangingPunct="1"/>
            <a:fld id="{D36973C8-B53A-405E-90B5-989C374430EF}" type="slidenum">
              <a:rPr lang="en-US" sz="1400"/>
              <a:pPr eaLnBrk="1" hangingPunct="1"/>
              <a:t>1</a:t>
            </a:fld>
            <a:endParaRPr lang="en-US" sz="1400"/>
          </a:p>
        </p:txBody>
      </p:sp>
      <p:sp>
        <p:nvSpPr>
          <p:cNvPr id="2051" name="Rectangle 2"/>
          <p:cNvSpPr>
            <a:spLocks noGrp="1" noChangeArrowheads="1"/>
          </p:cNvSpPr>
          <p:nvPr>
            <p:ph type="title"/>
          </p:nvPr>
        </p:nvSpPr>
        <p:spPr>
          <a:xfrm>
            <a:off x="457200" y="964096"/>
            <a:ext cx="9067800" cy="1143000"/>
          </a:xfrm>
        </p:spPr>
        <p:txBody>
          <a:bodyPr/>
          <a:lstStyle/>
          <a:p>
            <a:pPr algn="just" eaLnBrk="1" hangingPunct="1"/>
            <a:r>
              <a:rPr lang="en-US" sz="4000" b="1" dirty="0"/>
              <a:t>C++ : Object-Oriented Programming</a:t>
            </a:r>
          </a:p>
        </p:txBody>
      </p:sp>
      <p:sp>
        <p:nvSpPr>
          <p:cNvPr id="2052" name="Rectangle 3"/>
          <p:cNvSpPr>
            <a:spLocks noGrp="1" noChangeArrowheads="1"/>
          </p:cNvSpPr>
          <p:nvPr>
            <p:ph type="body" idx="1"/>
          </p:nvPr>
        </p:nvSpPr>
        <p:spPr>
          <a:xfrm>
            <a:off x="1104900" y="2743200"/>
            <a:ext cx="7772400" cy="3733800"/>
          </a:xfrm>
        </p:spPr>
        <p:txBody>
          <a:bodyPr/>
          <a:lstStyle/>
          <a:p>
            <a:pPr eaLnBrk="1" hangingPunct="1">
              <a:buFont typeface="Wingdings" panose="05000000000000000000" pitchFamily="2" charset="2"/>
              <a:buChar char="v"/>
            </a:pPr>
            <a:r>
              <a:rPr lang="en-US" sz="3600" b="1" dirty="0">
                <a:solidFill>
                  <a:srgbClr val="0070C0"/>
                </a:solidFill>
              </a:rPr>
              <a:t> Classes and Objects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8259"/>
            <a:ext cx="7086600" cy="762000"/>
          </a:xfrm>
        </p:spPr>
        <p:txBody>
          <a:bodyPr/>
          <a:lstStyle/>
          <a:p>
            <a:r>
              <a:rPr lang="en-IN" b="1" dirty="0"/>
              <a:t>C++ class</a:t>
            </a:r>
          </a:p>
        </p:txBody>
      </p:sp>
      <p:sp>
        <p:nvSpPr>
          <p:cNvPr id="3" name="Content Placeholder 2"/>
          <p:cNvSpPr>
            <a:spLocks noGrp="1"/>
          </p:cNvSpPr>
          <p:nvPr>
            <p:ph idx="1"/>
          </p:nvPr>
        </p:nvSpPr>
        <p:spPr>
          <a:xfrm>
            <a:off x="304800" y="683740"/>
            <a:ext cx="8382000" cy="6021859"/>
          </a:xfrm>
        </p:spPr>
        <p:txBody>
          <a:bodyPr/>
          <a:lstStyle/>
          <a:p>
            <a:pPr marL="0" indent="0">
              <a:spcBef>
                <a:spcPts val="0"/>
              </a:spcBef>
              <a:buNone/>
            </a:pPr>
            <a:r>
              <a:rPr lang="en-US" sz="2800" dirty="0">
                <a:solidFill>
                  <a:srgbClr val="FF0000"/>
                </a:solidFill>
              </a:rPr>
              <a:t>class</a:t>
            </a:r>
            <a:r>
              <a:rPr lang="en-US" sz="2800" dirty="0"/>
              <a:t>  </a:t>
            </a:r>
            <a:r>
              <a:rPr lang="en-US" sz="2800" i="1" dirty="0" err="1">
                <a:solidFill>
                  <a:srgbClr val="0070C0"/>
                </a:solidFill>
              </a:rPr>
              <a:t>class_name</a:t>
            </a:r>
            <a:endParaRPr lang="en-US" sz="2800" i="1" dirty="0">
              <a:solidFill>
                <a:srgbClr val="0070C0"/>
              </a:solidFill>
            </a:endParaRPr>
          </a:p>
          <a:p>
            <a:pPr marL="0" indent="0">
              <a:spcBef>
                <a:spcPts val="0"/>
              </a:spcBef>
              <a:buNone/>
            </a:pPr>
            <a:r>
              <a:rPr lang="en-US" sz="2800" dirty="0"/>
              <a:t>{</a:t>
            </a:r>
          </a:p>
          <a:p>
            <a:pPr marL="0" indent="0">
              <a:lnSpc>
                <a:spcPct val="150000"/>
              </a:lnSpc>
              <a:spcBef>
                <a:spcPts val="0"/>
              </a:spcBef>
              <a:buNone/>
            </a:pPr>
            <a:r>
              <a:rPr lang="en-US" sz="2800" dirty="0"/>
              <a:t>    </a:t>
            </a:r>
            <a:r>
              <a:rPr lang="en-US" sz="2800" dirty="0" err="1">
                <a:solidFill>
                  <a:srgbClr val="7030A0"/>
                </a:solidFill>
              </a:rPr>
              <a:t>access_specifier</a:t>
            </a:r>
            <a:r>
              <a:rPr lang="en-US" sz="2800" dirty="0">
                <a:solidFill>
                  <a:srgbClr val="7030A0"/>
                </a:solidFill>
              </a:rPr>
              <a:t>:</a:t>
            </a:r>
          </a:p>
          <a:p>
            <a:pPr marL="0" indent="0">
              <a:lnSpc>
                <a:spcPct val="150000"/>
              </a:lnSpc>
              <a:spcBef>
                <a:spcPts val="0"/>
              </a:spcBef>
              <a:buNone/>
            </a:pPr>
            <a:r>
              <a:rPr lang="en-US" sz="2800" dirty="0"/>
              <a:t>    	</a:t>
            </a:r>
            <a:r>
              <a:rPr lang="en-US" sz="2800" dirty="0">
                <a:solidFill>
                  <a:srgbClr val="00B0F0"/>
                </a:solidFill>
              </a:rPr>
              <a:t>data and functions</a:t>
            </a:r>
          </a:p>
          <a:p>
            <a:pPr marL="0" indent="0">
              <a:lnSpc>
                <a:spcPct val="150000"/>
              </a:lnSpc>
              <a:spcBef>
                <a:spcPts val="0"/>
              </a:spcBef>
              <a:buNone/>
            </a:pPr>
            <a:r>
              <a:rPr lang="en-US" sz="2800" dirty="0"/>
              <a:t>		 </a:t>
            </a:r>
            <a:r>
              <a:rPr lang="en-US" b="1" dirty="0"/>
              <a:t>...</a:t>
            </a:r>
          </a:p>
          <a:p>
            <a:pPr marL="0" indent="0">
              <a:lnSpc>
                <a:spcPct val="150000"/>
              </a:lnSpc>
              <a:spcBef>
                <a:spcPts val="0"/>
              </a:spcBef>
              <a:buNone/>
            </a:pPr>
            <a:r>
              <a:rPr lang="en-US" sz="2800" dirty="0"/>
              <a:t>    </a:t>
            </a:r>
            <a:r>
              <a:rPr lang="en-US" sz="2800" dirty="0" err="1">
                <a:solidFill>
                  <a:srgbClr val="7030A0"/>
                </a:solidFill>
              </a:rPr>
              <a:t>access_specifier</a:t>
            </a:r>
            <a:r>
              <a:rPr lang="en-US" sz="2800" dirty="0">
                <a:solidFill>
                  <a:srgbClr val="7030A0"/>
                </a:solidFill>
              </a:rPr>
              <a:t>:</a:t>
            </a:r>
          </a:p>
          <a:p>
            <a:pPr marL="0" indent="0">
              <a:lnSpc>
                <a:spcPct val="150000"/>
              </a:lnSpc>
              <a:spcBef>
                <a:spcPts val="0"/>
              </a:spcBef>
              <a:buNone/>
            </a:pPr>
            <a:r>
              <a:rPr lang="en-US" sz="2800" dirty="0"/>
              <a:t>    	</a:t>
            </a:r>
            <a:r>
              <a:rPr lang="en-US" sz="2800" dirty="0">
                <a:solidFill>
                  <a:srgbClr val="00B0F0"/>
                </a:solidFill>
              </a:rPr>
              <a:t>data and functions</a:t>
            </a:r>
          </a:p>
          <a:p>
            <a:pPr marL="0" indent="0">
              <a:lnSpc>
                <a:spcPct val="150000"/>
              </a:lnSpc>
              <a:spcBef>
                <a:spcPts val="0"/>
              </a:spcBef>
              <a:buNone/>
            </a:pPr>
            <a:r>
              <a:rPr lang="en-US" sz="2800" dirty="0"/>
              <a:t>		 </a:t>
            </a:r>
            <a:r>
              <a:rPr lang="en-US" b="1" dirty="0"/>
              <a:t>...</a:t>
            </a:r>
          </a:p>
          <a:p>
            <a:pPr marL="0" indent="0">
              <a:spcBef>
                <a:spcPts val="0"/>
              </a:spcBef>
              <a:buNone/>
            </a:pPr>
            <a:r>
              <a:rPr lang="en-US" sz="2800" dirty="0"/>
              <a:t>} ;</a:t>
            </a:r>
            <a:endParaRPr lang="en-IN" sz="2800" dirty="0"/>
          </a:p>
        </p:txBody>
      </p:sp>
      <p:sp>
        <p:nvSpPr>
          <p:cNvPr id="4" name="Slide Number Placeholder 3"/>
          <p:cNvSpPr>
            <a:spLocks noGrp="1"/>
          </p:cNvSpPr>
          <p:nvPr>
            <p:ph type="sldNum" sz="quarter" idx="11"/>
          </p:nvPr>
        </p:nvSpPr>
        <p:spPr/>
        <p:txBody>
          <a:bodyPr/>
          <a:lstStyle/>
          <a:p>
            <a:pPr>
              <a:defRPr/>
            </a:pPr>
            <a:fld id="{476BE0B1-C626-45C8-98EA-E403C7C65479}" type="slidenum">
              <a:rPr lang="en-US" smtClean="0"/>
              <a:pPr>
                <a:defRPr/>
              </a:pPr>
              <a:t>2</a:t>
            </a:fld>
            <a:endParaRPr lang="en-US"/>
          </a:p>
        </p:txBody>
      </p:sp>
    </p:spTree>
    <p:extLst>
      <p:ext uri="{BB962C8B-B14F-4D97-AF65-F5344CB8AC3E}">
        <p14:creationId xmlns:p14="http://schemas.microsoft.com/office/powerpoint/2010/main" val="39373314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1551" y="61784"/>
            <a:ext cx="7772400" cy="582827"/>
          </a:xfrm>
        </p:spPr>
        <p:txBody>
          <a:bodyPr/>
          <a:lstStyle/>
          <a:p>
            <a:r>
              <a:rPr lang="en-IN" sz="3600" b="1" dirty="0">
                <a:solidFill>
                  <a:srgbClr val="0070C0"/>
                </a:solidFill>
              </a:rPr>
              <a:t>Private and public</a:t>
            </a:r>
          </a:p>
        </p:txBody>
      </p:sp>
      <p:sp>
        <p:nvSpPr>
          <p:cNvPr id="4" name="Slide Number Placeholder 3"/>
          <p:cNvSpPr>
            <a:spLocks noGrp="1"/>
          </p:cNvSpPr>
          <p:nvPr>
            <p:ph type="sldNum" sz="quarter" idx="11"/>
          </p:nvPr>
        </p:nvSpPr>
        <p:spPr/>
        <p:txBody>
          <a:bodyPr/>
          <a:lstStyle/>
          <a:p>
            <a:pPr>
              <a:defRPr/>
            </a:pPr>
            <a:fld id="{476BE0B1-C626-45C8-98EA-E403C7C65479}" type="slidenum">
              <a:rPr lang="en-US" smtClean="0"/>
              <a:pPr>
                <a:defRPr/>
              </a:pPr>
              <a:t>3</a:t>
            </a:fld>
            <a:endParaRPr lang="en-US"/>
          </a:p>
        </p:txBody>
      </p:sp>
      <p:pic>
        <p:nvPicPr>
          <p:cNvPr id="5" name="Picture 4"/>
          <p:cNvPicPr>
            <a:picLocks noChangeAspect="1"/>
          </p:cNvPicPr>
          <p:nvPr/>
        </p:nvPicPr>
        <p:blipFill>
          <a:blip r:embed="rId2"/>
          <a:stretch>
            <a:fillRect/>
          </a:stretch>
        </p:blipFill>
        <p:spPr>
          <a:xfrm>
            <a:off x="296562" y="768321"/>
            <a:ext cx="8390238" cy="5937279"/>
          </a:xfrm>
          <a:prstGeom prst="rect">
            <a:avLst/>
          </a:prstGeom>
        </p:spPr>
      </p:pic>
    </p:spTree>
    <p:extLst>
      <p:ext uri="{BB962C8B-B14F-4D97-AF65-F5344CB8AC3E}">
        <p14:creationId xmlns:p14="http://schemas.microsoft.com/office/powerpoint/2010/main" val="22757736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90500"/>
            <a:ext cx="5292811" cy="381000"/>
          </a:xfrm>
        </p:spPr>
        <p:txBody>
          <a:bodyPr/>
          <a:lstStyle/>
          <a:p>
            <a:r>
              <a:rPr lang="en-IN" sz="3200" b="1" dirty="0">
                <a:solidFill>
                  <a:srgbClr val="002060"/>
                </a:solidFill>
                <a:latin typeface="Calibri" panose="020F0502020204030204" pitchFamily="34" charset="0"/>
                <a:cs typeface="Calibri" panose="020F0502020204030204" pitchFamily="34" charset="0"/>
              </a:rPr>
              <a:t>Class example-1</a:t>
            </a:r>
          </a:p>
        </p:txBody>
      </p:sp>
      <p:sp>
        <p:nvSpPr>
          <p:cNvPr id="4" name="Slide Number Placeholder 3"/>
          <p:cNvSpPr>
            <a:spLocks noGrp="1"/>
          </p:cNvSpPr>
          <p:nvPr>
            <p:ph type="sldNum" sz="quarter" idx="11"/>
          </p:nvPr>
        </p:nvSpPr>
        <p:spPr/>
        <p:txBody>
          <a:bodyPr/>
          <a:lstStyle/>
          <a:p>
            <a:pPr>
              <a:defRPr/>
            </a:pPr>
            <a:fld id="{476BE0B1-C626-45C8-98EA-E403C7C65479}" type="slidenum">
              <a:rPr lang="en-US" smtClean="0"/>
              <a:pPr>
                <a:defRPr/>
              </a:pPr>
              <a:t>4</a:t>
            </a:fld>
            <a:endParaRPr lang="en-US"/>
          </a:p>
        </p:txBody>
      </p:sp>
      <p:pic>
        <p:nvPicPr>
          <p:cNvPr id="9" name="Picture 8">
            <a:extLst>
              <a:ext uri="{FF2B5EF4-FFF2-40B4-BE49-F238E27FC236}">
                <a16:creationId xmlns:a16="http://schemas.microsoft.com/office/drawing/2014/main" id="{9754A330-F058-47C5-80F9-9F5DA125908B}"/>
              </a:ext>
            </a:extLst>
          </p:cNvPr>
          <p:cNvPicPr>
            <a:picLocks noChangeAspect="1"/>
          </p:cNvPicPr>
          <p:nvPr/>
        </p:nvPicPr>
        <p:blipFill>
          <a:blip r:embed="rId2"/>
          <a:stretch>
            <a:fillRect/>
          </a:stretch>
        </p:blipFill>
        <p:spPr>
          <a:xfrm>
            <a:off x="6436860" y="5575645"/>
            <a:ext cx="2487845" cy="871538"/>
          </a:xfrm>
          <a:prstGeom prst="rect">
            <a:avLst/>
          </a:prstGeom>
        </p:spPr>
      </p:pic>
      <p:sp>
        <p:nvSpPr>
          <p:cNvPr id="10" name="TextBox 9">
            <a:extLst>
              <a:ext uri="{FF2B5EF4-FFF2-40B4-BE49-F238E27FC236}">
                <a16:creationId xmlns:a16="http://schemas.microsoft.com/office/drawing/2014/main" id="{380EAEED-A8EF-4E8B-B6B6-DECB084E5249}"/>
              </a:ext>
            </a:extLst>
          </p:cNvPr>
          <p:cNvSpPr txBox="1"/>
          <p:nvPr/>
        </p:nvSpPr>
        <p:spPr>
          <a:xfrm>
            <a:off x="6553200" y="5000522"/>
            <a:ext cx="3048000" cy="457200"/>
          </a:xfrm>
          <a:prstGeom prst="rect">
            <a:avLst/>
          </a:prstGeom>
          <a:noFill/>
        </p:spPr>
        <p:txBody>
          <a:bodyPr wrap="square" rtlCol="0">
            <a:spAutoFit/>
          </a:bodyPr>
          <a:lstStyle/>
          <a:p>
            <a:r>
              <a:rPr lang="en-IN" b="1" dirty="0">
                <a:solidFill>
                  <a:srgbClr val="FF0000"/>
                </a:solidFill>
              </a:rPr>
              <a:t>OUTPUT:</a:t>
            </a:r>
          </a:p>
        </p:txBody>
      </p:sp>
      <p:pic>
        <p:nvPicPr>
          <p:cNvPr id="11" name="Picture 10">
            <a:extLst>
              <a:ext uri="{FF2B5EF4-FFF2-40B4-BE49-F238E27FC236}">
                <a16:creationId xmlns:a16="http://schemas.microsoft.com/office/drawing/2014/main" id="{07D15733-EACF-4299-B841-3313F0D332B1}"/>
              </a:ext>
            </a:extLst>
          </p:cNvPr>
          <p:cNvPicPr>
            <a:picLocks noChangeAspect="1"/>
          </p:cNvPicPr>
          <p:nvPr/>
        </p:nvPicPr>
        <p:blipFill>
          <a:blip r:embed="rId3"/>
          <a:stretch>
            <a:fillRect/>
          </a:stretch>
        </p:blipFill>
        <p:spPr>
          <a:xfrm>
            <a:off x="105811" y="734048"/>
            <a:ext cx="5335388" cy="4762603"/>
          </a:xfrm>
          <a:prstGeom prst="rect">
            <a:avLst/>
          </a:prstGeom>
        </p:spPr>
      </p:pic>
      <p:pic>
        <p:nvPicPr>
          <p:cNvPr id="12" name="Picture 11">
            <a:extLst>
              <a:ext uri="{FF2B5EF4-FFF2-40B4-BE49-F238E27FC236}">
                <a16:creationId xmlns:a16="http://schemas.microsoft.com/office/drawing/2014/main" id="{C625783C-D275-4D83-8869-34E525810AD1}"/>
              </a:ext>
            </a:extLst>
          </p:cNvPr>
          <p:cNvPicPr>
            <a:picLocks noChangeAspect="1"/>
          </p:cNvPicPr>
          <p:nvPr/>
        </p:nvPicPr>
        <p:blipFill>
          <a:blip r:embed="rId4"/>
          <a:stretch>
            <a:fillRect/>
          </a:stretch>
        </p:blipFill>
        <p:spPr>
          <a:xfrm>
            <a:off x="5257800" y="824948"/>
            <a:ext cx="3803345" cy="3389452"/>
          </a:xfrm>
          <a:prstGeom prst="rect">
            <a:avLst/>
          </a:prstGeom>
        </p:spPr>
      </p:pic>
    </p:spTree>
    <p:extLst>
      <p:ext uri="{BB962C8B-B14F-4D97-AF65-F5344CB8AC3E}">
        <p14:creationId xmlns:p14="http://schemas.microsoft.com/office/powerpoint/2010/main" val="1725662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0E922-C67A-44C8-8C6F-DFE4706B5FDD}"/>
              </a:ext>
            </a:extLst>
          </p:cNvPr>
          <p:cNvSpPr>
            <a:spLocks noGrp="1"/>
          </p:cNvSpPr>
          <p:nvPr>
            <p:ph type="title"/>
          </p:nvPr>
        </p:nvSpPr>
        <p:spPr>
          <a:xfrm>
            <a:off x="457200" y="190500"/>
            <a:ext cx="7772400" cy="1143000"/>
          </a:xfrm>
        </p:spPr>
        <p:txBody>
          <a:bodyPr/>
          <a:lstStyle/>
          <a:p>
            <a:r>
              <a:rPr lang="en-US" sz="2800" b="1" dirty="0"/>
              <a:t>member function definition outside the class:</a:t>
            </a:r>
            <a:endParaRPr lang="en-IN" sz="2800" b="1" dirty="0"/>
          </a:p>
        </p:txBody>
      </p:sp>
      <p:sp>
        <p:nvSpPr>
          <p:cNvPr id="4" name="Slide Number Placeholder 3">
            <a:extLst>
              <a:ext uri="{FF2B5EF4-FFF2-40B4-BE49-F238E27FC236}">
                <a16:creationId xmlns:a16="http://schemas.microsoft.com/office/drawing/2014/main" id="{61B02954-EA67-4489-B612-E1A00E2914CE}"/>
              </a:ext>
            </a:extLst>
          </p:cNvPr>
          <p:cNvSpPr>
            <a:spLocks noGrp="1"/>
          </p:cNvSpPr>
          <p:nvPr>
            <p:ph type="sldNum" sz="quarter" idx="11"/>
          </p:nvPr>
        </p:nvSpPr>
        <p:spPr/>
        <p:txBody>
          <a:bodyPr/>
          <a:lstStyle/>
          <a:p>
            <a:pPr>
              <a:defRPr/>
            </a:pPr>
            <a:fld id="{476BE0B1-C626-45C8-98EA-E403C7C65479}" type="slidenum">
              <a:rPr lang="en-US" smtClean="0"/>
              <a:pPr>
                <a:defRPr/>
              </a:pPr>
              <a:t>5</a:t>
            </a:fld>
            <a:endParaRPr lang="en-US"/>
          </a:p>
        </p:txBody>
      </p:sp>
      <p:sp>
        <p:nvSpPr>
          <p:cNvPr id="8" name="Rectangle 2">
            <a:extLst>
              <a:ext uri="{FF2B5EF4-FFF2-40B4-BE49-F238E27FC236}">
                <a16:creationId xmlns:a16="http://schemas.microsoft.com/office/drawing/2014/main" id="{BB651850-F7E5-47B3-ADAB-93689228A17C}"/>
              </a:ext>
            </a:extLst>
          </p:cNvPr>
          <p:cNvSpPr>
            <a:spLocks noGrp="1" noChangeArrowheads="1"/>
          </p:cNvSpPr>
          <p:nvPr>
            <p:ph idx="1"/>
          </p:nvPr>
        </p:nvSpPr>
        <p:spPr bwMode="auto">
          <a:xfrm>
            <a:off x="152400" y="1907976"/>
            <a:ext cx="8686800" cy="245504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79331" rIns="0" bIns="1793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rgbClr val="00B0F0"/>
                </a:solidFill>
                <a:effectLst/>
                <a:latin typeface="Consolas" panose="020B0609020204030204" pitchFamily="49" charset="0"/>
              </a:rPr>
              <a:t>Syntax:</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7030A0"/>
                </a:solidFill>
                <a:effectLst/>
                <a:latin typeface="Consolas" panose="020B0609020204030204" pitchFamily="49" charset="0"/>
              </a:rPr>
              <a:t>	</a:t>
            </a:r>
            <a:r>
              <a:rPr kumimoji="0" lang="en-US" altLang="en-US" sz="2000" b="1" i="0" u="none" strike="noStrike" cap="none" normalizeH="0" baseline="0" dirty="0" err="1">
                <a:ln>
                  <a:noFill/>
                </a:ln>
                <a:solidFill>
                  <a:srgbClr val="7030A0"/>
                </a:solidFill>
                <a:effectLst/>
                <a:latin typeface="Consolas" panose="020B0609020204030204" pitchFamily="49" charset="0"/>
              </a:rPr>
              <a:t>return_type</a:t>
            </a:r>
            <a:r>
              <a:rPr kumimoji="0" lang="en-US" altLang="en-US" sz="2000" b="1" i="0" u="none" strike="noStrike" cap="none" normalizeH="0" baseline="0" dirty="0">
                <a:ln>
                  <a:noFill/>
                </a:ln>
                <a:solidFill>
                  <a:srgbClr val="7030A0"/>
                </a:solidFill>
                <a:effectLst/>
                <a:latin typeface="Consolas" panose="020B0609020204030204" pitchFamily="49" charset="0"/>
              </a:rPr>
              <a:t> </a:t>
            </a:r>
            <a:r>
              <a:rPr kumimoji="0" lang="en-US" altLang="en-US" sz="2000" b="1" i="0" u="none" strike="noStrike" cap="none" normalizeH="0" baseline="0" dirty="0" err="1">
                <a:ln>
                  <a:noFill/>
                </a:ln>
                <a:solidFill>
                  <a:srgbClr val="7030A0"/>
                </a:solidFill>
                <a:effectLst/>
                <a:latin typeface="Consolas" panose="020B0609020204030204" pitchFamily="49" charset="0"/>
              </a:rPr>
              <a:t>class_name</a:t>
            </a:r>
            <a:r>
              <a:rPr kumimoji="0" lang="en-US" altLang="en-US" sz="2000" b="1" i="0" u="none" strike="noStrike" cap="none" normalizeH="0" baseline="0" dirty="0">
                <a:ln>
                  <a:noFill/>
                </a:ln>
                <a:solidFill>
                  <a:srgbClr val="7030A0"/>
                </a:solidFill>
                <a:effectLst/>
                <a:latin typeface="Consolas" panose="020B0609020204030204" pitchFamily="49" charset="0"/>
              </a:rPr>
              <a:t> :: </a:t>
            </a:r>
            <a:r>
              <a:rPr kumimoji="0" lang="en-US" altLang="en-US" sz="2000" b="1" i="0" u="none" strike="noStrike" cap="none" normalizeH="0" baseline="0" dirty="0" err="1">
                <a:ln>
                  <a:noFill/>
                </a:ln>
                <a:solidFill>
                  <a:srgbClr val="7030A0"/>
                </a:solidFill>
                <a:effectLst/>
                <a:latin typeface="Consolas" panose="020B0609020204030204" pitchFamily="49" charset="0"/>
              </a:rPr>
              <a:t>function_name</a:t>
            </a:r>
            <a:r>
              <a:rPr kumimoji="0" lang="en-US" altLang="en-US" sz="2000" b="1" i="0" u="none" strike="noStrike" cap="none" normalizeH="0" baseline="0" dirty="0">
                <a:ln>
                  <a:noFill/>
                </a:ln>
                <a:solidFill>
                  <a:srgbClr val="7030A0"/>
                </a:solidFill>
                <a:effectLst/>
                <a:latin typeface="Consolas" panose="020B0609020204030204" pitchFamily="49" charset="0"/>
              </a:rPr>
              <a:t>( parameters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7030A0"/>
                </a:solidFill>
                <a:effectLst/>
                <a:latin typeface="Consolas" panose="020B06090202040302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b="1" dirty="0">
                <a:solidFill>
                  <a:srgbClr val="7030A0"/>
                </a:solidFill>
                <a:latin typeface="Consolas" panose="020B0609020204030204" pitchFamily="49" charset="0"/>
              </a:rPr>
              <a:t>		</a:t>
            </a:r>
            <a:r>
              <a:rPr kumimoji="0" lang="en-US" altLang="en-US" sz="2000" b="1" i="0" u="none" strike="noStrike" cap="none" normalizeH="0" baseline="0" dirty="0" err="1">
                <a:ln>
                  <a:noFill/>
                </a:ln>
                <a:solidFill>
                  <a:srgbClr val="7030A0"/>
                </a:solidFill>
                <a:effectLst/>
                <a:latin typeface="Consolas" panose="020B0609020204030204" pitchFamily="49" charset="0"/>
              </a:rPr>
              <a:t>function_body</a:t>
            </a:r>
            <a:r>
              <a:rPr kumimoji="0" lang="en-US" altLang="en-US" sz="2000" b="1" i="0" u="none" strike="noStrike" cap="none" normalizeH="0" baseline="0" dirty="0">
                <a:ln>
                  <a:noFill/>
                </a:ln>
                <a:solidFill>
                  <a:srgbClr val="7030A0"/>
                </a:solidFill>
                <a:effectLst/>
                <a:latin typeface="Consolas" panose="020B06090202040302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7030A0"/>
                </a:solidFill>
                <a:effectLst/>
                <a:latin typeface="Consolas" panose="020B0609020204030204" pitchFamily="49" charset="0"/>
              </a:rPr>
              <a:t>	}</a:t>
            </a:r>
            <a:r>
              <a:rPr kumimoji="0" lang="en-US" altLang="en-US" sz="1100" b="1" i="0" u="none" strike="noStrike" cap="none" normalizeH="0" baseline="0" dirty="0">
                <a:ln>
                  <a:noFill/>
                </a:ln>
                <a:solidFill>
                  <a:srgbClr val="7030A0"/>
                </a:solidFill>
                <a:effectLst/>
              </a:rPr>
              <a:t> </a:t>
            </a:r>
            <a:endParaRPr kumimoji="0" lang="en-US" altLang="en-US" b="1" i="0" u="none" strike="noStrike" cap="none" normalizeH="0" baseline="0" dirty="0">
              <a:ln>
                <a:noFill/>
              </a:ln>
              <a:solidFill>
                <a:srgbClr val="7030A0"/>
              </a:solidFill>
              <a:effectLst/>
              <a:latin typeface="Arial" panose="020B0604020202020204" pitchFamily="34" charset="0"/>
            </a:endParaRPr>
          </a:p>
        </p:txBody>
      </p:sp>
    </p:spTree>
    <p:extLst>
      <p:ext uri="{BB962C8B-B14F-4D97-AF65-F5344CB8AC3E}">
        <p14:creationId xmlns:p14="http://schemas.microsoft.com/office/powerpoint/2010/main" val="903067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7A720F7-DB72-417D-A6DD-C0ED99555CFB}"/>
              </a:ext>
            </a:extLst>
          </p:cNvPr>
          <p:cNvSpPr>
            <a:spLocks noGrp="1"/>
          </p:cNvSpPr>
          <p:nvPr>
            <p:ph type="sldNum" sz="quarter" idx="11"/>
          </p:nvPr>
        </p:nvSpPr>
        <p:spPr/>
        <p:txBody>
          <a:bodyPr/>
          <a:lstStyle/>
          <a:p>
            <a:pPr>
              <a:defRPr/>
            </a:pPr>
            <a:fld id="{476BE0B1-C626-45C8-98EA-E403C7C65479}" type="slidenum">
              <a:rPr lang="en-US" smtClean="0"/>
              <a:pPr>
                <a:defRPr/>
              </a:pPr>
              <a:t>6</a:t>
            </a:fld>
            <a:endParaRPr lang="en-US"/>
          </a:p>
        </p:txBody>
      </p:sp>
      <p:pic>
        <p:nvPicPr>
          <p:cNvPr id="5" name="Picture 4">
            <a:extLst>
              <a:ext uri="{FF2B5EF4-FFF2-40B4-BE49-F238E27FC236}">
                <a16:creationId xmlns:a16="http://schemas.microsoft.com/office/drawing/2014/main" id="{51237236-D2BF-47C7-9DB5-327993ACD0AA}"/>
              </a:ext>
            </a:extLst>
          </p:cNvPr>
          <p:cNvPicPr>
            <a:picLocks noChangeAspect="1"/>
          </p:cNvPicPr>
          <p:nvPr/>
        </p:nvPicPr>
        <p:blipFill>
          <a:blip r:embed="rId2"/>
          <a:stretch>
            <a:fillRect/>
          </a:stretch>
        </p:blipFill>
        <p:spPr>
          <a:xfrm>
            <a:off x="159026" y="228600"/>
            <a:ext cx="4792248" cy="3402496"/>
          </a:xfrm>
          <a:prstGeom prst="rect">
            <a:avLst/>
          </a:prstGeom>
        </p:spPr>
      </p:pic>
      <p:pic>
        <p:nvPicPr>
          <p:cNvPr id="6" name="Picture 5">
            <a:extLst>
              <a:ext uri="{FF2B5EF4-FFF2-40B4-BE49-F238E27FC236}">
                <a16:creationId xmlns:a16="http://schemas.microsoft.com/office/drawing/2014/main" id="{64B1B9E5-DC66-4102-AA1E-6821A64BF2D6}"/>
              </a:ext>
            </a:extLst>
          </p:cNvPr>
          <p:cNvPicPr>
            <a:picLocks noChangeAspect="1"/>
          </p:cNvPicPr>
          <p:nvPr/>
        </p:nvPicPr>
        <p:blipFill>
          <a:blip r:embed="rId3"/>
          <a:stretch>
            <a:fillRect/>
          </a:stretch>
        </p:blipFill>
        <p:spPr>
          <a:xfrm>
            <a:off x="152400" y="3962400"/>
            <a:ext cx="5786438" cy="2667000"/>
          </a:xfrm>
          <a:prstGeom prst="rect">
            <a:avLst/>
          </a:prstGeom>
        </p:spPr>
      </p:pic>
    </p:spTree>
    <p:extLst>
      <p:ext uri="{BB962C8B-B14F-4D97-AF65-F5344CB8AC3E}">
        <p14:creationId xmlns:p14="http://schemas.microsoft.com/office/powerpoint/2010/main" val="3734416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90500"/>
            <a:ext cx="5292811" cy="381000"/>
          </a:xfrm>
        </p:spPr>
        <p:txBody>
          <a:bodyPr/>
          <a:lstStyle/>
          <a:p>
            <a:r>
              <a:rPr lang="en-IN" sz="3200" b="1" dirty="0">
                <a:solidFill>
                  <a:srgbClr val="002060"/>
                </a:solidFill>
                <a:latin typeface="Calibri" panose="020F0502020204030204" pitchFamily="34" charset="0"/>
                <a:cs typeface="Calibri" panose="020F0502020204030204" pitchFamily="34" charset="0"/>
              </a:rPr>
              <a:t>Class example-2</a:t>
            </a:r>
          </a:p>
        </p:txBody>
      </p:sp>
      <p:sp>
        <p:nvSpPr>
          <p:cNvPr id="4" name="Slide Number Placeholder 3"/>
          <p:cNvSpPr>
            <a:spLocks noGrp="1"/>
          </p:cNvSpPr>
          <p:nvPr>
            <p:ph type="sldNum" sz="quarter" idx="11"/>
          </p:nvPr>
        </p:nvSpPr>
        <p:spPr/>
        <p:txBody>
          <a:bodyPr/>
          <a:lstStyle/>
          <a:p>
            <a:pPr>
              <a:defRPr/>
            </a:pPr>
            <a:fld id="{476BE0B1-C626-45C8-98EA-E403C7C65479}" type="slidenum">
              <a:rPr lang="en-US" smtClean="0"/>
              <a:pPr>
                <a:defRPr/>
              </a:pPr>
              <a:t>7</a:t>
            </a:fld>
            <a:endParaRPr lang="en-US"/>
          </a:p>
        </p:txBody>
      </p:sp>
      <p:sp>
        <p:nvSpPr>
          <p:cNvPr id="8" name="TextBox 7">
            <a:extLst>
              <a:ext uri="{FF2B5EF4-FFF2-40B4-BE49-F238E27FC236}">
                <a16:creationId xmlns:a16="http://schemas.microsoft.com/office/drawing/2014/main" id="{11B432FF-69E7-4858-9116-D28299C135D2}"/>
              </a:ext>
            </a:extLst>
          </p:cNvPr>
          <p:cNvSpPr txBox="1"/>
          <p:nvPr/>
        </p:nvSpPr>
        <p:spPr>
          <a:xfrm>
            <a:off x="228600" y="5894457"/>
            <a:ext cx="7620000" cy="707886"/>
          </a:xfrm>
          <a:prstGeom prst="rect">
            <a:avLst/>
          </a:prstGeom>
          <a:noFill/>
        </p:spPr>
        <p:txBody>
          <a:bodyPr wrap="square" rtlCol="0">
            <a:spAutoFit/>
          </a:bodyPr>
          <a:lstStyle/>
          <a:p>
            <a:r>
              <a:rPr lang="en-IN" sz="4000" b="1" dirty="0">
                <a:solidFill>
                  <a:srgbClr val="FF0000"/>
                </a:solidFill>
              </a:rPr>
              <a:t>Error ! </a:t>
            </a:r>
            <a:r>
              <a:rPr lang="en-IN" sz="4000" b="1" dirty="0" err="1">
                <a:solidFill>
                  <a:srgbClr val="FF0000"/>
                </a:solidFill>
              </a:rPr>
              <a:t>Setdata</a:t>
            </a:r>
            <a:r>
              <a:rPr lang="en-IN" sz="4000" b="1" dirty="0">
                <a:solidFill>
                  <a:srgbClr val="FF0000"/>
                </a:solidFill>
              </a:rPr>
              <a:t>() is not accessible</a:t>
            </a:r>
          </a:p>
        </p:txBody>
      </p:sp>
      <p:pic>
        <p:nvPicPr>
          <p:cNvPr id="3" name="Picture 2">
            <a:extLst>
              <a:ext uri="{FF2B5EF4-FFF2-40B4-BE49-F238E27FC236}">
                <a16:creationId xmlns:a16="http://schemas.microsoft.com/office/drawing/2014/main" id="{CCDDF9C1-33FC-4431-85E3-6B450163E79D}"/>
              </a:ext>
            </a:extLst>
          </p:cNvPr>
          <p:cNvPicPr>
            <a:picLocks noChangeAspect="1"/>
          </p:cNvPicPr>
          <p:nvPr/>
        </p:nvPicPr>
        <p:blipFill>
          <a:blip r:embed="rId2"/>
          <a:stretch>
            <a:fillRect/>
          </a:stretch>
        </p:blipFill>
        <p:spPr>
          <a:xfrm>
            <a:off x="82855" y="777703"/>
            <a:ext cx="5292811" cy="4762469"/>
          </a:xfrm>
          <a:prstGeom prst="rect">
            <a:avLst/>
          </a:prstGeom>
        </p:spPr>
      </p:pic>
      <p:pic>
        <p:nvPicPr>
          <p:cNvPr id="11" name="Picture 10">
            <a:extLst>
              <a:ext uri="{FF2B5EF4-FFF2-40B4-BE49-F238E27FC236}">
                <a16:creationId xmlns:a16="http://schemas.microsoft.com/office/drawing/2014/main" id="{36C7D586-3E6B-4231-90A0-5AB2E502934C}"/>
              </a:ext>
            </a:extLst>
          </p:cNvPr>
          <p:cNvPicPr>
            <a:picLocks noChangeAspect="1"/>
          </p:cNvPicPr>
          <p:nvPr/>
        </p:nvPicPr>
        <p:blipFill>
          <a:blip r:embed="rId3"/>
          <a:stretch>
            <a:fillRect/>
          </a:stretch>
        </p:blipFill>
        <p:spPr>
          <a:xfrm>
            <a:off x="5257800" y="824948"/>
            <a:ext cx="3803345" cy="3389452"/>
          </a:xfrm>
          <a:prstGeom prst="rect">
            <a:avLst/>
          </a:prstGeom>
        </p:spPr>
      </p:pic>
    </p:spTree>
    <p:extLst>
      <p:ext uri="{BB962C8B-B14F-4D97-AF65-F5344CB8AC3E}">
        <p14:creationId xmlns:p14="http://schemas.microsoft.com/office/powerpoint/2010/main" val="4062447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5292811" cy="381000"/>
          </a:xfrm>
        </p:spPr>
        <p:txBody>
          <a:bodyPr/>
          <a:lstStyle/>
          <a:p>
            <a:r>
              <a:rPr lang="en-IN" sz="3200" b="1" u="sng" dirty="0">
                <a:solidFill>
                  <a:srgbClr val="002060"/>
                </a:solidFill>
                <a:latin typeface="Calibri" panose="020F0502020204030204" pitchFamily="34" charset="0"/>
                <a:cs typeface="Calibri" panose="020F0502020204030204" pitchFamily="34" charset="0"/>
              </a:rPr>
              <a:t>Class example-3</a:t>
            </a:r>
          </a:p>
        </p:txBody>
      </p:sp>
      <p:pic>
        <p:nvPicPr>
          <p:cNvPr id="4" name="Picture 3">
            <a:extLst>
              <a:ext uri="{FF2B5EF4-FFF2-40B4-BE49-F238E27FC236}">
                <a16:creationId xmlns:a16="http://schemas.microsoft.com/office/drawing/2014/main" id="{6547399E-782A-4DA3-BAB2-8B6AFD042768}"/>
              </a:ext>
            </a:extLst>
          </p:cNvPr>
          <p:cNvPicPr>
            <a:picLocks noChangeAspect="1"/>
          </p:cNvPicPr>
          <p:nvPr/>
        </p:nvPicPr>
        <p:blipFill>
          <a:blip r:embed="rId2"/>
          <a:stretch>
            <a:fillRect/>
          </a:stretch>
        </p:blipFill>
        <p:spPr>
          <a:xfrm>
            <a:off x="133625" y="762000"/>
            <a:ext cx="5371222" cy="5197957"/>
          </a:xfrm>
          <a:prstGeom prst="rect">
            <a:avLst/>
          </a:prstGeom>
        </p:spPr>
      </p:pic>
      <p:pic>
        <p:nvPicPr>
          <p:cNvPr id="5" name="Picture 4">
            <a:extLst>
              <a:ext uri="{FF2B5EF4-FFF2-40B4-BE49-F238E27FC236}">
                <a16:creationId xmlns:a16="http://schemas.microsoft.com/office/drawing/2014/main" id="{13FFFCE0-387A-473E-9D2E-82DBEB052209}"/>
              </a:ext>
            </a:extLst>
          </p:cNvPr>
          <p:cNvPicPr>
            <a:picLocks noChangeAspect="1"/>
          </p:cNvPicPr>
          <p:nvPr/>
        </p:nvPicPr>
        <p:blipFill>
          <a:blip r:embed="rId3"/>
          <a:stretch>
            <a:fillRect/>
          </a:stretch>
        </p:blipFill>
        <p:spPr>
          <a:xfrm>
            <a:off x="5029200" y="200438"/>
            <a:ext cx="3981175" cy="3291105"/>
          </a:xfrm>
          <a:prstGeom prst="rect">
            <a:avLst/>
          </a:prstGeom>
        </p:spPr>
      </p:pic>
      <p:pic>
        <p:nvPicPr>
          <p:cNvPr id="6" name="Picture 5">
            <a:extLst>
              <a:ext uri="{FF2B5EF4-FFF2-40B4-BE49-F238E27FC236}">
                <a16:creationId xmlns:a16="http://schemas.microsoft.com/office/drawing/2014/main" id="{C3F44929-46CA-4AC1-B331-25C30C32730D}"/>
              </a:ext>
            </a:extLst>
          </p:cNvPr>
          <p:cNvPicPr>
            <a:picLocks noChangeAspect="1"/>
          </p:cNvPicPr>
          <p:nvPr/>
        </p:nvPicPr>
        <p:blipFill>
          <a:blip r:embed="rId4"/>
          <a:stretch>
            <a:fillRect/>
          </a:stretch>
        </p:blipFill>
        <p:spPr>
          <a:xfrm>
            <a:off x="6096000" y="5438463"/>
            <a:ext cx="2722375" cy="1042988"/>
          </a:xfrm>
          <a:prstGeom prst="rect">
            <a:avLst/>
          </a:prstGeom>
        </p:spPr>
      </p:pic>
      <p:sp>
        <p:nvSpPr>
          <p:cNvPr id="10" name="TextBox 9">
            <a:extLst>
              <a:ext uri="{FF2B5EF4-FFF2-40B4-BE49-F238E27FC236}">
                <a16:creationId xmlns:a16="http://schemas.microsoft.com/office/drawing/2014/main" id="{771BCC77-4D63-4469-890D-2A778E2A8ED8}"/>
              </a:ext>
            </a:extLst>
          </p:cNvPr>
          <p:cNvSpPr txBox="1"/>
          <p:nvPr/>
        </p:nvSpPr>
        <p:spPr>
          <a:xfrm>
            <a:off x="6248400" y="4800600"/>
            <a:ext cx="3048000" cy="457200"/>
          </a:xfrm>
          <a:prstGeom prst="rect">
            <a:avLst/>
          </a:prstGeom>
          <a:noFill/>
        </p:spPr>
        <p:txBody>
          <a:bodyPr wrap="square" rtlCol="0">
            <a:spAutoFit/>
          </a:bodyPr>
          <a:lstStyle/>
          <a:p>
            <a:r>
              <a:rPr lang="en-IN" b="1" dirty="0">
                <a:solidFill>
                  <a:srgbClr val="FF0000"/>
                </a:solidFill>
              </a:rPr>
              <a:t>OUTPUT:</a:t>
            </a:r>
          </a:p>
        </p:txBody>
      </p:sp>
    </p:spTree>
    <p:extLst>
      <p:ext uri="{BB962C8B-B14F-4D97-AF65-F5344CB8AC3E}">
        <p14:creationId xmlns:p14="http://schemas.microsoft.com/office/powerpoint/2010/main" val="879595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5292811" cy="381000"/>
          </a:xfrm>
        </p:spPr>
        <p:txBody>
          <a:bodyPr/>
          <a:lstStyle/>
          <a:p>
            <a:r>
              <a:rPr lang="en-IN" sz="3200" b="1" u="sng" dirty="0">
                <a:solidFill>
                  <a:srgbClr val="00B050"/>
                </a:solidFill>
                <a:latin typeface="Calibri" panose="020F0502020204030204" pitchFamily="34" charset="0"/>
                <a:cs typeface="Calibri" panose="020F0502020204030204" pitchFamily="34" charset="0"/>
              </a:rPr>
              <a:t>Class example-4</a:t>
            </a:r>
          </a:p>
        </p:txBody>
      </p:sp>
      <p:pic>
        <p:nvPicPr>
          <p:cNvPr id="3" name="Picture 2">
            <a:extLst>
              <a:ext uri="{FF2B5EF4-FFF2-40B4-BE49-F238E27FC236}">
                <a16:creationId xmlns:a16="http://schemas.microsoft.com/office/drawing/2014/main" id="{B0CB94E5-998C-4B0A-8A65-0C8EE1946EF0}"/>
              </a:ext>
            </a:extLst>
          </p:cNvPr>
          <p:cNvPicPr>
            <a:picLocks noChangeAspect="1"/>
          </p:cNvPicPr>
          <p:nvPr/>
        </p:nvPicPr>
        <p:blipFill>
          <a:blip r:embed="rId2"/>
          <a:stretch>
            <a:fillRect/>
          </a:stretch>
        </p:blipFill>
        <p:spPr>
          <a:xfrm>
            <a:off x="152400" y="914400"/>
            <a:ext cx="5848690" cy="5029200"/>
          </a:xfrm>
          <a:prstGeom prst="rect">
            <a:avLst/>
          </a:prstGeom>
        </p:spPr>
      </p:pic>
      <p:pic>
        <p:nvPicPr>
          <p:cNvPr id="4" name="Picture 3">
            <a:extLst>
              <a:ext uri="{FF2B5EF4-FFF2-40B4-BE49-F238E27FC236}">
                <a16:creationId xmlns:a16="http://schemas.microsoft.com/office/drawing/2014/main" id="{B8B4737D-6C4C-455B-88C6-84C47A0EEBF3}"/>
              </a:ext>
            </a:extLst>
          </p:cNvPr>
          <p:cNvPicPr>
            <a:picLocks noChangeAspect="1"/>
          </p:cNvPicPr>
          <p:nvPr/>
        </p:nvPicPr>
        <p:blipFill>
          <a:blip r:embed="rId3"/>
          <a:stretch>
            <a:fillRect/>
          </a:stretch>
        </p:blipFill>
        <p:spPr>
          <a:xfrm>
            <a:off x="5257800" y="152400"/>
            <a:ext cx="3657600" cy="3690651"/>
          </a:xfrm>
          <a:prstGeom prst="rect">
            <a:avLst/>
          </a:prstGeom>
        </p:spPr>
      </p:pic>
      <p:pic>
        <p:nvPicPr>
          <p:cNvPr id="5" name="Picture 4">
            <a:extLst>
              <a:ext uri="{FF2B5EF4-FFF2-40B4-BE49-F238E27FC236}">
                <a16:creationId xmlns:a16="http://schemas.microsoft.com/office/drawing/2014/main" id="{6BF01FD5-BF19-4476-BD84-C2F89B1AF04F}"/>
              </a:ext>
            </a:extLst>
          </p:cNvPr>
          <p:cNvPicPr>
            <a:picLocks noChangeAspect="1"/>
          </p:cNvPicPr>
          <p:nvPr/>
        </p:nvPicPr>
        <p:blipFill>
          <a:blip r:embed="rId4"/>
          <a:stretch>
            <a:fillRect/>
          </a:stretch>
        </p:blipFill>
        <p:spPr>
          <a:xfrm>
            <a:off x="5442561" y="5853399"/>
            <a:ext cx="3288078" cy="623601"/>
          </a:xfrm>
          <a:prstGeom prst="rect">
            <a:avLst/>
          </a:prstGeom>
        </p:spPr>
      </p:pic>
      <p:sp>
        <p:nvSpPr>
          <p:cNvPr id="7" name="TextBox 6">
            <a:extLst>
              <a:ext uri="{FF2B5EF4-FFF2-40B4-BE49-F238E27FC236}">
                <a16:creationId xmlns:a16="http://schemas.microsoft.com/office/drawing/2014/main" id="{280C4397-BFE5-427A-896E-B0374F50B046}"/>
              </a:ext>
            </a:extLst>
          </p:cNvPr>
          <p:cNvSpPr txBox="1"/>
          <p:nvPr/>
        </p:nvSpPr>
        <p:spPr>
          <a:xfrm>
            <a:off x="3581400" y="6019800"/>
            <a:ext cx="3048000" cy="457200"/>
          </a:xfrm>
          <a:prstGeom prst="rect">
            <a:avLst/>
          </a:prstGeom>
          <a:noFill/>
        </p:spPr>
        <p:txBody>
          <a:bodyPr wrap="square" rtlCol="0">
            <a:spAutoFit/>
          </a:bodyPr>
          <a:lstStyle/>
          <a:p>
            <a:r>
              <a:rPr lang="en-IN" b="1" dirty="0">
                <a:solidFill>
                  <a:srgbClr val="FF0000"/>
                </a:solidFill>
              </a:rPr>
              <a:t>OUTPUT:</a:t>
            </a:r>
          </a:p>
        </p:txBody>
      </p:sp>
    </p:spTree>
    <p:extLst>
      <p:ext uri="{BB962C8B-B14F-4D97-AF65-F5344CB8AC3E}">
        <p14:creationId xmlns:p14="http://schemas.microsoft.com/office/powerpoint/2010/main" val="2941148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29773" y="899161"/>
            <a:ext cx="3486149" cy="4408899"/>
          </a:xfrm>
          <a:prstGeom prst="rect">
            <a:avLst/>
          </a:prstGeom>
        </p:spPr>
        <p:txBody>
          <a:bodyPr wrap="square">
            <a:spAutoFit/>
          </a:bodyPr>
          <a:lstStyle/>
          <a:p>
            <a:pPr defTabSz="685800" fontAlgn="auto">
              <a:spcBef>
                <a:spcPts val="0"/>
              </a:spcBef>
              <a:spcAft>
                <a:spcPts val="0"/>
              </a:spcAft>
            </a:pPr>
            <a:r>
              <a:rPr lang="en-IN" sz="1650" dirty="0">
                <a:solidFill>
                  <a:srgbClr val="0000FF"/>
                </a:solidFill>
                <a:highlight>
                  <a:srgbClr val="FFFFFF"/>
                </a:highlight>
                <a:latin typeface="Consolas" panose="020B0609020204030204" pitchFamily="49" charset="0"/>
                <a:cs typeface="+mn-cs"/>
              </a:rPr>
              <a:t>class</a:t>
            </a:r>
            <a:r>
              <a:rPr lang="en-IN" sz="1650" dirty="0">
                <a:solidFill>
                  <a:srgbClr val="000000"/>
                </a:solidFill>
                <a:highlight>
                  <a:srgbClr val="FFFFFF"/>
                </a:highlight>
                <a:latin typeface="Consolas" panose="020B0609020204030204" pitchFamily="49" charset="0"/>
                <a:cs typeface="+mn-cs"/>
              </a:rPr>
              <a:t> Test </a:t>
            </a:r>
          </a:p>
          <a:p>
            <a:pPr defTabSz="685800" fontAlgn="auto">
              <a:spcBef>
                <a:spcPts val="0"/>
              </a:spcBef>
              <a:spcAft>
                <a:spcPts val="0"/>
              </a:spcAft>
            </a:pPr>
            <a:r>
              <a:rPr lang="en-IN" sz="1650" dirty="0">
                <a:solidFill>
                  <a:srgbClr val="000000"/>
                </a:solidFill>
                <a:highlight>
                  <a:srgbClr val="FFFFFF"/>
                </a:highlight>
                <a:latin typeface="Consolas" panose="020B0609020204030204" pitchFamily="49" charset="0"/>
                <a:cs typeface="+mn-cs"/>
              </a:rPr>
              <a:t>{ </a:t>
            </a:r>
          </a:p>
          <a:p>
            <a:pPr defTabSz="685800" fontAlgn="auto">
              <a:spcBef>
                <a:spcPts val="0"/>
              </a:spcBef>
              <a:spcAft>
                <a:spcPts val="0"/>
              </a:spcAft>
            </a:pPr>
            <a:r>
              <a:rPr lang="en-IN" sz="1650" dirty="0">
                <a:solidFill>
                  <a:srgbClr val="000000"/>
                </a:solidFill>
                <a:highlight>
                  <a:srgbClr val="FFFFFF"/>
                </a:highlight>
                <a:latin typeface="Consolas" panose="020B0609020204030204" pitchFamily="49" charset="0"/>
                <a:cs typeface="+mn-cs"/>
              </a:rPr>
              <a:t>   </a:t>
            </a:r>
            <a:r>
              <a:rPr lang="en-IN" sz="1650" dirty="0">
                <a:solidFill>
                  <a:srgbClr val="0000FF"/>
                </a:solidFill>
                <a:highlight>
                  <a:srgbClr val="FFFFFF"/>
                </a:highlight>
                <a:latin typeface="Consolas" panose="020B0609020204030204" pitchFamily="49" charset="0"/>
                <a:cs typeface="+mn-cs"/>
              </a:rPr>
              <a:t>private</a:t>
            </a:r>
            <a:r>
              <a:rPr lang="en-IN" sz="1650" dirty="0">
                <a:solidFill>
                  <a:srgbClr val="000000"/>
                </a:solidFill>
                <a:highlight>
                  <a:srgbClr val="FFFFFF"/>
                </a:highlight>
                <a:latin typeface="Consolas" panose="020B0609020204030204" pitchFamily="49" charset="0"/>
                <a:cs typeface="+mn-cs"/>
              </a:rPr>
              <a:t>: </a:t>
            </a:r>
          </a:p>
          <a:p>
            <a:pPr defTabSz="685800" fontAlgn="auto">
              <a:spcBef>
                <a:spcPts val="0"/>
              </a:spcBef>
              <a:spcAft>
                <a:spcPts val="0"/>
              </a:spcAft>
            </a:pPr>
            <a:r>
              <a:rPr lang="en-IN" sz="1650" dirty="0">
                <a:solidFill>
                  <a:srgbClr val="000000"/>
                </a:solidFill>
                <a:highlight>
                  <a:srgbClr val="FFFFFF"/>
                </a:highlight>
                <a:latin typeface="Consolas" panose="020B0609020204030204" pitchFamily="49" charset="0"/>
                <a:cs typeface="+mn-cs"/>
              </a:rPr>
              <a:t>     </a:t>
            </a:r>
            <a:r>
              <a:rPr lang="en-IN" sz="1650" dirty="0" err="1">
                <a:solidFill>
                  <a:srgbClr val="0000FF"/>
                </a:solidFill>
                <a:highlight>
                  <a:srgbClr val="FFFFFF"/>
                </a:highlight>
                <a:latin typeface="Consolas" panose="020B0609020204030204" pitchFamily="49" charset="0"/>
                <a:cs typeface="+mn-cs"/>
              </a:rPr>
              <a:t>int</a:t>
            </a:r>
            <a:r>
              <a:rPr lang="en-IN" sz="1650" dirty="0">
                <a:solidFill>
                  <a:srgbClr val="000000"/>
                </a:solidFill>
                <a:highlight>
                  <a:srgbClr val="FFFFFF"/>
                </a:highlight>
                <a:latin typeface="Consolas" panose="020B0609020204030204" pitchFamily="49" charset="0"/>
                <a:cs typeface="+mn-cs"/>
              </a:rPr>
              <a:t> mark; </a:t>
            </a:r>
          </a:p>
          <a:p>
            <a:pPr defTabSz="685800" fontAlgn="auto">
              <a:spcBef>
                <a:spcPts val="0"/>
              </a:spcBef>
              <a:spcAft>
                <a:spcPts val="0"/>
              </a:spcAft>
            </a:pPr>
            <a:r>
              <a:rPr lang="en-IN" sz="1650" dirty="0">
                <a:solidFill>
                  <a:srgbClr val="000000"/>
                </a:solidFill>
                <a:highlight>
                  <a:srgbClr val="FFFFFF"/>
                </a:highlight>
                <a:latin typeface="Consolas" panose="020B0609020204030204" pitchFamily="49" charset="0"/>
                <a:cs typeface="+mn-cs"/>
              </a:rPr>
              <a:t>     </a:t>
            </a:r>
            <a:r>
              <a:rPr lang="en-IN" sz="1650" dirty="0">
                <a:solidFill>
                  <a:srgbClr val="0000FF"/>
                </a:solidFill>
                <a:highlight>
                  <a:srgbClr val="FFFFFF"/>
                </a:highlight>
                <a:latin typeface="Consolas" panose="020B0609020204030204" pitchFamily="49" charset="0"/>
                <a:cs typeface="+mn-cs"/>
              </a:rPr>
              <a:t>float</a:t>
            </a:r>
            <a:r>
              <a:rPr lang="en-IN" sz="1650" dirty="0">
                <a:solidFill>
                  <a:srgbClr val="000000"/>
                </a:solidFill>
                <a:highlight>
                  <a:srgbClr val="FFFFFF"/>
                </a:highlight>
                <a:latin typeface="Consolas" panose="020B0609020204030204" pitchFamily="49" charset="0"/>
                <a:cs typeface="+mn-cs"/>
              </a:rPr>
              <a:t> </a:t>
            </a:r>
            <a:r>
              <a:rPr lang="en-IN" sz="1650" dirty="0" err="1">
                <a:solidFill>
                  <a:srgbClr val="000000"/>
                </a:solidFill>
                <a:highlight>
                  <a:srgbClr val="FFFFFF"/>
                </a:highlight>
                <a:latin typeface="Consolas" panose="020B0609020204030204" pitchFamily="49" charset="0"/>
                <a:cs typeface="+mn-cs"/>
              </a:rPr>
              <a:t>cgpa</a:t>
            </a:r>
            <a:r>
              <a:rPr lang="en-IN" sz="1650" dirty="0">
                <a:solidFill>
                  <a:srgbClr val="000000"/>
                </a:solidFill>
                <a:highlight>
                  <a:srgbClr val="FFFFFF"/>
                </a:highlight>
                <a:latin typeface="Consolas" panose="020B0609020204030204" pitchFamily="49" charset="0"/>
                <a:cs typeface="+mn-cs"/>
              </a:rPr>
              <a:t>; </a:t>
            </a:r>
          </a:p>
          <a:p>
            <a:pPr defTabSz="685800" fontAlgn="auto">
              <a:spcBef>
                <a:spcPts val="0"/>
              </a:spcBef>
              <a:spcAft>
                <a:spcPts val="0"/>
              </a:spcAft>
            </a:pPr>
            <a:r>
              <a:rPr lang="en-IN" sz="1650" dirty="0">
                <a:solidFill>
                  <a:srgbClr val="000000"/>
                </a:solidFill>
                <a:highlight>
                  <a:srgbClr val="FFFFFF"/>
                </a:highlight>
                <a:latin typeface="Consolas" panose="020B0609020204030204" pitchFamily="49" charset="0"/>
                <a:cs typeface="+mn-cs"/>
              </a:rPr>
              <a:t>   </a:t>
            </a:r>
            <a:r>
              <a:rPr lang="en-IN" sz="1650" dirty="0">
                <a:solidFill>
                  <a:srgbClr val="0000FF"/>
                </a:solidFill>
                <a:highlight>
                  <a:srgbClr val="FFFFFF"/>
                </a:highlight>
                <a:latin typeface="Consolas" panose="020B0609020204030204" pitchFamily="49" charset="0"/>
                <a:cs typeface="+mn-cs"/>
              </a:rPr>
              <a:t>public</a:t>
            </a:r>
            <a:r>
              <a:rPr lang="en-IN" sz="1650" dirty="0">
                <a:solidFill>
                  <a:srgbClr val="000000"/>
                </a:solidFill>
                <a:highlight>
                  <a:srgbClr val="FFFFFF"/>
                </a:highlight>
                <a:latin typeface="Consolas" panose="020B0609020204030204" pitchFamily="49" charset="0"/>
                <a:cs typeface="+mn-cs"/>
              </a:rPr>
              <a:t>: </a:t>
            </a:r>
          </a:p>
          <a:p>
            <a:pPr defTabSz="685800" fontAlgn="auto">
              <a:spcBef>
                <a:spcPts val="0"/>
              </a:spcBef>
              <a:spcAft>
                <a:spcPts val="0"/>
              </a:spcAft>
            </a:pPr>
            <a:r>
              <a:rPr lang="en-IN" sz="1650" dirty="0">
                <a:solidFill>
                  <a:srgbClr val="000000"/>
                </a:solidFill>
                <a:highlight>
                  <a:srgbClr val="FFFFFF"/>
                </a:highlight>
                <a:latin typeface="Consolas" panose="020B0609020204030204" pitchFamily="49" charset="0"/>
                <a:cs typeface="+mn-cs"/>
              </a:rPr>
              <a:t>    </a:t>
            </a:r>
            <a:r>
              <a:rPr lang="en-IN" sz="1650" dirty="0">
                <a:solidFill>
                  <a:srgbClr val="0000FF"/>
                </a:solidFill>
                <a:highlight>
                  <a:srgbClr val="FFFFFF"/>
                </a:highlight>
                <a:latin typeface="Consolas" panose="020B0609020204030204" pitchFamily="49" charset="0"/>
                <a:cs typeface="+mn-cs"/>
              </a:rPr>
              <a:t>void</a:t>
            </a:r>
            <a:r>
              <a:rPr lang="en-IN" sz="1650" dirty="0">
                <a:solidFill>
                  <a:srgbClr val="000000"/>
                </a:solidFill>
                <a:highlight>
                  <a:srgbClr val="FFFFFF"/>
                </a:highlight>
                <a:latin typeface="Consolas" panose="020B0609020204030204" pitchFamily="49" charset="0"/>
                <a:cs typeface="+mn-cs"/>
              </a:rPr>
              <a:t> </a:t>
            </a:r>
            <a:r>
              <a:rPr lang="en-IN" sz="1650" dirty="0" err="1">
                <a:solidFill>
                  <a:srgbClr val="000000"/>
                </a:solidFill>
                <a:highlight>
                  <a:srgbClr val="FFFFFF"/>
                </a:highlight>
                <a:latin typeface="Consolas" panose="020B0609020204030204" pitchFamily="49" charset="0"/>
                <a:cs typeface="+mn-cs"/>
              </a:rPr>
              <a:t>SetData</a:t>
            </a:r>
            <a:r>
              <a:rPr lang="en-IN" sz="1650" dirty="0">
                <a:solidFill>
                  <a:srgbClr val="000000"/>
                </a:solidFill>
                <a:highlight>
                  <a:srgbClr val="FFFFFF"/>
                </a:highlight>
                <a:latin typeface="Consolas" panose="020B0609020204030204" pitchFamily="49" charset="0"/>
                <a:cs typeface="+mn-cs"/>
              </a:rPr>
              <a:t>() </a:t>
            </a:r>
          </a:p>
          <a:p>
            <a:pPr defTabSz="685800" fontAlgn="auto">
              <a:spcBef>
                <a:spcPts val="0"/>
              </a:spcBef>
              <a:spcAft>
                <a:spcPts val="0"/>
              </a:spcAft>
            </a:pPr>
            <a:r>
              <a:rPr lang="en-IN" sz="1650" dirty="0">
                <a:solidFill>
                  <a:srgbClr val="000000"/>
                </a:solidFill>
                <a:highlight>
                  <a:srgbClr val="FFFFFF"/>
                </a:highlight>
                <a:latin typeface="Consolas" panose="020B0609020204030204" pitchFamily="49" charset="0"/>
                <a:cs typeface="+mn-cs"/>
              </a:rPr>
              <a:t>    { </a:t>
            </a:r>
          </a:p>
          <a:p>
            <a:pPr defTabSz="685800" fontAlgn="auto">
              <a:spcBef>
                <a:spcPts val="0"/>
              </a:spcBef>
              <a:spcAft>
                <a:spcPts val="0"/>
              </a:spcAft>
            </a:pPr>
            <a:r>
              <a:rPr lang="en-IN" sz="1650" dirty="0">
                <a:solidFill>
                  <a:srgbClr val="000000"/>
                </a:solidFill>
                <a:highlight>
                  <a:srgbClr val="FFFFFF"/>
                </a:highlight>
                <a:latin typeface="Consolas" panose="020B0609020204030204" pitchFamily="49" charset="0"/>
                <a:cs typeface="+mn-cs"/>
              </a:rPr>
              <a:t>     </a:t>
            </a:r>
            <a:r>
              <a:rPr lang="en-IN" sz="1650" dirty="0" err="1">
                <a:solidFill>
                  <a:srgbClr val="000000"/>
                </a:solidFill>
                <a:highlight>
                  <a:srgbClr val="FFFFFF"/>
                </a:highlight>
                <a:latin typeface="Consolas" panose="020B0609020204030204" pitchFamily="49" charset="0"/>
                <a:cs typeface="+mn-cs"/>
              </a:rPr>
              <a:t>cin</a:t>
            </a:r>
            <a:r>
              <a:rPr lang="en-IN" sz="1650" dirty="0">
                <a:solidFill>
                  <a:srgbClr val="000000"/>
                </a:solidFill>
                <a:highlight>
                  <a:srgbClr val="FFFFFF"/>
                </a:highlight>
                <a:latin typeface="Consolas" panose="020B0609020204030204" pitchFamily="49" charset="0"/>
                <a:cs typeface="+mn-cs"/>
              </a:rPr>
              <a:t>&gt;&gt;mark; </a:t>
            </a:r>
          </a:p>
          <a:p>
            <a:pPr defTabSz="685800" fontAlgn="auto">
              <a:spcBef>
                <a:spcPts val="0"/>
              </a:spcBef>
              <a:spcAft>
                <a:spcPts val="0"/>
              </a:spcAft>
            </a:pPr>
            <a:r>
              <a:rPr lang="en-IN" sz="1650" dirty="0">
                <a:solidFill>
                  <a:srgbClr val="000000"/>
                </a:solidFill>
                <a:highlight>
                  <a:srgbClr val="FFFFFF"/>
                </a:highlight>
                <a:latin typeface="Consolas" panose="020B0609020204030204" pitchFamily="49" charset="0"/>
                <a:cs typeface="+mn-cs"/>
              </a:rPr>
              <a:t>     </a:t>
            </a:r>
            <a:r>
              <a:rPr lang="en-IN" sz="1650" dirty="0" err="1">
                <a:solidFill>
                  <a:srgbClr val="000000"/>
                </a:solidFill>
                <a:highlight>
                  <a:srgbClr val="FFFFFF"/>
                </a:highlight>
                <a:latin typeface="Consolas" panose="020B0609020204030204" pitchFamily="49" charset="0"/>
                <a:cs typeface="+mn-cs"/>
              </a:rPr>
              <a:t>cin</a:t>
            </a:r>
            <a:r>
              <a:rPr lang="en-IN" sz="1650" dirty="0">
                <a:solidFill>
                  <a:srgbClr val="000000"/>
                </a:solidFill>
                <a:highlight>
                  <a:srgbClr val="FFFFFF"/>
                </a:highlight>
                <a:latin typeface="Consolas" panose="020B0609020204030204" pitchFamily="49" charset="0"/>
                <a:cs typeface="+mn-cs"/>
              </a:rPr>
              <a:t>&gt;&gt;</a:t>
            </a:r>
            <a:r>
              <a:rPr lang="en-IN" sz="1650" dirty="0" err="1">
                <a:solidFill>
                  <a:srgbClr val="000000"/>
                </a:solidFill>
                <a:highlight>
                  <a:srgbClr val="FFFFFF"/>
                </a:highlight>
                <a:latin typeface="Consolas" panose="020B0609020204030204" pitchFamily="49" charset="0"/>
                <a:cs typeface="+mn-cs"/>
              </a:rPr>
              <a:t>cgpa</a:t>
            </a:r>
            <a:r>
              <a:rPr lang="en-IN" sz="1650" dirty="0">
                <a:solidFill>
                  <a:srgbClr val="000000"/>
                </a:solidFill>
                <a:highlight>
                  <a:srgbClr val="FFFFFF"/>
                </a:highlight>
                <a:latin typeface="Consolas" panose="020B0609020204030204" pitchFamily="49" charset="0"/>
                <a:cs typeface="+mn-cs"/>
              </a:rPr>
              <a:t>; </a:t>
            </a:r>
          </a:p>
          <a:p>
            <a:pPr defTabSz="685800" fontAlgn="auto">
              <a:spcBef>
                <a:spcPts val="0"/>
              </a:spcBef>
              <a:spcAft>
                <a:spcPts val="0"/>
              </a:spcAft>
            </a:pPr>
            <a:r>
              <a:rPr lang="en-IN" sz="1650" dirty="0">
                <a:solidFill>
                  <a:srgbClr val="000000"/>
                </a:solidFill>
                <a:highlight>
                  <a:srgbClr val="FFFFFF"/>
                </a:highlight>
                <a:latin typeface="Consolas" panose="020B0609020204030204" pitchFamily="49" charset="0"/>
                <a:cs typeface="+mn-cs"/>
              </a:rPr>
              <a:t>    } </a:t>
            </a:r>
          </a:p>
          <a:p>
            <a:pPr defTabSz="685800" fontAlgn="auto">
              <a:spcBef>
                <a:spcPts val="0"/>
              </a:spcBef>
              <a:spcAft>
                <a:spcPts val="0"/>
              </a:spcAft>
            </a:pPr>
            <a:r>
              <a:rPr lang="en-IN" sz="1650" dirty="0">
                <a:solidFill>
                  <a:srgbClr val="000000"/>
                </a:solidFill>
                <a:highlight>
                  <a:srgbClr val="FFFFFF"/>
                </a:highlight>
                <a:latin typeface="Consolas" panose="020B0609020204030204" pitchFamily="49" charset="0"/>
                <a:cs typeface="+mn-cs"/>
              </a:rPr>
              <a:t>    </a:t>
            </a:r>
            <a:r>
              <a:rPr lang="en-IN" sz="1650" dirty="0">
                <a:solidFill>
                  <a:srgbClr val="0000FF"/>
                </a:solidFill>
                <a:highlight>
                  <a:srgbClr val="FFFFFF"/>
                </a:highlight>
                <a:latin typeface="Consolas" panose="020B0609020204030204" pitchFamily="49" charset="0"/>
                <a:cs typeface="+mn-cs"/>
              </a:rPr>
              <a:t>void</a:t>
            </a:r>
            <a:r>
              <a:rPr lang="en-IN" sz="1650" dirty="0">
                <a:solidFill>
                  <a:srgbClr val="000000"/>
                </a:solidFill>
                <a:highlight>
                  <a:srgbClr val="FFFFFF"/>
                </a:highlight>
                <a:latin typeface="Consolas" panose="020B0609020204030204" pitchFamily="49" charset="0"/>
                <a:cs typeface="+mn-cs"/>
              </a:rPr>
              <a:t> </a:t>
            </a:r>
            <a:r>
              <a:rPr lang="en-IN" sz="1650" dirty="0" err="1">
                <a:solidFill>
                  <a:srgbClr val="000000"/>
                </a:solidFill>
                <a:highlight>
                  <a:srgbClr val="FFFFFF"/>
                </a:highlight>
                <a:latin typeface="Consolas" panose="020B0609020204030204" pitchFamily="49" charset="0"/>
                <a:cs typeface="+mn-cs"/>
              </a:rPr>
              <a:t>DisplayData</a:t>
            </a:r>
            <a:r>
              <a:rPr lang="en-IN" sz="1650" dirty="0">
                <a:solidFill>
                  <a:srgbClr val="000000"/>
                </a:solidFill>
                <a:highlight>
                  <a:srgbClr val="FFFFFF"/>
                </a:highlight>
                <a:latin typeface="Consolas" panose="020B0609020204030204" pitchFamily="49" charset="0"/>
                <a:cs typeface="+mn-cs"/>
              </a:rPr>
              <a:t>() </a:t>
            </a:r>
          </a:p>
          <a:p>
            <a:pPr defTabSz="685800" fontAlgn="auto">
              <a:spcBef>
                <a:spcPts val="0"/>
              </a:spcBef>
              <a:spcAft>
                <a:spcPts val="0"/>
              </a:spcAft>
            </a:pPr>
            <a:r>
              <a:rPr lang="en-IN" sz="1650" dirty="0">
                <a:solidFill>
                  <a:srgbClr val="000000"/>
                </a:solidFill>
                <a:highlight>
                  <a:srgbClr val="FFFFFF"/>
                </a:highlight>
                <a:latin typeface="Consolas" panose="020B0609020204030204" pitchFamily="49" charset="0"/>
                <a:cs typeface="+mn-cs"/>
              </a:rPr>
              <a:t>    { </a:t>
            </a:r>
          </a:p>
          <a:p>
            <a:pPr defTabSz="685800" fontAlgn="auto">
              <a:spcBef>
                <a:spcPts val="0"/>
              </a:spcBef>
              <a:spcAft>
                <a:spcPts val="0"/>
              </a:spcAft>
            </a:pPr>
            <a:r>
              <a:rPr lang="en-IN" sz="1650" dirty="0">
                <a:solidFill>
                  <a:srgbClr val="000000"/>
                </a:solidFill>
                <a:highlight>
                  <a:srgbClr val="FFFFFF"/>
                </a:highlight>
                <a:latin typeface="Consolas" panose="020B0609020204030204" pitchFamily="49" charset="0"/>
                <a:cs typeface="+mn-cs"/>
              </a:rPr>
              <a:t>     </a:t>
            </a:r>
            <a:r>
              <a:rPr lang="en-IN" sz="1650" dirty="0" err="1">
                <a:solidFill>
                  <a:srgbClr val="000000"/>
                </a:solidFill>
                <a:highlight>
                  <a:srgbClr val="FFFFFF"/>
                </a:highlight>
                <a:latin typeface="Consolas" panose="020B0609020204030204" pitchFamily="49" charset="0"/>
                <a:cs typeface="+mn-cs"/>
              </a:rPr>
              <a:t>cout</a:t>
            </a:r>
            <a:r>
              <a:rPr lang="en-IN" sz="1650" dirty="0">
                <a:solidFill>
                  <a:srgbClr val="000000"/>
                </a:solidFill>
                <a:highlight>
                  <a:srgbClr val="FFFFFF"/>
                </a:highlight>
                <a:latin typeface="Consolas" panose="020B0609020204030204" pitchFamily="49" charset="0"/>
                <a:cs typeface="+mn-cs"/>
              </a:rPr>
              <a:t> &lt;&lt; </a:t>
            </a:r>
            <a:r>
              <a:rPr lang="en-IN" sz="1650" dirty="0">
                <a:solidFill>
                  <a:srgbClr val="A31515"/>
                </a:solidFill>
                <a:highlight>
                  <a:srgbClr val="FFFFFF"/>
                </a:highlight>
                <a:latin typeface="Consolas" panose="020B0609020204030204" pitchFamily="49" charset="0"/>
                <a:cs typeface="+mn-cs"/>
              </a:rPr>
              <a:t>"Mark= "</a:t>
            </a:r>
            <a:r>
              <a:rPr lang="en-IN" sz="1650" dirty="0">
                <a:solidFill>
                  <a:srgbClr val="000000"/>
                </a:solidFill>
                <a:highlight>
                  <a:srgbClr val="FFFFFF"/>
                </a:highlight>
                <a:latin typeface="Consolas" panose="020B0609020204030204" pitchFamily="49" charset="0"/>
                <a:cs typeface="+mn-cs"/>
              </a:rPr>
              <a:t>&lt;&lt;mark; </a:t>
            </a:r>
          </a:p>
          <a:p>
            <a:pPr defTabSz="685800" fontAlgn="auto">
              <a:spcBef>
                <a:spcPts val="0"/>
              </a:spcBef>
              <a:spcAft>
                <a:spcPts val="0"/>
              </a:spcAft>
            </a:pPr>
            <a:r>
              <a:rPr lang="en-IN" sz="1650" dirty="0">
                <a:solidFill>
                  <a:srgbClr val="000000"/>
                </a:solidFill>
                <a:highlight>
                  <a:srgbClr val="FFFFFF"/>
                </a:highlight>
                <a:latin typeface="Consolas" panose="020B0609020204030204" pitchFamily="49" charset="0"/>
                <a:cs typeface="+mn-cs"/>
              </a:rPr>
              <a:t>     </a:t>
            </a:r>
            <a:r>
              <a:rPr lang="en-IN" sz="1650" dirty="0" err="1">
                <a:solidFill>
                  <a:srgbClr val="000000"/>
                </a:solidFill>
                <a:highlight>
                  <a:srgbClr val="FFFFFF"/>
                </a:highlight>
                <a:latin typeface="Consolas" panose="020B0609020204030204" pitchFamily="49" charset="0"/>
                <a:cs typeface="+mn-cs"/>
              </a:rPr>
              <a:t>cout</a:t>
            </a:r>
            <a:r>
              <a:rPr lang="en-IN" sz="1650" dirty="0">
                <a:solidFill>
                  <a:srgbClr val="000000"/>
                </a:solidFill>
                <a:highlight>
                  <a:srgbClr val="FFFFFF"/>
                </a:highlight>
                <a:latin typeface="Consolas" panose="020B0609020204030204" pitchFamily="49" charset="0"/>
                <a:cs typeface="+mn-cs"/>
              </a:rPr>
              <a:t> &lt;&lt; </a:t>
            </a:r>
            <a:r>
              <a:rPr lang="en-IN" sz="1650" dirty="0">
                <a:solidFill>
                  <a:srgbClr val="A31515"/>
                </a:solidFill>
                <a:highlight>
                  <a:srgbClr val="FFFFFF"/>
                </a:highlight>
                <a:latin typeface="Consolas" panose="020B0609020204030204" pitchFamily="49" charset="0"/>
                <a:cs typeface="+mn-cs"/>
              </a:rPr>
              <a:t>"</a:t>
            </a:r>
            <a:r>
              <a:rPr lang="en-IN" sz="1650" dirty="0" err="1">
                <a:solidFill>
                  <a:srgbClr val="A31515"/>
                </a:solidFill>
                <a:highlight>
                  <a:srgbClr val="FFFFFF"/>
                </a:highlight>
                <a:latin typeface="Consolas" panose="020B0609020204030204" pitchFamily="49" charset="0"/>
                <a:cs typeface="+mn-cs"/>
              </a:rPr>
              <a:t>cgpa</a:t>
            </a:r>
            <a:r>
              <a:rPr lang="en-IN" sz="1650" dirty="0">
                <a:solidFill>
                  <a:srgbClr val="A31515"/>
                </a:solidFill>
                <a:highlight>
                  <a:srgbClr val="FFFFFF"/>
                </a:highlight>
                <a:latin typeface="Consolas" panose="020B0609020204030204" pitchFamily="49" charset="0"/>
                <a:cs typeface="+mn-cs"/>
              </a:rPr>
              <a:t>= "</a:t>
            </a:r>
            <a:r>
              <a:rPr lang="en-IN" sz="1650" dirty="0">
                <a:solidFill>
                  <a:srgbClr val="000000"/>
                </a:solidFill>
                <a:highlight>
                  <a:srgbClr val="FFFFFF"/>
                </a:highlight>
                <a:latin typeface="Consolas" panose="020B0609020204030204" pitchFamily="49" charset="0"/>
                <a:cs typeface="+mn-cs"/>
              </a:rPr>
              <a:t>&lt;&lt;</a:t>
            </a:r>
            <a:r>
              <a:rPr lang="en-IN" sz="1650" dirty="0" err="1">
                <a:solidFill>
                  <a:srgbClr val="000000"/>
                </a:solidFill>
                <a:highlight>
                  <a:srgbClr val="FFFFFF"/>
                </a:highlight>
                <a:latin typeface="Consolas" panose="020B0609020204030204" pitchFamily="49" charset="0"/>
                <a:cs typeface="+mn-cs"/>
              </a:rPr>
              <a:t>cgpa</a:t>
            </a:r>
            <a:r>
              <a:rPr lang="en-IN" sz="1650" dirty="0">
                <a:solidFill>
                  <a:srgbClr val="000000"/>
                </a:solidFill>
                <a:highlight>
                  <a:srgbClr val="FFFFFF"/>
                </a:highlight>
                <a:latin typeface="Consolas" panose="020B0609020204030204" pitchFamily="49" charset="0"/>
                <a:cs typeface="+mn-cs"/>
              </a:rPr>
              <a:t>;  </a:t>
            </a:r>
          </a:p>
          <a:p>
            <a:pPr defTabSz="685800" fontAlgn="auto">
              <a:spcBef>
                <a:spcPts val="0"/>
              </a:spcBef>
              <a:spcAft>
                <a:spcPts val="0"/>
              </a:spcAft>
            </a:pPr>
            <a:r>
              <a:rPr lang="en-IN" sz="1650" dirty="0">
                <a:solidFill>
                  <a:srgbClr val="000000"/>
                </a:solidFill>
                <a:highlight>
                  <a:srgbClr val="FFFFFF"/>
                </a:highlight>
                <a:latin typeface="Consolas" panose="020B0609020204030204" pitchFamily="49" charset="0"/>
                <a:cs typeface="+mn-cs"/>
              </a:rPr>
              <a:t>    }</a:t>
            </a:r>
          </a:p>
          <a:p>
            <a:pPr defTabSz="685800" fontAlgn="auto">
              <a:spcBef>
                <a:spcPts val="0"/>
              </a:spcBef>
              <a:spcAft>
                <a:spcPts val="0"/>
              </a:spcAft>
            </a:pPr>
            <a:r>
              <a:rPr lang="en-IN" sz="1650" dirty="0">
                <a:solidFill>
                  <a:srgbClr val="000000"/>
                </a:solidFill>
                <a:highlight>
                  <a:srgbClr val="FFFFFF"/>
                </a:highlight>
                <a:latin typeface="Consolas" panose="020B0609020204030204" pitchFamily="49" charset="0"/>
                <a:cs typeface="+mn-cs"/>
              </a:rPr>
              <a:t>} ;</a:t>
            </a:r>
            <a:endParaRPr lang="en-IN" sz="1650" dirty="0">
              <a:solidFill>
                <a:prstClr val="black"/>
              </a:solidFill>
              <a:latin typeface="Calibri"/>
              <a:cs typeface="+mn-cs"/>
            </a:endParaRPr>
          </a:p>
        </p:txBody>
      </p:sp>
      <p:sp>
        <p:nvSpPr>
          <p:cNvPr id="3" name="Rectangle 1"/>
          <p:cNvSpPr>
            <a:spLocks noChangeArrowheads="1"/>
          </p:cNvSpPr>
          <p:nvPr/>
        </p:nvSpPr>
        <p:spPr bwMode="auto">
          <a:xfrm>
            <a:off x="1200151" y="3334636"/>
            <a:ext cx="65" cy="25391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defTabSz="685800" eaLnBrk="0" hangingPunct="0"/>
            <a:endParaRPr lang="en-US" altLang="en-US" sz="1650" dirty="0">
              <a:solidFill>
                <a:prstClr val="black"/>
              </a:solidFill>
              <a:latin typeface="Courier New" panose="02070309020205020404" pitchFamily="49" charset="0"/>
              <a:cs typeface="Courier New" panose="02070309020205020404" pitchFamily="49" charset="0"/>
            </a:endParaRPr>
          </a:p>
        </p:txBody>
      </p:sp>
      <p:sp>
        <p:nvSpPr>
          <p:cNvPr id="5" name="Rectangle 4"/>
          <p:cNvSpPr/>
          <p:nvPr/>
        </p:nvSpPr>
        <p:spPr>
          <a:xfrm>
            <a:off x="5287805" y="900057"/>
            <a:ext cx="2514156" cy="2377574"/>
          </a:xfrm>
          <a:prstGeom prst="rect">
            <a:avLst/>
          </a:prstGeom>
        </p:spPr>
        <p:txBody>
          <a:bodyPr wrap="square">
            <a:spAutoFit/>
          </a:bodyPr>
          <a:lstStyle/>
          <a:p>
            <a:pPr defTabSz="685800" fontAlgn="auto">
              <a:spcBef>
                <a:spcPts val="0"/>
              </a:spcBef>
              <a:spcAft>
                <a:spcPts val="0"/>
              </a:spcAft>
            </a:pPr>
            <a:r>
              <a:rPr lang="en-IN" sz="1650" dirty="0" err="1">
                <a:solidFill>
                  <a:srgbClr val="0000FF"/>
                </a:solidFill>
                <a:highlight>
                  <a:srgbClr val="FFFFFF"/>
                </a:highlight>
                <a:latin typeface="Consolas" panose="020B0609020204030204" pitchFamily="49" charset="0"/>
                <a:cs typeface="+mn-cs"/>
              </a:rPr>
              <a:t>int</a:t>
            </a:r>
            <a:r>
              <a:rPr lang="en-IN" sz="1650" dirty="0">
                <a:solidFill>
                  <a:srgbClr val="000000"/>
                </a:solidFill>
                <a:highlight>
                  <a:srgbClr val="FFFFFF"/>
                </a:highlight>
                <a:latin typeface="Consolas" panose="020B0609020204030204" pitchFamily="49" charset="0"/>
                <a:cs typeface="+mn-cs"/>
              </a:rPr>
              <a:t> main() </a:t>
            </a:r>
          </a:p>
          <a:p>
            <a:pPr defTabSz="685800" fontAlgn="auto">
              <a:spcBef>
                <a:spcPts val="0"/>
              </a:spcBef>
              <a:spcAft>
                <a:spcPts val="0"/>
              </a:spcAft>
            </a:pPr>
            <a:r>
              <a:rPr lang="en-IN" sz="1650" dirty="0">
                <a:solidFill>
                  <a:srgbClr val="000000"/>
                </a:solidFill>
                <a:highlight>
                  <a:srgbClr val="FFFFFF"/>
                </a:highlight>
                <a:latin typeface="Consolas" panose="020B0609020204030204" pitchFamily="49" charset="0"/>
                <a:cs typeface="+mn-cs"/>
              </a:rPr>
              <a:t>{ </a:t>
            </a:r>
          </a:p>
          <a:p>
            <a:pPr defTabSz="685800" fontAlgn="auto">
              <a:spcBef>
                <a:spcPts val="0"/>
              </a:spcBef>
              <a:spcAft>
                <a:spcPts val="0"/>
              </a:spcAft>
            </a:pPr>
            <a:r>
              <a:rPr lang="en-IN" sz="1650" dirty="0">
                <a:solidFill>
                  <a:srgbClr val="000000"/>
                </a:solidFill>
                <a:highlight>
                  <a:srgbClr val="FFFFFF"/>
                </a:highlight>
                <a:latin typeface="Consolas" panose="020B0609020204030204" pitchFamily="49" charset="0"/>
                <a:cs typeface="+mn-cs"/>
              </a:rPr>
              <a:t>   Test o1,o2; </a:t>
            </a:r>
          </a:p>
          <a:p>
            <a:pPr defTabSz="685800" fontAlgn="auto">
              <a:spcBef>
                <a:spcPts val="0"/>
              </a:spcBef>
              <a:spcAft>
                <a:spcPts val="0"/>
              </a:spcAft>
            </a:pPr>
            <a:r>
              <a:rPr lang="en-IN" sz="1650" dirty="0">
                <a:solidFill>
                  <a:srgbClr val="000000"/>
                </a:solidFill>
                <a:highlight>
                  <a:srgbClr val="FFFFFF"/>
                </a:highlight>
                <a:latin typeface="Consolas" panose="020B0609020204030204" pitchFamily="49" charset="0"/>
                <a:cs typeface="+mn-cs"/>
              </a:rPr>
              <a:t>   o1.SetData(); </a:t>
            </a:r>
          </a:p>
          <a:p>
            <a:pPr defTabSz="685800" fontAlgn="auto">
              <a:spcBef>
                <a:spcPts val="0"/>
              </a:spcBef>
              <a:spcAft>
                <a:spcPts val="0"/>
              </a:spcAft>
            </a:pPr>
            <a:r>
              <a:rPr lang="en-IN" sz="1650" dirty="0">
                <a:solidFill>
                  <a:srgbClr val="000000"/>
                </a:solidFill>
                <a:highlight>
                  <a:srgbClr val="FFFFFF"/>
                </a:highlight>
                <a:latin typeface="Consolas" panose="020B0609020204030204" pitchFamily="49" charset="0"/>
                <a:cs typeface="+mn-cs"/>
              </a:rPr>
              <a:t>   o1.DisplayData();</a:t>
            </a:r>
          </a:p>
          <a:p>
            <a:pPr defTabSz="685800" fontAlgn="auto">
              <a:spcBef>
                <a:spcPts val="0"/>
              </a:spcBef>
              <a:spcAft>
                <a:spcPts val="0"/>
              </a:spcAft>
            </a:pPr>
            <a:r>
              <a:rPr lang="en-IN" sz="1650" dirty="0">
                <a:solidFill>
                  <a:srgbClr val="000000"/>
                </a:solidFill>
                <a:highlight>
                  <a:srgbClr val="FFFFFF"/>
                </a:highlight>
                <a:latin typeface="Consolas" panose="020B0609020204030204" pitchFamily="49" charset="0"/>
                <a:cs typeface="+mn-cs"/>
              </a:rPr>
              <a:t>   o2.SetData(); </a:t>
            </a:r>
          </a:p>
          <a:p>
            <a:pPr defTabSz="685800" fontAlgn="auto">
              <a:spcBef>
                <a:spcPts val="0"/>
              </a:spcBef>
              <a:spcAft>
                <a:spcPts val="0"/>
              </a:spcAft>
            </a:pPr>
            <a:r>
              <a:rPr lang="en-IN" sz="1650" dirty="0">
                <a:solidFill>
                  <a:srgbClr val="000000"/>
                </a:solidFill>
                <a:highlight>
                  <a:srgbClr val="FFFFFF"/>
                </a:highlight>
                <a:latin typeface="Consolas" panose="020B0609020204030204" pitchFamily="49" charset="0"/>
                <a:cs typeface="+mn-cs"/>
              </a:rPr>
              <a:t>   o2.DisplayData();</a:t>
            </a:r>
          </a:p>
          <a:p>
            <a:pPr defTabSz="685800" fontAlgn="auto">
              <a:spcBef>
                <a:spcPts val="0"/>
              </a:spcBef>
              <a:spcAft>
                <a:spcPts val="0"/>
              </a:spcAft>
            </a:pPr>
            <a:r>
              <a:rPr lang="en-IN" sz="1650" dirty="0">
                <a:solidFill>
                  <a:srgbClr val="000000"/>
                </a:solidFill>
                <a:highlight>
                  <a:srgbClr val="FFFFFF"/>
                </a:highlight>
                <a:latin typeface="Consolas" panose="020B0609020204030204" pitchFamily="49" charset="0"/>
                <a:cs typeface="+mn-cs"/>
              </a:rPr>
              <a:t>   </a:t>
            </a:r>
            <a:r>
              <a:rPr lang="en-IN" sz="1650" dirty="0">
                <a:solidFill>
                  <a:srgbClr val="0000FF"/>
                </a:solidFill>
                <a:highlight>
                  <a:srgbClr val="FFFFFF"/>
                </a:highlight>
                <a:latin typeface="Consolas" panose="020B0609020204030204" pitchFamily="49" charset="0"/>
                <a:cs typeface="+mn-cs"/>
              </a:rPr>
              <a:t>return</a:t>
            </a:r>
            <a:r>
              <a:rPr lang="en-IN" sz="1650" dirty="0">
                <a:solidFill>
                  <a:srgbClr val="000000"/>
                </a:solidFill>
                <a:highlight>
                  <a:srgbClr val="FFFFFF"/>
                </a:highlight>
                <a:latin typeface="Consolas" panose="020B0609020204030204" pitchFamily="49" charset="0"/>
                <a:cs typeface="+mn-cs"/>
              </a:rPr>
              <a:t> 0; </a:t>
            </a:r>
          </a:p>
          <a:p>
            <a:pPr defTabSz="685800" fontAlgn="auto">
              <a:spcBef>
                <a:spcPts val="0"/>
              </a:spcBef>
              <a:spcAft>
                <a:spcPts val="0"/>
              </a:spcAft>
            </a:pPr>
            <a:r>
              <a:rPr lang="en-IN" sz="1650" dirty="0">
                <a:solidFill>
                  <a:srgbClr val="000000"/>
                </a:solidFill>
                <a:highlight>
                  <a:srgbClr val="FFFFFF"/>
                </a:highlight>
                <a:latin typeface="Consolas" panose="020B0609020204030204" pitchFamily="49" charset="0"/>
                <a:cs typeface="+mn-cs"/>
              </a:rPr>
              <a:t>}</a:t>
            </a:r>
            <a:endParaRPr lang="en-IN" sz="1650" dirty="0">
              <a:solidFill>
                <a:prstClr val="black"/>
              </a:solidFill>
              <a:latin typeface="Calibri"/>
              <a:cs typeface="+mn-cs"/>
            </a:endParaRPr>
          </a:p>
        </p:txBody>
      </p:sp>
      <p:sp>
        <p:nvSpPr>
          <p:cNvPr id="22" name="Rectangle 21"/>
          <p:cNvSpPr/>
          <p:nvPr/>
        </p:nvSpPr>
        <p:spPr>
          <a:xfrm>
            <a:off x="5150977" y="3714751"/>
            <a:ext cx="557435" cy="3547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r>
              <a:rPr lang="en-US" sz="1500" dirty="0">
                <a:solidFill>
                  <a:prstClr val="white"/>
                </a:solidFill>
                <a:latin typeface="Calibri"/>
              </a:rPr>
              <a:t>o1</a:t>
            </a:r>
          </a:p>
        </p:txBody>
      </p:sp>
      <p:cxnSp>
        <p:nvCxnSpPr>
          <p:cNvPr id="24" name="Elbow Connector 23"/>
          <p:cNvCxnSpPr>
            <a:stCxn id="22" idx="3"/>
          </p:cNvCxnSpPr>
          <p:nvPr/>
        </p:nvCxnSpPr>
        <p:spPr>
          <a:xfrm flipV="1">
            <a:off x="5708412" y="3461595"/>
            <a:ext cx="635239" cy="43055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Rectangle 25"/>
          <p:cNvSpPr/>
          <p:nvPr/>
        </p:nvSpPr>
        <p:spPr>
          <a:xfrm>
            <a:off x="6343650" y="3363427"/>
            <a:ext cx="1234440" cy="354799"/>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800" fontAlgn="auto">
              <a:spcBef>
                <a:spcPts val="0"/>
              </a:spcBef>
              <a:spcAft>
                <a:spcPts val="0"/>
              </a:spcAft>
            </a:pPr>
            <a:r>
              <a:rPr lang="en-US" sz="1500" dirty="0">
                <a:solidFill>
                  <a:prstClr val="black"/>
                </a:solidFill>
                <a:latin typeface="Consolas" panose="020B0609020204030204" pitchFamily="49" charset="0"/>
                <a:cs typeface="Consolas" panose="020B0609020204030204" pitchFamily="49" charset="0"/>
              </a:rPr>
              <a:t>mark = 50</a:t>
            </a:r>
          </a:p>
        </p:txBody>
      </p:sp>
      <p:sp>
        <p:nvSpPr>
          <p:cNvPr id="27" name="Rectangle 26"/>
          <p:cNvSpPr/>
          <p:nvPr/>
        </p:nvSpPr>
        <p:spPr>
          <a:xfrm>
            <a:off x="6359048" y="4069550"/>
            <a:ext cx="1234440" cy="354799"/>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800" fontAlgn="auto">
              <a:spcBef>
                <a:spcPts val="0"/>
              </a:spcBef>
              <a:spcAft>
                <a:spcPts val="0"/>
              </a:spcAft>
            </a:pPr>
            <a:r>
              <a:rPr lang="en-US" sz="1500" dirty="0" err="1">
                <a:solidFill>
                  <a:prstClr val="black"/>
                </a:solidFill>
                <a:latin typeface="Consolas" panose="020B0609020204030204" pitchFamily="49" charset="0"/>
                <a:cs typeface="Consolas" panose="020B0609020204030204" pitchFamily="49" charset="0"/>
              </a:rPr>
              <a:t>cgpa</a:t>
            </a:r>
            <a:r>
              <a:rPr lang="en-US" sz="1500" dirty="0">
                <a:solidFill>
                  <a:prstClr val="black"/>
                </a:solidFill>
                <a:latin typeface="Calibri"/>
              </a:rPr>
              <a:t> </a:t>
            </a:r>
            <a:r>
              <a:rPr lang="en-US" sz="1500" dirty="0">
                <a:solidFill>
                  <a:prstClr val="black"/>
                </a:solidFill>
                <a:latin typeface="Consolas" panose="020B0609020204030204" pitchFamily="49" charset="0"/>
                <a:cs typeface="Consolas" panose="020B0609020204030204" pitchFamily="49" charset="0"/>
              </a:rPr>
              <a:t>= 7.5</a:t>
            </a:r>
          </a:p>
        </p:txBody>
      </p:sp>
      <p:cxnSp>
        <p:nvCxnSpPr>
          <p:cNvPr id="29" name="Elbow Connector 28"/>
          <p:cNvCxnSpPr>
            <a:cxnSpLocks/>
            <a:stCxn id="22" idx="3"/>
            <a:endCxn id="27" idx="1"/>
          </p:cNvCxnSpPr>
          <p:nvPr/>
        </p:nvCxnSpPr>
        <p:spPr>
          <a:xfrm>
            <a:off x="5708413" y="3892151"/>
            <a:ext cx="650636" cy="354799"/>
          </a:xfrm>
          <a:prstGeom prst="bentConnector3">
            <a:avLst>
              <a:gd name="adj1" fmla="val 49122"/>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Rectangle 30"/>
          <p:cNvSpPr/>
          <p:nvPr/>
        </p:nvSpPr>
        <p:spPr>
          <a:xfrm>
            <a:off x="5150977" y="5035974"/>
            <a:ext cx="557435" cy="3547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r>
              <a:rPr lang="en-US" sz="1500" dirty="0">
                <a:solidFill>
                  <a:prstClr val="white"/>
                </a:solidFill>
                <a:latin typeface="Calibri"/>
              </a:rPr>
              <a:t>o2</a:t>
            </a:r>
          </a:p>
        </p:txBody>
      </p:sp>
      <p:cxnSp>
        <p:nvCxnSpPr>
          <p:cNvPr id="32" name="Elbow Connector 31"/>
          <p:cNvCxnSpPr>
            <a:stCxn id="31" idx="3"/>
          </p:cNvCxnSpPr>
          <p:nvPr/>
        </p:nvCxnSpPr>
        <p:spPr>
          <a:xfrm flipV="1">
            <a:off x="5708412" y="4782817"/>
            <a:ext cx="635239" cy="43055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a:off x="6343650" y="4684650"/>
            <a:ext cx="1234440" cy="354799"/>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800" fontAlgn="auto">
              <a:spcBef>
                <a:spcPts val="0"/>
              </a:spcBef>
              <a:spcAft>
                <a:spcPts val="0"/>
              </a:spcAft>
            </a:pPr>
            <a:r>
              <a:rPr lang="en-US" sz="1500" dirty="0">
                <a:solidFill>
                  <a:prstClr val="black"/>
                </a:solidFill>
                <a:latin typeface="Consolas" panose="020B0609020204030204" pitchFamily="49" charset="0"/>
                <a:cs typeface="Consolas" panose="020B0609020204030204" pitchFamily="49" charset="0"/>
              </a:rPr>
              <a:t>mark = 70</a:t>
            </a:r>
          </a:p>
        </p:txBody>
      </p:sp>
      <p:sp>
        <p:nvSpPr>
          <p:cNvPr id="34" name="Rectangle 33"/>
          <p:cNvSpPr/>
          <p:nvPr/>
        </p:nvSpPr>
        <p:spPr>
          <a:xfrm>
            <a:off x="6359048" y="5390773"/>
            <a:ext cx="1442913" cy="438527"/>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800" fontAlgn="auto">
              <a:spcBef>
                <a:spcPts val="0"/>
              </a:spcBef>
              <a:spcAft>
                <a:spcPts val="0"/>
              </a:spcAft>
            </a:pPr>
            <a:r>
              <a:rPr lang="en-US" sz="1500" dirty="0" err="1">
                <a:solidFill>
                  <a:prstClr val="black"/>
                </a:solidFill>
                <a:latin typeface="Consolas" panose="020B0609020204030204" pitchFamily="49" charset="0"/>
                <a:cs typeface="Consolas" panose="020B0609020204030204" pitchFamily="49" charset="0"/>
              </a:rPr>
              <a:t>cgpa</a:t>
            </a:r>
            <a:r>
              <a:rPr lang="en-US" sz="1500" dirty="0">
                <a:solidFill>
                  <a:prstClr val="black"/>
                </a:solidFill>
                <a:latin typeface="Consolas" panose="020B0609020204030204" pitchFamily="49" charset="0"/>
                <a:cs typeface="Consolas" panose="020B0609020204030204" pitchFamily="49" charset="0"/>
              </a:rPr>
              <a:t> = 6.83</a:t>
            </a:r>
          </a:p>
        </p:txBody>
      </p:sp>
      <p:cxnSp>
        <p:nvCxnSpPr>
          <p:cNvPr id="35" name="Elbow Connector 34"/>
          <p:cNvCxnSpPr>
            <a:cxnSpLocks/>
            <a:stCxn id="31" idx="3"/>
            <a:endCxn id="34" idx="1"/>
          </p:cNvCxnSpPr>
          <p:nvPr/>
        </p:nvCxnSpPr>
        <p:spPr>
          <a:xfrm>
            <a:off x="5708412" y="5213373"/>
            <a:ext cx="650636" cy="396663"/>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Rectangle 40"/>
          <p:cNvSpPr/>
          <p:nvPr/>
        </p:nvSpPr>
        <p:spPr>
          <a:xfrm>
            <a:off x="5658835" y="1714500"/>
            <a:ext cx="1992788" cy="228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US" sz="1350">
              <a:solidFill>
                <a:prstClr val="white"/>
              </a:solidFill>
              <a:latin typeface="Calibri"/>
            </a:endParaRPr>
          </a:p>
        </p:txBody>
      </p:sp>
      <p:sp>
        <p:nvSpPr>
          <p:cNvPr id="42" name="Rectangle 41"/>
          <p:cNvSpPr/>
          <p:nvPr/>
        </p:nvSpPr>
        <p:spPr>
          <a:xfrm>
            <a:off x="5687410" y="1953986"/>
            <a:ext cx="1992788" cy="228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US" sz="1350">
              <a:solidFill>
                <a:prstClr val="white"/>
              </a:solidFill>
              <a:latin typeface="Calibri"/>
            </a:endParaRPr>
          </a:p>
        </p:txBody>
      </p:sp>
      <p:sp>
        <p:nvSpPr>
          <p:cNvPr id="43" name="Rectangle 42"/>
          <p:cNvSpPr/>
          <p:nvPr/>
        </p:nvSpPr>
        <p:spPr>
          <a:xfrm>
            <a:off x="5687410" y="2211161"/>
            <a:ext cx="1992788" cy="228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US" sz="1350">
              <a:solidFill>
                <a:prstClr val="white"/>
              </a:solidFill>
              <a:latin typeface="Calibri"/>
            </a:endParaRPr>
          </a:p>
        </p:txBody>
      </p:sp>
      <p:sp>
        <p:nvSpPr>
          <p:cNvPr id="44" name="Rectangle 43"/>
          <p:cNvSpPr/>
          <p:nvPr/>
        </p:nvSpPr>
        <p:spPr>
          <a:xfrm>
            <a:off x="5687410" y="2457450"/>
            <a:ext cx="1992788" cy="228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US" sz="1350">
              <a:solidFill>
                <a:prstClr val="white"/>
              </a:solidFill>
              <a:latin typeface="Calibri"/>
            </a:endParaRPr>
          </a:p>
        </p:txBody>
      </p:sp>
      <p:sp>
        <p:nvSpPr>
          <p:cNvPr id="45" name="Rectangle 44"/>
          <p:cNvSpPr/>
          <p:nvPr/>
        </p:nvSpPr>
        <p:spPr>
          <a:xfrm>
            <a:off x="6934200" y="3442543"/>
            <a:ext cx="548640" cy="205740"/>
          </a:xfrm>
          <a:prstGeom prst="rect">
            <a:avLst/>
          </a:prstGeom>
          <a:solidFill>
            <a:srgbClr val="DCE6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US" sz="1350">
              <a:solidFill>
                <a:prstClr val="white"/>
              </a:solidFill>
              <a:latin typeface="Calibri"/>
            </a:endParaRPr>
          </a:p>
        </p:txBody>
      </p:sp>
      <p:sp>
        <p:nvSpPr>
          <p:cNvPr id="46" name="Rectangle 45"/>
          <p:cNvSpPr/>
          <p:nvPr/>
        </p:nvSpPr>
        <p:spPr>
          <a:xfrm>
            <a:off x="6889670" y="4116920"/>
            <a:ext cx="548640" cy="205740"/>
          </a:xfrm>
          <a:prstGeom prst="rect">
            <a:avLst/>
          </a:prstGeom>
          <a:solidFill>
            <a:srgbClr val="DCE6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US" sz="1350">
              <a:solidFill>
                <a:prstClr val="white"/>
              </a:solidFill>
              <a:latin typeface="Calibri"/>
            </a:endParaRPr>
          </a:p>
        </p:txBody>
      </p:sp>
      <p:sp>
        <p:nvSpPr>
          <p:cNvPr id="47" name="Rectangle 46"/>
          <p:cNvSpPr/>
          <p:nvPr/>
        </p:nvSpPr>
        <p:spPr>
          <a:xfrm>
            <a:off x="6943725" y="4754270"/>
            <a:ext cx="548640" cy="205740"/>
          </a:xfrm>
          <a:prstGeom prst="rect">
            <a:avLst/>
          </a:prstGeom>
          <a:solidFill>
            <a:srgbClr val="DCE6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US" sz="1350">
              <a:solidFill>
                <a:prstClr val="white"/>
              </a:solidFill>
              <a:latin typeface="Calibri"/>
            </a:endParaRPr>
          </a:p>
        </p:txBody>
      </p:sp>
      <p:sp>
        <p:nvSpPr>
          <p:cNvPr id="48" name="Rectangle 47"/>
          <p:cNvSpPr/>
          <p:nvPr/>
        </p:nvSpPr>
        <p:spPr>
          <a:xfrm>
            <a:off x="6916483" y="5428036"/>
            <a:ext cx="673997" cy="317534"/>
          </a:xfrm>
          <a:prstGeom prst="rect">
            <a:avLst/>
          </a:prstGeom>
          <a:solidFill>
            <a:srgbClr val="DCE6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US" sz="1350">
              <a:solidFill>
                <a:prstClr val="white"/>
              </a:solidFill>
              <a:latin typeface="Calibri"/>
            </a:endParaRPr>
          </a:p>
        </p:txBody>
      </p:sp>
    </p:spTree>
    <p:extLst>
      <p:ext uri="{BB962C8B-B14F-4D97-AF65-F5344CB8AC3E}">
        <p14:creationId xmlns:p14="http://schemas.microsoft.com/office/powerpoint/2010/main" val="1998940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0" nodeType="clickEffect">
                                  <p:stCondLst>
                                    <p:cond delay="0"/>
                                  </p:stCondLst>
                                  <p:childTnLst>
                                    <p:set>
                                      <p:cBhvr>
                                        <p:cTn id="38" dur="1" fill="hold">
                                          <p:stCondLst>
                                            <p:cond delay="0"/>
                                          </p:stCondLst>
                                        </p:cTn>
                                        <p:tgtEl>
                                          <p:spTgt spid="41"/>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grpId="1" nodeType="clickEffect">
                                  <p:stCondLst>
                                    <p:cond delay="0"/>
                                  </p:stCondLst>
                                  <p:childTnLst>
                                    <p:set>
                                      <p:cBhvr>
                                        <p:cTn id="42" dur="1" fill="hold">
                                          <p:stCondLst>
                                            <p:cond delay="0"/>
                                          </p:stCondLst>
                                        </p:cTn>
                                        <p:tgtEl>
                                          <p:spTgt spid="45"/>
                                        </p:tgtEl>
                                        <p:attrNameLst>
                                          <p:attrName>style.visibility</p:attrName>
                                        </p:attrNameLst>
                                      </p:cBhvr>
                                      <p:to>
                                        <p:strVal val="hidden"/>
                                      </p:to>
                                    </p:set>
                                  </p:childTnLst>
                                </p:cTn>
                              </p:par>
                              <p:par>
                                <p:cTn id="43" presetID="1" presetClass="exit" presetSubtype="0" fill="hold" grpId="1" nodeType="withEffect">
                                  <p:stCondLst>
                                    <p:cond delay="0"/>
                                  </p:stCondLst>
                                  <p:childTnLst>
                                    <p:set>
                                      <p:cBhvr>
                                        <p:cTn id="44" dur="1" fill="hold">
                                          <p:stCondLst>
                                            <p:cond delay="0"/>
                                          </p:stCondLst>
                                        </p:cTn>
                                        <p:tgtEl>
                                          <p:spTgt spid="46"/>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 presetClass="exit" presetSubtype="0" fill="hold" grpId="0" nodeType="clickEffect">
                                  <p:stCondLst>
                                    <p:cond delay="0"/>
                                  </p:stCondLst>
                                  <p:childTnLst>
                                    <p:set>
                                      <p:cBhvr>
                                        <p:cTn id="48" dur="1" fill="hold">
                                          <p:stCondLst>
                                            <p:cond delay="0"/>
                                          </p:stCondLst>
                                        </p:cTn>
                                        <p:tgtEl>
                                          <p:spTgt spid="42"/>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grpId="0" nodeType="clickEffect">
                                  <p:stCondLst>
                                    <p:cond delay="0"/>
                                  </p:stCondLst>
                                  <p:childTnLst>
                                    <p:set>
                                      <p:cBhvr>
                                        <p:cTn id="52" dur="1" fill="hold">
                                          <p:stCondLst>
                                            <p:cond delay="0"/>
                                          </p:stCondLst>
                                        </p:cTn>
                                        <p:tgtEl>
                                          <p:spTgt spid="43"/>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1" presetClass="exit" presetSubtype="0" fill="hold" grpId="1" nodeType="clickEffect">
                                  <p:stCondLst>
                                    <p:cond delay="0"/>
                                  </p:stCondLst>
                                  <p:childTnLst>
                                    <p:set>
                                      <p:cBhvr>
                                        <p:cTn id="56" dur="1" fill="hold">
                                          <p:stCondLst>
                                            <p:cond delay="0"/>
                                          </p:stCondLst>
                                        </p:cTn>
                                        <p:tgtEl>
                                          <p:spTgt spid="47"/>
                                        </p:tgtEl>
                                        <p:attrNameLst>
                                          <p:attrName>style.visibility</p:attrName>
                                        </p:attrNameLst>
                                      </p:cBhvr>
                                      <p:to>
                                        <p:strVal val="hidden"/>
                                      </p:to>
                                    </p:set>
                                  </p:childTnLst>
                                </p:cTn>
                              </p:par>
                              <p:par>
                                <p:cTn id="57" presetID="1" presetClass="exit" presetSubtype="0" fill="hold" grpId="1" nodeType="withEffect">
                                  <p:stCondLst>
                                    <p:cond delay="0"/>
                                  </p:stCondLst>
                                  <p:childTnLst>
                                    <p:set>
                                      <p:cBhvr>
                                        <p:cTn id="58" dur="1" fill="hold">
                                          <p:stCondLst>
                                            <p:cond delay="0"/>
                                          </p:stCondLst>
                                        </p:cTn>
                                        <p:tgtEl>
                                          <p:spTgt spid="48"/>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 presetClass="exit" presetSubtype="0" fill="hold" grpId="0" nodeType="clickEffect">
                                  <p:stCondLst>
                                    <p:cond delay="0"/>
                                  </p:stCondLst>
                                  <p:childTnLst>
                                    <p:set>
                                      <p:cBhvr>
                                        <p:cTn id="62" dur="1" fill="hold">
                                          <p:stCondLst>
                                            <p:cond delay="0"/>
                                          </p:stCondLst>
                                        </p:cTn>
                                        <p:tgtEl>
                                          <p:spTgt spid="4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6" grpId="0" animBg="1"/>
      <p:bldP spid="27" grpId="0" animBg="1"/>
      <p:bldP spid="31" grpId="0" animBg="1"/>
      <p:bldP spid="33" grpId="0" animBg="1"/>
      <p:bldP spid="34" grpId="0" animBg="1"/>
      <p:bldP spid="41" grpId="0" animBg="1"/>
      <p:bldP spid="42" grpId="0" animBg="1"/>
      <p:bldP spid="43" grpId="0" animBg="1"/>
      <p:bldP spid="44" grpId="0" animBg="1"/>
      <p:bldP spid="45" grpId="0" animBg="1"/>
      <p:bldP spid="45" grpId="1" animBg="1"/>
      <p:bldP spid="46" grpId="0" animBg="1"/>
      <p:bldP spid="46" grpId="1" animBg="1"/>
      <p:bldP spid="47" grpId="0" animBg="1"/>
      <p:bldP spid="47" grpId="1" animBg="1"/>
      <p:bldP spid="48" grpId="0" animBg="1"/>
      <p:bldP spid="48"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B9C33C6-1E6A-4DE0-BB8E-366D18BA8D95}"/>
              </a:ext>
            </a:extLst>
          </p:cNvPr>
          <p:cNvSpPr>
            <a:spLocks noGrp="1"/>
          </p:cNvSpPr>
          <p:nvPr>
            <p:ph type="sldNum" sz="quarter" idx="11"/>
          </p:nvPr>
        </p:nvSpPr>
        <p:spPr/>
        <p:txBody>
          <a:bodyPr/>
          <a:lstStyle/>
          <a:p>
            <a:pPr>
              <a:defRPr/>
            </a:pPr>
            <a:fld id="{476BE0B1-C626-45C8-98EA-E403C7C65479}" type="slidenum">
              <a:rPr lang="en-US" smtClean="0"/>
              <a:pPr>
                <a:defRPr/>
              </a:pPr>
              <a:t>11</a:t>
            </a:fld>
            <a:endParaRPr lang="en-US"/>
          </a:p>
        </p:txBody>
      </p:sp>
      <p:pic>
        <p:nvPicPr>
          <p:cNvPr id="5" name="Picture 4">
            <a:extLst>
              <a:ext uri="{FF2B5EF4-FFF2-40B4-BE49-F238E27FC236}">
                <a16:creationId xmlns:a16="http://schemas.microsoft.com/office/drawing/2014/main" id="{2462700A-0B9E-47BB-BA2A-7BCE5E77A61B}"/>
              </a:ext>
            </a:extLst>
          </p:cNvPr>
          <p:cNvPicPr>
            <a:picLocks noChangeAspect="1"/>
          </p:cNvPicPr>
          <p:nvPr/>
        </p:nvPicPr>
        <p:blipFill>
          <a:blip r:embed="rId2"/>
          <a:stretch>
            <a:fillRect/>
          </a:stretch>
        </p:blipFill>
        <p:spPr>
          <a:xfrm>
            <a:off x="228600" y="762000"/>
            <a:ext cx="4268690" cy="5562600"/>
          </a:xfrm>
          <a:prstGeom prst="rect">
            <a:avLst/>
          </a:prstGeom>
          <a:ln>
            <a:solidFill>
              <a:srgbClr val="FF0000"/>
            </a:solidFill>
          </a:ln>
        </p:spPr>
      </p:pic>
      <p:pic>
        <p:nvPicPr>
          <p:cNvPr id="8" name="Picture 7">
            <a:extLst>
              <a:ext uri="{FF2B5EF4-FFF2-40B4-BE49-F238E27FC236}">
                <a16:creationId xmlns:a16="http://schemas.microsoft.com/office/drawing/2014/main" id="{C0F5149D-6D5B-48FA-AD44-496DFAF159F0}"/>
              </a:ext>
            </a:extLst>
          </p:cNvPr>
          <p:cNvPicPr>
            <a:picLocks noChangeAspect="1"/>
          </p:cNvPicPr>
          <p:nvPr/>
        </p:nvPicPr>
        <p:blipFill>
          <a:blip r:embed="rId3"/>
          <a:stretch>
            <a:fillRect/>
          </a:stretch>
        </p:blipFill>
        <p:spPr>
          <a:xfrm>
            <a:off x="4820552" y="838200"/>
            <a:ext cx="4065019" cy="4419600"/>
          </a:xfrm>
          <a:prstGeom prst="rect">
            <a:avLst/>
          </a:prstGeom>
          <a:ln>
            <a:solidFill>
              <a:srgbClr val="FF0000"/>
            </a:solidFill>
          </a:ln>
        </p:spPr>
      </p:pic>
      <p:sp>
        <p:nvSpPr>
          <p:cNvPr id="9" name="TextBox 8">
            <a:extLst>
              <a:ext uri="{FF2B5EF4-FFF2-40B4-BE49-F238E27FC236}">
                <a16:creationId xmlns:a16="http://schemas.microsoft.com/office/drawing/2014/main" id="{89BF6754-4CD2-437C-942B-E6680C32FCEA}"/>
              </a:ext>
            </a:extLst>
          </p:cNvPr>
          <p:cNvSpPr txBox="1"/>
          <p:nvPr/>
        </p:nvSpPr>
        <p:spPr>
          <a:xfrm>
            <a:off x="4267200" y="58288"/>
            <a:ext cx="2590800" cy="461665"/>
          </a:xfrm>
          <a:prstGeom prst="rect">
            <a:avLst/>
          </a:prstGeom>
          <a:noFill/>
        </p:spPr>
        <p:txBody>
          <a:bodyPr wrap="square" rtlCol="0">
            <a:spAutoFit/>
          </a:bodyPr>
          <a:lstStyle/>
          <a:p>
            <a:r>
              <a:rPr lang="en-IN" b="1" u="sng" dirty="0">
                <a:solidFill>
                  <a:srgbClr val="FF0000"/>
                </a:solidFill>
              </a:rPr>
              <a:t>Question-1</a:t>
            </a:r>
          </a:p>
        </p:txBody>
      </p:sp>
      <p:pic>
        <p:nvPicPr>
          <p:cNvPr id="10" name="Picture 9">
            <a:extLst>
              <a:ext uri="{FF2B5EF4-FFF2-40B4-BE49-F238E27FC236}">
                <a16:creationId xmlns:a16="http://schemas.microsoft.com/office/drawing/2014/main" id="{10F08083-6860-4360-BF91-DFAEFE2A312D}"/>
              </a:ext>
            </a:extLst>
          </p:cNvPr>
          <p:cNvPicPr>
            <a:picLocks noChangeAspect="1"/>
          </p:cNvPicPr>
          <p:nvPr/>
        </p:nvPicPr>
        <p:blipFill>
          <a:blip r:embed="rId4"/>
          <a:stretch>
            <a:fillRect/>
          </a:stretch>
        </p:blipFill>
        <p:spPr>
          <a:xfrm>
            <a:off x="7086600" y="5711637"/>
            <a:ext cx="1562233" cy="796739"/>
          </a:xfrm>
          <a:prstGeom prst="rect">
            <a:avLst/>
          </a:prstGeom>
        </p:spPr>
      </p:pic>
      <p:sp>
        <p:nvSpPr>
          <p:cNvPr id="11" name="TextBox 10">
            <a:extLst>
              <a:ext uri="{FF2B5EF4-FFF2-40B4-BE49-F238E27FC236}">
                <a16:creationId xmlns:a16="http://schemas.microsoft.com/office/drawing/2014/main" id="{DFAFF9AB-6CA9-49DF-B662-33594856C52B}"/>
              </a:ext>
            </a:extLst>
          </p:cNvPr>
          <p:cNvSpPr txBox="1"/>
          <p:nvPr/>
        </p:nvSpPr>
        <p:spPr>
          <a:xfrm>
            <a:off x="5095421" y="5848396"/>
            <a:ext cx="1773195" cy="523220"/>
          </a:xfrm>
          <a:prstGeom prst="rect">
            <a:avLst/>
          </a:prstGeom>
          <a:solidFill>
            <a:schemeClr val="accent2">
              <a:lumMod val="40000"/>
              <a:lumOff val="60000"/>
            </a:schemeClr>
          </a:solidFill>
        </p:spPr>
        <p:txBody>
          <a:bodyPr wrap="square" rtlCol="0">
            <a:spAutoFit/>
          </a:bodyPr>
          <a:lstStyle/>
          <a:p>
            <a:r>
              <a:rPr lang="en-IN" sz="2800" b="1" dirty="0">
                <a:solidFill>
                  <a:srgbClr val="FF0000"/>
                </a:solidFill>
              </a:rPr>
              <a:t>OUTPUT:</a:t>
            </a:r>
          </a:p>
        </p:txBody>
      </p:sp>
    </p:spTree>
    <p:extLst>
      <p:ext uri="{BB962C8B-B14F-4D97-AF65-F5344CB8AC3E}">
        <p14:creationId xmlns:p14="http://schemas.microsoft.com/office/powerpoint/2010/main" val="2009165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9502"/>
            <a:ext cx="9220200" cy="381000"/>
          </a:xfrm>
        </p:spPr>
        <p:txBody>
          <a:bodyPr/>
          <a:lstStyle/>
          <a:p>
            <a:r>
              <a:rPr lang="en-IN" sz="3200" b="1" u="sng" dirty="0">
                <a:solidFill>
                  <a:srgbClr val="00B050"/>
                </a:solidFill>
                <a:latin typeface="Calibri" panose="020F0502020204030204" pitchFamily="34" charset="0"/>
                <a:cs typeface="Calibri" panose="020F0502020204030204" pitchFamily="34" charset="0"/>
              </a:rPr>
              <a:t>Class example-5: Nesting of member functions</a:t>
            </a:r>
          </a:p>
        </p:txBody>
      </p:sp>
      <p:pic>
        <p:nvPicPr>
          <p:cNvPr id="4" name="Picture 3">
            <a:extLst>
              <a:ext uri="{FF2B5EF4-FFF2-40B4-BE49-F238E27FC236}">
                <a16:creationId xmlns:a16="http://schemas.microsoft.com/office/drawing/2014/main" id="{164F20A7-597C-42A5-8550-13102E283F5D}"/>
              </a:ext>
            </a:extLst>
          </p:cNvPr>
          <p:cNvPicPr>
            <a:picLocks noChangeAspect="1"/>
          </p:cNvPicPr>
          <p:nvPr/>
        </p:nvPicPr>
        <p:blipFill>
          <a:blip r:embed="rId2"/>
          <a:stretch>
            <a:fillRect/>
          </a:stretch>
        </p:blipFill>
        <p:spPr>
          <a:xfrm>
            <a:off x="23191" y="457200"/>
            <a:ext cx="3364025" cy="2362200"/>
          </a:xfrm>
          <a:prstGeom prst="rect">
            <a:avLst/>
          </a:prstGeom>
        </p:spPr>
      </p:pic>
      <p:pic>
        <p:nvPicPr>
          <p:cNvPr id="6" name="Picture 5">
            <a:extLst>
              <a:ext uri="{FF2B5EF4-FFF2-40B4-BE49-F238E27FC236}">
                <a16:creationId xmlns:a16="http://schemas.microsoft.com/office/drawing/2014/main" id="{804D07C9-5D03-4326-BE40-0F1EB71C9DB7}"/>
              </a:ext>
            </a:extLst>
          </p:cNvPr>
          <p:cNvPicPr>
            <a:picLocks noChangeAspect="1"/>
          </p:cNvPicPr>
          <p:nvPr/>
        </p:nvPicPr>
        <p:blipFill>
          <a:blip r:embed="rId3"/>
          <a:stretch>
            <a:fillRect/>
          </a:stretch>
        </p:blipFill>
        <p:spPr>
          <a:xfrm>
            <a:off x="23190" y="2895600"/>
            <a:ext cx="5539409" cy="3889585"/>
          </a:xfrm>
          <a:prstGeom prst="rect">
            <a:avLst/>
          </a:prstGeom>
        </p:spPr>
      </p:pic>
      <p:pic>
        <p:nvPicPr>
          <p:cNvPr id="7" name="Picture 6">
            <a:extLst>
              <a:ext uri="{FF2B5EF4-FFF2-40B4-BE49-F238E27FC236}">
                <a16:creationId xmlns:a16="http://schemas.microsoft.com/office/drawing/2014/main" id="{034C3B16-E64E-4DA4-A1B7-BE729C171A79}"/>
              </a:ext>
            </a:extLst>
          </p:cNvPr>
          <p:cNvPicPr>
            <a:picLocks noChangeAspect="1"/>
          </p:cNvPicPr>
          <p:nvPr/>
        </p:nvPicPr>
        <p:blipFill>
          <a:blip r:embed="rId4"/>
          <a:stretch>
            <a:fillRect/>
          </a:stretch>
        </p:blipFill>
        <p:spPr>
          <a:xfrm>
            <a:off x="5763412" y="687871"/>
            <a:ext cx="3048235" cy="2207729"/>
          </a:xfrm>
          <a:prstGeom prst="rect">
            <a:avLst/>
          </a:prstGeom>
        </p:spPr>
      </p:pic>
      <p:pic>
        <p:nvPicPr>
          <p:cNvPr id="8" name="Picture 7">
            <a:extLst>
              <a:ext uri="{FF2B5EF4-FFF2-40B4-BE49-F238E27FC236}">
                <a16:creationId xmlns:a16="http://schemas.microsoft.com/office/drawing/2014/main" id="{3837E829-0D26-4063-B033-514596AEB99C}"/>
              </a:ext>
            </a:extLst>
          </p:cNvPr>
          <p:cNvPicPr>
            <a:picLocks noChangeAspect="1"/>
          </p:cNvPicPr>
          <p:nvPr/>
        </p:nvPicPr>
        <p:blipFill>
          <a:blip r:embed="rId5"/>
          <a:stretch>
            <a:fillRect/>
          </a:stretch>
        </p:blipFill>
        <p:spPr>
          <a:xfrm>
            <a:off x="4636053" y="4014994"/>
            <a:ext cx="4298485" cy="649771"/>
          </a:xfrm>
          <a:prstGeom prst="rect">
            <a:avLst/>
          </a:prstGeom>
        </p:spPr>
      </p:pic>
      <p:sp>
        <p:nvSpPr>
          <p:cNvPr id="9" name="TextBox 8">
            <a:extLst>
              <a:ext uri="{FF2B5EF4-FFF2-40B4-BE49-F238E27FC236}">
                <a16:creationId xmlns:a16="http://schemas.microsoft.com/office/drawing/2014/main" id="{16416679-4081-45A4-A672-D54C39271E23}"/>
              </a:ext>
            </a:extLst>
          </p:cNvPr>
          <p:cNvSpPr txBox="1"/>
          <p:nvPr/>
        </p:nvSpPr>
        <p:spPr>
          <a:xfrm>
            <a:off x="5261295" y="3405809"/>
            <a:ext cx="3048000" cy="457200"/>
          </a:xfrm>
          <a:prstGeom prst="rect">
            <a:avLst/>
          </a:prstGeom>
          <a:noFill/>
        </p:spPr>
        <p:txBody>
          <a:bodyPr wrap="square" rtlCol="0">
            <a:spAutoFit/>
          </a:bodyPr>
          <a:lstStyle/>
          <a:p>
            <a:r>
              <a:rPr lang="en-IN" b="1" dirty="0">
                <a:solidFill>
                  <a:srgbClr val="FF0000"/>
                </a:solidFill>
              </a:rPr>
              <a:t>OUTPUT:</a:t>
            </a:r>
          </a:p>
        </p:txBody>
      </p:sp>
    </p:spTree>
    <p:extLst>
      <p:ext uri="{BB962C8B-B14F-4D97-AF65-F5344CB8AC3E}">
        <p14:creationId xmlns:p14="http://schemas.microsoft.com/office/powerpoint/2010/main" val="3906777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5426710" y="4814047"/>
            <a:ext cx="1773195" cy="523220"/>
          </a:xfrm>
          <a:prstGeom prst="rect">
            <a:avLst/>
          </a:prstGeom>
          <a:solidFill>
            <a:schemeClr val="accent2">
              <a:lumMod val="40000"/>
              <a:lumOff val="60000"/>
            </a:schemeClr>
          </a:solidFill>
        </p:spPr>
        <p:txBody>
          <a:bodyPr wrap="square" rtlCol="0">
            <a:spAutoFit/>
          </a:bodyPr>
          <a:lstStyle/>
          <a:p>
            <a:r>
              <a:rPr lang="en-IN" sz="2800" b="1" dirty="0">
                <a:solidFill>
                  <a:srgbClr val="FF0000"/>
                </a:solidFill>
              </a:rPr>
              <a:t>OUTPUT:</a:t>
            </a:r>
          </a:p>
        </p:txBody>
      </p:sp>
      <p:pic>
        <p:nvPicPr>
          <p:cNvPr id="2" name="Picture 1">
            <a:extLst>
              <a:ext uri="{FF2B5EF4-FFF2-40B4-BE49-F238E27FC236}">
                <a16:creationId xmlns:a16="http://schemas.microsoft.com/office/drawing/2014/main" id="{E7A3F54A-3DB0-465F-87A2-F929B7B2165B}"/>
              </a:ext>
            </a:extLst>
          </p:cNvPr>
          <p:cNvPicPr>
            <a:picLocks noChangeAspect="1"/>
          </p:cNvPicPr>
          <p:nvPr/>
        </p:nvPicPr>
        <p:blipFill>
          <a:blip r:embed="rId2"/>
          <a:stretch>
            <a:fillRect/>
          </a:stretch>
        </p:blipFill>
        <p:spPr>
          <a:xfrm>
            <a:off x="205917" y="727627"/>
            <a:ext cx="4805777" cy="5712751"/>
          </a:xfrm>
          <a:prstGeom prst="rect">
            <a:avLst/>
          </a:prstGeom>
          <a:ln w="12700">
            <a:solidFill>
              <a:srgbClr val="FF0000"/>
            </a:solidFill>
          </a:ln>
        </p:spPr>
      </p:pic>
      <p:sp>
        <p:nvSpPr>
          <p:cNvPr id="10" name="TextBox 9">
            <a:extLst>
              <a:ext uri="{FF2B5EF4-FFF2-40B4-BE49-F238E27FC236}">
                <a16:creationId xmlns:a16="http://schemas.microsoft.com/office/drawing/2014/main" id="{61F2247E-551E-49F9-A36A-EB2AAB109551}"/>
              </a:ext>
            </a:extLst>
          </p:cNvPr>
          <p:cNvSpPr txBox="1"/>
          <p:nvPr/>
        </p:nvSpPr>
        <p:spPr>
          <a:xfrm>
            <a:off x="4267200" y="58288"/>
            <a:ext cx="2590800" cy="461665"/>
          </a:xfrm>
          <a:prstGeom prst="rect">
            <a:avLst/>
          </a:prstGeom>
          <a:noFill/>
        </p:spPr>
        <p:txBody>
          <a:bodyPr wrap="square" rtlCol="0">
            <a:spAutoFit/>
          </a:bodyPr>
          <a:lstStyle/>
          <a:p>
            <a:r>
              <a:rPr lang="en-IN" b="1" u="sng" dirty="0">
                <a:solidFill>
                  <a:srgbClr val="FF0000"/>
                </a:solidFill>
              </a:rPr>
              <a:t>Question-2</a:t>
            </a:r>
          </a:p>
        </p:txBody>
      </p:sp>
      <p:pic>
        <p:nvPicPr>
          <p:cNvPr id="3" name="Picture 2">
            <a:extLst>
              <a:ext uri="{FF2B5EF4-FFF2-40B4-BE49-F238E27FC236}">
                <a16:creationId xmlns:a16="http://schemas.microsoft.com/office/drawing/2014/main" id="{E55652DC-5251-473A-A544-7C2B50FEF60D}"/>
              </a:ext>
            </a:extLst>
          </p:cNvPr>
          <p:cNvPicPr>
            <a:picLocks noChangeAspect="1"/>
          </p:cNvPicPr>
          <p:nvPr/>
        </p:nvPicPr>
        <p:blipFill>
          <a:blip r:embed="rId3"/>
          <a:stretch>
            <a:fillRect/>
          </a:stretch>
        </p:blipFill>
        <p:spPr>
          <a:xfrm>
            <a:off x="5232713" y="838200"/>
            <a:ext cx="3758887" cy="3657600"/>
          </a:xfrm>
          <a:prstGeom prst="rect">
            <a:avLst/>
          </a:prstGeom>
          <a:ln w="12700">
            <a:solidFill>
              <a:srgbClr val="FF0000"/>
            </a:solidFill>
          </a:ln>
        </p:spPr>
      </p:pic>
      <p:pic>
        <p:nvPicPr>
          <p:cNvPr id="4" name="Picture 3">
            <a:extLst>
              <a:ext uri="{FF2B5EF4-FFF2-40B4-BE49-F238E27FC236}">
                <a16:creationId xmlns:a16="http://schemas.microsoft.com/office/drawing/2014/main" id="{1FA77F9E-812B-4D70-8DEC-C9EC73B86296}"/>
              </a:ext>
            </a:extLst>
          </p:cNvPr>
          <p:cNvPicPr>
            <a:picLocks noChangeAspect="1"/>
          </p:cNvPicPr>
          <p:nvPr/>
        </p:nvPicPr>
        <p:blipFill>
          <a:blip r:embed="rId4"/>
          <a:stretch>
            <a:fillRect/>
          </a:stretch>
        </p:blipFill>
        <p:spPr>
          <a:xfrm>
            <a:off x="5404298" y="5566305"/>
            <a:ext cx="2407163" cy="927349"/>
          </a:xfrm>
          <a:prstGeom prst="rect">
            <a:avLst/>
          </a:prstGeom>
        </p:spPr>
      </p:pic>
    </p:spTree>
    <p:extLst>
      <p:ext uri="{BB962C8B-B14F-4D97-AF65-F5344CB8AC3E}">
        <p14:creationId xmlns:p14="http://schemas.microsoft.com/office/powerpoint/2010/main" val="246059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3276600" y="36113"/>
            <a:ext cx="2590800" cy="461665"/>
          </a:xfrm>
          <a:prstGeom prst="rect">
            <a:avLst/>
          </a:prstGeom>
          <a:noFill/>
        </p:spPr>
        <p:txBody>
          <a:bodyPr wrap="square" rtlCol="0">
            <a:spAutoFit/>
          </a:bodyPr>
          <a:lstStyle/>
          <a:p>
            <a:r>
              <a:rPr lang="en-IN" b="1" u="sng" dirty="0">
                <a:solidFill>
                  <a:srgbClr val="FF0000"/>
                </a:solidFill>
              </a:rPr>
              <a:t>Question-3</a:t>
            </a:r>
          </a:p>
        </p:txBody>
      </p:sp>
      <p:pic>
        <p:nvPicPr>
          <p:cNvPr id="5" name="Picture 4">
            <a:extLst>
              <a:ext uri="{FF2B5EF4-FFF2-40B4-BE49-F238E27FC236}">
                <a16:creationId xmlns:a16="http://schemas.microsoft.com/office/drawing/2014/main" id="{82CC16F9-FE1B-466B-9CF3-1C6E97822D0A}"/>
              </a:ext>
            </a:extLst>
          </p:cNvPr>
          <p:cNvPicPr>
            <a:picLocks noChangeAspect="1"/>
          </p:cNvPicPr>
          <p:nvPr/>
        </p:nvPicPr>
        <p:blipFill>
          <a:blip r:embed="rId2"/>
          <a:stretch>
            <a:fillRect/>
          </a:stretch>
        </p:blipFill>
        <p:spPr>
          <a:xfrm>
            <a:off x="152399" y="572826"/>
            <a:ext cx="6599123" cy="5142174"/>
          </a:xfrm>
          <a:prstGeom prst="rect">
            <a:avLst/>
          </a:prstGeom>
        </p:spPr>
      </p:pic>
      <p:pic>
        <p:nvPicPr>
          <p:cNvPr id="6" name="Picture 5">
            <a:extLst>
              <a:ext uri="{FF2B5EF4-FFF2-40B4-BE49-F238E27FC236}">
                <a16:creationId xmlns:a16="http://schemas.microsoft.com/office/drawing/2014/main" id="{EE70F618-04E5-4AC1-BF6E-C8E07F5C54FC}"/>
              </a:ext>
            </a:extLst>
          </p:cNvPr>
          <p:cNvPicPr>
            <a:picLocks noChangeAspect="1"/>
          </p:cNvPicPr>
          <p:nvPr/>
        </p:nvPicPr>
        <p:blipFill>
          <a:blip r:embed="rId3"/>
          <a:stretch>
            <a:fillRect/>
          </a:stretch>
        </p:blipFill>
        <p:spPr>
          <a:xfrm>
            <a:off x="5021526" y="572826"/>
            <a:ext cx="3459991" cy="2931222"/>
          </a:xfrm>
          <a:prstGeom prst="rect">
            <a:avLst/>
          </a:prstGeom>
        </p:spPr>
      </p:pic>
      <p:pic>
        <p:nvPicPr>
          <p:cNvPr id="8" name="Picture 7">
            <a:extLst>
              <a:ext uri="{FF2B5EF4-FFF2-40B4-BE49-F238E27FC236}">
                <a16:creationId xmlns:a16="http://schemas.microsoft.com/office/drawing/2014/main" id="{D8DE06A4-1CB2-4417-9E1D-CB1943CE0F1F}"/>
              </a:ext>
            </a:extLst>
          </p:cNvPr>
          <p:cNvPicPr>
            <a:picLocks noChangeAspect="1"/>
          </p:cNvPicPr>
          <p:nvPr/>
        </p:nvPicPr>
        <p:blipFill>
          <a:blip r:embed="rId4"/>
          <a:stretch>
            <a:fillRect/>
          </a:stretch>
        </p:blipFill>
        <p:spPr>
          <a:xfrm>
            <a:off x="5867400" y="5456019"/>
            <a:ext cx="2670852" cy="909638"/>
          </a:xfrm>
          <a:prstGeom prst="rect">
            <a:avLst/>
          </a:prstGeom>
        </p:spPr>
      </p:pic>
      <p:sp>
        <p:nvSpPr>
          <p:cNvPr id="10" name="TextBox 9">
            <a:extLst>
              <a:ext uri="{FF2B5EF4-FFF2-40B4-BE49-F238E27FC236}">
                <a16:creationId xmlns:a16="http://schemas.microsoft.com/office/drawing/2014/main" id="{8D95BD79-4AEE-42FA-A4CB-ADC13DB5CBEC}"/>
              </a:ext>
            </a:extLst>
          </p:cNvPr>
          <p:cNvSpPr txBox="1"/>
          <p:nvPr/>
        </p:nvSpPr>
        <p:spPr>
          <a:xfrm>
            <a:off x="3810000" y="5698435"/>
            <a:ext cx="1773195" cy="523220"/>
          </a:xfrm>
          <a:prstGeom prst="rect">
            <a:avLst/>
          </a:prstGeom>
          <a:solidFill>
            <a:schemeClr val="accent2">
              <a:lumMod val="40000"/>
              <a:lumOff val="60000"/>
            </a:schemeClr>
          </a:solidFill>
        </p:spPr>
        <p:txBody>
          <a:bodyPr wrap="square" rtlCol="0">
            <a:spAutoFit/>
          </a:bodyPr>
          <a:lstStyle/>
          <a:p>
            <a:r>
              <a:rPr lang="en-IN" sz="2800" b="1" dirty="0">
                <a:solidFill>
                  <a:srgbClr val="FF0000"/>
                </a:solidFill>
              </a:rPr>
              <a:t>OUTPUT:</a:t>
            </a:r>
          </a:p>
        </p:txBody>
      </p:sp>
    </p:spTree>
    <p:extLst>
      <p:ext uri="{BB962C8B-B14F-4D97-AF65-F5344CB8AC3E}">
        <p14:creationId xmlns:p14="http://schemas.microsoft.com/office/powerpoint/2010/main" val="1592110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Slide Number Placeholder 5"/>
          <p:cNvSpPr>
            <a:spLocks noGrp="1"/>
          </p:cNvSpPr>
          <p:nvPr>
            <p:ph type="sldNum" sz="quarter" idx="11"/>
          </p:nvPr>
        </p:nvSpPr>
        <p:spPr>
          <a:noFill/>
        </p:spPr>
        <p:txBody>
          <a:bodyPr/>
          <a:lstStyle>
            <a:lvl1pPr eaLnBrk="0" hangingPunct="0">
              <a:defRPr sz="2400">
                <a:solidFill>
                  <a:schemeClr val="tx1"/>
                </a:solidFill>
                <a:latin typeface="Times New Roman" pitchFamily="18" charset="0"/>
                <a:cs typeface="Arial" charset="0"/>
              </a:defRPr>
            </a:lvl1pPr>
            <a:lvl2pPr marL="742950" indent="-285750" eaLnBrk="0" hangingPunct="0">
              <a:defRPr sz="2400">
                <a:solidFill>
                  <a:schemeClr val="tx1"/>
                </a:solidFill>
                <a:latin typeface="Times New Roman" pitchFamily="18" charset="0"/>
                <a:cs typeface="Arial" charset="0"/>
              </a:defRPr>
            </a:lvl2pPr>
            <a:lvl3pPr marL="1143000" indent="-228600" eaLnBrk="0" hangingPunct="0">
              <a:defRPr sz="2400">
                <a:solidFill>
                  <a:schemeClr val="tx1"/>
                </a:solidFill>
                <a:latin typeface="Times New Roman" pitchFamily="18" charset="0"/>
                <a:cs typeface="Arial" charset="0"/>
              </a:defRPr>
            </a:lvl3pPr>
            <a:lvl4pPr marL="1600200" indent="-228600" eaLnBrk="0" hangingPunct="0">
              <a:defRPr sz="2400">
                <a:solidFill>
                  <a:schemeClr val="tx1"/>
                </a:solidFill>
                <a:latin typeface="Times New Roman" pitchFamily="18" charset="0"/>
                <a:cs typeface="Arial" charset="0"/>
              </a:defRPr>
            </a:lvl4pPr>
            <a:lvl5pPr marL="2057400" indent="-228600" eaLnBrk="0" hangingPunct="0">
              <a:defRPr sz="2400">
                <a:solidFill>
                  <a:schemeClr val="tx1"/>
                </a:solidFill>
                <a:latin typeface="Times New Roman" pitchFamily="18" charset="0"/>
                <a:cs typeface="Arial" charset="0"/>
              </a:defRPr>
            </a:lvl5pPr>
            <a:lvl6pPr marL="2514600" indent="-228600" eaLnBrk="0" fontAlgn="base" hangingPunct="0">
              <a:spcBef>
                <a:spcPct val="0"/>
              </a:spcBef>
              <a:spcAft>
                <a:spcPct val="0"/>
              </a:spcAft>
              <a:defRPr sz="2400">
                <a:solidFill>
                  <a:schemeClr val="tx1"/>
                </a:solidFill>
                <a:latin typeface="Times New Roman" pitchFamily="18" charset="0"/>
                <a:cs typeface="Arial" charset="0"/>
              </a:defRPr>
            </a:lvl6pPr>
            <a:lvl7pPr marL="2971800" indent="-228600" eaLnBrk="0" fontAlgn="base" hangingPunct="0">
              <a:spcBef>
                <a:spcPct val="0"/>
              </a:spcBef>
              <a:spcAft>
                <a:spcPct val="0"/>
              </a:spcAft>
              <a:defRPr sz="2400">
                <a:solidFill>
                  <a:schemeClr val="tx1"/>
                </a:solidFill>
                <a:latin typeface="Times New Roman" pitchFamily="18" charset="0"/>
                <a:cs typeface="Arial" charset="0"/>
              </a:defRPr>
            </a:lvl7pPr>
            <a:lvl8pPr marL="3429000" indent="-228600" eaLnBrk="0" fontAlgn="base" hangingPunct="0">
              <a:spcBef>
                <a:spcPct val="0"/>
              </a:spcBef>
              <a:spcAft>
                <a:spcPct val="0"/>
              </a:spcAft>
              <a:defRPr sz="2400">
                <a:solidFill>
                  <a:schemeClr val="tx1"/>
                </a:solidFill>
                <a:latin typeface="Times New Roman" pitchFamily="18" charset="0"/>
                <a:cs typeface="Arial" charset="0"/>
              </a:defRPr>
            </a:lvl8pPr>
            <a:lvl9pPr marL="3886200" indent="-228600" eaLnBrk="0" fontAlgn="base" hangingPunct="0">
              <a:spcBef>
                <a:spcPct val="0"/>
              </a:spcBef>
              <a:spcAft>
                <a:spcPct val="0"/>
              </a:spcAft>
              <a:defRPr sz="2400">
                <a:solidFill>
                  <a:schemeClr val="tx1"/>
                </a:solidFill>
                <a:latin typeface="Times New Roman" pitchFamily="18" charset="0"/>
                <a:cs typeface="Arial"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FCC39E97-0480-4AA5-ADA4-19B2F4320F0B}" type="slidenum">
              <a:rPr kumimoji="0" lang="en-US" sz="1400" b="0" i="0" u="none" strike="noStrike" kern="1200" cap="none" spc="0" normalizeH="0" baseline="0" noProof="0">
                <a:ln>
                  <a:noFill/>
                </a:ln>
                <a:solidFill>
                  <a:prstClr val="black"/>
                </a:solidFill>
                <a:effectLst/>
                <a:uLnTx/>
                <a:uFillTx/>
                <a:latin typeface="Times New Roman" pitchFamily="18" charset="0"/>
                <a:ea typeface="+mn-ea"/>
                <a:cs typeface="Arial" charset="0"/>
              </a:rPr>
              <a:pPr marL="0" marR="0" lvl="0" indent="0" algn="ctr" defTabSz="914400" rtl="0" eaLnBrk="1" fontAlgn="auto" latinLnBrk="0" hangingPunct="1">
                <a:lnSpc>
                  <a:spcPct val="100000"/>
                </a:lnSpc>
                <a:spcBef>
                  <a:spcPts val="0"/>
                </a:spcBef>
                <a:spcAft>
                  <a:spcPts val="0"/>
                </a:spcAft>
                <a:buClrTx/>
                <a:buSzTx/>
                <a:buFontTx/>
                <a:buNone/>
                <a:tabLst/>
                <a:defRPr/>
              </a:pPr>
              <a:t>15</a:t>
            </a:fld>
            <a:endParaRPr kumimoji="0" lang="en-US" sz="1400" b="0" i="0" u="none" strike="noStrike" kern="1200" cap="none" spc="0" normalizeH="0" baseline="0" noProof="0">
              <a:ln>
                <a:noFill/>
              </a:ln>
              <a:solidFill>
                <a:prstClr val="black"/>
              </a:solidFill>
              <a:effectLst/>
              <a:uLnTx/>
              <a:uFillTx/>
              <a:latin typeface="Times New Roman" pitchFamily="18" charset="0"/>
              <a:ea typeface="+mn-ea"/>
              <a:cs typeface="Arial" charset="0"/>
            </a:endParaRPr>
          </a:p>
        </p:txBody>
      </p:sp>
      <p:sp>
        <p:nvSpPr>
          <p:cNvPr id="15364" name="Rectangle 2"/>
          <p:cNvSpPr>
            <a:spLocks noGrp="1" noChangeArrowheads="1"/>
          </p:cNvSpPr>
          <p:nvPr>
            <p:ph type="title"/>
          </p:nvPr>
        </p:nvSpPr>
        <p:spPr>
          <a:xfrm>
            <a:off x="228600" y="0"/>
            <a:ext cx="8229600" cy="1143000"/>
          </a:xfrm>
        </p:spPr>
        <p:txBody>
          <a:bodyPr>
            <a:normAutofit/>
          </a:bodyPr>
          <a:lstStyle/>
          <a:p>
            <a:pPr eaLnBrk="1" hangingPunct="1"/>
            <a:r>
              <a:rPr lang="en-US" sz="3600" b="1" dirty="0">
                <a:latin typeface="Times New Roman" panose="02020603050405020304" pitchFamily="18" charset="0"/>
                <a:cs typeface="Times New Roman" panose="02020603050405020304" pitchFamily="18" charset="0"/>
              </a:rPr>
              <a:t>Initialization and Constructors</a:t>
            </a:r>
          </a:p>
        </p:txBody>
      </p:sp>
      <p:sp>
        <p:nvSpPr>
          <p:cNvPr id="15365" name="Rectangle 3"/>
          <p:cNvSpPr>
            <a:spLocks noGrp="1" noChangeArrowheads="1"/>
          </p:cNvSpPr>
          <p:nvPr>
            <p:ph type="body" idx="1"/>
          </p:nvPr>
        </p:nvSpPr>
        <p:spPr>
          <a:xfrm>
            <a:off x="152400" y="990600"/>
            <a:ext cx="8839200" cy="4525963"/>
          </a:xfrm>
        </p:spPr>
        <p:txBody>
          <a:bodyPr>
            <a:normAutofit/>
          </a:bodyPr>
          <a:lstStyle/>
          <a:p>
            <a:pPr algn="just" eaLnBrk="1" hangingPunct="1">
              <a:lnSpc>
                <a:spcPct val="150000"/>
              </a:lnSpc>
              <a:buFont typeface="Wingdings" pitchFamily="2" charset="2"/>
              <a:buChar char="Ø"/>
            </a:pPr>
            <a:r>
              <a:rPr lang="en-US" sz="2400" i="1" dirty="0">
                <a:cs typeface="Times New Roman" pitchFamily="18" charset="0"/>
              </a:rPr>
              <a:t>The constructor is responsible for initializing objects automatically whenever they are declared. </a:t>
            </a:r>
          </a:p>
          <a:p>
            <a:pPr algn="just" eaLnBrk="1" hangingPunct="1">
              <a:lnSpc>
                <a:spcPct val="150000"/>
              </a:lnSpc>
              <a:buFont typeface="Wingdings" pitchFamily="2" charset="2"/>
              <a:buChar char="Ø"/>
            </a:pPr>
            <a:r>
              <a:rPr lang="en-US" sz="2400" i="1" dirty="0">
                <a:cs typeface="Times New Roman" pitchFamily="18" charset="0"/>
              </a:rPr>
              <a:t>The programmer has the option to provide his/her own constructors, which get called whenever a new object is declared.</a:t>
            </a:r>
          </a:p>
          <a:p>
            <a:pPr algn="just" eaLnBrk="1" hangingPunct="1">
              <a:lnSpc>
                <a:spcPct val="150000"/>
              </a:lnSpc>
              <a:buFont typeface="Wingdings" pitchFamily="2" charset="2"/>
              <a:buChar char="Ø"/>
            </a:pPr>
            <a:r>
              <a:rPr lang="en-US" sz="2400" i="1" dirty="0">
                <a:cs typeface="Times New Roman" pitchFamily="18" charset="0"/>
              </a:rPr>
              <a:t>Otherwise, the compiler provides a default constructor.</a:t>
            </a:r>
          </a:p>
        </p:txBody>
      </p:sp>
    </p:spTree>
    <p:extLst>
      <p:ext uri="{BB962C8B-B14F-4D97-AF65-F5344CB8AC3E}">
        <p14:creationId xmlns:p14="http://schemas.microsoft.com/office/powerpoint/2010/main" val="26865676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Slide Number Placeholder 5"/>
          <p:cNvSpPr>
            <a:spLocks noGrp="1"/>
          </p:cNvSpPr>
          <p:nvPr>
            <p:ph type="sldNum" sz="quarter" idx="11"/>
          </p:nvPr>
        </p:nvSpPr>
        <p:spPr>
          <a:noFill/>
        </p:spPr>
        <p:txBody>
          <a:bodyPr/>
          <a:lstStyle>
            <a:lvl1pPr eaLnBrk="0" hangingPunct="0">
              <a:defRPr sz="2400">
                <a:solidFill>
                  <a:schemeClr val="tx1"/>
                </a:solidFill>
                <a:latin typeface="Times New Roman" pitchFamily="18" charset="0"/>
                <a:cs typeface="Arial" charset="0"/>
              </a:defRPr>
            </a:lvl1pPr>
            <a:lvl2pPr marL="742950" indent="-285750" eaLnBrk="0" hangingPunct="0">
              <a:defRPr sz="2400">
                <a:solidFill>
                  <a:schemeClr val="tx1"/>
                </a:solidFill>
                <a:latin typeface="Times New Roman" pitchFamily="18" charset="0"/>
                <a:cs typeface="Arial" charset="0"/>
              </a:defRPr>
            </a:lvl2pPr>
            <a:lvl3pPr marL="1143000" indent="-228600" eaLnBrk="0" hangingPunct="0">
              <a:defRPr sz="2400">
                <a:solidFill>
                  <a:schemeClr val="tx1"/>
                </a:solidFill>
                <a:latin typeface="Times New Roman" pitchFamily="18" charset="0"/>
                <a:cs typeface="Arial" charset="0"/>
              </a:defRPr>
            </a:lvl3pPr>
            <a:lvl4pPr marL="1600200" indent="-228600" eaLnBrk="0" hangingPunct="0">
              <a:defRPr sz="2400">
                <a:solidFill>
                  <a:schemeClr val="tx1"/>
                </a:solidFill>
                <a:latin typeface="Times New Roman" pitchFamily="18" charset="0"/>
                <a:cs typeface="Arial" charset="0"/>
              </a:defRPr>
            </a:lvl4pPr>
            <a:lvl5pPr marL="2057400" indent="-228600" eaLnBrk="0" hangingPunct="0">
              <a:defRPr sz="2400">
                <a:solidFill>
                  <a:schemeClr val="tx1"/>
                </a:solidFill>
                <a:latin typeface="Times New Roman" pitchFamily="18" charset="0"/>
                <a:cs typeface="Arial" charset="0"/>
              </a:defRPr>
            </a:lvl5pPr>
            <a:lvl6pPr marL="2514600" indent="-228600" eaLnBrk="0" fontAlgn="base" hangingPunct="0">
              <a:spcBef>
                <a:spcPct val="0"/>
              </a:spcBef>
              <a:spcAft>
                <a:spcPct val="0"/>
              </a:spcAft>
              <a:defRPr sz="2400">
                <a:solidFill>
                  <a:schemeClr val="tx1"/>
                </a:solidFill>
                <a:latin typeface="Times New Roman" pitchFamily="18" charset="0"/>
                <a:cs typeface="Arial" charset="0"/>
              </a:defRPr>
            </a:lvl6pPr>
            <a:lvl7pPr marL="2971800" indent="-228600" eaLnBrk="0" fontAlgn="base" hangingPunct="0">
              <a:spcBef>
                <a:spcPct val="0"/>
              </a:spcBef>
              <a:spcAft>
                <a:spcPct val="0"/>
              </a:spcAft>
              <a:defRPr sz="2400">
                <a:solidFill>
                  <a:schemeClr val="tx1"/>
                </a:solidFill>
                <a:latin typeface="Times New Roman" pitchFamily="18" charset="0"/>
                <a:cs typeface="Arial" charset="0"/>
              </a:defRPr>
            </a:lvl7pPr>
            <a:lvl8pPr marL="3429000" indent="-228600" eaLnBrk="0" fontAlgn="base" hangingPunct="0">
              <a:spcBef>
                <a:spcPct val="0"/>
              </a:spcBef>
              <a:spcAft>
                <a:spcPct val="0"/>
              </a:spcAft>
              <a:defRPr sz="2400">
                <a:solidFill>
                  <a:schemeClr val="tx1"/>
                </a:solidFill>
                <a:latin typeface="Times New Roman" pitchFamily="18" charset="0"/>
                <a:cs typeface="Arial" charset="0"/>
              </a:defRPr>
            </a:lvl8pPr>
            <a:lvl9pPr marL="3886200" indent="-228600" eaLnBrk="0" fontAlgn="base" hangingPunct="0">
              <a:spcBef>
                <a:spcPct val="0"/>
              </a:spcBef>
              <a:spcAft>
                <a:spcPct val="0"/>
              </a:spcAft>
              <a:defRPr sz="2400">
                <a:solidFill>
                  <a:schemeClr val="tx1"/>
                </a:solidFill>
                <a:latin typeface="Times New Roman" pitchFamily="18" charset="0"/>
                <a:cs typeface="Arial"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6EA3D051-C33B-46AF-9629-B67C4260F74B}" type="slidenum">
              <a:rPr kumimoji="0" lang="en-US" sz="1400" b="0" i="0" u="none" strike="noStrike" kern="1200" cap="none" spc="0" normalizeH="0" baseline="0" noProof="0">
                <a:ln>
                  <a:noFill/>
                </a:ln>
                <a:solidFill>
                  <a:prstClr val="black"/>
                </a:solidFill>
                <a:effectLst/>
                <a:uLnTx/>
                <a:uFillTx/>
                <a:latin typeface="Times New Roman" pitchFamily="18" charset="0"/>
                <a:ea typeface="+mn-ea"/>
                <a:cs typeface="Arial" charset="0"/>
              </a:rPr>
              <a:pPr marL="0" marR="0" lvl="0" indent="0" algn="ctr" defTabSz="914400" rtl="0" eaLnBrk="1" fontAlgn="auto" latinLnBrk="0" hangingPunct="1">
                <a:lnSpc>
                  <a:spcPct val="100000"/>
                </a:lnSpc>
                <a:spcBef>
                  <a:spcPts val="0"/>
                </a:spcBef>
                <a:spcAft>
                  <a:spcPts val="0"/>
                </a:spcAft>
                <a:buClrTx/>
                <a:buSzTx/>
                <a:buFontTx/>
                <a:buNone/>
                <a:tabLst/>
                <a:defRPr/>
              </a:pPr>
              <a:t>16</a:t>
            </a:fld>
            <a:endParaRPr kumimoji="0" lang="en-US" sz="1400" b="0" i="0" u="none" strike="noStrike" kern="1200" cap="none" spc="0" normalizeH="0" baseline="0" noProof="0">
              <a:ln>
                <a:noFill/>
              </a:ln>
              <a:solidFill>
                <a:prstClr val="black"/>
              </a:solidFill>
              <a:effectLst/>
              <a:uLnTx/>
              <a:uFillTx/>
              <a:latin typeface="Times New Roman" pitchFamily="18" charset="0"/>
              <a:ea typeface="+mn-ea"/>
              <a:cs typeface="Arial" charset="0"/>
            </a:endParaRPr>
          </a:p>
        </p:txBody>
      </p:sp>
      <p:sp>
        <p:nvSpPr>
          <p:cNvPr id="16388" name="Rectangle 2"/>
          <p:cNvSpPr>
            <a:spLocks noGrp="1" noChangeArrowheads="1"/>
          </p:cNvSpPr>
          <p:nvPr>
            <p:ph type="title"/>
          </p:nvPr>
        </p:nvSpPr>
        <p:spPr>
          <a:xfrm>
            <a:off x="457200" y="152400"/>
            <a:ext cx="7543800" cy="762000"/>
          </a:xfrm>
        </p:spPr>
        <p:txBody>
          <a:bodyPr>
            <a:normAutofit/>
          </a:bodyPr>
          <a:lstStyle/>
          <a:p>
            <a:pPr eaLnBrk="1" hangingPunct="1"/>
            <a:r>
              <a:rPr lang="en-US" sz="3600" b="1" dirty="0">
                <a:latin typeface="Times New Roman" panose="02020603050405020304" pitchFamily="18" charset="0"/>
                <a:cs typeface="Times New Roman" panose="02020603050405020304" pitchFamily="18" charset="0"/>
              </a:rPr>
              <a:t>Constructors</a:t>
            </a:r>
            <a:r>
              <a:rPr lang="en-US" sz="3600" b="1" dirty="0"/>
              <a:t> …</a:t>
            </a:r>
            <a:endParaRPr lang="en-US" sz="3600" dirty="0"/>
          </a:p>
        </p:txBody>
      </p:sp>
      <p:sp>
        <p:nvSpPr>
          <p:cNvPr id="16389" name="Rectangle 3"/>
          <p:cNvSpPr>
            <a:spLocks noGrp="1" noChangeArrowheads="1"/>
          </p:cNvSpPr>
          <p:nvPr>
            <p:ph type="body" idx="1"/>
          </p:nvPr>
        </p:nvSpPr>
        <p:spPr>
          <a:xfrm>
            <a:off x="76200" y="1219200"/>
            <a:ext cx="8915400" cy="5105400"/>
          </a:xfrm>
        </p:spPr>
        <p:txBody>
          <a:bodyPr>
            <a:normAutofit fontScale="92500" lnSpcReduction="20000"/>
          </a:bodyPr>
          <a:lstStyle/>
          <a:p>
            <a:pPr algn="just" eaLnBrk="1" hangingPunct="1">
              <a:lnSpc>
                <a:spcPct val="150000"/>
              </a:lnSpc>
            </a:pPr>
            <a:r>
              <a:rPr lang="en-US" sz="2800" i="1" dirty="0">
                <a:cs typeface="Times New Roman" pitchFamily="18" charset="0"/>
              </a:rPr>
              <a:t>The constructor is like any other method (i.e., member function) in that, </a:t>
            </a:r>
          </a:p>
          <a:p>
            <a:pPr lvl="1" algn="just" eaLnBrk="1" hangingPunct="1">
              <a:lnSpc>
                <a:spcPct val="150000"/>
              </a:lnSpc>
            </a:pPr>
            <a:r>
              <a:rPr lang="en-US" sz="2400" i="1" dirty="0">
                <a:solidFill>
                  <a:srgbClr val="0070C0"/>
                </a:solidFill>
                <a:cs typeface="Times New Roman" pitchFamily="18" charset="0"/>
              </a:rPr>
              <a:t>it takes arguments</a:t>
            </a:r>
          </a:p>
          <a:p>
            <a:pPr lvl="1" algn="just" eaLnBrk="1" hangingPunct="1">
              <a:lnSpc>
                <a:spcPct val="150000"/>
              </a:lnSpc>
            </a:pPr>
            <a:r>
              <a:rPr lang="en-US" sz="2400" i="1" dirty="0">
                <a:solidFill>
                  <a:srgbClr val="0070C0"/>
                </a:solidFill>
                <a:cs typeface="Times New Roman" pitchFamily="18" charset="0"/>
              </a:rPr>
              <a:t>it can be overloaded</a:t>
            </a:r>
          </a:p>
          <a:p>
            <a:pPr lvl="1" algn="just" eaLnBrk="1" hangingPunct="1">
              <a:lnSpc>
                <a:spcPct val="150000"/>
              </a:lnSpc>
            </a:pPr>
            <a:r>
              <a:rPr lang="en-US" sz="2400" i="1" dirty="0">
                <a:solidFill>
                  <a:srgbClr val="0070C0"/>
                </a:solidFill>
                <a:cs typeface="Times New Roman" pitchFamily="18" charset="0"/>
              </a:rPr>
              <a:t>its arguments can be defaulted</a:t>
            </a:r>
          </a:p>
          <a:p>
            <a:pPr algn="just" eaLnBrk="1" hangingPunct="1">
              <a:lnSpc>
                <a:spcPct val="150000"/>
              </a:lnSpc>
            </a:pPr>
            <a:r>
              <a:rPr lang="en-US" sz="2800" i="1" dirty="0">
                <a:cs typeface="Times New Roman" pitchFamily="18" charset="0"/>
              </a:rPr>
              <a:t>But with one big difference: It has no </a:t>
            </a:r>
            <a:r>
              <a:rPr lang="en-US" sz="2800" i="1" dirty="0">
                <a:solidFill>
                  <a:srgbClr val="0070C0"/>
                </a:solidFill>
                <a:cs typeface="Times New Roman" pitchFamily="18" charset="0"/>
              </a:rPr>
              <a:t>return</a:t>
            </a:r>
            <a:r>
              <a:rPr lang="en-US" sz="2800" i="1" dirty="0">
                <a:cs typeface="Times New Roman" pitchFamily="18" charset="0"/>
              </a:rPr>
              <a:t> value, not even </a:t>
            </a:r>
            <a:r>
              <a:rPr lang="en-US" sz="2800" b="1" i="1" dirty="0">
                <a:solidFill>
                  <a:schemeClr val="accent2"/>
                </a:solidFill>
                <a:cs typeface="Times New Roman" pitchFamily="18" charset="0"/>
              </a:rPr>
              <a:t>void</a:t>
            </a:r>
            <a:r>
              <a:rPr lang="en-US" sz="2800" i="1" dirty="0">
                <a:cs typeface="Times New Roman" pitchFamily="18" charset="0"/>
              </a:rPr>
              <a:t>.</a:t>
            </a:r>
          </a:p>
          <a:p>
            <a:pPr algn="just" eaLnBrk="1" hangingPunct="1">
              <a:lnSpc>
                <a:spcPct val="150000"/>
              </a:lnSpc>
            </a:pPr>
            <a:r>
              <a:rPr lang="en-US" sz="2800" i="1" dirty="0">
                <a:cs typeface="Times New Roman" pitchFamily="18" charset="0"/>
              </a:rPr>
              <a:t>One other very important characteristic: the </a:t>
            </a:r>
            <a:r>
              <a:rPr lang="en-US" sz="2800" i="1" dirty="0">
                <a:solidFill>
                  <a:srgbClr val="FF0000"/>
                </a:solidFill>
                <a:cs typeface="Times New Roman" pitchFamily="18" charset="0"/>
              </a:rPr>
              <a:t>constructor’s name is the same as the class name.</a:t>
            </a:r>
            <a:endParaRPr lang="en-US" sz="2800" i="1" dirty="0">
              <a:solidFill>
                <a:srgbClr val="FF0000"/>
              </a:solidFill>
            </a:endParaRPr>
          </a:p>
        </p:txBody>
      </p:sp>
    </p:spTree>
    <p:extLst>
      <p:ext uri="{BB962C8B-B14F-4D97-AF65-F5344CB8AC3E}">
        <p14:creationId xmlns:p14="http://schemas.microsoft.com/office/powerpoint/2010/main" val="35107379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Constructor</a:t>
            </a:r>
          </a:p>
        </p:txBody>
      </p:sp>
      <p:sp>
        <p:nvSpPr>
          <p:cNvPr id="4" name="Rounded Rectangle 3"/>
          <p:cNvSpPr/>
          <p:nvPr/>
        </p:nvSpPr>
        <p:spPr>
          <a:xfrm>
            <a:off x="914400" y="4229101"/>
            <a:ext cx="2343150" cy="1470761"/>
          </a:xfrm>
          <a:prstGeom prst="roundRect">
            <a:avLst>
              <a:gd name="adj" fmla="val 3272"/>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pPr defTabSz="685800" fontAlgn="auto">
              <a:lnSpc>
                <a:spcPct val="107000"/>
              </a:lnSpc>
              <a:spcBef>
                <a:spcPts val="0"/>
              </a:spcBef>
              <a:spcAft>
                <a:spcPts val="0"/>
              </a:spcAft>
            </a:pPr>
            <a:r>
              <a:rPr lang="en-IN" sz="1500" dirty="0" err="1">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en-IN" sz="1500" dirty="0">
                <a:solidFill>
                  <a:srgbClr val="000000"/>
                </a:solidFill>
                <a:latin typeface="Consolas" panose="020B0609020204030204" pitchFamily="49" charset="0"/>
                <a:ea typeface="Calibri" panose="020F0502020204030204" pitchFamily="34" charset="0"/>
                <a:cs typeface="Consolas" panose="020B0609020204030204" pitchFamily="49" charset="0"/>
              </a:rPr>
              <a:t> main()</a:t>
            </a:r>
            <a:endParaRPr lang="en-IN" sz="1500" dirty="0">
              <a:solidFill>
                <a:prstClr val="white"/>
              </a:solidFill>
              <a:latin typeface="Calibri"/>
              <a:ea typeface="Calibri" panose="020F0502020204030204" pitchFamily="34" charset="0"/>
              <a:cs typeface="Latha"/>
            </a:endParaRPr>
          </a:p>
          <a:p>
            <a:pPr defTabSz="685800" fontAlgn="auto">
              <a:lnSpc>
                <a:spcPct val="107000"/>
              </a:lnSpc>
              <a:spcBef>
                <a:spcPts val="0"/>
              </a:spcBef>
              <a:spcAft>
                <a:spcPts val="0"/>
              </a:spcAft>
            </a:pPr>
            <a:r>
              <a:rPr lang="en-IN" sz="15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en-IN" sz="1500" dirty="0">
              <a:solidFill>
                <a:prstClr val="white"/>
              </a:solidFill>
              <a:latin typeface="Calibri"/>
              <a:ea typeface="Calibri" panose="020F0502020204030204" pitchFamily="34" charset="0"/>
              <a:cs typeface="Latha"/>
            </a:endParaRPr>
          </a:p>
          <a:p>
            <a:pPr defTabSz="685800" fontAlgn="auto">
              <a:lnSpc>
                <a:spcPct val="107000"/>
              </a:lnSpc>
              <a:spcBef>
                <a:spcPts val="0"/>
              </a:spcBef>
              <a:spcAft>
                <a:spcPts val="0"/>
              </a:spcAft>
            </a:pPr>
            <a:endParaRPr lang="en-IN" sz="1500" dirty="0">
              <a:solidFill>
                <a:srgbClr val="000000"/>
              </a:solidFill>
              <a:latin typeface="Consolas" panose="020B0609020204030204" pitchFamily="49" charset="0"/>
              <a:ea typeface="Calibri" panose="020F0502020204030204" pitchFamily="34" charset="0"/>
              <a:cs typeface="Consolas" panose="020B0609020204030204" pitchFamily="49" charset="0"/>
            </a:endParaRPr>
          </a:p>
          <a:p>
            <a:pPr defTabSz="685800" fontAlgn="auto">
              <a:lnSpc>
                <a:spcPct val="107000"/>
              </a:lnSpc>
              <a:spcBef>
                <a:spcPts val="0"/>
              </a:spcBef>
              <a:spcAft>
                <a:spcPts val="0"/>
              </a:spcAft>
            </a:pPr>
            <a:r>
              <a:rPr lang="en-IN" sz="15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p>
          <a:p>
            <a:pPr defTabSz="685800" fontAlgn="auto">
              <a:lnSpc>
                <a:spcPct val="107000"/>
              </a:lnSpc>
              <a:spcBef>
                <a:spcPts val="0"/>
              </a:spcBef>
              <a:spcAft>
                <a:spcPts val="0"/>
              </a:spcAft>
            </a:pPr>
            <a:endParaRPr lang="en-IN" sz="1500" dirty="0">
              <a:solidFill>
                <a:srgbClr val="000000"/>
              </a:solidFill>
              <a:latin typeface="Consolas" panose="020B0609020204030204" pitchFamily="49" charset="0"/>
              <a:ea typeface="Times New Roman" panose="02020603050405020304" pitchFamily="18" charset="0"/>
              <a:cs typeface="Consolas" panose="020B0609020204030204" pitchFamily="49" charset="0"/>
            </a:endParaRPr>
          </a:p>
          <a:p>
            <a:pPr defTabSz="685800" fontAlgn="auto">
              <a:lnSpc>
                <a:spcPct val="107000"/>
              </a:lnSpc>
              <a:spcBef>
                <a:spcPts val="0"/>
              </a:spcBef>
              <a:spcAft>
                <a:spcPts val="0"/>
              </a:spcAft>
            </a:pPr>
            <a:r>
              <a:rPr lang="en-IN" sz="1500" dirty="0">
                <a:solidFill>
                  <a:srgbClr val="000000"/>
                </a:solidFill>
                <a:latin typeface="Consolas" panose="020B0609020204030204" pitchFamily="49" charset="0"/>
                <a:ea typeface="Times New Roman" panose="02020603050405020304" pitchFamily="18" charset="0"/>
                <a:cs typeface="Consolas" panose="020B0609020204030204" pitchFamily="49" charset="0"/>
              </a:rPr>
              <a:t>} </a:t>
            </a:r>
            <a:endParaRPr lang="en-IN" sz="1500" dirty="0">
              <a:solidFill>
                <a:prstClr val="white"/>
              </a:solidFill>
              <a:latin typeface="Times New Roman" panose="02020603050405020304" pitchFamily="18" charset="0"/>
              <a:ea typeface="Times New Roman" panose="02020603050405020304" pitchFamily="18" charset="0"/>
            </a:endParaRPr>
          </a:p>
        </p:txBody>
      </p:sp>
      <p:sp>
        <p:nvSpPr>
          <p:cNvPr id="5" name="Rounded Rectangle 4"/>
          <p:cNvSpPr/>
          <p:nvPr/>
        </p:nvSpPr>
        <p:spPr>
          <a:xfrm>
            <a:off x="914400" y="1600200"/>
            <a:ext cx="2343150" cy="2571750"/>
          </a:xfrm>
          <a:prstGeom prst="roundRect">
            <a:avLst>
              <a:gd name="adj" fmla="val 5528"/>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pPr defTabSz="685800" fontAlgn="auto">
              <a:spcBef>
                <a:spcPts val="0"/>
              </a:spcBef>
              <a:spcAft>
                <a:spcPts val="0"/>
              </a:spcAft>
            </a:pPr>
            <a:r>
              <a:rPr lang="en-IN" sz="1500" dirty="0">
                <a:solidFill>
                  <a:srgbClr val="0000FF"/>
                </a:solidFill>
                <a:latin typeface="Consolas" panose="020B0609020204030204" pitchFamily="49" charset="0"/>
                <a:ea typeface="Times New Roman" panose="02020603050405020304" pitchFamily="18" charset="0"/>
                <a:cs typeface="Shruti"/>
              </a:rPr>
              <a:t>class</a:t>
            </a:r>
            <a:r>
              <a:rPr lang="en-IN" sz="1500" dirty="0">
                <a:solidFill>
                  <a:srgbClr val="000000"/>
                </a:solidFill>
                <a:latin typeface="Consolas" panose="020B0609020204030204" pitchFamily="49" charset="0"/>
                <a:ea typeface="Times New Roman" panose="02020603050405020304" pitchFamily="18" charset="0"/>
                <a:cs typeface="Shruti"/>
              </a:rPr>
              <a:t> car</a:t>
            </a:r>
            <a:endParaRPr lang="en-IN" sz="1500" dirty="0">
              <a:solidFill>
                <a:prstClr val="white"/>
              </a:solidFill>
              <a:latin typeface="Consolas" panose="020B0609020204030204" pitchFamily="49" charset="0"/>
              <a:ea typeface="Times New Roman" panose="02020603050405020304" pitchFamily="18" charset="0"/>
            </a:endParaRPr>
          </a:p>
          <a:p>
            <a:pPr defTabSz="685800" fontAlgn="auto">
              <a:spcBef>
                <a:spcPts val="0"/>
              </a:spcBef>
              <a:spcAft>
                <a:spcPts val="0"/>
              </a:spcAft>
            </a:pPr>
            <a:r>
              <a:rPr lang="en-IN" sz="1500" dirty="0">
                <a:solidFill>
                  <a:srgbClr val="000000"/>
                </a:solidFill>
                <a:latin typeface="Consolas" panose="020B0609020204030204" pitchFamily="49" charset="0"/>
                <a:ea typeface="Times New Roman" panose="02020603050405020304" pitchFamily="18" charset="0"/>
                <a:cs typeface="Shruti"/>
              </a:rPr>
              <a:t>{</a:t>
            </a:r>
            <a:endParaRPr lang="en-IN" sz="1500" dirty="0">
              <a:solidFill>
                <a:prstClr val="white"/>
              </a:solidFill>
              <a:latin typeface="Consolas" panose="020B0609020204030204" pitchFamily="49" charset="0"/>
              <a:ea typeface="Times New Roman" panose="02020603050405020304" pitchFamily="18" charset="0"/>
            </a:endParaRPr>
          </a:p>
          <a:p>
            <a:pPr defTabSz="685800" fontAlgn="auto">
              <a:spcBef>
                <a:spcPts val="0"/>
              </a:spcBef>
              <a:spcAft>
                <a:spcPts val="0"/>
              </a:spcAft>
            </a:pPr>
            <a:r>
              <a:rPr lang="en-IN" sz="1500" dirty="0">
                <a:solidFill>
                  <a:srgbClr val="0000FF"/>
                </a:solidFill>
                <a:latin typeface="Consolas" panose="020B0609020204030204" pitchFamily="49" charset="0"/>
                <a:ea typeface="Times New Roman" panose="02020603050405020304" pitchFamily="18" charset="0"/>
                <a:cs typeface="Shruti"/>
              </a:rPr>
              <a:t>  private:</a:t>
            </a:r>
          </a:p>
          <a:p>
            <a:pPr defTabSz="685800" fontAlgn="auto">
              <a:spcBef>
                <a:spcPts val="0"/>
              </a:spcBef>
              <a:spcAft>
                <a:spcPts val="0"/>
              </a:spcAft>
            </a:pPr>
            <a:r>
              <a:rPr lang="en-IN" sz="1500" dirty="0">
                <a:solidFill>
                  <a:srgbClr val="0000FF"/>
                </a:solidFill>
                <a:latin typeface="Consolas" panose="020B0609020204030204" pitchFamily="49" charset="0"/>
                <a:ea typeface="Times New Roman" panose="02020603050405020304" pitchFamily="18" charset="0"/>
                <a:cs typeface="Shruti"/>
              </a:rPr>
              <a:t>    float</a:t>
            </a:r>
            <a:r>
              <a:rPr lang="en-IN" sz="1500" dirty="0">
                <a:solidFill>
                  <a:srgbClr val="000000"/>
                </a:solidFill>
                <a:latin typeface="Consolas" panose="020B0609020204030204" pitchFamily="49" charset="0"/>
                <a:ea typeface="Times New Roman" panose="02020603050405020304" pitchFamily="18" charset="0"/>
                <a:cs typeface="Shruti"/>
              </a:rPr>
              <a:t> mileage;</a:t>
            </a:r>
            <a:endParaRPr lang="en-IN" sz="1500" dirty="0">
              <a:solidFill>
                <a:prstClr val="white"/>
              </a:solidFill>
              <a:latin typeface="Consolas" panose="020B0609020204030204" pitchFamily="49" charset="0"/>
              <a:ea typeface="Times New Roman" panose="02020603050405020304" pitchFamily="18" charset="0"/>
            </a:endParaRPr>
          </a:p>
          <a:p>
            <a:pPr defTabSz="685800" fontAlgn="auto">
              <a:spcBef>
                <a:spcPts val="0"/>
              </a:spcBef>
              <a:spcAft>
                <a:spcPts val="0"/>
              </a:spcAft>
            </a:pPr>
            <a:r>
              <a:rPr lang="en-IN" sz="1500" dirty="0">
                <a:solidFill>
                  <a:srgbClr val="0000FF"/>
                </a:solidFill>
                <a:latin typeface="Consolas" panose="020B0609020204030204" pitchFamily="49" charset="0"/>
                <a:ea typeface="Times New Roman" panose="02020603050405020304" pitchFamily="18" charset="0"/>
                <a:cs typeface="Shruti"/>
              </a:rPr>
              <a:t>  public</a:t>
            </a:r>
            <a:r>
              <a:rPr lang="en-IN" sz="1500" dirty="0">
                <a:solidFill>
                  <a:srgbClr val="000000"/>
                </a:solidFill>
                <a:latin typeface="Consolas" panose="020B0609020204030204" pitchFamily="49" charset="0"/>
                <a:ea typeface="Times New Roman" panose="02020603050405020304" pitchFamily="18" charset="0"/>
                <a:cs typeface="Shruti"/>
              </a:rPr>
              <a:t>: </a:t>
            </a:r>
            <a:endParaRPr lang="en-IN" sz="1500" dirty="0">
              <a:solidFill>
                <a:prstClr val="white"/>
              </a:solidFill>
              <a:latin typeface="Consolas" panose="020B0609020204030204" pitchFamily="49" charset="0"/>
              <a:ea typeface="Times New Roman" panose="02020603050405020304" pitchFamily="18" charset="0"/>
            </a:endParaRPr>
          </a:p>
          <a:p>
            <a:pPr defTabSz="685800" fontAlgn="auto">
              <a:spcBef>
                <a:spcPts val="0"/>
              </a:spcBef>
              <a:spcAft>
                <a:spcPts val="0"/>
              </a:spcAft>
            </a:pPr>
            <a:r>
              <a:rPr lang="en-IN" sz="1500" dirty="0">
                <a:solidFill>
                  <a:srgbClr val="0000FF"/>
                </a:solidFill>
                <a:latin typeface="Consolas" panose="020B0609020204030204" pitchFamily="49" charset="0"/>
                <a:ea typeface="Times New Roman" panose="02020603050405020304" pitchFamily="18" charset="0"/>
                <a:cs typeface="Shruti"/>
              </a:rPr>
              <a:t>    void</a:t>
            </a:r>
            <a:r>
              <a:rPr lang="en-IN" sz="1500" dirty="0">
                <a:solidFill>
                  <a:srgbClr val="000000"/>
                </a:solidFill>
                <a:latin typeface="Consolas" panose="020B0609020204030204" pitchFamily="49" charset="0"/>
                <a:ea typeface="Times New Roman" panose="02020603050405020304" pitchFamily="18" charset="0"/>
              </a:rPr>
              <a:t> </a:t>
            </a:r>
            <a:r>
              <a:rPr lang="en-IN" sz="1500" dirty="0" err="1">
                <a:solidFill>
                  <a:srgbClr val="000000"/>
                </a:solidFill>
                <a:latin typeface="Consolas" panose="020B0609020204030204" pitchFamily="49" charset="0"/>
                <a:ea typeface="Times New Roman" panose="02020603050405020304" pitchFamily="18" charset="0"/>
              </a:rPr>
              <a:t>setdata</a:t>
            </a:r>
            <a:r>
              <a:rPr lang="en-IN" sz="1500" dirty="0">
                <a:solidFill>
                  <a:srgbClr val="000000"/>
                </a:solidFill>
                <a:latin typeface="Consolas" panose="020B0609020204030204" pitchFamily="49" charset="0"/>
                <a:ea typeface="Times New Roman" panose="02020603050405020304" pitchFamily="18" charset="0"/>
              </a:rPr>
              <a:t>()</a:t>
            </a:r>
          </a:p>
          <a:p>
            <a:pPr defTabSz="685800" fontAlgn="auto">
              <a:spcBef>
                <a:spcPts val="0"/>
              </a:spcBef>
              <a:spcAft>
                <a:spcPts val="0"/>
              </a:spcAft>
            </a:pPr>
            <a:r>
              <a:rPr lang="en-IN" sz="1500" dirty="0">
                <a:solidFill>
                  <a:srgbClr val="000000"/>
                </a:solidFill>
                <a:latin typeface="Consolas" panose="020B0609020204030204" pitchFamily="49" charset="0"/>
                <a:ea typeface="Times New Roman" panose="02020603050405020304" pitchFamily="18" charset="0"/>
              </a:rPr>
              <a:t>    {</a:t>
            </a:r>
          </a:p>
          <a:p>
            <a:pPr defTabSz="685800" fontAlgn="auto">
              <a:spcBef>
                <a:spcPts val="0"/>
              </a:spcBef>
              <a:spcAft>
                <a:spcPts val="0"/>
              </a:spcAft>
            </a:pPr>
            <a:r>
              <a:rPr lang="en-IN" sz="1500" dirty="0">
                <a:solidFill>
                  <a:srgbClr val="000000"/>
                </a:solidFill>
                <a:latin typeface="Consolas" panose="020B0609020204030204" pitchFamily="49" charset="0"/>
                <a:ea typeface="Times New Roman" panose="02020603050405020304" pitchFamily="18" charset="0"/>
              </a:rPr>
              <a:t>	mileage = 1;</a:t>
            </a:r>
          </a:p>
          <a:p>
            <a:pPr defTabSz="685800" fontAlgn="auto">
              <a:spcBef>
                <a:spcPts val="0"/>
              </a:spcBef>
              <a:spcAft>
                <a:spcPts val="0"/>
              </a:spcAft>
            </a:pPr>
            <a:r>
              <a:rPr lang="en-IN" sz="1500" dirty="0">
                <a:solidFill>
                  <a:srgbClr val="000000"/>
                </a:solidFill>
                <a:latin typeface="Consolas" panose="020B0609020204030204" pitchFamily="49" charset="0"/>
                <a:ea typeface="Times New Roman" panose="02020603050405020304" pitchFamily="18" charset="0"/>
              </a:rPr>
              <a:t>    }</a:t>
            </a:r>
            <a:endParaRPr lang="en-IN" sz="1500" dirty="0">
              <a:solidFill>
                <a:prstClr val="white"/>
              </a:solidFill>
              <a:latin typeface="Consolas" panose="020B0609020204030204" pitchFamily="49" charset="0"/>
              <a:ea typeface="Times New Roman" panose="02020603050405020304" pitchFamily="18" charset="0"/>
            </a:endParaRPr>
          </a:p>
          <a:p>
            <a:pPr defTabSz="685800" fontAlgn="auto">
              <a:spcBef>
                <a:spcPts val="0"/>
              </a:spcBef>
              <a:spcAft>
                <a:spcPts val="0"/>
              </a:spcAft>
            </a:pPr>
            <a:r>
              <a:rPr lang="en-IN" sz="1500" dirty="0">
                <a:solidFill>
                  <a:srgbClr val="000000"/>
                </a:solidFill>
                <a:latin typeface="Consolas" panose="020B0609020204030204" pitchFamily="49" charset="0"/>
                <a:ea typeface="Times New Roman" panose="02020603050405020304" pitchFamily="18" charset="0"/>
                <a:cs typeface="Shruti"/>
              </a:rPr>
              <a:t>};</a:t>
            </a:r>
            <a:endParaRPr lang="en-IN" sz="1500" dirty="0">
              <a:solidFill>
                <a:prstClr val="white"/>
              </a:solidFill>
              <a:latin typeface="Consolas" panose="020B0609020204030204" pitchFamily="49" charset="0"/>
              <a:ea typeface="Times New Roman" panose="02020603050405020304" pitchFamily="18" charset="0"/>
            </a:endParaRPr>
          </a:p>
        </p:txBody>
      </p:sp>
      <p:sp>
        <p:nvSpPr>
          <p:cNvPr id="6" name="Rectangle 5"/>
          <p:cNvSpPr/>
          <p:nvPr/>
        </p:nvSpPr>
        <p:spPr>
          <a:xfrm>
            <a:off x="1600200" y="4672959"/>
            <a:ext cx="1485900" cy="328103"/>
          </a:xfrm>
          <a:prstGeom prst="rect">
            <a:avLst/>
          </a:prstGeom>
        </p:spPr>
        <p:txBody>
          <a:bodyPr wrap="square">
            <a:spAutoFit/>
          </a:bodyPr>
          <a:lstStyle/>
          <a:p>
            <a:pPr defTabSz="685800" fontAlgn="auto">
              <a:lnSpc>
                <a:spcPct val="107000"/>
              </a:lnSpc>
              <a:spcBef>
                <a:spcPts val="0"/>
              </a:spcBef>
              <a:spcAft>
                <a:spcPts val="0"/>
              </a:spcAft>
            </a:pPr>
            <a:r>
              <a:rPr lang="en-IN" sz="1500" dirty="0">
                <a:solidFill>
                  <a:srgbClr val="000000"/>
                </a:solidFill>
                <a:latin typeface="Consolas" panose="020B0609020204030204" pitchFamily="49" charset="0"/>
                <a:ea typeface="Calibri" panose="020F0502020204030204" pitchFamily="34" charset="0"/>
                <a:cs typeface="Consolas" panose="020B0609020204030204" pitchFamily="49" charset="0"/>
              </a:rPr>
              <a:t>car c1;</a:t>
            </a:r>
            <a:endParaRPr lang="en-IN" sz="1500" dirty="0">
              <a:solidFill>
                <a:prstClr val="black"/>
              </a:solidFill>
              <a:latin typeface="Calibri"/>
              <a:ea typeface="Calibri" panose="020F0502020204030204" pitchFamily="34" charset="0"/>
              <a:cs typeface="Latha"/>
            </a:endParaRPr>
          </a:p>
        </p:txBody>
      </p:sp>
      <p:sp>
        <p:nvSpPr>
          <p:cNvPr id="7" name="Rectangle 6"/>
          <p:cNvSpPr/>
          <p:nvPr/>
        </p:nvSpPr>
        <p:spPr>
          <a:xfrm>
            <a:off x="1600200" y="4937811"/>
            <a:ext cx="1577340" cy="328103"/>
          </a:xfrm>
          <a:prstGeom prst="rect">
            <a:avLst/>
          </a:prstGeom>
        </p:spPr>
        <p:txBody>
          <a:bodyPr wrap="square">
            <a:spAutoFit/>
          </a:bodyPr>
          <a:lstStyle/>
          <a:p>
            <a:pPr defTabSz="685800" fontAlgn="auto">
              <a:lnSpc>
                <a:spcPct val="107000"/>
              </a:lnSpc>
              <a:spcBef>
                <a:spcPts val="0"/>
              </a:spcBef>
              <a:spcAft>
                <a:spcPts val="0"/>
              </a:spcAft>
            </a:pPr>
            <a:r>
              <a:rPr lang="en-IN" sz="1500" dirty="0">
                <a:solidFill>
                  <a:srgbClr val="000000"/>
                </a:solidFill>
                <a:latin typeface="Consolas" panose="020B0609020204030204" pitchFamily="49" charset="0"/>
                <a:ea typeface="Calibri" panose="020F0502020204030204" pitchFamily="34" charset="0"/>
                <a:cs typeface="Consolas" panose="020B0609020204030204" pitchFamily="49" charset="0"/>
              </a:rPr>
              <a:t>c1.setdata();</a:t>
            </a:r>
            <a:endParaRPr lang="en-IN" sz="1500" dirty="0">
              <a:solidFill>
                <a:prstClr val="black"/>
              </a:solidFill>
              <a:latin typeface="Calibri"/>
              <a:ea typeface="Calibri" panose="020F0502020204030204" pitchFamily="34" charset="0"/>
              <a:cs typeface="Latha"/>
            </a:endParaRPr>
          </a:p>
        </p:txBody>
      </p:sp>
      <p:sp>
        <p:nvSpPr>
          <p:cNvPr id="8" name="Rectangle 7"/>
          <p:cNvSpPr/>
          <p:nvPr/>
        </p:nvSpPr>
        <p:spPr>
          <a:xfrm>
            <a:off x="1600200" y="4669199"/>
            <a:ext cx="1485900" cy="328103"/>
          </a:xfrm>
          <a:prstGeom prst="rect">
            <a:avLst/>
          </a:prstGeom>
          <a:solidFill>
            <a:srgbClr val="C6D9F1"/>
          </a:solidFill>
        </p:spPr>
        <p:txBody>
          <a:bodyPr wrap="square">
            <a:spAutoFit/>
          </a:bodyPr>
          <a:lstStyle/>
          <a:p>
            <a:pPr defTabSz="685800" fontAlgn="auto">
              <a:lnSpc>
                <a:spcPct val="107000"/>
              </a:lnSpc>
              <a:spcBef>
                <a:spcPts val="0"/>
              </a:spcBef>
              <a:spcAft>
                <a:spcPts val="0"/>
              </a:spcAft>
            </a:pPr>
            <a:r>
              <a:rPr lang="en-IN" sz="1500" dirty="0">
                <a:solidFill>
                  <a:srgbClr val="000000"/>
                </a:solidFill>
                <a:latin typeface="Consolas" panose="020B0609020204030204" pitchFamily="49" charset="0"/>
                <a:ea typeface="Calibri" panose="020F0502020204030204" pitchFamily="34" charset="0"/>
                <a:cs typeface="Consolas" panose="020B0609020204030204" pitchFamily="49" charset="0"/>
              </a:rPr>
              <a:t>car c1,c2;</a:t>
            </a:r>
            <a:endParaRPr lang="en-IN" sz="1500" dirty="0">
              <a:solidFill>
                <a:prstClr val="black"/>
              </a:solidFill>
              <a:latin typeface="Calibri"/>
              <a:ea typeface="Calibri" panose="020F0502020204030204" pitchFamily="34" charset="0"/>
              <a:cs typeface="Latha"/>
            </a:endParaRPr>
          </a:p>
        </p:txBody>
      </p:sp>
      <p:sp>
        <p:nvSpPr>
          <p:cNvPr id="9" name="Rectangle 8"/>
          <p:cNvSpPr/>
          <p:nvPr/>
        </p:nvSpPr>
        <p:spPr>
          <a:xfrm>
            <a:off x="1600200" y="5202663"/>
            <a:ext cx="1577340" cy="328103"/>
          </a:xfrm>
          <a:prstGeom prst="rect">
            <a:avLst/>
          </a:prstGeom>
        </p:spPr>
        <p:txBody>
          <a:bodyPr wrap="square">
            <a:spAutoFit/>
          </a:bodyPr>
          <a:lstStyle/>
          <a:p>
            <a:pPr defTabSz="685800" fontAlgn="auto">
              <a:lnSpc>
                <a:spcPct val="107000"/>
              </a:lnSpc>
              <a:spcBef>
                <a:spcPts val="0"/>
              </a:spcBef>
              <a:spcAft>
                <a:spcPts val="0"/>
              </a:spcAft>
            </a:pPr>
            <a:r>
              <a:rPr lang="en-IN" sz="1500" dirty="0">
                <a:solidFill>
                  <a:srgbClr val="000000"/>
                </a:solidFill>
                <a:latin typeface="Consolas" panose="020B0609020204030204" pitchFamily="49" charset="0"/>
                <a:ea typeface="Calibri" panose="020F0502020204030204" pitchFamily="34" charset="0"/>
                <a:cs typeface="Consolas" panose="020B0609020204030204" pitchFamily="49" charset="0"/>
              </a:rPr>
              <a:t>c2.setdata();</a:t>
            </a:r>
            <a:endParaRPr lang="en-IN" sz="1500" dirty="0">
              <a:solidFill>
                <a:prstClr val="black"/>
              </a:solidFill>
              <a:latin typeface="Calibri"/>
              <a:ea typeface="Calibri" panose="020F0502020204030204" pitchFamily="34" charset="0"/>
              <a:cs typeface="Latha"/>
            </a:endParaRPr>
          </a:p>
        </p:txBody>
      </p:sp>
      <p:sp>
        <p:nvSpPr>
          <p:cNvPr id="10" name="Rounded Rectangle 9"/>
          <p:cNvSpPr/>
          <p:nvPr/>
        </p:nvSpPr>
        <p:spPr>
          <a:xfrm>
            <a:off x="5567363" y="1600200"/>
            <a:ext cx="2343600" cy="2571750"/>
          </a:xfrm>
          <a:prstGeom prst="roundRect">
            <a:avLst>
              <a:gd name="adj" fmla="val 5528"/>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pPr defTabSz="685800" fontAlgn="auto">
              <a:spcBef>
                <a:spcPts val="0"/>
              </a:spcBef>
              <a:spcAft>
                <a:spcPts val="0"/>
              </a:spcAft>
            </a:pPr>
            <a:r>
              <a:rPr lang="en-IN" sz="1500" dirty="0">
                <a:solidFill>
                  <a:srgbClr val="0000FF"/>
                </a:solidFill>
                <a:latin typeface="Consolas" panose="020B0609020204030204" pitchFamily="49" charset="0"/>
                <a:ea typeface="Times New Roman" panose="02020603050405020304" pitchFamily="18" charset="0"/>
                <a:cs typeface="Shruti"/>
              </a:rPr>
              <a:t>class</a:t>
            </a:r>
            <a:r>
              <a:rPr lang="en-IN" sz="1500" dirty="0">
                <a:solidFill>
                  <a:srgbClr val="000000"/>
                </a:solidFill>
                <a:latin typeface="Consolas" panose="020B0609020204030204" pitchFamily="49" charset="0"/>
                <a:ea typeface="Times New Roman" panose="02020603050405020304" pitchFamily="18" charset="0"/>
                <a:cs typeface="Shruti"/>
              </a:rPr>
              <a:t> car</a:t>
            </a:r>
            <a:endParaRPr lang="en-IN" sz="1500" dirty="0">
              <a:solidFill>
                <a:prstClr val="white"/>
              </a:solidFill>
              <a:latin typeface="Consolas" panose="020B0609020204030204" pitchFamily="49" charset="0"/>
              <a:ea typeface="Times New Roman" panose="02020603050405020304" pitchFamily="18" charset="0"/>
            </a:endParaRPr>
          </a:p>
          <a:p>
            <a:pPr defTabSz="685800" fontAlgn="auto">
              <a:spcBef>
                <a:spcPts val="0"/>
              </a:spcBef>
              <a:spcAft>
                <a:spcPts val="0"/>
              </a:spcAft>
            </a:pPr>
            <a:r>
              <a:rPr lang="en-IN" sz="1500" dirty="0">
                <a:solidFill>
                  <a:srgbClr val="000000"/>
                </a:solidFill>
                <a:latin typeface="Consolas" panose="020B0609020204030204" pitchFamily="49" charset="0"/>
                <a:ea typeface="Times New Roman" panose="02020603050405020304" pitchFamily="18" charset="0"/>
                <a:cs typeface="Shruti"/>
              </a:rPr>
              <a:t>{</a:t>
            </a:r>
            <a:endParaRPr lang="en-IN" sz="1500" dirty="0">
              <a:solidFill>
                <a:prstClr val="white"/>
              </a:solidFill>
              <a:latin typeface="Consolas" panose="020B0609020204030204" pitchFamily="49" charset="0"/>
              <a:ea typeface="Times New Roman" panose="02020603050405020304" pitchFamily="18" charset="0"/>
            </a:endParaRPr>
          </a:p>
          <a:p>
            <a:pPr defTabSz="685800" fontAlgn="auto">
              <a:spcBef>
                <a:spcPts val="0"/>
              </a:spcBef>
              <a:spcAft>
                <a:spcPts val="0"/>
              </a:spcAft>
            </a:pPr>
            <a:r>
              <a:rPr lang="en-IN" sz="1500" dirty="0">
                <a:solidFill>
                  <a:srgbClr val="0000FF"/>
                </a:solidFill>
                <a:latin typeface="Consolas" panose="020B0609020204030204" pitchFamily="49" charset="0"/>
                <a:ea typeface="Times New Roman" panose="02020603050405020304" pitchFamily="18" charset="0"/>
                <a:cs typeface="Shruti"/>
              </a:rPr>
              <a:t>  private:</a:t>
            </a:r>
          </a:p>
          <a:p>
            <a:pPr defTabSz="685800" fontAlgn="auto">
              <a:spcBef>
                <a:spcPts val="0"/>
              </a:spcBef>
              <a:spcAft>
                <a:spcPts val="0"/>
              </a:spcAft>
            </a:pPr>
            <a:r>
              <a:rPr lang="en-IN" sz="1500" dirty="0">
                <a:solidFill>
                  <a:srgbClr val="0000FF"/>
                </a:solidFill>
                <a:latin typeface="Consolas" panose="020B0609020204030204" pitchFamily="49" charset="0"/>
                <a:ea typeface="Times New Roman" panose="02020603050405020304" pitchFamily="18" charset="0"/>
                <a:cs typeface="Shruti"/>
              </a:rPr>
              <a:t>    float</a:t>
            </a:r>
            <a:r>
              <a:rPr lang="en-IN" sz="1500" dirty="0">
                <a:solidFill>
                  <a:srgbClr val="000000"/>
                </a:solidFill>
                <a:latin typeface="Consolas" panose="020B0609020204030204" pitchFamily="49" charset="0"/>
                <a:ea typeface="Times New Roman" panose="02020603050405020304" pitchFamily="18" charset="0"/>
                <a:cs typeface="Shruti"/>
              </a:rPr>
              <a:t> mileage;</a:t>
            </a:r>
            <a:endParaRPr lang="en-IN" sz="1500" dirty="0">
              <a:solidFill>
                <a:prstClr val="white"/>
              </a:solidFill>
              <a:latin typeface="Consolas" panose="020B0609020204030204" pitchFamily="49" charset="0"/>
              <a:ea typeface="Times New Roman" panose="02020603050405020304" pitchFamily="18" charset="0"/>
            </a:endParaRPr>
          </a:p>
          <a:p>
            <a:pPr defTabSz="685800" fontAlgn="auto">
              <a:spcBef>
                <a:spcPts val="0"/>
              </a:spcBef>
              <a:spcAft>
                <a:spcPts val="0"/>
              </a:spcAft>
            </a:pPr>
            <a:r>
              <a:rPr lang="en-IN" sz="1500" dirty="0">
                <a:solidFill>
                  <a:srgbClr val="0000FF"/>
                </a:solidFill>
                <a:latin typeface="Consolas" panose="020B0609020204030204" pitchFamily="49" charset="0"/>
                <a:ea typeface="Times New Roman" panose="02020603050405020304" pitchFamily="18" charset="0"/>
                <a:cs typeface="Shruti"/>
              </a:rPr>
              <a:t>  public</a:t>
            </a:r>
            <a:r>
              <a:rPr lang="en-IN" sz="1500" dirty="0">
                <a:solidFill>
                  <a:srgbClr val="000000"/>
                </a:solidFill>
                <a:latin typeface="Consolas" panose="020B0609020204030204" pitchFamily="49" charset="0"/>
                <a:ea typeface="Times New Roman" panose="02020603050405020304" pitchFamily="18" charset="0"/>
                <a:cs typeface="Shruti"/>
              </a:rPr>
              <a:t>: </a:t>
            </a:r>
            <a:endParaRPr lang="en-IN" sz="1500" dirty="0">
              <a:solidFill>
                <a:prstClr val="white"/>
              </a:solidFill>
              <a:latin typeface="Consolas" panose="020B0609020204030204" pitchFamily="49" charset="0"/>
              <a:ea typeface="Times New Roman" panose="02020603050405020304" pitchFamily="18" charset="0"/>
            </a:endParaRPr>
          </a:p>
          <a:p>
            <a:pPr defTabSz="685800" fontAlgn="auto">
              <a:spcBef>
                <a:spcPts val="0"/>
              </a:spcBef>
              <a:spcAft>
                <a:spcPts val="0"/>
              </a:spcAft>
            </a:pPr>
            <a:endParaRPr lang="en-IN" sz="1500" dirty="0">
              <a:solidFill>
                <a:srgbClr val="000000"/>
              </a:solidFill>
              <a:latin typeface="Consolas" panose="020B0609020204030204" pitchFamily="49" charset="0"/>
              <a:ea typeface="Times New Roman" panose="02020603050405020304" pitchFamily="18" charset="0"/>
              <a:cs typeface="Shruti"/>
            </a:endParaRPr>
          </a:p>
          <a:p>
            <a:pPr defTabSz="685800" fontAlgn="auto">
              <a:spcBef>
                <a:spcPts val="0"/>
              </a:spcBef>
              <a:spcAft>
                <a:spcPts val="0"/>
              </a:spcAft>
            </a:pPr>
            <a:endParaRPr lang="en-IN" sz="1500" dirty="0">
              <a:solidFill>
                <a:srgbClr val="000000"/>
              </a:solidFill>
              <a:latin typeface="Consolas" panose="020B0609020204030204" pitchFamily="49" charset="0"/>
              <a:ea typeface="Times New Roman" panose="02020603050405020304" pitchFamily="18" charset="0"/>
              <a:cs typeface="Shruti"/>
            </a:endParaRPr>
          </a:p>
          <a:p>
            <a:pPr defTabSz="685800" fontAlgn="auto">
              <a:spcBef>
                <a:spcPts val="0"/>
              </a:spcBef>
              <a:spcAft>
                <a:spcPts val="0"/>
              </a:spcAft>
            </a:pPr>
            <a:endParaRPr lang="en-IN" sz="1500" dirty="0">
              <a:solidFill>
                <a:srgbClr val="000000"/>
              </a:solidFill>
              <a:latin typeface="Consolas" panose="020B0609020204030204" pitchFamily="49" charset="0"/>
              <a:ea typeface="Times New Roman" panose="02020603050405020304" pitchFamily="18" charset="0"/>
              <a:cs typeface="Shruti"/>
            </a:endParaRPr>
          </a:p>
          <a:p>
            <a:pPr defTabSz="685800" fontAlgn="auto">
              <a:spcBef>
                <a:spcPts val="0"/>
              </a:spcBef>
              <a:spcAft>
                <a:spcPts val="0"/>
              </a:spcAft>
            </a:pPr>
            <a:endParaRPr lang="en-IN" sz="1500" dirty="0">
              <a:solidFill>
                <a:srgbClr val="000000"/>
              </a:solidFill>
              <a:latin typeface="Consolas" panose="020B0609020204030204" pitchFamily="49" charset="0"/>
              <a:ea typeface="Times New Roman" panose="02020603050405020304" pitchFamily="18" charset="0"/>
              <a:cs typeface="Shruti"/>
            </a:endParaRPr>
          </a:p>
          <a:p>
            <a:pPr defTabSz="685800" fontAlgn="auto">
              <a:spcBef>
                <a:spcPts val="0"/>
              </a:spcBef>
              <a:spcAft>
                <a:spcPts val="0"/>
              </a:spcAft>
            </a:pPr>
            <a:r>
              <a:rPr lang="en-IN" sz="1500" dirty="0">
                <a:solidFill>
                  <a:srgbClr val="000000"/>
                </a:solidFill>
                <a:latin typeface="Consolas" panose="020B0609020204030204" pitchFamily="49" charset="0"/>
                <a:ea typeface="Times New Roman" panose="02020603050405020304" pitchFamily="18" charset="0"/>
                <a:cs typeface="Shruti"/>
              </a:rPr>
              <a:t>};</a:t>
            </a:r>
            <a:endParaRPr lang="en-IN" sz="1500" dirty="0">
              <a:solidFill>
                <a:prstClr val="white"/>
              </a:solidFill>
              <a:latin typeface="Consolas" panose="020B0609020204030204" pitchFamily="49" charset="0"/>
              <a:ea typeface="Times New Roman" panose="02020603050405020304" pitchFamily="18" charset="0"/>
            </a:endParaRPr>
          </a:p>
        </p:txBody>
      </p:sp>
      <p:sp>
        <p:nvSpPr>
          <p:cNvPr id="11" name="Rectangle 10"/>
          <p:cNvSpPr/>
          <p:nvPr/>
        </p:nvSpPr>
        <p:spPr>
          <a:xfrm>
            <a:off x="5943600" y="2886076"/>
            <a:ext cx="1866900" cy="1015663"/>
          </a:xfrm>
          <a:prstGeom prst="rect">
            <a:avLst/>
          </a:prstGeom>
        </p:spPr>
        <p:txBody>
          <a:bodyPr wrap="square">
            <a:spAutoFit/>
          </a:bodyPr>
          <a:lstStyle/>
          <a:p>
            <a:pPr defTabSz="685800" fontAlgn="auto">
              <a:spcBef>
                <a:spcPts val="0"/>
              </a:spcBef>
              <a:spcAft>
                <a:spcPts val="0"/>
              </a:spcAft>
            </a:pPr>
            <a:r>
              <a:rPr lang="en-IN" sz="1500" dirty="0">
                <a:solidFill>
                  <a:srgbClr val="000000"/>
                </a:solidFill>
                <a:latin typeface="Consolas" panose="020B0609020204030204" pitchFamily="49" charset="0"/>
                <a:ea typeface="Times New Roman" panose="02020603050405020304" pitchFamily="18" charset="0"/>
                <a:cs typeface="+mn-cs"/>
              </a:rPr>
              <a:t>car()</a:t>
            </a:r>
          </a:p>
          <a:p>
            <a:pPr defTabSz="685800" fontAlgn="auto">
              <a:spcBef>
                <a:spcPts val="0"/>
              </a:spcBef>
              <a:spcAft>
                <a:spcPts val="0"/>
              </a:spcAft>
            </a:pPr>
            <a:r>
              <a:rPr lang="en-IN" sz="1500" dirty="0">
                <a:solidFill>
                  <a:srgbClr val="000000"/>
                </a:solidFill>
                <a:latin typeface="Consolas" panose="020B0609020204030204" pitchFamily="49" charset="0"/>
                <a:ea typeface="Times New Roman" panose="02020603050405020304" pitchFamily="18" charset="0"/>
                <a:cs typeface="+mn-cs"/>
              </a:rPr>
              <a:t>{</a:t>
            </a:r>
          </a:p>
          <a:p>
            <a:pPr defTabSz="685800" fontAlgn="auto">
              <a:spcBef>
                <a:spcPts val="0"/>
              </a:spcBef>
              <a:spcAft>
                <a:spcPts val="0"/>
              </a:spcAft>
            </a:pPr>
            <a:r>
              <a:rPr lang="en-IN" sz="1500" dirty="0">
                <a:solidFill>
                  <a:srgbClr val="000000"/>
                </a:solidFill>
                <a:latin typeface="Consolas" panose="020B0609020204030204" pitchFamily="49" charset="0"/>
                <a:ea typeface="Times New Roman" panose="02020603050405020304" pitchFamily="18" charset="0"/>
                <a:cs typeface="+mn-cs"/>
              </a:rPr>
              <a:t>  mileage=1;</a:t>
            </a:r>
          </a:p>
          <a:p>
            <a:pPr defTabSz="685800" fontAlgn="auto">
              <a:spcBef>
                <a:spcPts val="0"/>
              </a:spcBef>
              <a:spcAft>
                <a:spcPts val="0"/>
              </a:spcAft>
            </a:pPr>
            <a:r>
              <a:rPr lang="en-IN" sz="1500" dirty="0">
                <a:solidFill>
                  <a:srgbClr val="000000"/>
                </a:solidFill>
                <a:latin typeface="Consolas" panose="020B0609020204030204" pitchFamily="49" charset="0"/>
                <a:ea typeface="Times New Roman" panose="02020603050405020304" pitchFamily="18" charset="0"/>
                <a:cs typeface="+mn-cs"/>
              </a:rPr>
              <a:t>}</a:t>
            </a:r>
            <a:endParaRPr lang="en-IN" sz="1500" dirty="0">
              <a:solidFill>
                <a:prstClr val="black"/>
              </a:solidFill>
              <a:latin typeface="Consolas" panose="020B0609020204030204" pitchFamily="49" charset="0"/>
              <a:ea typeface="Times New Roman" panose="02020603050405020304" pitchFamily="18" charset="0"/>
              <a:cs typeface="+mn-cs"/>
            </a:endParaRPr>
          </a:p>
        </p:txBody>
      </p:sp>
      <p:sp>
        <p:nvSpPr>
          <p:cNvPr id="12" name="Rounded Rectangle 11"/>
          <p:cNvSpPr/>
          <p:nvPr/>
        </p:nvSpPr>
        <p:spPr>
          <a:xfrm>
            <a:off x="5567363" y="4225291"/>
            <a:ext cx="2343600" cy="1470761"/>
          </a:xfrm>
          <a:prstGeom prst="roundRect">
            <a:avLst>
              <a:gd name="adj" fmla="val 3272"/>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pPr defTabSz="685800" fontAlgn="auto">
              <a:lnSpc>
                <a:spcPct val="107000"/>
              </a:lnSpc>
              <a:spcBef>
                <a:spcPts val="0"/>
              </a:spcBef>
              <a:spcAft>
                <a:spcPts val="0"/>
              </a:spcAft>
            </a:pPr>
            <a:r>
              <a:rPr lang="en-IN" sz="1500" dirty="0" err="1">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en-IN" sz="1500" dirty="0">
                <a:solidFill>
                  <a:srgbClr val="000000"/>
                </a:solidFill>
                <a:latin typeface="Consolas" panose="020B0609020204030204" pitchFamily="49" charset="0"/>
                <a:ea typeface="Calibri" panose="020F0502020204030204" pitchFamily="34" charset="0"/>
                <a:cs typeface="Consolas" panose="020B0609020204030204" pitchFamily="49" charset="0"/>
              </a:rPr>
              <a:t> main()</a:t>
            </a:r>
            <a:endParaRPr lang="en-IN" sz="1500" dirty="0">
              <a:solidFill>
                <a:prstClr val="white"/>
              </a:solidFill>
              <a:latin typeface="Calibri"/>
              <a:ea typeface="Calibri" panose="020F0502020204030204" pitchFamily="34" charset="0"/>
              <a:cs typeface="Latha"/>
            </a:endParaRPr>
          </a:p>
          <a:p>
            <a:pPr defTabSz="685800" fontAlgn="auto">
              <a:lnSpc>
                <a:spcPct val="107000"/>
              </a:lnSpc>
              <a:spcBef>
                <a:spcPts val="0"/>
              </a:spcBef>
              <a:spcAft>
                <a:spcPts val="0"/>
              </a:spcAft>
            </a:pPr>
            <a:r>
              <a:rPr lang="en-IN" sz="15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en-IN" sz="1500" dirty="0">
              <a:solidFill>
                <a:prstClr val="white"/>
              </a:solidFill>
              <a:latin typeface="Calibri"/>
              <a:ea typeface="Calibri" panose="020F0502020204030204" pitchFamily="34" charset="0"/>
              <a:cs typeface="Latha"/>
            </a:endParaRPr>
          </a:p>
          <a:p>
            <a:pPr defTabSz="685800" fontAlgn="auto">
              <a:lnSpc>
                <a:spcPct val="107000"/>
              </a:lnSpc>
              <a:spcBef>
                <a:spcPts val="0"/>
              </a:spcBef>
              <a:spcAft>
                <a:spcPts val="0"/>
              </a:spcAft>
            </a:pPr>
            <a:endParaRPr lang="en-IN" sz="1500" dirty="0">
              <a:solidFill>
                <a:srgbClr val="000000"/>
              </a:solidFill>
              <a:latin typeface="Consolas" panose="020B0609020204030204" pitchFamily="49" charset="0"/>
              <a:ea typeface="Calibri" panose="020F0502020204030204" pitchFamily="34" charset="0"/>
              <a:cs typeface="Consolas" panose="020B0609020204030204" pitchFamily="49" charset="0"/>
            </a:endParaRPr>
          </a:p>
          <a:p>
            <a:pPr defTabSz="685800" fontAlgn="auto">
              <a:lnSpc>
                <a:spcPct val="107000"/>
              </a:lnSpc>
              <a:spcBef>
                <a:spcPts val="0"/>
              </a:spcBef>
              <a:spcAft>
                <a:spcPts val="0"/>
              </a:spcAft>
            </a:pPr>
            <a:r>
              <a:rPr lang="en-IN" sz="15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p>
          <a:p>
            <a:pPr defTabSz="685800" fontAlgn="auto">
              <a:lnSpc>
                <a:spcPct val="107000"/>
              </a:lnSpc>
              <a:spcBef>
                <a:spcPts val="0"/>
              </a:spcBef>
              <a:spcAft>
                <a:spcPts val="0"/>
              </a:spcAft>
            </a:pPr>
            <a:endParaRPr lang="en-IN" sz="1500" dirty="0">
              <a:solidFill>
                <a:srgbClr val="000000"/>
              </a:solidFill>
              <a:latin typeface="Consolas" panose="020B0609020204030204" pitchFamily="49" charset="0"/>
              <a:ea typeface="Times New Roman" panose="02020603050405020304" pitchFamily="18" charset="0"/>
              <a:cs typeface="Consolas" panose="020B0609020204030204" pitchFamily="49" charset="0"/>
            </a:endParaRPr>
          </a:p>
          <a:p>
            <a:pPr defTabSz="685800" fontAlgn="auto">
              <a:lnSpc>
                <a:spcPct val="107000"/>
              </a:lnSpc>
              <a:spcBef>
                <a:spcPts val="0"/>
              </a:spcBef>
              <a:spcAft>
                <a:spcPts val="0"/>
              </a:spcAft>
            </a:pPr>
            <a:r>
              <a:rPr lang="en-IN" sz="1500" dirty="0">
                <a:solidFill>
                  <a:srgbClr val="000000"/>
                </a:solidFill>
                <a:latin typeface="Consolas" panose="020B0609020204030204" pitchFamily="49" charset="0"/>
                <a:ea typeface="Times New Roman" panose="02020603050405020304" pitchFamily="18" charset="0"/>
                <a:cs typeface="Consolas" panose="020B0609020204030204" pitchFamily="49" charset="0"/>
              </a:rPr>
              <a:t>} </a:t>
            </a:r>
            <a:endParaRPr lang="en-IN" sz="1500" dirty="0">
              <a:solidFill>
                <a:prstClr val="white"/>
              </a:solidFill>
              <a:latin typeface="Times New Roman" panose="02020603050405020304" pitchFamily="18" charset="0"/>
              <a:ea typeface="Times New Roman" panose="02020603050405020304" pitchFamily="18" charset="0"/>
            </a:endParaRPr>
          </a:p>
        </p:txBody>
      </p:sp>
      <p:sp>
        <p:nvSpPr>
          <p:cNvPr id="14" name="Rectangle 13"/>
          <p:cNvSpPr/>
          <p:nvPr/>
        </p:nvSpPr>
        <p:spPr>
          <a:xfrm>
            <a:off x="5886450" y="4669199"/>
            <a:ext cx="1485900" cy="328103"/>
          </a:xfrm>
          <a:prstGeom prst="rect">
            <a:avLst/>
          </a:prstGeom>
        </p:spPr>
        <p:txBody>
          <a:bodyPr wrap="square">
            <a:spAutoFit/>
          </a:bodyPr>
          <a:lstStyle/>
          <a:p>
            <a:pPr defTabSz="685800" fontAlgn="auto">
              <a:lnSpc>
                <a:spcPct val="107000"/>
              </a:lnSpc>
              <a:spcBef>
                <a:spcPts val="0"/>
              </a:spcBef>
              <a:spcAft>
                <a:spcPts val="0"/>
              </a:spcAft>
            </a:pPr>
            <a:r>
              <a:rPr lang="en-IN" sz="1500" dirty="0">
                <a:solidFill>
                  <a:srgbClr val="000000"/>
                </a:solidFill>
                <a:latin typeface="Consolas" panose="020B0609020204030204" pitchFamily="49" charset="0"/>
                <a:ea typeface="Calibri" panose="020F0502020204030204" pitchFamily="34" charset="0"/>
                <a:cs typeface="Consolas" panose="020B0609020204030204" pitchFamily="49" charset="0"/>
              </a:rPr>
              <a:t>car c1;</a:t>
            </a:r>
            <a:endParaRPr lang="en-IN" sz="1500" dirty="0">
              <a:solidFill>
                <a:prstClr val="black"/>
              </a:solidFill>
              <a:latin typeface="Calibri"/>
              <a:ea typeface="Calibri" panose="020F0502020204030204" pitchFamily="34" charset="0"/>
              <a:cs typeface="Latha"/>
            </a:endParaRPr>
          </a:p>
        </p:txBody>
      </p:sp>
      <p:sp>
        <p:nvSpPr>
          <p:cNvPr id="13" name="Rectangle 12"/>
          <p:cNvSpPr/>
          <p:nvPr/>
        </p:nvSpPr>
        <p:spPr>
          <a:xfrm>
            <a:off x="5876925" y="4669199"/>
            <a:ext cx="1485900" cy="328103"/>
          </a:xfrm>
          <a:prstGeom prst="rect">
            <a:avLst/>
          </a:prstGeom>
          <a:solidFill>
            <a:srgbClr val="C6D9F1"/>
          </a:solidFill>
        </p:spPr>
        <p:txBody>
          <a:bodyPr wrap="square">
            <a:spAutoFit/>
          </a:bodyPr>
          <a:lstStyle/>
          <a:p>
            <a:pPr defTabSz="685800" fontAlgn="auto">
              <a:lnSpc>
                <a:spcPct val="107000"/>
              </a:lnSpc>
              <a:spcBef>
                <a:spcPts val="0"/>
              </a:spcBef>
              <a:spcAft>
                <a:spcPts val="0"/>
              </a:spcAft>
            </a:pPr>
            <a:r>
              <a:rPr lang="en-IN" sz="1500" dirty="0">
                <a:solidFill>
                  <a:srgbClr val="000000"/>
                </a:solidFill>
                <a:latin typeface="Consolas" panose="020B0609020204030204" pitchFamily="49" charset="0"/>
                <a:ea typeface="Calibri" panose="020F0502020204030204" pitchFamily="34" charset="0"/>
                <a:cs typeface="Consolas" panose="020B0609020204030204" pitchFamily="49" charset="0"/>
              </a:rPr>
              <a:t>car c1,c2;</a:t>
            </a:r>
            <a:endParaRPr lang="en-IN" sz="1500" dirty="0">
              <a:solidFill>
                <a:prstClr val="black"/>
              </a:solidFill>
              <a:latin typeface="Calibri"/>
              <a:ea typeface="Calibri" panose="020F0502020204030204" pitchFamily="34" charset="0"/>
              <a:cs typeface="Latha"/>
            </a:endParaRPr>
          </a:p>
        </p:txBody>
      </p:sp>
      <p:sp>
        <p:nvSpPr>
          <p:cNvPr id="15" name="Oval Callout 14"/>
          <p:cNvSpPr/>
          <p:nvPr/>
        </p:nvSpPr>
        <p:spPr>
          <a:xfrm>
            <a:off x="3619500" y="2943225"/>
            <a:ext cx="1714500" cy="971550"/>
          </a:xfrm>
          <a:prstGeom prst="wedgeEllipseCallout">
            <a:avLst>
              <a:gd name="adj1" fmla="val 77639"/>
              <a:gd name="adj2" fmla="val 1879"/>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r>
              <a:rPr lang="en-IN" sz="1800" dirty="0">
                <a:solidFill>
                  <a:prstClr val="black">
                    <a:lumMod val="75000"/>
                    <a:lumOff val="25000"/>
                  </a:prstClr>
                </a:solidFill>
                <a:latin typeface="Calibri"/>
              </a:rPr>
              <a:t>Similar to member function</a:t>
            </a:r>
          </a:p>
        </p:txBody>
      </p:sp>
      <p:sp>
        <p:nvSpPr>
          <p:cNvPr id="16" name="Oval Callout 15"/>
          <p:cNvSpPr/>
          <p:nvPr/>
        </p:nvSpPr>
        <p:spPr>
          <a:xfrm>
            <a:off x="3619500" y="1914525"/>
            <a:ext cx="1714500" cy="971550"/>
          </a:xfrm>
          <a:prstGeom prst="wedgeEllipseCallout">
            <a:avLst>
              <a:gd name="adj1" fmla="val 86528"/>
              <a:gd name="adj2" fmla="val 65605"/>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r>
              <a:rPr lang="en-IN" sz="1800" dirty="0">
                <a:solidFill>
                  <a:prstClr val="black">
                    <a:lumMod val="75000"/>
                    <a:lumOff val="25000"/>
                  </a:prstClr>
                </a:solidFill>
                <a:latin typeface="Calibri"/>
              </a:rPr>
              <a:t>Same name as class name</a:t>
            </a:r>
          </a:p>
        </p:txBody>
      </p:sp>
      <p:sp>
        <p:nvSpPr>
          <p:cNvPr id="17" name="Oval Callout 16"/>
          <p:cNvSpPr/>
          <p:nvPr/>
        </p:nvSpPr>
        <p:spPr>
          <a:xfrm>
            <a:off x="3487102" y="4225290"/>
            <a:ext cx="1999298" cy="1203960"/>
          </a:xfrm>
          <a:prstGeom prst="wedgeEllipseCallout">
            <a:avLst>
              <a:gd name="adj1" fmla="val 69306"/>
              <a:gd name="adj2" fmla="val 2091"/>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r>
              <a:rPr lang="en-IN" sz="1650" dirty="0">
                <a:solidFill>
                  <a:prstClr val="black">
                    <a:lumMod val="75000"/>
                    <a:lumOff val="25000"/>
                  </a:prstClr>
                </a:solidFill>
                <a:latin typeface="Calibri"/>
              </a:rPr>
              <a:t>Called automatically on creation of object</a:t>
            </a:r>
          </a:p>
        </p:txBody>
      </p:sp>
    </p:spTree>
    <p:extLst>
      <p:ext uri="{BB962C8B-B14F-4D97-AF65-F5344CB8AC3E}">
        <p14:creationId xmlns:p14="http://schemas.microsoft.com/office/powerpoint/2010/main" val="1711036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P spid="7" grpId="0"/>
      <p:bldP spid="8" grpId="0" animBg="1"/>
      <p:bldP spid="9" grpId="0"/>
      <p:bldP spid="10" grpId="0" animBg="1"/>
      <p:bldP spid="11" grpId="0"/>
      <p:bldP spid="12" grpId="0" animBg="1"/>
      <p:bldP spid="14" grpId="0"/>
      <p:bldP spid="13" grpId="0" animBg="1"/>
      <p:bldP spid="15" grpId="0" animBg="1"/>
      <p:bldP spid="16" grpId="0" animBg="1"/>
      <p:bldP spid="1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Constructor</a:t>
            </a:r>
          </a:p>
        </p:txBody>
      </p:sp>
      <p:sp>
        <p:nvSpPr>
          <p:cNvPr id="5" name="Rectangle 4"/>
          <p:cNvSpPr/>
          <p:nvPr/>
        </p:nvSpPr>
        <p:spPr>
          <a:xfrm>
            <a:off x="1285875" y="1541446"/>
            <a:ext cx="5514975" cy="4247317"/>
          </a:xfrm>
          <a:prstGeom prst="rect">
            <a:avLst/>
          </a:prstGeom>
        </p:spPr>
        <p:txBody>
          <a:bodyPr wrap="square">
            <a:spAutoFit/>
          </a:bodyPr>
          <a:lstStyle/>
          <a:p>
            <a:pPr defTabSz="685800" fontAlgn="auto">
              <a:spcBef>
                <a:spcPts val="0"/>
              </a:spcBef>
              <a:spcAft>
                <a:spcPts val="0"/>
              </a:spcAft>
            </a:pPr>
            <a:r>
              <a:rPr lang="en-IN" sz="1800" dirty="0">
                <a:solidFill>
                  <a:srgbClr val="0000FF"/>
                </a:solidFill>
                <a:highlight>
                  <a:srgbClr val="FFFFFF"/>
                </a:highlight>
                <a:latin typeface="Consolas" panose="020B0609020204030204" pitchFamily="49" charset="0"/>
                <a:cs typeface="+mn-cs"/>
              </a:rPr>
              <a:t>class</a:t>
            </a:r>
            <a:r>
              <a:rPr lang="en-IN" sz="1800" dirty="0">
                <a:solidFill>
                  <a:srgbClr val="000000"/>
                </a:solidFill>
                <a:highlight>
                  <a:srgbClr val="FFFFFF"/>
                </a:highlight>
                <a:latin typeface="Consolas" panose="020B0609020204030204" pitchFamily="49" charset="0"/>
                <a:cs typeface="+mn-cs"/>
              </a:rPr>
              <a:t> Rectangle</a:t>
            </a:r>
          </a:p>
          <a:p>
            <a:pPr defTabSz="685800" fontAlgn="auto">
              <a:spcBef>
                <a:spcPts val="0"/>
              </a:spcBef>
              <a:spcAft>
                <a:spcPts val="0"/>
              </a:spcAft>
            </a:pPr>
            <a:r>
              <a:rPr lang="en-IN" sz="1800" dirty="0">
                <a:solidFill>
                  <a:srgbClr val="000000"/>
                </a:solidFill>
                <a:highlight>
                  <a:srgbClr val="FFFFFF"/>
                </a:highlight>
                <a:latin typeface="Consolas" panose="020B0609020204030204" pitchFamily="49" charset="0"/>
                <a:cs typeface="+mn-cs"/>
              </a:rPr>
              <a:t>{</a:t>
            </a:r>
          </a:p>
          <a:p>
            <a:pPr defTabSz="685800" fontAlgn="auto">
              <a:spcBef>
                <a:spcPts val="0"/>
              </a:spcBef>
              <a:spcAft>
                <a:spcPts val="0"/>
              </a:spcAft>
            </a:pPr>
            <a:r>
              <a:rPr lang="en-IN" sz="1800" dirty="0">
                <a:solidFill>
                  <a:srgbClr val="000000"/>
                </a:solidFill>
                <a:highlight>
                  <a:srgbClr val="FFFFFF"/>
                </a:highlight>
                <a:latin typeface="Consolas" panose="020B0609020204030204" pitchFamily="49" charset="0"/>
                <a:cs typeface="+mn-cs"/>
              </a:rPr>
              <a:t> </a:t>
            </a:r>
            <a:r>
              <a:rPr lang="en-IN" sz="1800" dirty="0" err="1">
                <a:solidFill>
                  <a:srgbClr val="0000FF"/>
                </a:solidFill>
                <a:highlight>
                  <a:srgbClr val="FFFFFF"/>
                </a:highlight>
                <a:latin typeface="Consolas" panose="020B0609020204030204" pitchFamily="49" charset="0"/>
                <a:cs typeface="+mn-cs"/>
              </a:rPr>
              <a:t>int</a:t>
            </a:r>
            <a:r>
              <a:rPr lang="en-IN" sz="1800" dirty="0">
                <a:solidFill>
                  <a:srgbClr val="000000"/>
                </a:solidFill>
                <a:highlight>
                  <a:srgbClr val="FFFFFF"/>
                </a:highlight>
                <a:latin typeface="Consolas" panose="020B0609020204030204" pitchFamily="49" charset="0"/>
                <a:cs typeface="+mn-cs"/>
              </a:rPr>
              <a:t> </a:t>
            </a:r>
            <a:r>
              <a:rPr lang="en-IN" sz="1800" dirty="0" err="1">
                <a:solidFill>
                  <a:srgbClr val="000000"/>
                </a:solidFill>
                <a:highlight>
                  <a:srgbClr val="FFFFFF"/>
                </a:highlight>
                <a:latin typeface="Consolas" panose="020B0609020204030204" pitchFamily="49" charset="0"/>
                <a:cs typeface="+mn-cs"/>
              </a:rPr>
              <a:t>width,height</a:t>
            </a:r>
            <a:r>
              <a:rPr lang="en-IN" sz="1800" dirty="0">
                <a:solidFill>
                  <a:srgbClr val="000000"/>
                </a:solidFill>
                <a:highlight>
                  <a:srgbClr val="FFFFFF"/>
                </a:highlight>
                <a:latin typeface="Consolas" panose="020B0609020204030204" pitchFamily="49" charset="0"/>
                <a:cs typeface="+mn-cs"/>
              </a:rPr>
              <a:t>;</a:t>
            </a:r>
          </a:p>
          <a:p>
            <a:pPr defTabSz="685800" fontAlgn="auto">
              <a:spcBef>
                <a:spcPts val="0"/>
              </a:spcBef>
              <a:spcAft>
                <a:spcPts val="0"/>
              </a:spcAft>
            </a:pPr>
            <a:r>
              <a:rPr lang="en-IN" sz="1800" dirty="0">
                <a:solidFill>
                  <a:srgbClr val="000000"/>
                </a:solidFill>
                <a:highlight>
                  <a:srgbClr val="FFFFFF"/>
                </a:highlight>
                <a:latin typeface="Consolas" panose="020B0609020204030204" pitchFamily="49" charset="0"/>
                <a:cs typeface="+mn-cs"/>
              </a:rPr>
              <a:t> </a:t>
            </a:r>
            <a:r>
              <a:rPr lang="en-IN" sz="1800" dirty="0">
                <a:solidFill>
                  <a:srgbClr val="0000FF"/>
                </a:solidFill>
                <a:highlight>
                  <a:srgbClr val="FFFFFF"/>
                </a:highlight>
                <a:latin typeface="Consolas" panose="020B0609020204030204" pitchFamily="49" charset="0"/>
                <a:cs typeface="+mn-cs"/>
              </a:rPr>
              <a:t>public</a:t>
            </a:r>
            <a:r>
              <a:rPr lang="en-IN" sz="1800" dirty="0">
                <a:solidFill>
                  <a:srgbClr val="000000"/>
                </a:solidFill>
                <a:highlight>
                  <a:srgbClr val="FFFFFF"/>
                </a:highlight>
                <a:latin typeface="Consolas" panose="020B0609020204030204" pitchFamily="49" charset="0"/>
                <a:cs typeface="+mn-cs"/>
              </a:rPr>
              <a:t>:</a:t>
            </a:r>
          </a:p>
          <a:p>
            <a:pPr defTabSz="685800" fontAlgn="auto">
              <a:spcBef>
                <a:spcPts val="0"/>
              </a:spcBef>
              <a:spcAft>
                <a:spcPts val="0"/>
              </a:spcAft>
            </a:pPr>
            <a:r>
              <a:rPr lang="en-IN" sz="1800" dirty="0">
                <a:solidFill>
                  <a:srgbClr val="000000"/>
                </a:solidFill>
                <a:highlight>
                  <a:srgbClr val="FFFFFF"/>
                </a:highlight>
                <a:latin typeface="Consolas" panose="020B0609020204030204" pitchFamily="49" charset="0"/>
                <a:cs typeface="+mn-cs"/>
              </a:rPr>
              <a:t> Rectangle(){</a:t>
            </a:r>
          </a:p>
          <a:p>
            <a:pPr defTabSz="685800" fontAlgn="auto">
              <a:spcBef>
                <a:spcPts val="0"/>
              </a:spcBef>
              <a:spcAft>
                <a:spcPts val="0"/>
              </a:spcAft>
            </a:pPr>
            <a:r>
              <a:rPr lang="en-IN" sz="1800" dirty="0">
                <a:solidFill>
                  <a:srgbClr val="000000"/>
                </a:solidFill>
                <a:highlight>
                  <a:srgbClr val="FFFFFF"/>
                </a:highlight>
                <a:latin typeface="Consolas" panose="020B0609020204030204" pitchFamily="49" charset="0"/>
                <a:cs typeface="+mn-cs"/>
              </a:rPr>
              <a:t>   width=5;</a:t>
            </a:r>
          </a:p>
          <a:p>
            <a:pPr defTabSz="685800" fontAlgn="auto">
              <a:spcBef>
                <a:spcPts val="0"/>
              </a:spcBef>
              <a:spcAft>
                <a:spcPts val="0"/>
              </a:spcAft>
            </a:pPr>
            <a:r>
              <a:rPr lang="en-IN" sz="1800" dirty="0">
                <a:solidFill>
                  <a:srgbClr val="000000"/>
                </a:solidFill>
                <a:highlight>
                  <a:srgbClr val="FFFFFF"/>
                </a:highlight>
                <a:latin typeface="Consolas" panose="020B0609020204030204" pitchFamily="49" charset="0"/>
                <a:cs typeface="+mn-cs"/>
              </a:rPr>
              <a:t>   height=6;</a:t>
            </a:r>
          </a:p>
          <a:p>
            <a:pPr defTabSz="685800" fontAlgn="auto">
              <a:spcBef>
                <a:spcPts val="0"/>
              </a:spcBef>
              <a:spcAft>
                <a:spcPts val="0"/>
              </a:spcAft>
            </a:pPr>
            <a:r>
              <a:rPr lang="en-IN" sz="1800" dirty="0">
                <a:solidFill>
                  <a:srgbClr val="000000"/>
                </a:solidFill>
                <a:highlight>
                  <a:srgbClr val="FFFFFF"/>
                </a:highlight>
                <a:latin typeface="Consolas" panose="020B0609020204030204" pitchFamily="49" charset="0"/>
                <a:cs typeface="+mn-cs"/>
              </a:rPr>
              <a:t>   </a:t>
            </a:r>
            <a:r>
              <a:rPr lang="en-IN" sz="1800" dirty="0" err="1">
                <a:solidFill>
                  <a:srgbClr val="000000"/>
                </a:solidFill>
                <a:highlight>
                  <a:srgbClr val="FFFFFF"/>
                </a:highlight>
                <a:latin typeface="Consolas" panose="020B0609020204030204" pitchFamily="49" charset="0"/>
                <a:cs typeface="+mn-cs"/>
              </a:rPr>
              <a:t>cout</a:t>
            </a:r>
            <a:r>
              <a:rPr lang="en-IN" sz="1800" dirty="0">
                <a:solidFill>
                  <a:srgbClr val="000000"/>
                </a:solidFill>
                <a:highlight>
                  <a:srgbClr val="FFFFFF"/>
                </a:highlight>
                <a:latin typeface="Consolas" panose="020B0609020204030204" pitchFamily="49" charset="0"/>
                <a:cs typeface="+mn-cs"/>
              </a:rPr>
              <a:t>&lt;&lt;”Constructor Called”;</a:t>
            </a:r>
          </a:p>
          <a:p>
            <a:pPr defTabSz="685800" fontAlgn="auto">
              <a:spcBef>
                <a:spcPts val="0"/>
              </a:spcBef>
              <a:spcAft>
                <a:spcPts val="0"/>
              </a:spcAft>
            </a:pPr>
            <a:r>
              <a:rPr lang="en-IN" sz="1800" dirty="0">
                <a:solidFill>
                  <a:srgbClr val="000000"/>
                </a:solidFill>
                <a:highlight>
                  <a:srgbClr val="FFFFFF"/>
                </a:highlight>
                <a:latin typeface="Consolas" panose="020B0609020204030204" pitchFamily="49" charset="0"/>
                <a:cs typeface="+mn-cs"/>
              </a:rPr>
              <a:t> }</a:t>
            </a:r>
          </a:p>
          <a:p>
            <a:pPr defTabSz="685800" fontAlgn="auto">
              <a:spcBef>
                <a:spcPts val="0"/>
              </a:spcBef>
              <a:spcAft>
                <a:spcPts val="0"/>
              </a:spcAft>
            </a:pPr>
            <a:r>
              <a:rPr lang="en-IN" sz="1800" dirty="0">
                <a:solidFill>
                  <a:srgbClr val="000000"/>
                </a:solidFill>
                <a:highlight>
                  <a:srgbClr val="FFFFFF"/>
                </a:highlight>
                <a:latin typeface="Consolas" panose="020B0609020204030204" pitchFamily="49" charset="0"/>
                <a:cs typeface="+mn-cs"/>
              </a:rPr>
              <a:t>};</a:t>
            </a:r>
          </a:p>
          <a:p>
            <a:pPr defTabSz="685800" fontAlgn="auto">
              <a:spcBef>
                <a:spcPts val="0"/>
              </a:spcBef>
              <a:spcAft>
                <a:spcPts val="0"/>
              </a:spcAft>
            </a:pPr>
            <a:r>
              <a:rPr lang="en-IN" sz="1800" dirty="0" err="1">
                <a:solidFill>
                  <a:srgbClr val="0000FF"/>
                </a:solidFill>
                <a:highlight>
                  <a:srgbClr val="FFFFFF"/>
                </a:highlight>
                <a:latin typeface="Consolas" panose="020B0609020204030204" pitchFamily="49" charset="0"/>
                <a:cs typeface="+mn-cs"/>
              </a:rPr>
              <a:t>int</a:t>
            </a:r>
            <a:r>
              <a:rPr lang="en-IN" sz="1800" dirty="0">
                <a:solidFill>
                  <a:srgbClr val="000000"/>
                </a:solidFill>
                <a:highlight>
                  <a:srgbClr val="FFFFFF"/>
                </a:highlight>
                <a:latin typeface="Consolas" panose="020B0609020204030204" pitchFamily="49" charset="0"/>
                <a:cs typeface="+mn-cs"/>
              </a:rPr>
              <a:t> main()</a:t>
            </a:r>
          </a:p>
          <a:p>
            <a:pPr defTabSz="685800" fontAlgn="auto">
              <a:spcBef>
                <a:spcPts val="0"/>
              </a:spcBef>
              <a:spcAft>
                <a:spcPts val="0"/>
              </a:spcAft>
            </a:pPr>
            <a:r>
              <a:rPr lang="en-IN" sz="1800" dirty="0">
                <a:solidFill>
                  <a:srgbClr val="000000"/>
                </a:solidFill>
                <a:highlight>
                  <a:srgbClr val="FFFFFF"/>
                </a:highlight>
                <a:latin typeface="Consolas" panose="020B0609020204030204" pitchFamily="49" charset="0"/>
                <a:cs typeface="+mn-cs"/>
              </a:rPr>
              <a:t>{</a:t>
            </a:r>
          </a:p>
          <a:p>
            <a:pPr defTabSz="685800" fontAlgn="auto">
              <a:spcBef>
                <a:spcPts val="0"/>
              </a:spcBef>
              <a:spcAft>
                <a:spcPts val="0"/>
              </a:spcAft>
            </a:pPr>
            <a:r>
              <a:rPr lang="en-IN" sz="1800" dirty="0">
                <a:solidFill>
                  <a:srgbClr val="000000"/>
                </a:solidFill>
                <a:highlight>
                  <a:srgbClr val="FFFFFF"/>
                </a:highlight>
                <a:latin typeface="Consolas" panose="020B0609020204030204" pitchFamily="49" charset="0"/>
                <a:cs typeface="+mn-cs"/>
              </a:rPr>
              <a:t>  Rectangle r1;</a:t>
            </a:r>
          </a:p>
          <a:p>
            <a:pPr defTabSz="685800" fontAlgn="auto">
              <a:spcBef>
                <a:spcPts val="0"/>
              </a:spcBef>
              <a:spcAft>
                <a:spcPts val="0"/>
              </a:spcAft>
            </a:pPr>
            <a:r>
              <a:rPr lang="en-IN" sz="1800" dirty="0">
                <a:solidFill>
                  <a:srgbClr val="000000"/>
                </a:solidFill>
                <a:highlight>
                  <a:srgbClr val="FFFFFF"/>
                </a:highlight>
                <a:latin typeface="Consolas" panose="020B0609020204030204" pitchFamily="49" charset="0"/>
                <a:cs typeface="+mn-cs"/>
              </a:rPr>
              <a:t>  </a:t>
            </a:r>
            <a:r>
              <a:rPr lang="en-IN" sz="1800" dirty="0">
                <a:solidFill>
                  <a:srgbClr val="0000FF"/>
                </a:solidFill>
                <a:highlight>
                  <a:srgbClr val="FFFFFF"/>
                </a:highlight>
                <a:latin typeface="Consolas" panose="020B0609020204030204" pitchFamily="49" charset="0"/>
                <a:cs typeface="+mn-cs"/>
              </a:rPr>
              <a:t>return</a:t>
            </a:r>
            <a:r>
              <a:rPr lang="en-IN" sz="1800" dirty="0">
                <a:solidFill>
                  <a:srgbClr val="000000"/>
                </a:solidFill>
                <a:highlight>
                  <a:srgbClr val="FFFFFF"/>
                </a:highlight>
                <a:latin typeface="Consolas" panose="020B0609020204030204" pitchFamily="49" charset="0"/>
                <a:cs typeface="+mn-cs"/>
              </a:rPr>
              <a:t> 0;</a:t>
            </a:r>
          </a:p>
          <a:p>
            <a:pPr defTabSz="685800" fontAlgn="auto">
              <a:spcBef>
                <a:spcPts val="0"/>
              </a:spcBef>
              <a:spcAft>
                <a:spcPts val="0"/>
              </a:spcAft>
            </a:pPr>
            <a:r>
              <a:rPr lang="en-IN" sz="1800" dirty="0">
                <a:solidFill>
                  <a:srgbClr val="000000"/>
                </a:solidFill>
                <a:highlight>
                  <a:srgbClr val="FFFFFF"/>
                </a:highlight>
                <a:latin typeface="Consolas" panose="020B0609020204030204" pitchFamily="49" charset="0"/>
                <a:cs typeface="+mn-cs"/>
              </a:rPr>
              <a:t>}</a:t>
            </a:r>
            <a:endParaRPr lang="en-IN" sz="1800" dirty="0">
              <a:solidFill>
                <a:prstClr val="black"/>
              </a:solidFill>
              <a:latin typeface="Courier New" panose="02070309020205020404" pitchFamily="49" charset="0"/>
              <a:cs typeface="Courier New" panose="02070309020205020404" pitchFamily="49" charset="0"/>
            </a:endParaRPr>
          </a:p>
        </p:txBody>
      </p:sp>
      <p:sp>
        <p:nvSpPr>
          <p:cNvPr id="4" name="Rectangle 3"/>
          <p:cNvSpPr/>
          <p:nvPr/>
        </p:nvSpPr>
        <p:spPr>
          <a:xfrm>
            <a:off x="1543050" y="4887358"/>
            <a:ext cx="1885950" cy="26130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IN" sz="1350">
              <a:solidFill>
                <a:prstClr val="white"/>
              </a:solidFill>
              <a:latin typeface="Calibri"/>
            </a:endParaRPr>
          </a:p>
        </p:txBody>
      </p:sp>
      <p:sp>
        <p:nvSpPr>
          <p:cNvPr id="7" name="Rectangle 6"/>
          <p:cNvSpPr/>
          <p:nvPr/>
        </p:nvSpPr>
        <p:spPr>
          <a:xfrm>
            <a:off x="1428750" y="2675062"/>
            <a:ext cx="4114800" cy="137393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IN" sz="1350">
              <a:solidFill>
                <a:prstClr val="white"/>
              </a:solidFill>
              <a:latin typeface="Calibri"/>
            </a:endParaRPr>
          </a:p>
        </p:txBody>
      </p:sp>
    </p:spTree>
    <p:extLst>
      <p:ext uri="{BB962C8B-B14F-4D97-AF65-F5344CB8AC3E}">
        <p14:creationId xmlns:p14="http://schemas.microsoft.com/office/powerpoint/2010/main" val="804520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14" end="14"/>
                                            </p:txEl>
                                          </p:spTgt>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Types of Constructors</a:t>
            </a:r>
          </a:p>
        </p:txBody>
      </p:sp>
      <p:sp>
        <p:nvSpPr>
          <p:cNvPr id="3" name="Content Placeholder 2"/>
          <p:cNvSpPr>
            <a:spLocks noGrp="1"/>
          </p:cNvSpPr>
          <p:nvPr>
            <p:ph idx="1"/>
          </p:nvPr>
        </p:nvSpPr>
        <p:spPr/>
        <p:txBody>
          <a:bodyPr>
            <a:normAutofit/>
          </a:bodyPr>
          <a:lstStyle/>
          <a:p>
            <a:pPr marL="342900" indent="-342900">
              <a:buFont typeface="+mj-lt"/>
              <a:buAutoNum type="arabicParenR"/>
            </a:pPr>
            <a:r>
              <a:rPr lang="en-US" sz="2800" dirty="0"/>
              <a:t>Default constructor</a:t>
            </a:r>
          </a:p>
          <a:p>
            <a:pPr marL="342900" indent="-342900">
              <a:buFont typeface="+mj-lt"/>
              <a:buAutoNum type="arabicParenR"/>
            </a:pPr>
            <a:r>
              <a:rPr lang="en-US" sz="2800" dirty="0"/>
              <a:t>Parameterized constructor</a:t>
            </a:r>
            <a:endParaRPr lang="en-IN" sz="2800" dirty="0"/>
          </a:p>
          <a:p>
            <a:pPr marL="342900" indent="-342900">
              <a:buFont typeface="+mj-lt"/>
              <a:buAutoNum type="arabicParenR"/>
            </a:pPr>
            <a:r>
              <a:rPr lang="en-US" sz="2800" dirty="0"/>
              <a:t>Copy constructor</a:t>
            </a:r>
            <a:endParaRPr lang="en-IN" sz="2800" dirty="0"/>
          </a:p>
        </p:txBody>
      </p:sp>
    </p:spTree>
    <p:extLst>
      <p:ext uri="{BB962C8B-B14F-4D97-AF65-F5344CB8AC3E}">
        <p14:creationId xmlns:p14="http://schemas.microsoft.com/office/powerpoint/2010/main" val="20538071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1) Default Constructor</a:t>
            </a:r>
          </a:p>
        </p:txBody>
      </p:sp>
      <p:sp>
        <p:nvSpPr>
          <p:cNvPr id="3" name="Content Placeholder 2"/>
          <p:cNvSpPr>
            <a:spLocks noGrp="1"/>
          </p:cNvSpPr>
          <p:nvPr>
            <p:ph idx="1"/>
          </p:nvPr>
        </p:nvSpPr>
        <p:spPr>
          <a:xfrm>
            <a:off x="553110" y="1117104"/>
            <a:ext cx="8001000" cy="1771650"/>
          </a:xfrm>
          <a:solidFill>
            <a:schemeClr val="tx2">
              <a:lumMod val="20000"/>
              <a:lumOff val="80000"/>
            </a:schemeClr>
          </a:solidFill>
        </p:spPr>
        <p:txBody>
          <a:bodyPr>
            <a:noAutofit/>
          </a:bodyPr>
          <a:lstStyle/>
          <a:p>
            <a:pPr lvl="0" algn="just">
              <a:buClr>
                <a:schemeClr val="tx1"/>
              </a:buClr>
            </a:pPr>
            <a:r>
              <a:rPr lang="en-US" sz="2400" b="1" dirty="0">
                <a:solidFill>
                  <a:srgbClr val="C00000"/>
                </a:solidFill>
              </a:rPr>
              <a:t>Default constructor</a:t>
            </a:r>
            <a:r>
              <a:rPr lang="en-US" sz="2400" dirty="0">
                <a:solidFill>
                  <a:srgbClr val="C00000"/>
                </a:solidFill>
              </a:rPr>
              <a:t> </a:t>
            </a:r>
            <a:r>
              <a:rPr lang="en-US" sz="2400" dirty="0"/>
              <a:t>is the one which is </a:t>
            </a:r>
            <a:r>
              <a:rPr lang="en-US" sz="2400" b="1" i="1" dirty="0"/>
              <a:t>invoked by default </a:t>
            </a:r>
            <a:r>
              <a:rPr lang="en-US" sz="2400" dirty="0"/>
              <a:t>when object of the class is created.</a:t>
            </a:r>
            <a:endParaRPr lang="en-IN" sz="2400" dirty="0"/>
          </a:p>
          <a:p>
            <a:pPr lvl="0" algn="just"/>
            <a:r>
              <a:rPr lang="en-US" sz="2400" dirty="0"/>
              <a:t>It is generally used to </a:t>
            </a:r>
            <a:r>
              <a:rPr lang="en-US" sz="2400" b="1" i="1" dirty="0"/>
              <a:t>initialize the default value </a:t>
            </a:r>
            <a:r>
              <a:rPr lang="en-US" sz="2400" dirty="0"/>
              <a:t>of the data members.</a:t>
            </a:r>
            <a:endParaRPr lang="en-IN" sz="2400" dirty="0"/>
          </a:p>
          <a:p>
            <a:pPr lvl="0" algn="just"/>
            <a:r>
              <a:rPr lang="en-US" sz="2400" dirty="0"/>
              <a:t>It is also called </a:t>
            </a:r>
            <a:r>
              <a:rPr lang="en-US" sz="2400" b="1" dirty="0">
                <a:solidFill>
                  <a:srgbClr val="C00000"/>
                </a:solidFill>
              </a:rPr>
              <a:t>no argument constructor</a:t>
            </a:r>
            <a:r>
              <a:rPr lang="en-US" sz="2400" dirty="0"/>
              <a:t>.</a:t>
            </a:r>
          </a:p>
        </p:txBody>
      </p:sp>
      <p:sp>
        <p:nvSpPr>
          <p:cNvPr id="9" name="Rectangle 8"/>
          <p:cNvSpPr/>
          <p:nvPr/>
        </p:nvSpPr>
        <p:spPr>
          <a:xfrm>
            <a:off x="6400800" y="3733800"/>
            <a:ext cx="971550" cy="52663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r>
              <a:rPr lang="en-IN" sz="1650" dirty="0">
                <a:solidFill>
                  <a:prstClr val="white"/>
                </a:solidFill>
                <a:latin typeface="Calibri"/>
              </a:rPr>
              <a:t>Object d1</a:t>
            </a:r>
          </a:p>
        </p:txBody>
      </p:sp>
      <p:sp>
        <p:nvSpPr>
          <p:cNvPr id="10" name="Rectangle 9"/>
          <p:cNvSpPr/>
          <p:nvPr/>
        </p:nvSpPr>
        <p:spPr>
          <a:xfrm>
            <a:off x="6386512" y="4647980"/>
            <a:ext cx="448628" cy="3429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r>
              <a:rPr lang="en-IN" sz="1650" dirty="0">
                <a:solidFill>
                  <a:prstClr val="white"/>
                </a:solidFill>
                <a:latin typeface="Calibri"/>
              </a:rPr>
              <a:t>10</a:t>
            </a:r>
          </a:p>
        </p:txBody>
      </p:sp>
      <p:sp>
        <p:nvSpPr>
          <p:cNvPr id="11" name="Rectangle 10"/>
          <p:cNvSpPr/>
          <p:nvPr/>
        </p:nvSpPr>
        <p:spPr>
          <a:xfrm>
            <a:off x="6929029" y="4647980"/>
            <a:ext cx="443321" cy="3429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r>
              <a:rPr lang="en-IN" sz="1650" dirty="0">
                <a:solidFill>
                  <a:prstClr val="white"/>
                </a:solidFill>
                <a:latin typeface="Calibri"/>
              </a:rPr>
              <a:t>10</a:t>
            </a:r>
          </a:p>
        </p:txBody>
      </p:sp>
      <p:sp>
        <p:nvSpPr>
          <p:cNvPr id="13" name="Rectangle 12"/>
          <p:cNvSpPr/>
          <p:nvPr/>
        </p:nvSpPr>
        <p:spPr>
          <a:xfrm>
            <a:off x="6391819" y="4282757"/>
            <a:ext cx="443321" cy="3429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r>
              <a:rPr lang="en-IN" sz="1650" dirty="0">
                <a:solidFill>
                  <a:prstClr val="white"/>
                </a:solidFill>
                <a:latin typeface="Calibri"/>
              </a:rPr>
              <a:t>m</a:t>
            </a:r>
          </a:p>
        </p:txBody>
      </p:sp>
      <p:sp>
        <p:nvSpPr>
          <p:cNvPr id="14" name="Rectangle 13"/>
          <p:cNvSpPr/>
          <p:nvPr/>
        </p:nvSpPr>
        <p:spPr>
          <a:xfrm>
            <a:off x="6929029" y="4278955"/>
            <a:ext cx="443321" cy="3429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r>
              <a:rPr lang="en-IN" sz="1650" dirty="0">
                <a:solidFill>
                  <a:prstClr val="white"/>
                </a:solidFill>
                <a:latin typeface="Calibri"/>
              </a:rPr>
              <a:t>n</a:t>
            </a:r>
          </a:p>
        </p:txBody>
      </p:sp>
      <p:sp>
        <p:nvSpPr>
          <p:cNvPr id="15" name="Rectangle 14"/>
          <p:cNvSpPr/>
          <p:nvPr/>
        </p:nvSpPr>
        <p:spPr>
          <a:xfrm>
            <a:off x="1285875" y="3600451"/>
            <a:ext cx="2200275" cy="2123658"/>
          </a:xfrm>
          <a:prstGeom prst="rect">
            <a:avLst/>
          </a:prstGeom>
          <a:solidFill>
            <a:schemeClr val="bg1">
              <a:lumMod val="85000"/>
            </a:schemeClr>
          </a:solidFill>
        </p:spPr>
        <p:txBody>
          <a:bodyPr wrap="square">
            <a:spAutoFit/>
          </a:bodyPr>
          <a:lstStyle/>
          <a:p>
            <a:pPr defTabSz="685800" fontAlgn="auto">
              <a:spcBef>
                <a:spcPts val="0"/>
              </a:spcBef>
              <a:spcAft>
                <a:spcPts val="0"/>
              </a:spcAft>
            </a:pPr>
            <a:r>
              <a:rPr lang="en-IN" sz="1650" dirty="0">
                <a:solidFill>
                  <a:srgbClr val="0000FF"/>
                </a:solidFill>
                <a:latin typeface="Consolas" panose="020B0609020204030204" pitchFamily="49" charset="0"/>
                <a:ea typeface="Times New Roman" panose="02020603050405020304" pitchFamily="18" charset="0"/>
                <a:cs typeface="Shruti"/>
              </a:rPr>
              <a:t>class</a:t>
            </a:r>
            <a:r>
              <a:rPr lang="en-IN" sz="1650" dirty="0">
                <a:solidFill>
                  <a:srgbClr val="000000"/>
                </a:solidFill>
                <a:latin typeface="Consolas" panose="020B0609020204030204" pitchFamily="49" charset="0"/>
                <a:ea typeface="Times New Roman" panose="02020603050405020304" pitchFamily="18" charset="0"/>
                <a:cs typeface="Shruti"/>
              </a:rPr>
              <a:t> demo{</a:t>
            </a:r>
            <a:endParaRPr lang="en-IN" sz="1650" dirty="0">
              <a:solidFill>
                <a:prstClr val="black"/>
              </a:solidFill>
              <a:ea typeface="Times New Roman" panose="02020603050405020304" pitchFamily="18" charset="0"/>
              <a:cs typeface="+mn-cs"/>
            </a:endParaRPr>
          </a:p>
          <a:p>
            <a:pPr defTabSz="685800" fontAlgn="auto">
              <a:spcBef>
                <a:spcPts val="0"/>
              </a:spcBef>
              <a:spcAft>
                <a:spcPts val="0"/>
              </a:spcAft>
            </a:pPr>
            <a:r>
              <a:rPr lang="en-IN" sz="1650" dirty="0">
                <a:solidFill>
                  <a:srgbClr val="000000"/>
                </a:solidFill>
                <a:latin typeface="Consolas" panose="020B0609020204030204" pitchFamily="49" charset="0"/>
                <a:ea typeface="Times New Roman" panose="02020603050405020304" pitchFamily="18" charset="0"/>
                <a:cs typeface="Shruti"/>
              </a:rPr>
              <a:t>  </a:t>
            </a:r>
            <a:r>
              <a:rPr lang="en-IN" sz="1650" dirty="0" err="1">
                <a:solidFill>
                  <a:srgbClr val="0000FF"/>
                </a:solidFill>
                <a:latin typeface="Consolas" panose="020B0609020204030204" pitchFamily="49" charset="0"/>
                <a:ea typeface="Times New Roman" panose="02020603050405020304" pitchFamily="18" charset="0"/>
                <a:cs typeface="Shruti"/>
              </a:rPr>
              <a:t>int</a:t>
            </a:r>
            <a:r>
              <a:rPr lang="en-IN" sz="1650" dirty="0">
                <a:solidFill>
                  <a:srgbClr val="000000"/>
                </a:solidFill>
                <a:latin typeface="Consolas" panose="020B0609020204030204" pitchFamily="49" charset="0"/>
                <a:ea typeface="Times New Roman" panose="02020603050405020304" pitchFamily="18" charset="0"/>
                <a:cs typeface="Shruti"/>
              </a:rPr>
              <a:t> </a:t>
            </a:r>
            <a:r>
              <a:rPr lang="en-IN" sz="1650" dirty="0" err="1">
                <a:solidFill>
                  <a:srgbClr val="000000"/>
                </a:solidFill>
                <a:latin typeface="Consolas" panose="020B0609020204030204" pitchFamily="49" charset="0"/>
                <a:ea typeface="Times New Roman" panose="02020603050405020304" pitchFamily="18" charset="0"/>
                <a:cs typeface="Shruti"/>
              </a:rPr>
              <a:t>m,n</a:t>
            </a:r>
            <a:r>
              <a:rPr lang="en-IN" sz="1650" dirty="0">
                <a:solidFill>
                  <a:srgbClr val="000000"/>
                </a:solidFill>
                <a:latin typeface="Consolas" panose="020B0609020204030204" pitchFamily="49" charset="0"/>
                <a:ea typeface="Times New Roman" panose="02020603050405020304" pitchFamily="18" charset="0"/>
                <a:cs typeface="Shruti"/>
              </a:rPr>
              <a:t>;</a:t>
            </a:r>
            <a:endParaRPr lang="en-IN" sz="1650" dirty="0">
              <a:solidFill>
                <a:prstClr val="black"/>
              </a:solidFill>
              <a:ea typeface="Times New Roman" panose="02020603050405020304" pitchFamily="18" charset="0"/>
              <a:cs typeface="+mn-cs"/>
            </a:endParaRPr>
          </a:p>
          <a:p>
            <a:pPr defTabSz="685800" fontAlgn="auto">
              <a:spcBef>
                <a:spcPts val="0"/>
              </a:spcBef>
              <a:spcAft>
                <a:spcPts val="0"/>
              </a:spcAft>
            </a:pPr>
            <a:r>
              <a:rPr lang="en-IN" sz="1650" dirty="0">
                <a:solidFill>
                  <a:srgbClr val="000000"/>
                </a:solidFill>
                <a:latin typeface="Consolas" panose="020B0609020204030204" pitchFamily="49" charset="0"/>
                <a:ea typeface="Times New Roman" panose="02020603050405020304" pitchFamily="18" charset="0"/>
                <a:cs typeface="Shruti"/>
              </a:rPr>
              <a:t> </a:t>
            </a:r>
            <a:r>
              <a:rPr lang="en-IN" sz="1650" dirty="0">
                <a:solidFill>
                  <a:srgbClr val="0000FF"/>
                </a:solidFill>
                <a:latin typeface="Consolas" panose="020B0609020204030204" pitchFamily="49" charset="0"/>
                <a:ea typeface="Times New Roman" panose="02020603050405020304" pitchFamily="18" charset="0"/>
                <a:cs typeface="Shruti"/>
              </a:rPr>
              <a:t>public</a:t>
            </a:r>
            <a:r>
              <a:rPr lang="en-IN" sz="1650" dirty="0">
                <a:solidFill>
                  <a:srgbClr val="000000"/>
                </a:solidFill>
                <a:latin typeface="Consolas" panose="020B0609020204030204" pitchFamily="49" charset="0"/>
                <a:ea typeface="Times New Roman" panose="02020603050405020304" pitchFamily="18" charset="0"/>
                <a:cs typeface="Shruti"/>
              </a:rPr>
              <a:t>:</a:t>
            </a:r>
            <a:endParaRPr lang="en-IN" sz="1650" dirty="0">
              <a:solidFill>
                <a:prstClr val="black"/>
              </a:solidFill>
              <a:ea typeface="Times New Roman" panose="02020603050405020304" pitchFamily="18" charset="0"/>
              <a:cs typeface="+mn-cs"/>
            </a:endParaRPr>
          </a:p>
          <a:p>
            <a:pPr defTabSz="685800" fontAlgn="auto">
              <a:spcBef>
                <a:spcPts val="0"/>
              </a:spcBef>
              <a:spcAft>
                <a:spcPts val="0"/>
              </a:spcAft>
            </a:pPr>
            <a:r>
              <a:rPr lang="en-IN" sz="1650" dirty="0">
                <a:solidFill>
                  <a:srgbClr val="000000"/>
                </a:solidFill>
                <a:latin typeface="Consolas" panose="020B0609020204030204" pitchFamily="49" charset="0"/>
                <a:ea typeface="Times New Roman" panose="02020603050405020304" pitchFamily="18" charset="0"/>
                <a:cs typeface="Shruti"/>
              </a:rPr>
              <a:t>  demo()</a:t>
            </a:r>
          </a:p>
          <a:p>
            <a:pPr defTabSz="685800" fontAlgn="auto">
              <a:spcBef>
                <a:spcPts val="0"/>
              </a:spcBef>
              <a:spcAft>
                <a:spcPts val="0"/>
              </a:spcAft>
            </a:pPr>
            <a:r>
              <a:rPr lang="en-IN" sz="1650" dirty="0">
                <a:solidFill>
                  <a:srgbClr val="000000"/>
                </a:solidFill>
                <a:latin typeface="Consolas" panose="020B0609020204030204" pitchFamily="49" charset="0"/>
                <a:ea typeface="Times New Roman" panose="02020603050405020304" pitchFamily="18" charset="0"/>
                <a:cs typeface="Shruti"/>
              </a:rPr>
              <a:t>  {</a:t>
            </a:r>
            <a:endParaRPr lang="en-IN" sz="1650" dirty="0">
              <a:solidFill>
                <a:prstClr val="black"/>
              </a:solidFill>
              <a:ea typeface="Times New Roman" panose="02020603050405020304" pitchFamily="18" charset="0"/>
              <a:cs typeface="+mn-cs"/>
            </a:endParaRPr>
          </a:p>
          <a:p>
            <a:pPr defTabSz="685800" fontAlgn="auto">
              <a:spcBef>
                <a:spcPts val="0"/>
              </a:spcBef>
              <a:spcAft>
                <a:spcPts val="0"/>
              </a:spcAft>
            </a:pPr>
            <a:r>
              <a:rPr lang="en-IN" sz="1650" dirty="0">
                <a:solidFill>
                  <a:srgbClr val="000000"/>
                </a:solidFill>
                <a:latin typeface="Consolas" panose="020B0609020204030204" pitchFamily="49" charset="0"/>
                <a:ea typeface="Times New Roman" panose="02020603050405020304" pitchFamily="18" charset="0"/>
                <a:cs typeface="Shruti"/>
              </a:rPr>
              <a:t>    m=n=10;</a:t>
            </a:r>
            <a:endParaRPr lang="en-IN" sz="1650" dirty="0">
              <a:solidFill>
                <a:prstClr val="black"/>
              </a:solidFill>
              <a:ea typeface="Times New Roman" panose="02020603050405020304" pitchFamily="18" charset="0"/>
              <a:cs typeface="+mn-cs"/>
            </a:endParaRPr>
          </a:p>
          <a:p>
            <a:pPr defTabSz="685800" fontAlgn="auto">
              <a:spcBef>
                <a:spcPts val="0"/>
              </a:spcBef>
              <a:spcAft>
                <a:spcPts val="0"/>
              </a:spcAft>
            </a:pPr>
            <a:r>
              <a:rPr lang="en-IN" sz="1650" dirty="0">
                <a:solidFill>
                  <a:srgbClr val="000000"/>
                </a:solidFill>
                <a:latin typeface="Consolas" panose="020B0609020204030204" pitchFamily="49" charset="0"/>
                <a:ea typeface="Times New Roman" panose="02020603050405020304" pitchFamily="18" charset="0"/>
                <a:cs typeface="Shruti"/>
              </a:rPr>
              <a:t>  }</a:t>
            </a:r>
            <a:endParaRPr lang="en-IN" sz="1650" dirty="0">
              <a:solidFill>
                <a:prstClr val="black"/>
              </a:solidFill>
              <a:ea typeface="Times New Roman" panose="02020603050405020304" pitchFamily="18" charset="0"/>
              <a:cs typeface="+mn-cs"/>
            </a:endParaRPr>
          </a:p>
          <a:p>
            <a:pPr defTabSz="685800" fontAlgn="auto">
              <a:spcBef>
                <a:spcPts val="0"/>
              </a:spcBef>
              <a:spcAft>
                <a:spcPts val="0"/>
              </a:spcAft>
            </a:pPr>
            <a:r>
              <a:rPr lang="en-IN" sz="1650" dirty="0">
                <a:solidFill>
                  <a:srgbClr val="000000"/>
                </a:solidFill>
                <a:latin typeface="Consolas" panose="020B0609020204030204" pitchFamily="49" charset="0"/>
                <a:ea typeface="Times New Roman" panose="02020603050405020304" pitchFamily="18" charset="0"/>
                <a:cs typeface="Shruti"/>
              </a:rPr>
              <a:t>};</a:t>
            </a:r>
            <a:endParaRPr lang="en-IN" sz="1650" dirty="0">
              <a:solidFill>
                <a:prstClr val="black"/>
              </a:solidFill>
              <a:ea typeface="Times New Roman" panose="02020603050405020304" pitchFamily="18" charset="0"/>
              <a:cs typeface="+mn-cs"/>
            </a:endParaRPr>
          </a:p>
        </p:txBody>
      </p:sp>
      <p:sp>
        <p:nvSpPr>
          <p:cNvPr id="8" name="Rectangle 7"/>
          <p:cNvSpPr/>
          <p:nvPr/>
        </p:nvSpPr>
        <p:spPr>
          <a:xfrm>
            <a:off x="1430722" y="4162199"/>
            <a:ext cx="1561627" cy="1248884"/>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IN" sz="1350">
              <a:solidFill>
                <a:prstClr val="white"/>
              </a:solidFill>
              <a:latin typeface="Calibri"/>
            </a:endParaRPr>
          </a:p>
        </p:txBody>
      </p:sp>
      <p:sp>
        <p:nvSpPr>
          <p:cNvPr id="17" name="Rectangle 16"/>
          <p:cNvSpPr/>
          <p:nvPr/>
        </p:nvSpPr>
        <p:spPr>
          <a:xfrm>
            <a:off x="3610635" y="3600450"/>
            <a:ext cx="1885950" cy="1200329"/>
          </a:xfrm>
          <a:prstGeom prst="rect">
            <a:avLst/>
          </a:prstGeom>
          <a:solidFill>
            <a:schemeClr val="bg1">
              <a:lumMod val="85000"/>
            </a:schemeClr>
          </a:solidFill>
        </p:spPr>
        <p:txBody>
          <a:bodyPr wrap="square">
            <a:spAutoFit/>
          </a:bodyPr>
          <a:lstStyle/>
          <a:p>
            <a:pPr defTabSz="685800" fontAlgn="auto">
              <a:spcBef>
                <a:spcPts val="0"/>
              </a:spcBef>
              <a:spcAft>
                <a:spcPts val="0"/>
              </a:spcAft>
            </a:pPr>
            <a:r>
              <a:rPr lang="en-IN" sz="1800" dirty="0" err="1">
                <a:solidFill>
                  <a:srgbClr val="0000FF"/>
                </a:solidFill>
                <a:latin typeface="Consolas" panose="020B0609020204030204" pitchFamily="49" charset="0"/>
                <a:ea typeface="Times New Roman" panose="02020603050405020304" pitchFamily="18" charset="0"/>
                <a:cs typeface="Shruti"/>
              </a:rPr>
              <a:t>int</a:t>
            </a:r>
            <a:r>
              <a:rPr lang="en-IN" sz="1800" dirty="0">
                <a:solidFill>
                  <a:srgbClr val="000000"/>
                </a:solidFill>
                <a:latin typeface="Consolas" panose="020B0609020204030204" pitchFamily="49" charset="0"/>
                <a:ea typeface="Times New Roman" panose="02020603050405020304" pitchFamily="18" charset="0"/>
                <a:cs typeface="Shruti"/>
              </a:rPr>
              <a:t> main()</a:t>
            </a:r>
            <a:endParaRPr lang="en-IN" sz="900" dirty="0">
              <a:solidFill>
                <a:prstClr val="black"/>
              </a:solidFill>
              <a:ea typeface="Times New Roman" panose="02020603050405020304" pitchFamily="18" charset="0"/>
              <a:cs typeface="+mn-cs"/>
            </a:endParaRPr>
          </a:p>
          <a:p>
            <a:pPr defTabSz="685800" fontAlgn="auto">
              <a:spcBef>
                <a:spcPts val="0"/>
              </a:spcBef>
              <a:spcAft>
                <a:spcPts val="0"/>
              </a:spcAft>
            </a:pPr>
            <a:r>
              <a:rPr lang="en-IN" sz="1800" dirty="0">
                <a:solidFill>
                  <a:srgbClr val="000000"/>
                </a:solidFill>
                <a:latin typeface="Consolas" panose="020B0609020204030204" pitchFamily="49" charset="0"/>
                <a:ea typeface="Times New Roman" panose="02020603050405020304" pitchFamily="18" charset="0"/>
                <a:cs typeface="Shruti"/>
              </a:rPr>
              <a:t>{</a:t>
            </a:r>
            <a:endParaRPr lang="en-IN" sz="900" dirty="0">
              <a:solidFill>
                <a:prstClr val="black"/>
              </a:solidFill>
              <a:ea typeface="Times New Roman" panose="02020603050405020304" pitchFamily="18" charset="0"/>
              <a:cs typeface="+mn-cs"/>
            </a:endParaRPr>
          </a:p>
          <a:p>
            <a:pPr defTabSz="685800" fontAlgn="auto">
              <a:spcBef>
                <a:spcPts val="0"/>
              </a:spcBef>
              <a:spcAft>
                <a:spcPts val="0"/>
              </a:spcAft>
            </a:pPr>
            <a:r>
              <a:rPr lang="en-IN" sz="1800" dirty="0">
                <a:solidFill>
                  <a:srgbClr val="000000"/>
                </a:solidFill>
                <a:latin typeface="Consolas" panose="020B0609020204030204" pitchFamily="49" charset="0"/>
                <a:ea typeface="Times New Roman" panose="02020603050405020304" pitchFamily="18" charset="0"/>
                <a:cs typeface="Shruti"/>
              </a:rPr>
              <a:t>  demo d1; </a:t>
            </a:r>
            <a:endParaRPr lang="en-IN" sz="900" dirty="0">
              <a:solidFill>
                <a:prstClr val="black"/>
              </a:solidFill>
              <a:ea typeface="Times New Roman" panose="02020603050405020304" pitchFamily="18" charset="0"/>
              <a:cs typeface="+mn-cs"/>
            </a:endParaRPr>
          </a:p>
          <a:p>
            <a:pPr defTabSz="685800" fontAlgn="auto">
              <a:spcBef>
                <a:spcPts val="0"/>
              </a:spcBef>
              <a:spcAft>
                <a:spcPts val="0"/>
              </a:spcAft>
            </a:pPr>
            <a:r>
              <a:rPr lang="en-IN" sz="1800" dirty="0">
                <a:solidFill>
                  <a:srgbClr val="000000"/>
                </a:solidFill>
                <a:latin typeface="Consolas" panose="020B0609020204030204" pitchFamily="49" charset="0"/>
                <a:ea typeface="Times New Roman" panose="02020603050405020304" pitchFamily="18" charset="0"/>
                <a:cs typeface="Shruti"/>
              </a:rPr>
              <a:t>}</a:t>
            </a:r>
            <a:endParaRPr lang="en-IN" sz="900" dirty="0">
              <a:solidFill>
                <a:prstClr val="black"/>
              </a:solidFill>
              <a:ea typeface="Times New Roman" panose="02020603050405020304" pitchFamily="18" charset="0"/>
              <a:cs typeface="+mn-cs"/>
            </a:endParaRPr>
          </a:p>
        </p:txBody>
      </p:sp>
      <p:sp>
        <p:nvSpPr>
          <p:cNvPr id="7" name="Rectangle 6"/>
          <p:cNvSpPr/>
          <p:nvPr/>
        </p:nvSpPr>
        <p:spPr>
          <a:xfrm>
            <a:off x="3876801" y="4114607"/>
            <a:ext cx="1557338" cy="386075"/>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IN" sz="1350">
              <a:solidFill>
                <a:prstClr val="white"/>
              </a:solidFill>
              <a:latin typeface="Calibri"/>
            </a:endParaRPr>
          </a:p>
        </p:txBody>
      </p:sp>
    </p:spTree>
    <p:extLst>
      <p:ext uri="{BB962C8B-B14F-4D97-AF65-F5344CB8AC3E}">
        <p14:creationId xmlns:p14="http://schemas.microsoft.com/office/powerpoint/2010/main" val="385786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P spid="9" grpId="0" animBg="1"/>
      <p:bldP spid="10" grpId="0" animBg="1"/>
      <p:bldP spid="11" grpId="0" animBg="1"/>
      <p:bldP spid="13" grpId="0" animBg="1"/>
      <p:bldP spid="14" grpId="0" animBg="1"/>
      <p:bldP spid="15" grpId="0" animBg="1"/>
      <p:bldP spid="8" grpId="0" animBg="1"/>
      <p:bldP spid="17" grpId="0" animBg="1"/>
      <p:bldP spid="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Program Constructor</a:t>
            </a:r>
          </a:p>
        </p:txBody>
      </p:sp>
      <p:sp>
        <p:nvSpPr>
          <p:cNvPr id="4" name="Rectangle 3"/>
          <p:cNvSpPr/>
          <p:nvPr/>
        </p:nvSpPr>
        <p:spPr>
          <a:xfrm>
            <a:off x="1232295" y="1526728"/>
            <a:ext cx="5400675" cy="3693319"/>
          </a:xfrm>
          <a:prstGeom prst="rect">
            <a:avLst/>
          </a:prstGeom>
        </p:spPr>
        <p:txBody>
          <a:bodyPr wrap="square">
            <a:spAutoFit/>
          </a:bodyPr>
          <a:lstStyle/>
          <a:p>
            <a:pPr defTabSz="685800" fontAlgn="auto">
              <a:spcBef>
                <a:spcPts val="0"/>
              </a:spcBef>
              <a:spcAft>
                <a:spcPts val="0"/>
              </a:spcAft>
            </a:pPr>
            <a:r>
              <a:rPr lang="en-IN" sz="1800" dirty="0">
                <a:solidFill>
                  <a:srgbClr val="0000FF"/>
                </a:solidFill>
                <a:highlight>
                  <a:srgbClr val="FFFFFF"/>
                </a:highlight>
                <a:latin typeface="Consolas" panose="020B0609020204030204" pitchFamily="49" charset="0"/>
                <a:cs typeface="+mn-cs"/>
              </a:rPr>
              <a:t>class</a:t>
            </a:r>
            <a:r>
              <a:rPr lang="en-IN" sz="1800" dirty="0">
                <a:solidFill>
                  <a:srgbClr val="000000"/>
                </a:solidFill>
                <a:highlight>
                  <a:srgbClr val="FFFFFF"/>
                </a:highlight>
                <a:latin typeface="Consolas" panose="020B0609020204030204" pitchFamily="49" charset="0"/>
                <a:cs typeface="+mn-cs"/>
              </a:rPr>
              <a:t> Area</a:t>
            </a:r>
          </a:p>
          <a:p>
            <a:pPr defTabSz="685800" fontAlgn="auto">
              <a:spcBef>
                <a:spcPts val="0"/>
              </a:spcBef>
              <a:spcAft>
                <a:spcPts val="0"/>
              </a:spcAft>
            </a:pPr>
            <a:r>
              <a:rPr lang="en-IN" sz="1800" dirty="0">
                <a:solidFill>
                  <a:srgbClr val="000000"/>
                </a:solidFill>
                <a:highlight>
                  <a:srgbClr val="FFFFFF"/>
                </a:highlight>
                <a:latin typeface="Consolas" panose="020B0609020204030204" pitchFamily="49" charset="0"/>
                <a:cs typeface="+mn-cs"/>
              </a:rPr>
              <a:t>{</a:t>
            </a:r>
          </a:p>
          <a:p>
            <a:pPr defTabSz="685800" fontAlgn="auto">
              <a:spcBef>
                <a:spcPts val="0"/>
              </a:spcBef>
              <a:spcAft>
                <a:spcPts val="0"/>
              </a:spcAft>
            </a:pPr>
            <a:r>
              <a:rPr lang="en-IN" sz="1800" dirty="0">
                <a:solidFill>
                  <a:srgbClr val="000000"/>
                </a:solidFill>
                <a:highlight>
                  <a:srgbClr val="FFFFFF"/>
                </a:highlight>
                <a:latin typeface="Consolas" panose="020B0609020204030204" pitchFamily="49" charset="0"/>
                <a:cs typeface="+mn-cs"/>
              </a:rPr>
              <a:t>  </a:t>
            </a:r>
            <a:r>
              <a:rPr lang="en-IN" sz="1800" dirty="0">
                <a:solidFill>
                  <a:srgbClr val="0000FF"/>
                </a:solidFill>
                <a:highlight>
                  <a:srgbClr val="FFFFFF"/>
                </a:highlight>
                <a:latin typeface="Consolas" panose="020B0609020204030204" pitchFamily="49" charset="0"/>
                <a:cs typeface="+mn-cs"/>
              </a:rPr>
              <a:t>private</a:t>
            </a:r>
            <a:r>
              <a:rPr lang="en-IN" sz="1800" dirty="0">
                <a:solidFill>
                  <a:srgbClr val="000000"/>
                </a:solidFill>
                <a:highlight>
                  <a:srgbClr val="FFFFFF"/>
                </a:highlight>
                <a:latin typeface="Consolas" panose="020B0609020204030204" pitchFamily="49" charset="0"/>
                <a:cs typeface="+mn-cs"/>
              </a:rPr>
              <a:t>:</a:t>
            </a:r>
          </a:p>
          <a:p>
            <a:pPr defTabSz="685800" fontAlgn="auto">
              <a:spcBef>
                <a:spcPts val="0"/>
              </a:spcBef>
              <a:spcAft>
                <a:spcPts val="0"/>
              </a:spcAft>
            </a:pPr>
            <a:r>
              <a:rPr lang="en-IN" sz="1800" dirty="0">
                <a:solidFill>
                  <a:srgbClr val="000000"/>
                </a:solidFill>
                <a:highlight>
                  <a:srgbClr val="FFFFFF"/>
                </a:highlight>
                <a:latin typeface="Consolas" panose="020B0609020204030204" pitchFamily="49" charset="0"/>
                <a:cs typeface="+mn-cs"/>
              </a:rPr>
              <a:t>   </a:t>
            </a:r>
            <a:r>
              <a:rPr lang="en-IN" sz="1800" dirty="0" err="1">
                <a:solidFill>
                  <a:srgbClr val="0000FF"/>
                </a:solidFill>
                <a:highlight>
                  <a:srgbClr val="FFFFFF"/>
                </a:highlight>
                <a:latin typeface="Consolas" panose="020B0609020204030204" pitchFamily="49" charset="0"/>
                <a:cs typeface="+mn-cs"/>
              </a:rPr>
              <a:t>int</a:t>
            </a:r>
            <a:r>
              <a:rPr lang="en-IN" sz="1800" dirty="0">
                <a:solidFill>
                  <a:srgbClr val="000000"/>
                </a:solidFill>
                <a:highlight>
                  <a:srgbClr val="FFFFFF"/>
                </a:highlight>
                <a:latin typeface="Consolas" panose="020B0609020204030204" pitchFamily="49" charset="0"/>
                <a:cs typeface="+mn-cs"/>
              </a:rPr>
              <a:t> length, breadth;</a:t>
            </a:r>
          </a:p>
          <a:p>
            <a:pPr defTabSz="685800" fontAlgn="auto">
              <a:spcBef>
                <a:spcPts val="0"/>
              </a:spcBef>
              <a:spcAft>
                <a:spcPts val="0"/>
              </a:spcAft>
            </a:pPr>
            <a:r>
              <a:rPr lang="en-IN" sz="1800" dirty="0">
                <a:solidFill>
                  <a:srgbClr val="000000"/>
                </a:solidFill>
                <a:highlight>
                  <a:srgbClr val="FFFFFF"/>
                </a:highlight>
                <a:latin typeface="Consolas" panose="020B0609020204030204" pitchFamily="49" charset="0"/>
                <a:cs typeface="+mn-cs"/>
              </a:rPr>
              <a:t>  </a:t>
            </a:r>
            <a:r>
              <a:rPr lang="en-IN" sz="1800" dirty="0">
                <a:solidFill>
                  <a:srgbClr val="0000FF"/>
                </a:solidFill>
                <a:highlight>
                  <a:srgbClr val="FFFFFF"/>
                </a:highlight>
                <a:latin typeface="Consolas" panose="020B0609020204030204" pitchFamily="49" charset="0"/>
                <a:cs typeface="+mn-cs"/>
              </a:rPr>
              <a:t>public</a:t>
            </a:r>
            <a:r>
              <a:rPr lang="en-IN" sz="1800" dirty="0">
                <a:solidFill>
                  <a:srgbClr val="000000"/>
                </a:solidFill>
                <a:highlight>
                  <a:srgbClr val="FFFFFF"/>
                </a:highlight>
                <a:latin typeface="Consolas" panose="020B0609020204030204" pitchFamily="49" charset="0"/>
                <a:cs typeface="+mn-cs"/>
              </a:rPr>
              <a:t>:</a:t>
            </a:r>
          </a:p>
          <a:p>
            <a:pPr defTabSz="685800" fontAlgn="auto">
              <a:spcBef>
                <a:spcPts val="0"/>
              </a:spcBef>
              <a:spcAft>
                <a:spcPts val="0"/>
              </a:spcAft>
            </a:pPr>
            <a:r>
              <a:rPr lang="en-IN" sz="1800" dirty="0">
                <a:solidFill>
                  <a:srgbClr val="000000"/>
                </a:solidFill>
                <a:highlight>
                  <a:srgbClr val="FFFFFF"/>
                </a:highlight>
                <a:latin typeface="Consolas" panose="020B0609020204030204" pitchFamily="49" charset="0"/>
                <a:cs typeface="+mn-cs"/>
              </a:rPr>
              <a:t>   Area(){</a:t>
            </a:r>
          </a:p>
          <a:p>
            <a:pPr defTabSz="685800" fontAlgn="auto">
              <a:spcBef>
                <a:spcPts val="0"/>
              </a:spcBef>
              <a:spcAft>
                <a:spcPts val="0"/>
              </a:spcAft>
            </a:pPr>
            <a:r>
              <a:rPr lang="en-IN" sz="1800" dirty="0">
                <a:solidFill>
                  <a:srgbClr val="000000"/>
                </a:solidFill>
                <a:highlight>
                  <a:srgbClr val="FFFFFF"/>
                </a:highlight>
                <a:latin typeface="Consolas" panose="020B0609020204030204" pitchFamily="49" charset="0"/>
                <a:cs typeface="+mn-cs"/>
              </a:rPr>
              <a:t>   length=5;</a:t>
            </a:r>
          </a:p>
          <a:p>
            <a:pPr defTabSz="685800" fontAlgn="auto">
              <a:spcBef>
                <a:spcPts val="0"/>
              </a:spcBef>
              <a:spcAft>
                <a:spcPts val="0"/>
              </a:spcAft>
            </a:pPr>
            <a:r>
              <a:rPr lang="en-IN" sz="1800" dirty="0">
                <a:solidFill>
                  <a:srgbClr val="000000"/>
                </a:solidFill>
                <a:highlight>
                  <a:srgbClr val="FFFFFF"/>
                </a:highlight>
                <a:latin typeface="Consolas" panose="020B0609020204030204" pitchFamily="49" charset="0"/>
                <a:cs typeface="+mn-cs"/>
              </a:rPr>
              <a:t>   breadth=2;</a:t>
            </a:r>
          </a:p>
          <a:p>
            <a:pPr defTabSz="685800" fontAlgn="auto">
              <a:spcBef>
                <a:spcPts val="0"/>
              </a:spcBef>
              <a:spcAft>
                <a:spcPts val="0"/>
              </a:spcAft>
            </a:pPr>
            <a:r>
              <a:rPr lang="en-IN" sz="1800" dirty="0">
                <a:solidFill>
                  <a:srgbClr val="000000"/>
                </a:solidFill>
                <a:highlight>
                  <a:srgbClr val="FFFFFF"/>
                </a:highlight>
                <a:latin typeface="Consolas" panose="020B0609020204030204" pitchFamily="49" charset="0"/>
                <a:cs typeface="+mn-cs"/>
              </a:rPr>
              <a:t>   }</a:t>
            </a:r>
          </a:p>
          <a:p>
            <a:pPr defTabSz="685800" fontAlgn="auto">
              <a:spcBef>
                <a:spcPts val="0"/>
              </a:spcBef>
              <a:spcAft>
                <a:spcPts val="0"/>
              </a:spcAft>
            </a:pPr>
            <a:r>
              <a:rPr lang="en-IN" sz="1800" dirty="0">
                <a:solidFill>
                  <a:srgbClr val="000000"/>
                </a:solidFill>
                <a:highlight>
                  <a:srgbClr val="FFFFFF"/>
                </a:highlight>
                <a:latin typeface="Consolas" panose="020B0609020204030204" pitchFamily="49" charset="0"/>
                <a:cs typeface="+mn-cs"/>
              </a:rPr>
              <a:t>   </a:t>
            </a:r>
            <a:r>
              <a:rPr lang="en-IN" sz="1800" dirty="0">
                <a:solidFill>
                  <a:srgbClr val="0000FF"/>
                </a:solidFill>
                <a:highlight>
                  <a:srgbClr val="FFFFFF"/>
                </a:highlight>
                <a:latin typeface="Consolas" panose="020B0609020204030204" pitchFamily="49" charset="0"/>
                <a:cs typeface="+mn-cs"/>
              </a:rPr>
              <a:t>void</a:t>
            </a:r>
            <a:r>
              <a:rPr lang="en-IN" sz="1800" dirty="0">
                <a:solidFill>
                  <a:srgbClr val="000000"/>
                </a:solidFill>
                <a:highlight>
                  <a:srgbClr val="FFFFFF"/>
                </a:highlight>
                <a:latin typeface="Consolas" panose="020B0609020204030204" pitchFamily="49" charset="0"/>
                <a:cs typeface="+mn-cs"/>
              </a:rPr>
              <a:t> Calculate(){  </a:t>
            </a:r>
          </a:p>
          <a:p>
            <a:pPr defTabSz="685800" fontAlgn="auto">
              <a:spcBef>
                <a:spcPts val="0"/>
              </a:spcBef>
              <a:spcAft>
                <a:spcPts val="0"/>
              </a:spcAft>
            </a:pPr>
            <a:r>
              <a:rPr lang="en-IN" sz="1800" dirty="0">
                <a:solidFill>
                  <a:srgbClr val="000000"/>
                </a:solidFill>
                <a:highlight>
                  <a:srgbClr val="FFFFFF"/>
                </a:highlight>
                <a:latin typeface="Consolas" panose="020B0609020204030204" pitchFamily="49" charset="0"/>
                <a:cs typeface="+mn-cs"/>
              </a:rPr>
              <a:t>    </a:t>
            </a:r>
            <a:r>
              <a:rPr lang="en-IN" sz="1800" dirty="0" err="1">
                <a:solidFill>
                  <a:srgbClr val="000000"/>
                </a:solidFill>
                <a:highlight>
                  <a:srgbClr val="FFFFFF"/>
                </a:highlight>
                <a:latin typeface="Consolas" panose="020B0609020204030204" pitchFamily="49" charset="0"/>
                <a:cs typeface="+mn-cs"/>
              </a:rPr>
              <a:t>cout</a:t>
            </a:r>
            <a:r>
              <a:rPr lang="en-IN" sz="1800" dirty="0">
                <a:solidFill>
                  <a:srgbClr val="000000"/>
                </a:solidFill>
                <a:highlight>
                  <a:srgbClr val="FFFFFF"/>
                </a:highlight>
                <a:latin typeface="Consolas" panose="020B0609020204030204" pitchFamily="49" charset="0"/>
                <a:cs typeface="+mn-cs"/>
              </a:rPr>
              <a:t>&lt;&lt;</a:t>
            </a:r>
            <a:r>
              <a:rPr lang="en-IN" sz="1800" dirty="0">
                <a:solidFill>
                  <a:srgbClr val="A31515"/>
                </a:solidFill>
                <a:highlight>
                  <a:srgbClr val="FFFFFF"/>
                </a:highlight>
                <a:latin typeface="Consolas" panose="020B0609020204030204" pitchFamily="49" charset="0"/>
                <a:cs typeface="+mn-cs"/>
              </a:rPr>
              <a:t>"\</a:t>
            </a:r>
            <a:r>
              <a:rPr lang="en-IN" sz="1800" dirty="0" err="1">
                <a:solidFill>
                  <a:srgbClr val="A31515"/>
                </a:solidFill>
                <a:highlight>
                  <a:srgbClr val="FFFFFF"/>
                </a:highlight>
                <a:latin typeface="Consolas" panose="020B0609020204030204" pitchFamily="49" charset="0"/>
                <a:cs typeface="+mn-cs"/>
              </a:rPr>
              <a:t>narea</a:t>
            </a:r>
            <a:r>
              <a:rPr lang="en-IN" sz="1800" dirty="0">
                <a:solidFill>
                  <a:srgbClr val="A31515"/>
                </a:solidFill>
                <a:highlight>
                  <a:srgbClr val="FFFFFF"/>
                </a:highlight>
                <a:latin typeface="Consolas" panose="020B0609020204030204" pitchFamily="49" charset="0"/>
                <a:cs typeface="+mn-cs"/>
              </a:rPr>
              <a:t>="</a:t>
            </a:r>
            <a:r>
              <a:rPr lang="en-IN" sz="1800" dirty="0">
                <a:solidFill>
                  <a:srgbClr val="000000"/>
                </a:solidFill>
                <a:highlight>
                  <a:srgbClr val="FFFFFF"/>
                </a:highlight>
                <a:latin typeface="Consolas" panose="020B0609020204030204" pitchFamily="49" charset="0"/>
                <a:cs typeface="+mn-cs"/>
              </a:rPr>
              <a:t>&lt;&lt;length * breadth;  </a:t>
            </a:r>
          </a:p>
          <a:p>
            <a:pPr defTabSz="685800" fontAlgn="auto">
              <a:spcBef>
                <a:spcPts val="0"/>
              </a:spcBef>
              <a:spcAft>
                <a:spcPts val="0"/>
              </a:spcAft>
            </a:pPr>
            <a:r>
              <a:rPr lang="en-IN" sz="1800" dirty="0">
                <a:solidFill>
                  <a:srgbClr val="000000"/>
                </a:solidFill>
                <a:highlight>
                  <a:srgbClr val="FFFFFF"/>
                </a:highlight>
                <a:latin typeface="Consolas" panose="020B0609020204030204" pitchFamily="49" charset="0"/>
                <a:cs typeface="+mn-cs"/>
              </a:rPr>
              <a:t>   }</a:t>
            </a:r>
          </a:p>
          <a:p>
            <a:pPr defTabSz="685800" fontAlgn="auto">
              <a:spcBef>
                <a:spcPts val="0"/>
              </a:spcBef>
              <a:spcAft>
                <a:spcPts val="0"/>
              </a:spcAft>
            </a:pPr>
            <a:r>
              <a:rPr lang="en-IN" sz="1800" dirty="0">
                <a:solidFill>
                  <a:srgbClr val="000000"/>
                </a:solidFill>
                <a:highlight>
                  <a:srgbClr val="FFFFFF"/>
                </a:highlight>
                <a:latin typeface="Consolas" panose="020B0609020204030204" pitchFamily="49" charset="0"/>
                <a:cs typeface="+mn-cs"/>
              </a:rPr>
              <a:t>};</a:t>
            </a:r>
            <a:endParaRPr lang="en-IN" sz="1800" dirty="0">
              <a:solidFill>
                <a:prstClr val="black"/>
              </a:solidFill>
              <a:latin typeface="Courier New" panose="02070309020205020404" pitchFamily="49" charset="0"/>
              <a:cs typeface="Courier New" panose="02070309020205020404" pitchFamily="49" charset="0"/>
            </a:endParaRPr>
          </a:p>
        </p:txBody>
      </p:sp>
      <p:sp>
        <p:nvSpPr>
          <p:cNvPr id="5" name="Rectangle 4"/>
          <p:cNvSpPr/>
          <p:nvPr/>
        </p:nvSpPr>
        <p:spPr>
          <a:xfrm>
            <a:off x="5443533" y="1600200"/>
            <a:ext cx="2343150" cy="2031325"/>
          </a:xfrm>
          <a:prstGeom prst="rect">
            <a:avLst/>
          </a:prstGeom>
        </p:spPr>
        <p:txBody>
          <a:bodyPr wrap="square">
            <a:spAutoFit/>
          </a:bodyPr>
          <a:lstStyle/>
          <a:p>
            <a:pPr defTabSz="685800" fontAlgn="auto">
              <a:spcBef>
                <a:spcPts val="0"/>
              </a:spcBef>
              <a:spcAft>
                <a:spcPts val="0"/>
              </a:spcAft>
            </a:pPr>
            <a:r>
              <a:rPr lang="en-IN" sz="1800" dirty="0" err="1">
                <a:solidFill>
                  <a:srgbClr val="0000FF"/>
                </a:solidFill>
                <a:highlight>
                  <a:srgbClr val="FFFFFF"/>
                </a:highlight>
                <a:latin typeface="Consolas" panose="020B0609020204030204" pitchFamily="49" charset="0"/>
                <a:cs typeface="+mn-cs"/>
              </a:rPr>
              <a:t>int</a:t>
            </a:r>
            <a:r>
              <a:rPr lang="en-IN" sz="1800" dirty="0">
                <a:solidFill>
                  <a:srgbClr val="000000"/>
                </a:solidFill>
                <a:highlight>
                  <a:srgbClr val="FFFFFF"/>
                </a:highlight>
                <a:latin typeface="Consolas" panose="020B0609020204030204" pitchFamily="49" charset="0"/>
                <a:cs typeface="+mn-cs"/>
              </a:rPr>
              <a:t> main(){</a:t>
            </a:r>
          </a:p>
          <a:p>
            <a:pPr defTabSz="685800" fontAlgn="auto">
              <a:spcBef>
                <a:spcPts val="0"/>
              </a:spcBef>
              <a:spcAft>
                <a:spcPts val="0"/>
              </a:spcAft>
            </a:pPr>
            <a:r>
              <a:rPr lang="en-IN" sz="1800" dirty="0">
                <a:solidFill>
                  <a:srgbClr val="000000"/>
                </a:solidFill>
                <a:highlight>
                  <a:srgbClr val="FFFFFF"/>
                </a:highlight>
                <a:latin typeface="Consolas" panose="020B0609020204030204" pitchFamily="49" charset="0"/>
                <a:cs typeface="+mn-cs"/>
              </a:rPr>
              <a:t> Area A1;</a:t>
            </a:r>
          </a:p>
          <a:p>
            <a:pPr defTabSz="685800" fontAlgn="auto">
              <a:spcBef>
                <a:spcPts val="0"/>
              </a:spcBef>
              <a:spcAft>
                <a:spcPts val="0"/>
              </a:spcAft>
            </a:pPr>
            <a:r>
              <a:rPr lang="en-IN" sz="1800" dirty="0">
                <a:solidFill>
                  <a:srgbClr val="000000"/>
                </a:solidFill>
                <a:highlight>
                  <a:srgbClr val="FFFFFF"/>
                </a:highlight>
                <a:latin typeface="Consolas" panose="020B0609020204030204" pitchFamily="49" charset="0"/>
                <a:cs typeface="+mn-cs"/>
              </a:rPr>
              <a:t> A1.Calculate();</a:t>
            </a:r>
          </a:p>
          <a:p>
            <a:pPr defTabSz="685800" fontAlgn="auto">
              <a:spcBef>
                <a:spcPts val="0"/>
              </a:spcBef>
              <a:spcAft>
                <a:spcPts val="0"/>
              </a:spcAft>
            </a:pPr>
            <a:r>
              <a:rPr lang="en-IN" sz="1800" dirty="0">
                <a:solidFill>
                  <a:srgbClr val="000000"/>
                </a:solidFill>
                <a:highlight>
                  <a:srgbClr val="FFFFFF"/>
                </a:highlight>
                <a:latin typeface="Consolas" panose="020B0609020204030204" pitchFamily="49" charset="0"/>
                <a:cs typeface="+mn-cs"/>
              </a:rPr>
              <a:t> Area A2;</a:t>
            </a:r>
          </a:p>
          <a:p>
            <a:pPr defTabSz="685800" fontAlgn="auto">
              <a:spcBef>
                <a:spcPts val="0"/>
              </a:spcBef>
              <a:spcAft>
                <a:spcPts val="0"/>
              </a:spcAft>
            </a:pPr>
            <a:r>
              <a:rPr lang="en-IN" sz="1800" dirty="0">
                <a:solidFill>
                  <a:srgbClr val="000000"/>
                </a:solidFill>
                <a:highlight>
                  <a:srgbClr val="FFFFFF"/>
                </a:highlight>
                <a:latin typeface="Consolas" panose="020B0609020204030204" pitchFamily="49" charset="0"/>
                <a:cs typeface="+mn-cs"/>
              </a:rPr>
              <a:t> A2.Calculate();</a:t>
            </a:r>
          </a:p>
          <a:p>
            <a:pPr defTabSz="685800" fontAlgn="auto">
              <a:spcBef>
                <a:spcPts val="0"/>
              </a:spcBef>
              <a:spcAft>
                <a:spcPts val="0"/>
              </a:spcAft>
            </a:pPr>
            <a:r>
              <a:rPr lang="en-IN" sz="1800" dirty="0">
                <a:solidFill>
                  <a:srgbClr val="000000"/>
                </a:solidFill>
                <a:highlight>
                  <a:srgbClr val="FFFFFF"/>
                </a:highlight>
                <a:latin typeface="Consolas" panose="020B0609020204030204" pitchFamily="49" charset="0"/>
                <a:cs typeface="+mn-cs"/>
              </a:rPr>
              <a:t> </a:t>
            </a:r>
            <a:r>
              <a:rPr lang="en-IN" sz="1800" dirty="0">
                <a:solidFill>
                  <a:srgbClr val="0000FF"/>
                </a:solidFill>
                <a:highlight>
                  <a:srgbClr val="FFFFFF"/>
                </a:highlight>
                <a:latin typeface="Consolas" panose="020B0609020204030204" pitchFamily="49" charset="0"/>
                <a:cs typeface="+mn-cs"/>
              </a:rPr>
              <a:t>return</a:t>
            </a:r>
            <a:r>
              <a:rPr lang="en-IN" sz="1800" dirty="0">
                <a:solidFill>
                  <a:srgbClr val="000000"/>
                </a:solidFill>
                <a:highlight>
                  <a:srgbClr val="FFFFFF"/>
                </a:highlight>
                <a:latin typeface="Consolas" panose="020B0609020204030204" pitchFamily="49" charset="0"/>
                <a:cs typeface="+mn-cs"/>
              </a:rPr>
              <a:t> 0;</a:t>
            </a:r>
          </a:p>
          <a:p>
            <a:pPr defTabSz="685800" fontAlgn="auto">
              <a:spcBef>
                <a:spcPts val="0"/>
              </a:spcBef>
              <a:spcAft>
                <a:spcPts val="0"/>
              </a:spcAft>
            </a:pPr>
            <a:r>
              <a:rPr lang="en-IN" sz="1800" dirty="0">
                <a:solidFill>
                  <a:srgbClr val="000000"/>
                </a:solidFill>
                <a:highlight>
                  <a:srgbClr val="FFFFFF"/>
                </a:highlight>
                <a:latin typeface="Consolas" panose="020B0609020204030204" pitchFamily="49" charset="0"/>
                <a:cs typeface="+mn-cs"/>
              </a:rPr>
              <a:t>}</a:t>
            </a:r>
          </a:p>
        </p:txBody>
      </p:sp>
      <p:sp>
        <p:nvSpPr>
          <p:cNvPr id="6" name="Rectangle 5"/>
          <p:cNvSpPr/>
          <p:nvPr/>
        </p:nvSpPr>
        <p:spPr>
          <a:xfrm>
            <a:off x="2014536" y="1587855"/>
            <a:ext cx="628650" cy="2857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IN" sz="1350">
              <a:solidFill>
                <a:prstClr val="white"/>
              </a:solidFill>
              <a:latin typeface="Calibri"/>
            </a:endParaRPr>
          </a:p>
        </p:txBody>
      </p:sp>
      <p:sp>
        <p:nvSpPr>
          <p:cNvPr id="7" name="Rectangle 6"/>
          <p:cNvSpPr/>
          <p:nvPr/>
        </p:nvSpPr>
        <p:spPr>
          <a:xfrm>
            <a:off x="1661595" y="2940988"/>
            <a:ext cx="795856" cy="2857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IN" sz="1350">
              <a:solidFill>
                <a:prstClr val="white"/>
              </a:solidFill>
              <a:latin typeface="Calibri"/>
            </a:endParaRPr>
          </a:p>
        </p:txBody>
      </p:sp>
      <p:sp>
        <p:nvSpPr>
          <p:cNvPr id="8" name="Rectangle 7"/>
          <p:cNvSpPr/>
          <p:nvPr/>
        </p:nvSpPr>
        <p:spPr>
          <a:xfrm>
            <a:off x="5582840" y="1943100"/>
            <a:ext cx="1143000" cy="23931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IN" sz="1350">
              <a:solidFill>
                <a:prstClr val="white"/>
              </a:solidFill>
              <a:latin typeface="Calibri"/>
            </a:endParaRPr>
          </a:p>
        </p:txBody>
      </p:sp>
      <p:sp>
        <p:nvSpPr>
          <p:cNvPr id="10" name="Rectangle 9"/>
          <p:cNvSpPr/>
          <p:nvPr/>
        </p:nvSpPr>
        <p:spPr>
          <a:xfrm>
            <a:off x="1657350" y="3250373"/>
            <a:ext cx="1657350" cy="516481"/>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IN" sz="1350">
              <a:solidFill>
                <a:prstClr val="white"/>
              </a:solidFill>
              <a:latin typeface="Calibri"/>
            </a:endParaRPr>
          </a:p>
        </p:txBody>
      </p:sp>
      <p:sp>
        <p:nvSpPr>
          <p:cNvPr id="15" name="Rectangle 14"/>
          <p:cNvSpPr/>
          <p:nvPr/>
        </p:nvSpPr>
        <p:spPr>
          <a:xfrm>
            <a:off x="4531122" y="4615338"/>
            <a:ext cx="971550" cy="3429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r>
              <a:rPr lang="en-IN" sz="1650" dirty="0">
                <a:solidFill>
                  <a:prstClr val="white"/>
                </a:solidFill>
                <a:latin typeface="Calibri"/>
              </a:rPr>
              <a:t>A1</a:t>
            </a:r>
          </a:p>
        </p:txBody>
      </p:sp>
      <p:sp>
        <p:nvSpPr>
          <p:cNvPr id="16" name="Rectangle 15"/>
          <p:cNvSpPr/>
          <p:nvPr/>
        </p:nvSpPr>
        <p:spPr>
          <a:xfrm>
            <a:off x="4182002" y="5357874"/>
            <a:ext cx="812700" cy="3429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r>
              <a:rPr lang="en-IN" sz="1650" dirty="0">
                <a:solidFill>
                  <a:prstClr val="white"/>
                </a:solidFill>
                <a:latin typeface="Calibri"/>
              </a:rPr>
              <a:t>5</a:t>
            </a:r>
          </a:p>
        </p:txBody>
      </p:sp>
      <p:sp>
        <p:nvSpPr>
          <p:cNvPr id="17" name="Rectangle 16"/>
          <p:cNvSpPr/>
          <p:nvPr/>
        </p:nvSpPr>
        <p:spPr>
          <a:xfrm>
            <a:off x="5026190" y="5357874"/>
            <a:ext cx="812907" cy="3429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r>
              <a:rPr lang="en-IN" sz="1650" dirty="0">
                <a:solidFill>
                  <a:prstClr val="white"/>
                </a:solidFill>
                <a:latin typeface="Calibri"/>
              </a:rPr>
              <a:t>2</a:t>
            </a:r>
          </a:p>
        </p:txBody>
      </p:sp>
      <p:sp>
        <p:nvSpPr>
          <p:cNvPr id="18" name="Rectangle 17"/>
          <p:cNvSpPr/>
          <p:nvPr/>
        </p:nvSpPr>
        <p:spPr>
          <a:xfrm>
            <a:off x="4182002" y="4986378"/>
            <a:ext cx="812700" cy="3429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r>
              <a:rPr lang="en-IN" sz="1650" dirty="0">
                <a:solidFill>
                  <a:prstClr val="white"/>
                </a:solidFill>
                <a:latin typeface="Calibri"/>
              </a:rPr>
              <a:t>length</a:t>
            </a:r>
          </a:p>
        </p:txBody>
      </p:sp>
      <p:sp>
        <p:nvSpPr>
          <p:cNvPr id="19" name="Rectangle 18"/>
          <p:cNvSpPr/>
          <p:nvPr/>
        </p:nvSpPr>
        <p:spPr>
          <a:xfrm>
            <a:off x="5026190" y="4982576"/>
            <a:ext cx="971550" cy="3429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r>
              <a:rPr lang="en-IN" sz="1650" dirty="0">
                <a:solidFill>
                  <a:prstClr val="white"/>
                </a:solidFill>
                <a:latin typeface="Calibri"/>
              </a:rPr>
              <a:t>breadth</a:t>
            </a:r>
          </a:p>
        </p:txBody>
      </p:sp>
      <p:sp>
        <p:nvSpPr>
          <p:cNvPr id="20" name="Rectangle 19"/>
          <p:cNvSpPr/>
          <p:nvPr/>
        </p:nvSpPr>
        <p:spPr>
          <a:xfrm>
            <a:off x="6486525" y="4598141"/>
            <a:ext cx="971550" cy="3429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r>
              <a:rPr lang="en-IN" sz="1650" dirty="0">
                <a:solidFill>
                  <a:prstClr val="white"/>
                </a:solidFill>
                <a:latin typeface="Calibri"/>
              </a:rPr>
              <a:t>A2</a:t>
            </a:r>
          </a:p>
        </p:txBody>
      </p:sp>
      <p:sp>
        <p:nvSpPr>
          <p:cNvPr id="21" name="Rectangle 20"/>
          <p:cNvSpPr/>
          <p:nvPr/>
        </p:nvSpPr>
        <p:spPr>
          <a:xfrm>
            <a:off x="6137405" y="5340677"/>
            <a:ext cx="812700" cy="3429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r>
              <a:rPr lang="en-IN" sz="1650" dirty="0">
                <a:solidFill>
                  <a:prstClr val="white"/>
                </a:solidFill>
                <a:latin typeface="Calibri"/>
              </a:rPr>
              <a:t>5</a:t>
            </a:r>
          </a:p>
        </p:txBody>
      </p:sp>
      <p:sp>
        <p:nvSpPr>
          <p:cNvPr id="22" name="Rectangle 21"/>
          <p:cNvSpPr/>
          <p:nvPr/>
        </p:nvSpPr>
        <p:spPr>
          <a:xfrm>
            <a:off x="6981593" y="5340677"/>
            <a:ext cx="812907" cy="3429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r>
              <a:rPr lang="en-IN" sz="1650" dirty="0">
                <a:solidFill>
                  <a:prstClr val="white"/>
                </a:solidFill>
                <a:latin typeface="Calibri"/>
              </a:rPr>
              <a:t>2</a:t>
            </a:r>
          </a:p>
        </p:txBody>
      </p:sp>
      <p:sp>
        <p:nvSpPr>
          <p:cNvPr id="23" name="Rectangle 22"/>
          <p:cNvSpPr/>
          <p:nvPr/>
        </p:nvSpPr>
        <p:spPr>
          <a:xfrm>
            <a:off x="6137405" y="4969181"/>
            <a:ext cx="812700" cy="3429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r>
              <a:rPr lang="en-IN" sz="1650" dirty="0">
                <a:solidFill>
                  <a:prstClr val="white"/>
                </a:solidFill>
                <a:latin typeface="Calibri"/>
              </a:rPr>
              <a:t>length</a:t>
            </a:r>
          </a:p>
        </p:txBody>
      </p:sp>
      <p:sp>
        <p:nvSpPr>
          <p:cNvPr id="24" name="Rectangle 23"/>
          <p:cNvSpPr/>
          <p:nvPr/>
        </p:nvSpPr>
        <p:spPr>
          <a:xfrm>
            <a:off x="6981593" y="4965378"/>
            <a:ext cx="971550" cy="3429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r>
              <a:rPr lang="en-IN" sz="1650" dirty="0">
                <a:solidFill>
                  <a:prstClr val="white"/>
                </a:solidFill>
                <a:latin typeface="Calibri"/>
              </a:rPr>
              <a:t>breadth</a:t>
            </a:r>
          </a:p>
        </p:txBody>
      </p:sp>
      <p:sp>
        <p:nvSpPr>
          <p:cNvPr id="25" name="Rectangle 24"/>
          <p:cNvSpPr/>
          <p:nvPr/>
        </p:nvSpPr>
        <p:spPr>
          <a:xfrm>
            <a:off x="5592637" y="2495379"/>
            <a:ext cx="1143000" cy="23931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IN" sz="1350">
              <a:solidFill>
                <a:prstClr val="white"/>
              </a:solidFill>
              <a:latin typeface="Calibri"/>
            </a:endParaRPr>
          </a:p>
        </p:txBody>
      </p:sp>
    </p:spTree>
    <p:extLst>
      <p:ext uri="{BB962C8B-B14F-4D97-AF65-F5344CB8AC3E}">
        <p14:creationId xmlns:p14="http://schemas.microsoft.com/office/powerpoint/2010/main" val="1392751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0"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2) Parameterized Constructor</a:t>
            </a:r>
          </a:p>
        </p:txBody>
      </p:sp>
      <p:sp>
        <p:nvSpPr>
          <p:cNvPr id="3" name="Content Placeholder 2"/>
          <p:cNvSpPr>
            <a:spLocks noGrp="1"/>
          </p:cNvSpPr>
          <p:nvPr>
            <p:ph idx="1"/>
          </p:nvPr>
        </p:nvSpPr>
        <p:spPr/>
        <p:txBody>
          <a:bodyPr>
            <a:normAutofit/>
          </a:bodyPr>
          <a:lstStyle/>
          <a:p>
            <a:pPr lvl="0" algn="just"/>
            <a:r>
              <a:rPr lang="en-US" sz="2400" dirty="0"/>
              <a:t>Constructors that can take arguments are called </a:t>
            </a:r>
            <a:r>
              <a:rPr lang="en-US" sz="2400" b="1" dirty="0">
                <a:solidFill>
                  <a:srgbClr val="C00000"/>
                </a:solidFill>
              </a:rPr>
              <a:t>parameterized constructors</a:t>
            </a:r>
            <a:r>
              <a:rPr lang="en-US" sz="2400" b="1" dirty="0"/>
              <a:t>.</a:t>
            </a:r>
            <a:endParaRPr lang="en-IN" sz="2400" dirty="0"/>
          </a:p>
          <a:p>
            <a:pPr lvl="0" algn="just"/>
            <a:r>
              <a:rPr lang="en-US" sz="2400" dirty="0"/>
              <a:t>Sometimes it is necessary </a:t>
            </a:r>
            <a:r>
              <a:rPr lang="en-US" sz="2400" b="1" i="1" dirty="0"/>
              <a:t>to initialize the various data elements of different objects </a:t>
            </a:r>
            <a:r>
              <a:rPr lang="en-US" sz="2400" dirty="0"/>
              <a:t>with </a:t>
            </a:r>
            <a:r>
              <a:rPr lang="en-US" sz="2400" b="1" i="1" dirty="0"/>
              <a:t>different values </a:t>
            </a:r>
            <a:r>
              <a:rPr lang="en-US" sz="2400" dirty="0"/>
              <a:t>when they are created.</a:t>
            </a:r>
            <a:endParaRPr lang="en-IN" sz="2400" dirty="0"/>
          </a:p>
          <a:p>
            <a:pPr lvl="0" algn="just"/>
            <a:r>
              <a:rPr lang="en-US" sz="2400" dirty="0"/>
              <a:t>We can achieve this objective by </a:t>
            </a:r>
            <a:r>
              <a:rPr lang="en-US" sz="2400" b="1" i="1" dirty="0"/>
              <a:t>passing arguments to the constructor function </a:t>
            </a:r>
            <a:r>
              <a:rPr lang="en-US" sz="2400" dirty="0"/>
              <a:t>when the objects are created.</a:t>
            </a:r>
            <a:endParaRPr lang="en-IN" sz="2400" dirty="0"/>
          </a:p>
          <a:p>
            <a:endParaRPr lang="en-IN" sz="2400" dirty="0"/>
          </a:p>
        </p:txBody>
      </p:sp>
    </p:spTree>
    <p:extLst>
      <p:ext uri="{BB962C8B-B14F-4D97-AF65-F5344CB8AC3E}">
        <p14:creationId xmlns:p14="http://schemas.microsoft.com/office/powerpoint/2010/main" val="27881484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1285875" y="2343151"/>
            <a:ext cx="6554153" cy="3323987"/>
          </a:xfrm>
          <a:prstGeom prst="rect">
            <a:avLst/>
          </a:prstGeom>
          <a:solidFill>
            <a:schemeClr val="bg1">
              <a:lumMod val="85000"/>
            </a:schemeClr>
          </a:solidFill>
        </p:spPr>
        <p:txBody>
          <a:bodyPr wrap="square">
            <a:spAutoFit/>
          </a:bodyPr>
          <a:lstStyle/>
          <a:p>
            <a:pPr defTabSz="685800" fontAlgn="auto">
              <a:spcBef>
                <a:spcPts val="0"/>
              </a:spcBef>
              <a:spcAft>
                <a:spcPts val="0"/>
              </a:spcAft>
            </a:pPr>
            <a:r>
              <a:rPr lang="en-IN" sz="1500" b="1" dirty="0">
                <a:solidFill>
                  <a:srgbClr val="0000FF"/>
                </a:solidFill>
                <a:latin typeface="Consolas" panose="020B0609020204030204" pitchFamily="49" charset="0"/>
                <a:ea typeface="Times New Roman" panose="02020603050405020304" pitchFamily="18" charset="0"/>
                <a:cs typeface="Shruti"/>
              </a:rPr>
              <a:t>class</a:t>
            </a:r>
            <a:r>
              <a:rPr lang="en-IN" sz="1500" b="1" dirty="0">
                <a:solidFill>
                  <a:srgbClr val="000000"/>
                </a:solidFill>
                <a:latin typeface="Consolas" panose="020B0609020204030204" pitchFamily="49" charset="0"/>
                <a:ea typeface="Times New Roman" panose="02020603050405020304" pitchFamily="18" charset="0"/>
                <a:cs typeface="Shruti"/>
              </a:rPr>
              <a:t> demo</a:t>
            </a:r>
            <a:endParaRPr lang="en-IN" sz="1500" b="1" dirty="0">
              <a:solidFill>
                <a:prstClr val="black"/>
              </a:solidFill>
              <a:ea typeface="Times New Roman" panose="02020603050405020304" pitchFamily="18" charset="0"/>
              <a:cs typeface="+mn-cs"/>
            </a:endParaRPr>
          </a:p>
          <a:p>
            <a:pPr defTabSz="685800" fontAlgn="auto">
              <a:spcBef>
                <a:spcPts val="0"/>
              </a:spcBef>
              <a:spcAft>
                <a:spcPts val="0"/>
              </a:spcAft>
            </a:pPr>
            <a:r>
              <a:rPr lang="en-IN" sz="1500" b="1" dirty="0">
                <a:solidFill>
                  <a:srgbClr val="000000"/>
                </a:solidFill>
                <a:latin typeface="Consolas" panose="020B0609020204030204" pitchFamily="49" charset="0"/>
                <a:ea typeface="Times New Roman" panose="02020603050405020304" pitchFamily="18" charset="0"/>
                <a:cs typeface="Shruti"/>
              </a:rPr>
              <a:t>{</a:t>
            </a:r>
            <a:endParaRPr lang="en-IN" sz="1500" b="1" dirty="0">
              <a:solidFill>
                <a:prstClr val="black"/>
              </a:solidFill>
              <a:ea typeface="Times New Roman" panose="02020603050405020304" pitchFamily="18" charset="0"/>
              <a:cs typeface="+mn-cs"/>
            </a:endParaRPr>
          </a:p>
          <a:p>
            <a:pPr defTabSz="685800" fontAlgn="auto">
              <a:spcBef>
                <a:spcPts val="0"/>
              </a:spcBef>
              <a:spcAft>
                <a:spcPts val="0"/>
              </a:spcAft>
            </a:pPr>
            <a:r>
              <a:rPr lang="en-IN" sz="1500" b="1" dirty="0">
                <a:solidFill>
                  <a:srgbClr val="000000"/>
                </a:solidFill>
                <a:latin typeface="Consolas" panose="020B0609020204030204" pitchFamily="49" charset="0"/>
                <a:ea typeface="Times New Roman" panose="02020603050405020304" pitchFamily="18" charset="0"/>
                <a:cs typeface="Shruti"/>
              </a:rPr>
              <a:t>   </a:t>
            </a:r>
            <a:r>
              <a:rPr lang="en-IN" sz="1500" b="1" dirty="0" err="1">
                <a:solidFill>
                  <a:srgbClr val="0000FF"/>
                </a:solidFill>
                <a:latin typeface="Consolas" panose="020B0609020204030204" pitchFamily="49" charset="0"/>
                <a:ea typeface="Times New Roman" panose="02020603050405020304" pitchFamily="18" charset="0"/>
                <a:cs typeface="Shruti"/>
              </a:rPr>
              <a:t>int</a:t>
            </a:r>
            <a:r>
              <a:rPr lang="en-IN" sz="1500" b="1" dirty="0">
                <a:solidFill>
                  <a:srgbClr val="000000"/>
                </a:solidFill>
                <a:latin typeface="Consolas" panose="020B0609020204030204" pitchFamily="49" charset="0"/>
                <a:ea typeface="Times New Roman" panose="02020603050405020304" pitchFamily="18" charset="0"/>
                <a:cs typeface="Shruti"/>
              </a:rPr>
              <a:t> </a:t>
            </a:r>
            <a:r>
              <a:rPr lang="en-IN" sz="1500" b="1" dirty="0" err="1">
                <a:solidFill>
                  <a:srgbClr val="000000"/>
                </a:solidFill>
                <a:latin typeface="Consolas" panose="020B0609020204030204" pitchFamily="49" charset="0"/>
                <a:ea typeface="Times New Roman" panose="02020603050405020304" pitchFamily="18" charset="0"/>
                <a:cs typeface="Shruti"/>
              </a:rPr>
              <a:t>m,n</a:t>
            </a:r>
            <a:r>
              <a:rPr lang="en-IN" sz="1500" b="1" dirty="0">
                <a:solidFill>
                  <a:srgbClr val="000000"/>
                </a:solidFill>
                <a:latin typeface="Consolas" panose="020B0609020204030204" pitchFamily="49" charset="0"/>
                <a:ea typeface="Times New Roman" panose="02020603050405020304" pitchFamily="18" charset="0"/>
                <a:cs typeface="Shruti"/>
              </a:rPr>
              <a:t>;</a:t>
            </a:r>
            <a:endParaRPr lang="en-IN" sz="1500" b="1" dirty="0">
              <a:solidFill>
                <a:prstClr val="black"/>
              </a:solidFill>
              <a:ea typeface="Times New Roman" panose="02020603050405020304" pitchFamily="18" charset="0"/>
              <a:cs typeface="+mn-cs"/>
            </a:endParaRPr>
          </a:p>
          <a:p>
            <a:pPr defTabSz="685800" fontAlgn="auto">
              <a:spcBef>
                <a:spcPts val="0"/>
              </a:spcBef>
              <a:spcAft>
                <a:spcPts val="0"/>
              </a:spcAft>
            </a:pPr>
            <a:r>
              <a:rPr lang="en-IN" sz="1500" b="1" dirty="0">
                <a:solidFill>
                  <a:srgbClr val="000000"/>
                </a:solidFill>
                <a:latin typeface="Consolas" panose="020B0609020204030204" pitchFamily="49" charset="0"/>
                <a:ea typeface="Times New Roman" panose="02020603050405020304" pitchFamily="18" charset="0"/>
                <a:cs typeface="Shruti"/>
              </a:rPr>
              <a:t>   </a:t>
            </a:r>
            <a:r>
              <a:rPr lang="en-IN" sz="1500" b="1" dirty="0">
                <a:solidFill>
                  <a:srgbClr val="0000FF"/>
                </a:solidFill>
                <a:latin typeface="Consolas" panose="020B0609020204030204" pitchFamily="49" charset="0"/>
                <a:ea typeface="Times New Roman" panose="02020603050405020304" pitchFamily="18" charset="0"/>
                <a:cs typeface="Shruti"/>
              </a:rPr>
              <a:t>public</a:t>
            </a:r>
            <a:r>
              <a:rPr lang="en-IN" sz="1500" b="1" dirty="0">
                <a:solidFill>
                  <a:srgbClr val="000000"/>
                </a:solidFill>
                <a:latin typeface="Consolas" panose="020B0609020204030204" pitchFamily="49" charset="0"/>
                <a:ea typeface="Times New Roman" panose="02020603050405020304" pitchFamily="18" charset="0"/>
                <a:cs typeface="Shruti"/>
              </a:rPr>
              <a:t>:</a:t>
            </a:r>
            <a:endParaRPr lang="en-IN" sz="1500" b="1" dirty="0">
              <a:solidFill>
                <a:prstClr val="black"/>
              </a:solidFill>
              <a:ea typeface="Times New Roman" panose="02020603050405020304" pitchFamily="18" charset="0"/>
              <a:cs typeface="+mn-cs"/>
            </a:endParaRPr>
          </a:p>
          <a:p>
            <a:pPr defTabSz="685800" fontAlgn="auto">
              <a:spcBef>
                <a:spcPts val="0"/>
              </a:spcBef>
              <a:spcAft>
                <a:spcPts val="0"/>
              </a:spcAft>
            </a:pPr>
            <a:r>
              <a:rPr lang="en-IN" sz="1500" b="1" dirty="0">
                <a:solidFill>
                  <a:srgbClr val="000000"/>
                </a:solidFill>
                <a:latin typeface="Consolas" panose="020B0609020204030204" pitchFamily="49" charset="0"/>
                <a:ea typeface="Times New Roman" panose="02020603050405020304" pitchFamily="18" charset="0"/>
                <a:cs typeface="Shruti"/>
              </a:rPr>
              <a:t>   demo(</a:t>
            </a:r>
            <a:r>
              <a:rPr lang="en-IN" sz="1500" b="1" dirty="0" err="1">
                <a:solidFill>
                  <a:srgbClr val="0000FF"/>
                </a:solidFill>
                <a:latin typeface="Consolas" panose="020B0609020204030204" pitchFamily="49" charset="0"/>
                <a:ea typeface="Times New Roman" panose="02020603050405020304" pitchFamily="18" charset="0"/>
                <a:cs typeface="Shruti"/>
              </a:rPr>
              <a:t>int</a:t>
            </a:r>
            <a:r>
              <a:rPr lang="en-IN" sz="1500" b="1" dirty="0">
                <a:solidFill>
                  <a:srgbClr val="000000"/>
                </a:solidFill>
                <a:latin typeface="Consolas" panose="020B0609020204030204" pitchFamily="49" charset="0"/>
                <a:ea typeface="Times New Roman" panose="02020603050405020304" pitchFamily="18" charset="0"/>
                <a:cs typeface="Shruti"/>
              </a:rPr>
              <a:t> </a:t>
            </a:r>
            <a:r>
              <a:rPr lang="en-IN" sz="1500" b="1" dirty="0" err="1">
                <a:solidFill>
                  <a:srgbClr val="000000"/>
                </a:solidFill>
                <a:latin typeface="Consolas" panose="020B0609020204030204" pitchFamily="49" charset="0"/>
                <a:ea typeface="Times New Roman" panose="02020603050405020304" pitchFamily="18" charset="0"/>
                <a:cs typeface="Shruti"/>
              </a:rPr>
              <a:t>x,</a:t>
            </a:r>
            <a:r>
              <a:rPr lang="en-IN" sz="1500" b="1" dirty="0" err="1">
                <a:solidFill>
                  <a:srgbClr val="0000FF"/>
                </a:solidFill>
                <a:latin typeface="Consolas" panose="020B0609020204030204" pitchFamily="49" charset="0"/>
                <a:ea typeface="Times New Roman" panose="02020603050405020304" pitchFamily="18" charset="0"/>
                <a:cs typeface="Shruti"/>
              </a:rPr>
              <a:t>int</a:t>
            </a:r>
            <a:r>
              <a:rPr lang="en-IN" sz="1500" b="1" dirty="0">
                <a:solidFill>
                  <a:srgbClr val="000000"/>
                </a:solidFill>
                <a:latin typeface="Consolas" panose="020B0609020204030204" pitchFamily="49" charset="0"/>
                <a:ea typeface="Times New Roman" panose="02020603050405020304" pitchFamily="18" charset="0"/>
                <a:cs typeface="Shruti"/>
              </a:rPr>
              <a:t> y){ </a:t>
            </a:r>
            <a:r>
              <a:rPr lang="en-IN" sz="1500" b="1" dirty="0">
                <a:solidFill>
                  <a:srgbClr val="008000"/>
                </a:solidFill>
                <a:latin typeface="Consolas" panose="020B0609020204030204" pitchFamily="49" charset="0"/>
                <a:ea typeface="Times New Roman" panose="02020603050405020304" pitchFamily="18" charset="0"/>
                <a:cs typeface="Shruti"/>
              </a:rPr>
              <a:t>//Parameterized Constructor </a:t>
            </a:r>
            <a:endParaRPr lang="en-IN" sz="1500" b="1" dirty="0">
              <a:solidFill>
                <a:prstClr val="black"/>
              </a:solidFill>
              <a:ea typeface="Times New Roman" panose="02020603050405020304" pitchFamily="18" charset="0"/>
              <a:cs typeface="+mn-cs"/>
            </a:endParaRPr>
          </a:p>
          <a:p>
            <a:pPr defTabSz="685800" fontAlgn="auto">
              <a:spcBef>
                <a:spcPts val="0"/>
              </a:spcBef>
              <a:spcAft>
                <a:spcPts val="0"/>
              </a:spcAft>
            </a:pPr>
            <a:r>
              <a:rPr lang="en-IN" sz="1500" b="1" dirty="0">
                <a:solidFill>
                  <a:srgbClr val="000000"/>
                </a:solidFill>
                <a:latin typeface="Consolas" panose="020B0609020204030204" pitchFamily="49" charset="0"/>
                <a:ea typeface="Times New Roman" panose="02020603050405020304" pitchFamily="18" charset="0"/>
                <a:cs typeface="Shruti"/>
              </a:rPr>
              <a:t>     m=x;</a:t>
            </a:r>
            <a:endParaRPr lang="en-IN" sz="1500" b="1" dirty="0">
              <a:solidFill>
                <a:prstClr val="black"/>
              </a:solidFill>
              <a:ea typeface="Times New Roman" panose="02020603050405020304" pitchFamily="18" charset="0"/>
              <a:cs typeface="+mn-cs"/>
            </a:endParaRPr>
          </a:p>
          <a:p>
            <a:pPr defTabSz="685800" fontAlgn="auto">
              <a:spcBef>
                <a:spcPts val="0"/>
              </a:spcBef>
              <a:spcAft>
                <a:spcPts val="0"/>
              </a:spcAft>
            </a:pPr>
            <a:r>
              <a:rPr lang="en-IN" sz="1500" b="1" dirty="0">
                <a:solidFill>
                  <a:srgbClr val="000000"/>
                </a:solidFill>
                <a:latin typeface="Consolas" panose="020B0609020204030204" pitchFamily="49" charset="0"/>
                <a:ea typeface="Times New Roman" panose="02020603050405020304" pitchFamily="18" charset="0"/>
                <a:cs typeface="Shruti"/>
              </a:rPr>
              <a:t>     n=y;</a:t>
            </a:r>
            <a:endParaRPr lang="en-IN" sz="1500" b="1" dirty="0">
              <a:solidFill>
                <a:prstClr val="black"/>
              </a:solidFill>
              <a:ea typeface="Times New Roman" panose="02020603050405020304" pitchFamily="18" charset="0"/>
              <a:cs typeface="+mn-cs"/>
            </a:endParaRPr>
          </a:p>
          <a:p>
            <a:pPr defTabSz="685800" fontAlgn="auto">
              <a:spcBef>
                <a:spcPts val="0"/>
              </a:spcBef>
              <a:spcAft>
                <a:spcPts val="0"/>
              </a:spcAft>
            </a:pPr>
            <a:r>
              <a:rPr lang="en-IN" sz="1500" b="1" dirty="0">
                <a:solidFill>
                  <a:srgbClr val="000000"/>
                </a:solidFill>
                <a:latin typeface="Consolas" panose="020B0609020204030204" pitchFamily="49" charset="0"/>
                <a:ea typeface="Times New Roman" panose="02020603050405020304" pitchFamily="18" charset="0"/>
                <a:cs typeface="Shruti"/>
              </a:rPr>
              <a:t>     </a:t>
            </a:r>
            <a:r>
              <a:rPr lang="en-IN" sz="1500" b="1" dirty="0" err="1">
                <a:solidFill>
                  <a:srgbClr val="000000"/>
                </a:solidFill>
                <a:latin typeface="Consolas" panose="020B0609020204030204" pitchFamily="49" charset="0"/>
                <a:ea typeface="Times New Roman" panose="02020603050405020304" pitchFamily="18" charset="0"/>
                <a:cs typeface="Shruti"/>
              </a:rPr>
              <a:t>cout</a:t>
            </a:r>
            <a:r>
              <a:rPr lang="en-IN" sz="1500" b="1" dirty="0">
                <a:solidFill>
                  <a:srgbClr val="000000"/>
                </a:solidFill>
                <a:latin typeface="Consolas" panose="020B0609020204030204" pitchFamily="49" charset="0"/>
                <a:ea typeface="Times New Roman" panose="02020603050405020304" pitchFamily="18" charset="0"/>
                <a:cs typeface="Shruti"/>
              </a:rPr>
              <a:t>&lt;&lt;“Constructor Called“;</a:t>
            </a:r>
            <a:endParaRPr lang="en-IN" sz="1500" b="1" dirty="0">
              <a:solidFill>
                <a:prstClr val="black"/>
              </a:solidFill>
              <a:ea typeface="Times New Roman" panose="02020603050405020304" pitchFamily="18" charset="0"/>
              <a:cs typeface="+mn-cs"/>
            </a:endParaRPr>
          </a:p>
          <a:p>
            <a:pPr defTabSz="685800" fontAlgn="auto">
              <a:spcBef>
                <a:spcPts val="0"/>
              </a:spcBef>
              <a:spcAft>
                <a:spcPts val="0"/>
              </a:spcAft>
            </a:pPr>
            <a:r>
              <a:rPr lang="en-IN" sz="1500" b="1" dirty="0">
                <a:solidFill>
                  <a:srgbClr val="000000"/>
                </a:solidFill>
                <a:latin typeface="Consolas" panose="020B0609020204030204" pitchFamily="49" charset="0"/>
                <a:ea typeface="Times New Roman" panose="02020603050405020304" pitchFamily="18" charset="0"/>
                <a:cs typeface="Shruti"/>
              </a:rPr>
              <a:t>   }</a:t>
            </a:r>
            <a:endParaRPr lang="en-IN" sz="1500" b="1" dirty="0">
              <a:solidFill>
                <a:prstClr val="black"/>
              </a:solidFill>
              <a:ea typeface="Times New Roman" panose="02020603050405020304" pitchFamily="18" charset="0"/>
              <a:cs typeface="+mn-cs"/>
            </a:endParaRPr>
          </a:p>
          <a:p>
            <a:pPr defTabSz="685800" fontAlgn="auto">
              <a:spcBef>
                <a:spcPts val="0"/>
              </a:spcBef>
              <a:spcAft>
                <a:spcPts val="0"/>
              </a:spcAft>
            </a:pPr>
            <a:r>
              <a:rPr lang="en-IN" sz="1500" b="1" dirty="0">
                <a:solidFill>
                  <a:srgbClr val="000000"/>
                </a:solidFill>
                <a:latin typeface="Consolas" panose="020B0609020204030204" pitchFamily="49" charset="0"/>
                <a:ea typeface="Times New Roman" panose="02020603050405020304" pitchFamily="18" charset="0"/>
                <a:cs typeface="Shruti"/>
              </a:rPr>
              <a:t>};</a:t>
            </a:r>
            <a:endParaRPr lang="en-IN" sz="1500" b="1" dirty="0">
              <a:solidFill>
                <a:prstClr val="black"/>
              </a:solidFill>
              <a:ea typeface="Times New Roman" panose="02020603050405020304" pitchFamily="18" charset="0"/>
              <a:cs typeface="+mn-cs"/>
            </a:endParaRPr>
          </a:p>
          <a:p>
            <a:pPr defTabSz="685800" fontAlgn="auto">
              <a:spcBef>
                <a:spcPts val="0"/>
              </a:spcBef>
              <a:spcAft>
                <a:spcPts val="0"/>
              </a:spcAft>
            </a:pPr>
            <a:r>
              <a:rPr lang="en-IN" sz="1500" b="1" dirty="0" err="1">
                <a:solidFill>
                  <a:srgbClr val="0000FF"/>
                </a:solidFill>
                <a:latin typeface="Consolas" panose="020B0609020204030204" pitchFamily="49" charset="0"/>
                <a:ea typeface="Times New Roman" panose="02020603050405020304" pitchFamily="18" charset="0"/>
                <a:cs typeface="Shruti"/>
              </a:rPr>
              <a:t>int</a:t>
            </a:r>
            <a:r>
              <a:rPr lang="en-IN" sz="1500" b="1" dirty="0">
                <a:solidFill>
                  <a:srgbClr val="000000"/>
                </a:solidFill>
                <a:latin typeface="Consolas" panose="020B0609020204030204" pitchFamily="49" charset="0"/>
                <a:ea typeface="Times New Roman" panose="02020603050405020304" pitchFamily="18" charset="0"/>
                <a:cs typeface="Shruti"/>
              </a:rPr>
              <a:t> main()</a:t>
            </a:r>
            <a:endParaRPr lang="en-IN" sz="1500" b="1" dirty="0">
              <a:solidFill>
                <a:prstClr val="black"/>
              </a:solidFill>
              <a:ea typeface="Times New Roman" panose="02020603050405020304" pitchFamily="18" charset="0"/>
              <a:cs typeface="+mn-cs"/>
            </a:endParaRPr>
          </a:p>
          <a:p>
            <a:pPr defTabSz="685800" fontAlgn="auto">
              <a:spcBef>
                <a:spcPts val="0"/>
              </a:spcBef>
              <a:spcAft>
                <a:spcPts val="0"/>
              </a:spcAft>
            </a:pPr>
            <a:r>
              <a:rPr lang="en-IN" sz="1500" b="1" dirty="0">
                <a:solidFill>
                  <a:srgbClr val="000000"/>
                </a:solidFill>
                <a:latin typeface="Consolas" panose="020B0609020204030204" pitchFamily="49" charset="0"/>
                <a:ea typeface="Times New Roman" panose="02020603050405020304" pitchFamily="18" charset="0"/>
                <a:cs typeface="Shruti"/>
              </a:rPr>
              <a:t>{</a:t>
            </a:r>
            <a:endParaRPr lang="en-IN" sz="1500" b="1" dirty="0">
              <a:solidFill>
                <a:prstClr val="black"/>
              </a:solidFill>
              <a:ea typeface="Times New Roman" panose="02020603050405020304" pitchFamily="18" charset="0"/>
              <a:cs typeface="+mn-cs"/>
            </a:endParaRPr>
          </a:p>
          <a:p>
            <a:pPr defTabSz="685800" fontAlgn="auto">
              <a:spcBef>
                <a:spcPts val="0"/>
              </a:spcBef>
              <a:spcAft>
                <a:spcPts val="0"/>
              </a:spcAft>
            </a:pPr>
            <a:r>
              <a:rPr lang="en-IN" sz="1500" b="1" dirty="0">
                <a:solidFill>
                  <a:srgbClr val="000000"/>
                </a:solidFill>
                <a:latin typeface="Consolas" panose="020B0609020204030204" pitchFamily="49" charset="0"/>
                <a:ea typeface="Times New Roman" panose="02020603050405020304" pitchFamily="18" charset="0"/>
                <a:cs typeface="Shruti"/>
              </a:rPr>
              <a:t>  demo d1(5,6);</a:t>
            </a:r>
            <a:endParaRPr lang="en-IN" sz="1500" b="1" dirty="0">
              <a:solidFill>
                <a:prstClr val="black"/>
              </a:solidFill>
              <a:ea typeface="Times New Roman" panose="02020603050405020304" pitchFamily="18" charset="0"/>
              <a:cs typeface="+mn-cs"/>
            </a:endParaRPr>
          </a:p>
          <a:p>
            <a:pPr defTabSz="685800" fontAlgn="auto">
              <a:spcBef>
                <a:spcPts val="0"/>
              </a:spcBef>
              <a:spcAft>
                <a:spcPts val="0"/>
              </a:spcAft>
            </a:pPr>
            <a:r>
              <a:rPr lang="en-IN" sz="1500" b="1" dirty="0">
                <a:solidFill>
                  <a:srgbClr val="000000"/>
                </a:solidFill>
                <a:latin typeface="Consolas" panose="020B0609020204030204" pitchFamily="49" charset="0"/>
                <a:ea typeface="Times New Roman" panose="02020603050405020304" pitchFamily="18" charset="0"/>
                <a:cs typeface="Shruti"/>
              </a:rPr>
              <a:t>}</a:t>
            </a:r>
            <a:endParaRPr lang="en-IN" sz="1500" b="1" dirty="0">
              <a:solidFill>
                <a:prstClr val="black"/>
              </a:solidFill>
              <a:ea typeface="Times New Roman" panose="02020603050405020304" pitchFamily="18" charset="0"/>
              <a:cs typeface="+mn-cs"/>
            </a:endParaRPr>
          </a:p>
        </p:txBody>
      </p:sp>
      <p:sp>
        <p:nvSpPr>
          <p:cNvPr id="2" name="Title 1"/>
          <p:cNvSpPr>
            <a:spLocks noGrp="1"/>
          </p:cNvSpPr>
          <p:nvPr>
            <p:ph type="title"/>
          </p:nvPr>
        </p:nvSpPr>
        <p:spPr/>
        <p:txBody>
          <a:bodyPr/>
          <a:lstStyle/>
          <a:p>
            <a:r>
              <a:rPr lang="en-IN" dirty="0"/>
              <a:t>Parameterized Constructor</a:t>
            </a:r>
          </a:p>
        </p:txBody>
      </p:sp>
      <p:sp>
        <p:nvSpPr>
          <p:cNvPr id="3" name="Rectangle 2"/>
          <p:cNvSpPr/>
          <p:nvPr/>
        </p:nvSpPr>
        <p:spPr>
          <a:xfrm>
            <a:off x="1515048" y="5092034"/>
            <a:ext cx="1771650" cy="285750"/>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IN" sz="1350">
              <a:solidFill>
                <a:prstClr val="white"/>
              </a:solidFill>
              <a:latin typeface="Calibri"/>
            </a:endParaRPr>
          </a:p>
        </p:txBody>
      </p:sp>
      <p:sp>
        <p:nvSpPr>
          <p:cNvPr id="5" name="Rectangle 4"/>
          <p:cNvSpPr/>
          <p:nvPr/>
        </p:nvSpPr>
        <p:spPr>
          <a:xfrm>
            <a:off x="1570537" y="3276600"/>
            <a:ext cx="5287464" cy="1201827"/>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IN" sz="1350">
              <a:solidFill>
                <a:prstClr val="white"/>
              </a:solidFill>
              <a:latin typeface="Calibri"/>
            </a:endParaRPr>
          </a:p>
        </p:txBody>
      </p:sp>
      <p:sp>
        <p:nvSpPr>
          <p:cNvPr id="6" name="Rectangle 5"/>
          <p:cNvSpPr/>
          <p:nvPr/>
        </p:nvSpPr>
        <p:spPr>
          <a:xfrm>
            <a:off x="6410597" y="4513637"/>
            <a:ext cx="971550" cy="3429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r>
              <a:rPr lang="en-IN" sz="1650" dirty="0">
                <a:solidFill>
                  <a:prstClr val="white"/>
                </a:solidFill>
                <a:latin typeface="Calibri"/>
              </a:rPr>
              <a:t>d1</a:t>
            </a:r>
          </a:p>
        </p:txBody>
      </p:sp>
      <p:sp>
        <p:nvSpPr>
          <p:cNvPr id="7" name="Rectangle 6"/>
          <p:cNvSpPr/>
          <p:nvPr/>
        </p:nvSpPr>
        <p:spPr>
          <a:xfrm>
            <a:off x="6396309" y="5244082"/>
            <a:ext cx="448628" cy="3429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r>
              <a:rPr lang="en-IN" sz="1650" dirty="0">
                <a:solidFill>
                  <a:prstClr val="white"/>
                </a:solidFill>
                <a:latin typeface="Calibri"/>
              </a:rPr>
              <a:t>5</a:t>
            </a:r>
          </a:p>
        </p:txBody>
      </p:sp>
      <p:sp>
        <p:nvSpPr>
          <p:cNvPr id="8" name="Rectangle 7"/>
          <p:cNvSpPr/>
          <p:nvPr/>
        </p:nvSpPr>
        <p:spPr>
          <a:xfrm>
            <a:off x="6938826" y="5244082"/>
            <a:ext cx="443321" cy="3429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r>
              <a:rPr lang="en-IN" sz="1650" dirty="0">
                <a:solidFill>
                  <a:prstClr val="white"/>
                </a:solidFill>
                <a:latin typeface="Calibri"/>
              </a:rPr>
              <a:t>6</a:t>
            </a:r>
          </a:p>
        </p:txBody>
      </p:sp>
      <p:sp>
        <p:nvSpPr>
          <p:cNvPr id="9" name="Rectangle 8"/>
          <p:cNvSpPr/>
          <p:nvPr/>
        </p:nvSpPr>
        <p:spPr>
          <a:xfrm>
            <a:off x="6401616" y="4878859"/>
            <a:ext cx="443321" cy="3429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r>
              <a:rPr lang="en-IN" sz="1650" dirty="0">
                <a:solidFill>
                  <a:prstClr val="white"/>
                </a:solidFill>
                <a:latin typeface="Calibri"/>
              </a:rPr>
              <a:t>m</a:t>
            </a:r>
          </a:p>
        </p:txBody>
      </p:sp>
      <p:sp>
        <p:nvSpPr>
          <p:cNvPr id="10" name="Rectangle 9"/>
          <p:cNvSpPr/>
          <p:nvPr/>
        </p:nvSpPr>
        <p:spPr>
          <a:xfrm>
            <a:off x="6938826" y="4875056"/>
            <a:ext cx="443321" cy="3429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r>
              <a:rPr lang="en-IN" sz="1650" dirty="0">
                <a:solidFill>
                  <a:prstClr val="white"/>
                </a:solidFill>
                <a:latin typeface="Calibri"/>
              </a:rPr>
              <a:t>n</a:t>
            </a:r>
          </a:p>
        </p:txBody>
      </p:sp>
      <p:sp>
        <p:nvSpPr>
          <p:cNvPr id="12" name="Rectangle 11"/>
          <p:cNvSpPr/>
          <p:nvPr/>
        </p:nvSpPr>
        <p:spPr>
          <a:xfrm>
            <a:off x="533400" y="1271018"/>
            <a:ext cx="7306628" cy="707886"/>
          </a:xfrm>
          <a:prstGeom prst="rect">
            <a:avLst/>
          </a:prstGeom>
          <a:solidFill>
            <a:schemeClr val="tx2">
              <a:lumMod val="20000"/>
              <a:lumOff val="80000"/>
            </a:schemeClr>
          </a:solidFill>
        </p:spPr>
        <p:txBody>
          <a:bodyPr wrap="square">
            <a:spAutoFit/>
          </a:bodyPr>
          <a:lstStyle/>
          <a:p>
            <a:pPr marL="257175" indent="-257175" algn="just" defTabSz="685800" fontAlgn="auto">
              <a:spcBef>
                <a:spcPts val="0"/>
              </a:spcBef>
              <a:spcAft>
                <a:spcPts val="0"/>
              </a:spcAft>
              <a:buFont typeface="Wingdings" panose="05000000000000000000" pitchFamily="2" charset="2"/>
              <a:buChar char="§"/>
            </a:pPr>
            <a:r>
              <a:rPr lang="en-US" sz="2000" b="1" dirty="0">
                <a:solidFill>
                  <a:prstClr val="black"/>
                </a:solidFill>
                <a:latin typeface="Calibri"/>
                <a:cs typeface="+mn-cs"/>
              </a:rPr>
              <a:t>Constructors that can take arguments are called </a:t>
            </a:r>
            <a:r>
              <a:rPr lang="en-US" sz="2000" b="1" dirty="0">
                <a:solidFill>
                  <a:srgbClr val="C00000"/>
                </a:solidFill>
                <a:latin typeface="Calibri"/>
                <a:cs typeface="+mn-cs"/>
              </a:rPr>
              <a:t>parameterized constructors</a:t>
            </a:r>
            <a:r>
              <a:rPr lang="en-US" sz="2000" b="1" dirty="0">
                <a:solidFill>
                  <a:prstClr val="black"/>
                </a:solidFill>
                <a:latin typeface="Calibri"/>
                <a:cs typeface="+mn-cs"/>
              </a:rPr>
              <a:t>.</a:t>
            </a:r>
            <a:endParaRPr lang="en-IN" sz="2000" b="1" dirty="0">
              <a:solidFill>
                <a:prstClr val="black"/>
              </a:solidFill>
              <a:latin typeface="Calibri"/>
              <a:cs typeface="+mn-cs"/>
            </a:endParaRPr>
          </a:p>
        </p:txBody>
      </p:sp>
      <p:sp>
        <p:nvSpPr>
          <p:cNvPr id="13" name="Rectangle 12"/>
          <p:cNvSpPr/>
          <p:nvPr/>
        </p:nvSpPr>
        <p:spPr>
          <a:xfrm>
            <a:off x="1497312" y="5030627"/>
            <a:ext cx="1885950" cy="359540"/>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IN" sz="1350">
              <a:solidFill>
                <a:prstClr val="white"/>
              </a:solidFill>
              <a:latin typeface="Calibri"/>
            </a:endParaRPr>
          </a:p>
        </p:txBody>
      </p:sp>
    </p:spTree>
    <p:extLst>
      <p:ext uri="{BB962C8B-B14F-4D97-AF65-F5344CB8AC3E}">
        <p14:creationId xmlns:p14="http://schemas.microsoft.com/office/powerpoint/2010/main" val="76938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1" nodeType="clickEffect">
                                  <p:stCondLst>
                                    <p:cond delay="0"/>
                                  </p:stCondLst>
                                  <p:childTnLst>
                                    <p:set>
                                      <p:cBhvr>
                                        <p:cTn id="12" dur="1" fill="hold">
                                          <p:stCondLst>
                                            <p:cond delay="0"/>
                                          </p:stCondLst>
                                        </p:cTn>
                                        <p:tgtEl>
                                          <p:spTgt spid="13"/>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3" grpId="0" animBg="1"/>
      <p:bldP spid="5" grpId="0" animBg="1"/>
      <p:bldP spid="6" grpId="0" animBg="1"/>
      <p:bldP spid="7" grpId="0" animBg="1"/>
      <p:bldP spid="8" grpId="0" animBg="1"/>
      <p:bldP spid="9" grpId="0" animBg="1"/>
      <p:bldP spid="10" grpId="0" animBg="1"/>
      <p:bldP spid="13" grpId="0" animBg="1"/>
      <p:bldP spid="13" grpId="1"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3) Copy Constructor</a:t>
            </a:r>
          </a:p>
        </p:txBody>
      </p:sp>
      <p:sp>
        <p:nvSpPr>
          <p:cNvPr id="3" name="Content Placeholder 2"/>
          <p:cNvSpPr>
            <a:spLocks noGrp="1"/>
          </p:cNvSpPr>
          <p:nvPr>
            <p:ph idx="1"/>
          </p:nvPr>
        </p:nvSpPr>
        <p:spPr/>
        <p:txBody>
          <a:bodyPr>
            <a:normAutofit/>
          </a:bodyPr>
          <a:lstStyle/>
          <a:p>
            <a:pPr lvl="0" algn="just"/>
            <a:r>
              <a:rPr lang="en-US" sz="2000" dirty="0"/>
              <a:t>A </a:t>
            </a:r>
            <a:r>
              <a:rPr lang="en-US" sz="2000" b="1" dirty="0">
                <a:solidFill>
                  <a:srgbClr val="C00000"/>
                </a:solidFill>
              </a:rPr>
              <a:t>copy constructor </a:t>
            </a:r>
            <a:r>
              <a:rPr lang="en-US" sz="2000" dirty="0"/>
              <a:t>is used to declare and initialize an object from another object </a:t>
            </a:r>
            <a:r>
              <a:rPr lang="en-IN" sz="2000" dirty="0"/>
              <a:t>using an object as argument</a:t>
            </a:r>
            <a:r>
              <a:rPr lang="en-US" sz="2000" dirty="0"/>
              <a:t>.</a:t>
            </a:r>
          </a:p>
          <a:p>
            <a:pPr lvl="0"/>
            <a:r>
              <a:rPr lang="en-US" sz="2000" dirty="0"/>
              <a:t>For example:</a:t>
            </a:r>
          </a:p>
          <a:p>
            <a:pPr marL="0" indent="0">
              <a:buNone/>
            </a:pPr>
            <a:r>
              <a:rPr lang="en-US" sz="2000" b="1" dirty="0">
                <a:solidFill>
                  <a:srgbClr val="FF0000"/>
                </a:solidFill>
                <a:latin typeface="Courier New" panose="02070309020205020404" pitchFamily="49" charset="0"/>
                <a:cs typeface="Courier New" panose="02070309020205020404" pitchFamily="49" charset="0"/>
              </a:rPr>
              <a:t>   demo(demo &amp;d); </a:t>
            </a:r>
            <a:r>
              <a:rPr lang="en-US" sz="2000" dirty="0"/>
              <a:t> //declaration</a:t>
            </a:r>
          </a:p>
          <a:p>
            <a:pPr marL="0" indent="0">
              <a:buNone/>
            </a:pPr>
            <a:r>
              <a:rPr lang="en-US" sz="2000" b="1" dirty="0">
                <a:solidFill>
                  <a:schemeClr val="accent1">
                    <a:lumMod val="75000"/>
                  </a:schemeClr>
                </a:solidFill>
              </a:rPr>
              <a:t>      </a:t>
            </a:r>
            <a:r>
              <a:rPr lang="en-US" sz="2000" b="1" dirty="0"/>
              <a:t>  </a:t>
            </a:r>
            <a:r>
              <a:rPr lang="en-US" sz="2000" b="1" dirty="0">
                <a:solidFill>
                  <a:srgbClr val="FF0000"/>
                </a:solidFill>
                <a:latin typeface="Courier New" panose="02070309020205020404" pitchFamily="49" charset="0"/>
                <a:cs typeface="Courier New" panose="02070309020205020404" pitchFamily="49" charset="0"/>
              </a:rPr>
              <a:t>demo d2(d1);      </a:t>
            </a:r>
            <a:r>
              <a:rPr lang="en-US" sz="2000" dirty="0"/>
              <a:t>//copy object</a:t>
            </a:r>
          </a:p>
          <a:p>
            <a:pPr marL="0" indent="0">
              <a:buNone/>
            </a:pPr>
            <a:r>
              <a:rPr lang="en-US" sz="2000" b="1" dirty="0">
                <a:solidFill>
                  <a:schemeClr val="accent1">
                    <a:lumMod val="75000"/>
                  </a:schemeClr>
                </a:solidFill>
              </a:rPr>
              <a:t>OR</a:t>
            </a:r>
            <a:r>
              <a:rPr lang="en-US" sz="2000" dirty="0"/>
              <a:t>   </a:t>
            </a:r>
            <a:r>
              <a:rPr lang="en-US" sz="2000" b="1" dirty="0">
                <a:solidFill>
                  <a:srgbClr val="FF0000"/>
                </a:solidFill>
                <a:latin typeface="Courier New" panose="02070309020205020404" pitchFamily="49" charset="0"/>
                <a:cs typeface="Courier New" panose="02070309020205020404" pitchFamily="49" charset="0"/>
              </a:rPr>
              <a:t>demo d2=d1;</a:t>
            </a:r>
            <a:r>
              <a:rPr lang="en-US" sz="2000" dirty="0"/>
              <a:t>              //copy object</a:t>
            </a:r>
            <a:endParaRPr lang="en-IN" sz="2000" dirty="0"/>
          </a:p>
          <a:p>
            <a:pPr algn="just"/>
            <a:r>
              <a:rPr lang="en-US" sz="2000" dirty="0"/>
              <a:t>Constructor which accepts a reference to its own class as a parameter is called </a:t>
            </a:r>
            <a:r>
              <a:rPr lang="en-US" sz="2000" b="1" dirty="0">
                <a:solidFill>
                  <a:srgbClr val="C00000"/>
                </a:solidFill>
              </a:rPr>
              <a:t>copy constructor</a:t>
            </a:r>
            <a:r>
              <a:rPr lang="en-US" sz="2000" dirty="0"/>
              <a:t>.</a:t>
            </a:r>
            <a:endParaRPr lang="en-IN" sz="2000" dirty="0"/>
          </a:p>
        </p:txBody>
      </p:sp>
    </p:spTree>
    <p:extLst>
      <p:ext uri="{BB962C8B-B14F-4D97-AF65-F5344CB8AC3E}">
        <p14:creationId xmlns:p14="http://schemas.microsoft.com/office/powerpoint/2010/main" val="2529696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Copy Constructor</a:t>
            </a:r>
          </a:p>
        </p:txBody>
      </p:sp>
      <p:sp>
        <p:nvSpPr>
          <p:cNvPr id="21" name="Rectangle 20"/>
          <p:cNvSpPr/>
          <p:nvPr/>
        </p:nvSpPr>
        <p:spPr>
          <a:xfrm>
            <a:off x="1285875" y="1600200"/>
            <a:ext cx="3914775" cy="3901068"/>
          </a:xfrm>
          <a:prstGeom prst="rect">
            <a:avLst/>
          </a:prstGeom>
          <a:solidFill>
            <a:srgbClr val="D9D9D9"/>
          </a:solidFill>
        </p:spPr>
        <p:txBody>
          <a:bodyPr wrap="square">
            <a:spAutoFit/>
          </a:bodyPr>
          <a:lstStyle/>
          <a:p>
            <a:pPr defTabSz="685800" fontAlgn="auto">
              <a:spcBef>
                <a:spcPts val="0"/>
              </a:spcBef>
              <a:spcAft>
                <a:spcPts val="0"/>
              </a:spcAft>
            </a:pPr>
            <a:r>
              <a:rPr lang="en-IN" sz="1650" dirty="0">
                <a:solidFill>
                  <a:srgbClr val="0000FF"/>
                </a:solidFill>
                <a:latin typeface="Consolas" panose="020B0609020204030204" pitchFamily="49" charset="0"/>
                <a:ea typeface="Times New Roman" panose="02020603050405020304" pitchFamily="18" charset="0"/>
                <a:cs typeface="Shruti"/>
              </a:rPr>
              <a:t>class</a:t>
            </a:r>
            <a:r>
              <a:rPr lang="en-IN" sz="1650" dirty="0">
                <a:solidFill>
                  <a:srgbClr val="000000"/>
                </a:solidFill>
                <a:latin typeface="Consolas" panose="020B0609020204030204" pitchFamily="49" charset="0"/>
                <a:ea typeface="Times New Roman" panose="02020603050405020304" pitchFamily="18" charset="0"/>
                <a:cs typeface="Shruti"/>
              </a:rPr>
              <a:t> demo</a:t>
            </a:r>
            <a:endParaRPr lang="en-IN" sz="900" dirty="0">
              <a:solidFill>
                <a:prstClr val="black"/>
              </a:solidFill>
              <a:ea typeface="Times New Roman" panose="02020603050405020304" pitchFamily="18" charset="0"/>
              <a:cs typeface="+mn-cs"/>
            </a:endParaRPr>
          </a:p>
          <a:p>
            <a:pPr defTabSz="685800" fontAlgn="auto">
              <a:spcBef>
                <a:spcPts val="0"/>
              </a:spcBef>
              <a:spcAft>
                <a:spcPts val="0"/>
              </a:spcAft>
            </a:pPr>
            <a:r>
              <a:rPr lang="en-IN" sz="1650" dirty="0">
                <a:solidFill>
                  <a:srgbClr val="000000"/>
                </a:solidFill>
                <a:latin typeface="Consolas" panose="020B0609020204030204" pitchFamily="49" charset="0"/>
                <a:ea typeface="Times New Roman" panose="02020603050405020304" pitchFamily="18" charset="0"/>
                <a:cs typeface="Shruti"/>
              </a:rPr>
              <a:t>{</a:t>
            </a:r>
            <a:endParaRPr lang="en-IN" sz="900" dirty="0">
              <a:solidFill>
                <a:prstClr val="black"/>
              </a:solidFill>
              <a:ea typeface="Times New Roman" panose="02020603050405020304" pitchFamily="18" charset="0"/>
              <a:cs typeface="+mn-cs"/>
            </a:endParaRPr>
          </a:p>
          <a:p>
            <a:pPr defTabSz="685800" fontAlgn="auto">
              <a:spcBef>
                <a:spcPts val="0"/>
              </a:spcBef>
              <a:spcAft>
                <a:spcPts val="0"/>
              </a:spcAft>
            </a:pPr>
            <a:r>
              <a:rPr lang="en-IN" sz="1650" dirty="0">
                <a:solidFill>
                  <a:srgbClr val="000000"/>
                </a:solidFill>
                <a:latin typeface="Consolas" panose="020B0609020204030204" pitchFamily="49" charset="0"/>
                <a:ea typeface="Times New Roman" panose="02020603050405020304" pitchFamily="18" charset="0"/>
                <a:cs typeface="Shruti"/>
              </a:rPr>
              <a:t>   </a:t>
            </a:r>
            <a:r>
              <a:rPr lang="en-IN" sz="1650" dirty="0" err="1">
                <a:solidFill>
                  <a:srgbClr val="0000FF"/>
                </a:solidFill>
                <a:latin typeface="Consolas" panose="020B0609020204030204" pitchFamily="49" charset="0"/>
                <a:ea typeface="Times New Roman" panose="02020603050405020304" pitchFamily="18" charset="0"/>
                <a:cs typeface="Shruti"/>
              </a:rPr>
              <a:t>int</a:t>
            </a:r>
            <a:r>
              <a:rPr lang="en-IN" sz="1650" dirty="0">
                <a:solidFill>
                  <a:srgbClr val="000000"/>
                </a:solidFill>
                <a:latin typeface="Consolas" panose="020B0609020204030204" pitchFamily="49" charset="0"/>
                <a:ea typeface="Times New Roman" panose="02020603050405020304" pitchFamily="18" charset="0"/>
                <a:cs typeface="Shruti"/>
              </a:rPr>
              <a:t> m, n;</a:t>
            </a:r>
            <a:endParaRPr lang="en-IN" sz="900" dirty="0">
              <a:solidFill>
                <a:prstClr val="black"/>
              </a:solidFill>
              <a:ea typeface="Times New Roman" panose="02020603050405020304" pitchFamily="18" charset="0"/>
              <a:cs typeface="+mn-cs"/>
            </a:endParaRPr>
          </a:p>
          <a:p>
            <a:pPr defTabSz="685800" fontAlgn="auto">
              <a:spcBef>
                <a:spcPts val="0"/>
              </a:spcBef>
              <a:spcAft>
                <a:spcPts val="0"/>
              </a:spcAft>
            </a:pPr>
            <a:r>
              <a:rPr lang="en-IN" sz="1650" dirty="0">
                <a:solidFill>
                  <a:srgbClr val="000000"/>
                </a:solidFill>
                <a:latin typeface="Consolas" panose="020B0609020204030204" pitchFamily="49" charset="0"/>
                <a:ea typeface="Times New Roman" panose="02020603050405020304" pitchFamily="18" charset="0"/>
                <a:cs typeface="Shruti"/>
              </a:rPr>
              <a:t>   </a:t>
            </a:r>
            <a:r>
              <a:rPr lang="en-IN" sz="1650" dirty="0">
                <a:solidFill>
                  <a:srgbClr val="0000FF"/>
                </a:solidFill>
                <a:latin typeface="Consolas" panose="020B0609020204030204" pitchFamily="49" charset="0"/>
                <a:ea typeface="Times New Roman" panose="02020603050405020304" pitchFamily="18" charset="0"/>
                <a:cs typeface="Shruti"/>
              </a:rPr>
              <a:t>public</a:t>
            </a:r>
            <a:r>
              <a:rPr lang="en-IN" sz="1650" dirty="0">
                <a:solidFill>
                  <a:srgbClr val="000000"/>
                </a:solidFill>
                <a:latin typeface="Consolas" panose="020B0609020204030204" pitchFamily="49" charset="0"/>
                <a:ea typeface="Times New Roman" panose="02020603050405020304" pitchFamily="18" charset="0"/>
                <a:cs typeface="Shruti"/>
              </a:rPr>
              <a:t>:</a:t>
            </a:r>
            <a:endParaRPr lang="en-IN" sz="900" dirty="0">
              <a:solidFill>
                <a:prstClr val="black"/>
              </a:solidFill>
              <a:ea typeface="Times New Roman" panose="02020603050405020304" pitchFamily="18" charset="0"/>
              <a:cs typeface="+mn-cs"/>
            </a:endParaRPr>
          </a:p>
          <a:p>
            <a:pPr defTabSz="685800" fontAlgn="auto">
              <a:spcBef>
                <a:spcPts val="0"/>
              </a:spcBef>
              <a:spcAft>
                <a:spcPts val="0"/>
              </a:spcAft>
            </a:pPr>
            <a:r>
              <a:rPr lang="en-IN" sz="1650" dirty="0">
                <a:solidFill>
                  <a:srgbClr val="000000"/>
                </a:solidFill>
                <a:latin typeface="Consolas" panose="020B0609020204030204" pitchFamily="49" charset="0"/>
                <a:ea typeface="Times New Roman" panose="02020603050405020304" pitchFamily="18" charset="0"/>
                <a:cs typeface="Shruti"/>
              </a:rPr>
              <a:t>   demo(</a:t>
            </a:r>
            <a:r>
              <a:rPr lang="en-IN" sz="1650" dirty="0" err="1">
                <a:solidFill>
                  <a:srgbClr val="0000FF"/>
                </a:solidFill>
                <a:latin typeface="Consolas" panose="020B0609020204030204" pitchFamily="49" charset="0"/>
                <a:ea typeface="Times New Roman" panose="02020603050405020304" pitchFamily="18" charset="0"/>
                <a:cs typeface="Shruti"/>
              </a:rPr>
              <a:t>int</a:t>
            </a:r>
            <a:r>
              <a:rPr lang="en-IN" sz="1650" dirty="0">
                <a:solidFill>
                  <a:srgbClr val="000000"/>
                </a:solidFill>
                <a:latin typeface="Consolas" panose="020B0609020204030204" pitchFamily="49" charset="0"/>
                <a:ea typeface="Times New Roman" panose="02020603050405020304" pitchFamily="18" charset="0"/>
                <a:cs typeface="Shruti"/>
              </a:rPr>
              <a:t> </a:t>
            </a:r>
            <a:r>
              <a:rPr lang="en-IN" sz="1650" dirty="0" err="1">
                <a:solidFill>
                  <a:srgbClr val="000000"/>
                </a:solidFill>
                <a:latin typeface="Consolas" panose="020B0609020204030204" pitchFamily="49" charset="0"/>
                <a:ea typeface="Times New Roman" panose="02020603050405020304" pitchFamily="18" charset="0"/>
                <a:cs typeface="Shruti"/>
              </a:rPr>
              <a:t>x,</a:t>
            </a:r>
            <a:r>
              <a:rPr lang="en-IN" sz="1650" dirty="0" err="1">
                <a:solidFill>
                  <a:srgbClr val="0000FF"/>
                </a:solidFill>
                <a:latin typeface="Consolas" panose="020B0609020204030204" pitchFamily="49" charset="0"/>
                <a:ea typeface="Times New Roman" panose="02020603050405020304" pitchFamily="18" charset="0"/>
                <a:cs typeface="Shruti"/>
              </a:rPr>
              <a:t>int</a:t>
            </a:r>
            <a:r>
              <a:rPr lang="en-IN" sz="1650" dirty="0">
                <a:solidFill>
                  <a:srgbClr val="000000"/>
                </a:solidFill>
                <a:latin typeface="Consolas" panose="020B0609020204030204" pitchFamily="49" charset="0"/>
                <a:ea typeface="Times New Roman" panose="02020603050405020304" pitchFamily="18" charset="0"/>
                <a:cs typeface="Shruti"/>
              </a:rPr>
              <a:t> y){</a:t>
            </a:r>
            <a:endParaRPr lang="en-IN" sz="900" dirty="0">
              <a:solidFill>
                <a:prstClr val="black"/>
              </a:solidFill>
              <a:ea typeface="Times New Roman" panose="02020603050405020304" pitchFamily="18" charset="0"/>
              <a:cs typeface="+mn-cs"/>
            </a:endParaRPr>
          </a:p>
          <a:p>
            <a:pPr defTabSz="685800" fontAlgn="auto">
              <a:spcBef>
                <a:spcPts val="0"/>
              </a:spcBef>
              <a:spcAft>
                <a:spcPts val="0"/>
              </a:spcAft>
            </a:pPr>
            <a:r>
              <a:rPr lang="en-IN" sz="1650" dirty="0">
                <a:solidFill>
                  <a:srgbClr val="000000"/>
                </a:solidFill>
                <a:latin typeface="Consolas" panose="020B0609020204030204" pitchFamily="49" charset="0"/>
                <a:ea typeface="Times New Roman" panose="02020603050405020304" pitchFamily="18" charset="0"/>
                <a:cs typeface="Shruti"/>
              </a:rPr>
              <a:t>    m=x;</a:t>
            </a:r>
            <a:endParaRPr lang="en-IN" sz="900" dirty="0">
              <a:solidFill>
                <a:prstClr val="black"/>
              </a:solidFill>
              <a:ea typeface="Times New Roman" panose="02020603050405020304" pitchFamily="18" charset="0"/>
              <a:cs typeface="+mn-cs"/>
            </a:endParaRPr>
          </a:p>
          <a:p>
            <a:pPr defTabSz="685800" fontAlgn="auto">
              <a:spcBef>
                <a:spcPts val="0"/>
              </a:spcBef>
              <a:spcAft>
                <a:spcPts val="0"/>
              </a:spcAft>
            </a:pPr>
            <a:r>
              <a:rPr lang="en-IN" sz="1650" dirty="0">
                <a:solidFill>
                  <a:srgbClr val="000000"/>
                </a:solidFill>
                <a:latin typeface="Consolas" panose="020B0609020204030204" pitchFamily="49" charset="0"/>
                <a:ea typeface="Times New Roman" panose="02020603050405020304" pitchFamily="18" charset="0"/>
                <a:cs typeface="Shruti"/>
              </a:rPr>
              <a:t>    n=y;</a:t>
            </a:r>
            <a:endParaRPr lang="en-IN" sz="900" dirty="0">
              <a:solidFill>
                <a:prstClr val="black"/>
              </a:solidFill>
              <a:ea typeface="Times New Roman" panose="02020603050405020304" pitchFamily="18" charset="0"/>
              <a:cs typeface="+mn-cs"/>
            </a:endParaRPr>
          </a:p>
          <a:p>
            <a:pPr defTabSz="685800" fontAlgn="auto">
              <a:spcBef>
                <a:spcPts val="0"/>
              </a:spcBef>
              <a:spcAft>
                <a:spcPts val="0"/>
              </a:spcAft>
            </a:pPr>
            <a:r>
              <a:rPr lang="en-IN" sz="1650" dirty="0">
                <a:solidFill>
                  <a:srgbClr val="000000"/>
                </a:solidFill>
                <a:latin typeface="Consolas" panose="020B0609020204030204" pitchFamily="49" charset="0"/>
                <a:ea typeface="Times New Roman" panose="02020603050405020304" pitchFamily="18" charset="0"/>
                <a:cs typeface="Shruti"/>
              </a:rPr>
              <a:t>    </a:t>
            </a:r>
            <a:r>
              <a:rPr lang="en-IN" sz="1350" dirty="0" err="1">
                <a:solidFill>
                  <a:srgbClr val="000000"/>
                </a:solidFill>
                <a:latin typeface="Consolas" panose="020B0609020204030204" pitchFamily="49" charset="0"/>
                <a:ea typeface="Times New Roman" panose="02020603050405020304" pitchFamily="18" charset="0"/>
                <a:cs typeface="Shruti"/>
              </a:rPr>
              <a:t>cout</a:t>
            </a:r>
            <a:r>
              <a:rPr lang="en-IN" sz="1350" dirty="0">
                <a:solidFill>
                  <a:srgbClr val="000000"/>
                </a:solidFill>
                <a:latin typeface="Consolas" panose="020B0609020204030204" pitchFamily="49" charset="0"/>
                <a:ea typeface="Times New Roman" panose="02020603050405020304" pitchFamily="18" charset="0"/>
                <a:cs typeface="Shruti"/>
              </a:rPr>
              <a:t>&lt;&lt;</a:t>
            </a:r>
            <a:r>
              <a:rPr lang="en-IN" sz="1350" dirty="0">
                <a:solidFill>
                  <a:srgbClr val="A31515"/>
                </a:solidFill>
                <a:latin typeface="Consolas" panose="020B0609020204030204" pitchFamily="49" charset="0"/>
                <a:ea typeface="Times New Roman" panose="02020603050405020304" pitchFamily="18" charset="0"/>
                <a:cs typeface="Shruti"/>
              </a:rPr>
              <a:t>"Parameterized Constructor"</a:t>
            </a:r>
            <a:r>
              <a:rPr lang="en-IN" sz="1350" dirty="0">
                <a:solidFill>
                  <a:srgbClr val="000000"/>
                </a:solidFill>
                <a:latin typeface="Consolas" panose="020B0609020204030204" pitchFamily="49" charset="0"/>
                <a:ea typeface="Times New Roman" panose="02020603050405020304" pitchFamily="18" charset="0"/>
                <a:cs typeface="Shruti"/>
              </a:rPr>
              <a:t>;</a:t>
            </a:r>
            <a:endParaRPr lang="en-IN" sz="1350" dirty="0">
              <a:solidFill>
                <a:prstClr val="black"/>
              </a:solidFill>
              <a:ea typeface="Times New Roman" panose="02020603050405020304" pitchFamily="18" charset="0"/>
              <a:cs typeface="+mn-cs"/>
            </a:endParaRPr>
          </a:p>
          <a:p>
            <a:pPr defTabSz="685800" fontAlgn="auto">
              <a:spcBef>
                <a:spcPts val="0"/>
              </a:spcBef>
              <a:spcAft>
                <a:spcPts val="0"/>
              </a:spcAft>
            </a:pPr>
            <a:r>
              <a:rPr lang="en-IN" sz="1650" dirty="0">
                <a:solidFill>
                  <a:srgbClr val="000000"/>
                </a:solidFill>
                <a:latin typeface="Consolas" panose="020B0609020204030204" pitchFamily="49" charset="0"/>
                <a:ea typeface="Times New Roman" panose="02020603050405020304" pitchFamily="18" charset="0"/>
                <a:cs typeface="Shruti"/>
              </a:rPr>
              <a:t>   }</a:t>
            </a:r>
            <a:endParaRPr lang="en-IN" sz="900" dirty="0">
              <a:solidFill>
                <a:prstClr val="black"/>
              </a:solidFill>
              <a:ea typeface="Times New Roman" panose="02020603050405020304" pitchFamily="18" charset="0"/>
              <a:cs typeface="+mn-cs"/>
            </a:endParaRPr>
          </a:p>
          <a:p>
            <a:pPr defTabSz="685800" fontAlgn="auto">
              <a:spcBef>
                <a:spcPts val="0"/>
              </a:spcBef>
              <a:spcAft>
                <a:spcPts val="0"/>
              </a:spcAft>
            </a:pPr>
            <a:r>
              <a:rPr lang="en-IN" sz="1650" dirty="0">
                <a:solidFill>
                  <a:srgbClr val="000000"/>
                </a:solidFill>
                <a:latin typeface="Consolas" panose="020B0609020204030204" pitchFamily="49" charset="0"/>
                <a:ea typeface="Times New Roman" panose="02020603050405020304" pitchFamily="18" charset="0"/>
                <a:cs typeface="Shruti"/>
              </a:rPr>
              <a:t>   demo(demo &amp;x){</a:t>
            </a:r>
            <a:endParaRPr lang="en-IN" sz="900" dirty="0">
              <a:solidFill>
                <a:prstClr val="black"/>
              </a:solidFill>
              <a:ea typeface="Times New Roman" panose="02020603050405020304" pitchFamily="18" charset="0"/>
              <a:cs typeface="+mn-cs"/>
            </a:endParaRPr>
          </a:p>
          <a:p>
            <a:pPr defTabSz="685800" fontAlgn="auto">
              <a:spcBef>
                <a:spcPts val="0"/>
              </a:spcBef>
              <a:spcAft>
                <a:spcPts val="0"/>
              </a:spcAft>
            </a:pPr>
            <a:r>
              <a:rPr lang="en-IN" sz="1650" dirty="0">
                <a:solidFill>
                  <a:srgbClr val="000000"/>
                </a:solidFill>
                <a:latin typeface="Consolas" panose="020B0609020204030204" pitchFamily="49" charset="0"/>
                <a:ea typeface="Times New Roman" panose="02020603050405020304" pitchFamily="18" charset="0"/>
                <a:cs typeface="Shruti"/>
              </a:rPr>
              <a:t>    m = </a:t>
            </a:r>
            <a:r>
              <a:rPr lang="en-IN" sz="1650" dirty="0" err="1">
                <a:solidFill>
                  <a:srgbClr val="000000"/>
                </a:solidFill>
                <a:latin typeface="Consolas" panose="020B0609020204030204" pitchFamily="49" charset="0"/>
                <a:ea typeface="Times New Roman" panose="02020603050405020304" pitchFamily="18" charset="0"/>
                <a:cs typeface="Shruti"/>
              </a:rPr>
              <a:t>x.m</a:t>
            </a:r>
            <a:r>
              <a:rPr lang="en-IN" sz="1650" dirty="0">
                <a:solidFill>
                  <a:srgbClr val="000000"/>
                </a:solidFill>
                <a:latin typeface="Consolas" panose="020B0609020204030204" pitchFamily="49" charset="0"/>
                <a:ea typeface="Times New Roman" panose="02020603050405020304" pitchFamily="18" charset="0"/>
                <a:cs typeface="Shruti"/>
              </a:rPr>
              <a:t>;</a:t>
            </a:r>
            <a:endParaRPr lang="en-IN" sz="900" dirty="0">
              <a:solidFill>
                <a:prstClr val="black"/>
              </a:solidFill>
              <a:ea typeface="Times New Roman" panose="02020603050405020304" pitchFamily="18" charset="0"/>
              <a:cs typeface="+mn-cs"/>
            </a:endParaRPr>
          </a:p>
          <a:p>
            <a:pPr defTabSz="685800" fontAlgn="auto">
              <a:spcBef>
                <a:spcPts val="0"/>
              </a:spcBef>
              <a:spcAft>
                <a:spcPts val="0"/>
              </a:spcAft>
            </a:pPr>
            <a:r>
              <a:rPr lang="en-IN" sz="1650" dirty="0">
                <a:solidFill>
                  <a:srgbClr val="000000"/>
                </a:solidFill>
                <a:latin typeface="Consolas" panose="020B0609020204030204" pitchFamily="49" charset="0"/>
                <a:ea typeface="Times New Roman" panose="02020603050405020304" pitchFamily="18" charset="0"/>
                <a:cs typeface="Shruti"/>
              </a:rPr>
              <a:t>    n = </a:t>
            </a:r>
            <a:r>
              <a:rPr lang="en-IN" sz="1650" dirty="0" err="1">
                <a:solidFill>
                  <a:srgbClr val="000000"/>
                </a:solidFill>
                <a:latin typeface="Consolas" panose="020B0609020204030204" pitchFamily="49" charset="0"/>
                <a:ea typeface="Times New Roman" panose="02020603050405020304" pitchFamily="18" charset="0"/>
                <a:cs typeface="Shruti"/>
              </a:rPr>
              <a:t>x.n</a:t>
            </a:r>
            <a:r>
              <a:rPr lang="en-IN" sz="1650" dirty="0">
                <a:solidFill>
                  <a:srgbClr val="000000"/>
                </a:solidFill>
                <a:latin typeface="Consolas" panose="020B0609020204030204" pitchFamily="49" charset="0"/>
                <a:ea typeface="Times New Roman" panose="02020603050405020304" pitchFamily="18" charset="0"/>
                <a:cs typeface="Shruti"/>
              </a:rPr>
              <a:t>; </a:t>
            </a:r>
            <a:endParaRPr lang="en-IN" sz="900" dirty="0">
              <a:solidFill>
                <a:prstClr val="black"/>
              </a:solidFill>
              <a:ea typeface="Times New Roman" panose="02020603050405020304" pitchFamily="18" charset="0"/>
              <a:cs typeface="+mn-cs"/>
            </a:endParaRPr>
          </a:p>
          <a:p>
            <a:pPr defTabSz="685800" fontAlgn="auto">
              <a:spcBef>
                <a:spcPts val="0"/>
              </a:spcBef>
              <a:spcAft>
                <a:spcPts val="0"/>
              </a:spcAft>
            </a:pPr>
            <a:r>
              <a:rPr lang="en-IN" sz="1650" dirty="0">
                <a:solidFill>
                  <a:srgbClr val="000000"/>
                </a:solidFill>
                <a:latin typeface="Consolas" panose="020B0609020204030204" pitchFamily="49" charset="0"/>
                <a:ea typeface="Times New Roman" panose="02020603050405020304" pitchFamily="18" charset="0"/>
                <a:cs typeface="Shruti"/>
              </a:rPr>
              <a:t>    </a:t>
            </a:r>
            <a:r>
              <a:rPr lang="en-IN" sz="1350" dirty="0" err="1">
                <a:solidFill>
                  <a:srgbClr val="000000"/>
                </a:solidFill>
                <a:latin typeface="Consolas" panose="020B0609020204030204" pitchFamily="49" charset="0"/>
                <a:ea typeface="Times New Roman" panose="02020603050405020304" pitchFamily="18" charset="0"/>
                <a:cs typeface="Shruti"/>
              </a:rPr>
              <a:t>cout</a:t>
            </a:r>
            <a:r>
              <a:rPr lang="en-IN" sz="1350" dirty="0">
                <a:solidFill>
                  <a:srgbClr val="000000"/>
                </a:solidFill>
                <a:latin typeface="Consolas" panose="020B0609020204030204" pitchFamily="49" charset="0"/>
                <a:ea typeface="Times New Roman" panose="02020603050405020304" pitchFamily="18" charset="0"/>
                <a:cs typeface="Shruti"/>
              </a:rPr>
              <a:t>&lt;&lt;</a:t>
            </a:r>
            <a:r>
              <a:rPr lang="en-IN" sz="1350" dirty="0">
                <a:solidFill>
                  <a:srgbClr val="A31515"/>
                </a:solidFill>
                <a:latin typeface="Consolas" panose="020B0609020204030204" pitchFamily="49" charset="0"/>
                <a:ea typeface="Times New Roman" panose="02020603050405020304" pitchFamily="18" charset="0"/>
                <a:cs typeface="Shruti"/>
              </a:rPr>
              <a:t>"Copy Constructor"</a:t>
            </a:r>
            <a:r>
              <a:rPr lang="en-IN" sz="1350" dirty="0">
                <a:solidFill>
                  <a:srgbClr val="000000"/>
                </a:solidFill>
                <a:latin typeface="Consolas" panose="020B0609020204030204" pitchFamily="49" charset="0"/>
                <a:ea typeface="Times New Roman" panose="02020603050405020304" pitchFamily="18" charset="0"/>
                <a:cs typeface="Shruti"/>
              </a:rPr>
              <a:t>;</a:t>
            </a:r>
            <a:r>
              <a:rPr lang="en-IN" sz="1650" dirty="0">
                <a:solidFill>
                  <a:srgbClr val="000000"/>
                </a:solidFill>
                <a:latin typeface="Consolas" panose="020B0609020204030204" pitchFamily="49" charset="0"/>
                <a:ea typeface="Times New Roman" panose="02020603050405020304" pitchFamily="18" charset="0"/>
                <a:cs typeface="Shruti"/>
              </a:rPr>
              <a:t>  </a:t>
            </a:r>
            <a:endParaRPr lang="en-IN" sz="900" dirty="0">
              <a:solidFill>
                <a:prstClr val="black"/>
              </a:solidFill>
              <a:ea typeface="Times New Roman" panose="02020603050405020304" pitchFamily="18" charset="0"/>
              <a:cs typeface="+mn-cs"/>
            </a:endParaRPr>
          </a:p>
          <a:p>
            <a:pPr defTabSz="685800" fontAlgn="auto">
              <a:spcBef>
                <a:spcPts val="0"/>
              </a:spcBef>
              <a:spcAft>
                <a:spcPts val="0"/>
              </a:spcAft>
            </a:pPr>
            <a:r>
              <a:rPr lang="en-IN" sz="1650" dirty="0">
                <a:solidFill>
                  <a:srgbClr val="000000"/>
                </a:solidFill>
                <a:latin typeface="Consolas" panose="020B0609020204030204" pitchFamily="49" charset="0"/>
                <a:ea typeface="Times New Roman" panose="02020603050405020304" pitchFamily="18" charset="0"/>
                <a:cs typeface="Shruti"/>
              </a:rPr>
              <a:t>   } </a:t>
            </a:r>
            <a:endParaRPr lang="en-IN" sz="900" dirty="0">
              <a:solidFill>
                <a:prstClr val="black"/>
              </a:solidFill>
              <a:ea typeface="Times New Roman" panose="02020603050405020304" pitchFamily="18" charset="0"/>
              <a:cs typeface="+mn-cs"/>
            </a:endParaRPr>
          </a:p>
          <a:p>
            <a:pPr defTabSz="685800" fontAlgn="auto">
              <a:spcBef>
                <a:spcPts val="0"/>
              </a:spcBef>
              <a:spcAft>
                <a:spcPts val="0"/>
              </a:spcAft>
            </a:pPr>
            <a:r>
              <a:rPr lang="en-IN" sz="1650" dirty="0">
                <a:solidFill>
                  <a:srgbClr val="000000"/>
                </a:solidFill>
                <a:latin typeface="Consolas" panose="020B0609020204030204" pitchFamily="49" charset="0"/>
                <a:ea typeface="Times New Roman" panose="02020603050405020304" pitchFamily="18" charset="0"/>
                <a:cs typeface="Shruti"/>
              </a:rPr>
              <a:t>};</a:t>
            </a:r>
            <a:endParaRPr lang="en-IN" sz="900" dirty="0">
              <a:solidFill>
                <a:prstClr val="black"/>
              </a:solidFill>
              <a:ea typeface="Times New Roman" panose="02020603050405020304" pitchFamily="18" charset="0"/>
              <a:cs typeface="+mn-cs"/>
            </a:endParaRPr>
          </a:p>
        </p:txBody>
      </p:sp>
      <p:sp>
        <p:nvSpPr>
          <p:cNvPr id="24" name="Rectangle 23"/>
          <p:cNvSpPr/>
          <p:nvPr/>
        </p:nvSpPr>
        <p:spPr>
          <a:xfrm>
            <a:off x="5257800" y="1600201"/>
            <a:ext cx="2686050" cy="1615827"/>
          </a:xfrm>
          <a:prstGeom prst="rect">
            <a:avLst/>
          </a:prstGeom>
          <a:solidFill>
            <a:srgbClr val="D9D9D9"/>
          </a:solidFill>
        </p:spPr>
        <p:txBody>
          <a:bodyPr wrap="square">
            <a:spAutoFit/>
          </a:bodyPr>
          <a:lstStyle/>
          <a:p>
            <a:pPr defTabSz="685800" fontAlgn="auto">
              <a:spcBef>
                <a:spcPts val="0"/>
              </a:spcBef>
              <a:spcAft>
                <a:spcPts val="0"/>
              </a:spcAft>
            </a:pPr>
            <a:r>
              <a:rPr lang="en-IN" sz="1650" dirty="0" err="1">
                <a:solidFill>
                  <a:srgbClr val="0000FF"/>
                </a:solidFill>
                <a:latin typeface="Consolas" panose="020B0609020204030204" pitchFamily="49" charset="0"/>
                <a:ea typeface="Times New Roman" panose="02020603050405020304" pitchFamily="18" charset="0"/>
                <a:cs typeface="Shruti"/>
              </a:rPr>
              <a:t>int</a:t>
            </a:r>
            <a:r>
              <a:rPr lang="en-IN" sz="1650" dirty="0">
                <a:solidFill>
                  <a:srgbClr val="000000"/>
                </a:solidFill>
                <a:latin typeface="Consolas" panose="020B0609020204030204" pitchFamily="49" charset="0"/>
                <a:ea typeface="Times New Roman" panose="02020603050405020304" pitchFamily="18" charset="0"/>
                <a:cs typeface="Shruti"/>
              </a:rPr>
              <a:t> main()</a:t>
            </a:r>
            <a:endParaRPr lang="en-IN" sz="1650" dirty="0">
              <a:solidFill>
                <a:prstClr val="black"/>
              </a:solidFill>
              <a:ea typeface="Times New Roman" panose="02020603050405020304" pitchFamily="18" charset="0"/>
              <a:cs typeface="+mn-cs"/>
            </a:endParaRPr>
          </a:p>
          <a:p>
            <a:pPr defTabSz="685800" fontAlgn="auto">
              <a:spcBef>
                <a:spcPts val="0"/>
              </a:spcBef>
              <a:spcAft>
                <a:spcPts val="0"/>
              </a:spcAft>
            </a:pPr>
            <a:r>
              <a:rPr lang="en-IN" sz="1650" dirty="0">
                <a:solidFill>
                  <a:srgbClr val="000000"/>
                </a:solidFill>
                <a:latin typeface="Consolas" panose="020B0609020204030204" pitchFamily="49" charset="0"/>
                <a:ea typeface="Times New Roman" panose="02020603050405020304" pitchFamily="18" charset="0"/>
                <a:cs typeface="Shruti"/>
              </a:rPr>
              <a:t>{</a:t>
            </a:r>
            <a:endParaRPr lang="en-IN" sz="1650" dirty="0">
              <a:solidFill>
                <a:prstClr val="black"/>
              </a:solidFill>
              <a:ea typeface="Times New Roman" panose="02020603050405020304" pitchFamily="18" charset="0"/>
              <a:cs typeface="+mn-cs"/>
            </a:endParaRPr>
          </a:p>
          <a:p>
            <a:pPr defTabSz="685800" fontAlgn="auto">
              <a:spcBef>
                <a:spcPts val="0"/>
              </a:spcBef>
              <a:spcAft>
                <a:spcPts val="0"/>
              </a:spcAft>
            </a:pPr>
            <a:r>
              <a:rPr lang="en-IN" sz="1650" dirty="0">
                <a:solidFill>
                  <a:srgbClr val="000000"/>
                </a:solidFill>
                <a:latin typeface="Consolas" panose="020B0609020204030204" pitchFamily="49" charset="0"/>
                <a:ea typeface="Times New Roman" panose="02020603050405020304" pitchFamily="18" charset="0"/>
                <a:cs typeface="Shruti"/>
              </a:rPr>
              <a:t>   demo obj1(5,6);</a:t>
            </a:r>
            <a:endParaRPr lang="en-IN" sz="1650" dirty="0">
              <a:solidFill>
                <a:prstClr val="black"/>
              </a:solidFill>
              <a:ea typeface="Times New Roman" panose="02020603050405020304" pitchFamily="18" charset="0"/>
              <a:cs typeface="+mn-cs"/>
            </a:endParaRPr>
          </a:p>
          <a:p>
            <a:pPr defTabSz="685800" fontAlgn="auto">
              <a:spcBef>
                <a:spcPts val="0"/>
              </a:spcBef>
              <a:spcAft>
                <a:spcPts val="0"/>
              </a:spcAft>
            </a:pPr>
            <a:r>
              <a:rPr lang="en-IN" sz="1650" dirty="0">
                <a:solidFill>
                  <a:srgbClr val="000000"/>
                </a:solidFill>
                <a:latin typeface="Consolas" panose="020B0609020204030204" pitchFamily="49" charset="0"/>
                <a:ea typeface="Times New Roman" panose="02020603050405020304" pitchFamily="18" charset="0"/>
                <a:cs typeface="Shruti"/>
              </a:rPr>
              <a:t>   demo obj2(obj1);</a:t>
            </a:r>
          </a:p>
          <a:p>
            <a:pPr defTabSz="685800" fontAlgn="auto">
              <a:spcBef>
                <a:spcPts val="0"/>
              </a:spcBef>
              <a:spcAft>
                <a:spcPts val="0"/>
              </a:spcAft>
            </a:pPr>
            <a:r>
              <a:rPr lang="en-IN" sz="1650" dirty="0">
                <a:solidFill>
                  <a:srgbClr val="000000"/>
                </a:solidFill>
                <a:latin typeface="Consolas" panose="020B0609020204030204" pitchFamily="49" charset="0"/>
                <a:ea typeface="Times New Roman" panose="02020603050405020304" pitchFamily="18" charset="0"/>
                <a:cs typeface="Shruti"/>
              </a:rPr>
              <a:t>   demo obj2 = obj1;  </a:t>
            </a:r>
            <a:endParaRPr lang="en-IN" sz="1650" dirty="0">
              <a:solidFill>
                <a:prstClr val="black"/>
              </a:solidFill>
              <a:ea typeface="Times New Roman" panose="02020603050405020304" pitchFamily="18" charset="0"/>
              <a:cs typeface="+mn-cs"/>
            </a:endParaRPr>
          </a:p>
          <a:p>
            <a:pPr defTabSz="685800" fontAlgn="auto">
              <a:spcBef>
                <a:spcPts val="0"/>
              </a:spcBef>
              <a:spcAft>
                <a:spcPts val="0"/>
              </a:spcAft>
            </a:pPr>
            <a:r>
              <a:rPr lang="en-IN" sz="1650" dirty="0">
                <a:solidFill>
                  <a:srgbClr val="000000"/>
                </a:solidFill>
                <a:latin typeface="Consolas" panose="020B0609020204030204" pitchFamily="49" charset="0"/>
                <a:ea typeface="Times New Roman" panose="02020603050405020304" pitchFamily="18" charset="0"/>
                <a:cs typeface="Shruti"/>
              </a:rPr>
              <a:t>}</a:t>
            </a:r>
            <a:endParaRPr lang="en-IN" sz="1650" dirty="0">
              <a:solidFill>
                <a:prstClr val="black"/>
              </a:solidFill>
              <a:ea typeface="Times New Roman" panose="02020603050405020304" pitchFamily="18" charset="0"/>
              <a:cs typeface="+mn-cs"/>
            </a:endParaRPr>
          </a:p>
        </p:txBody>
      </p:sp>
      <p:sp>
        <p:nvSpPr>
          <p:cNvPr id="25" name="Rectangle 24"/>
          <p:cNvSpPr/>
          <p:nvPr/>
        </p:nvSpPr>
        <p:spPr>
          <a:xfrm>
            <a:off x="6233892" y="3969941"/>
            <a:ext cx="448628" cy="3429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r>
              <a:rPr lang="en-IN" sz="1650" dirty="0">
                <a:solidFill>
                  <a:prstClr val="white"/>
                </a:solidFill>
                <a:latin typeface="Calibri"/>
              </a:rPr>
              <a:t>5</a:t>
            </a:r>
          </a:p>
        </p:txBody>
      </p:sp>
      <p:sp>
        <p:nvSpPr>
          <p:cNvPr id="26" name="Rectangle 25"/>
          <p:cNvSpPr/>
          <p:nvPr/>
        </p:nvSpPr>
        <p:spPr>
          <a:xfrm>
            <a:off x="6776409" y="3969941"/>
            <a:ext cx="443321" cy="3429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r>
              <a:rPr lang="en-IN" sz="1650" dirty="0">
                <a:solidFill>
                  <a:prstClr val="white"/>
                </a:solidFill>
                <a:latin typeface="Calibri"/>
              </a:rPr>
              <a:t>6</a:t>
            </a:r>
          </a:p>
        </p:txBody>
      </p:sp>
      <p:sp>
        <p:nvSpPr>
          <p:cNvPr id="27" name="Rectangle 26"/>
          <p:cNvSpPr/>
          <p:nvPr/>
        </p:nvSpPr>
        <p:spPr>
          <a:xfrm>
            <a:off x="6239199" y="3604718"/>
            <a:ext cx="443321" cy="3429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r>
              <a:rPr lang="en-IN" sz="1650" dirty="0">
                <a:solidFill>
                  <a:prstClr val="white"/>
                </a:solidFill>
                <a:latin typeface="Calibri"/>
              </a:rPr>
              <a:t>m</a:t>
            </a:r>
          </a:p>
        </p:txBody>
      </p:sp>
      <p:sp>
        <p:nvSpPr>
          <p:cNvPr id="28" name="Rectangle 27"/>
          <p:cNvSpPr/>
          <p:nvPr/>
        </p:nvSpPr>
        <p:spPr>
          <a:xfrm>
            <a:off x="6776409" y="3600916"/>
            <a:ext cx="443321" cy="3429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r>
              <a:rPr lang="en-IN" sz="1650" dirty="0">
                <a:solidFill>
                  <a:prstClr val="white"/>
                </a:solidFill>
                <a:latin typeface="Calibri"/>
              </a:rPr>
              <a:t>n</a:t>
            </a:r>
          </a:p>
        </p:txBody>
      </p:sp>
      <p:sp>
        <p:nvSpPr>
          <p:cNvPr id="29" name="Rectangle 28"/>
          <p:cNvSpPr/>
          <p:nvPr/>
        </p:nvSpPr>
        <p:spPr>
          <a:xfrm>
            <a:off x="6244403" y="3239496"/>
            <a:ext cx="971550" cy="3429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r>
              <a:rPr lang="en-IN" sz="1650" dirty="0">
                <a:solidFill>
                  <a:prstClr val="white"/>
                </a:solidFill>
                <a:latin typeface="Calibri"/>
              </a:rPr>
              <a:t>obj1</a:t>
            </a:r>
          </a:p>
        </p:txBody>
      </p:sp>
      <p:sp>
        <p:nvSpPr>
          <p:cNvPr id="31" name="Rectangle 30"/>
          <p:cNvSpPr/>
          <p:nvPr/>
        </p:nvSpPr>
        <p:spPr>
          <a:xfrm>
            <a:off x="6233892" y="5200650"/>
            <a:ext cx="448628" cy="3429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r>
              <a:rPr lang="en-IN" sz="1650" dirty="0">
                <a:solidFill>
                  <a:prstClr val="white"/>
                </a:solidFill>
                <a:latin typeface="Calibri"/>
              </a:rPr>
              <a:t>5</a:t>
            </a:r>
          </a:p>
        </p:txBody>
      </p:sp>
      <p:sp>
        <p:nvSpPr>
          <p:cNvPr id="32" name="Rectangle 31"/>
          <p:cNvSpPr/>
          <p:nvPr/>
        </p:nvSpPr>
        <p:spPr>
          <a:xfrm>
            <a:off x="6776409" y="5200650"/>
            <a:ext cx="443321" cy="3429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r>
              <a:rPr lang="en-IN" sz="1650" dirty="0">
                <a:solidFill>
                  <a:prstClr val="white"/>
                </a:solidFill>
                <a:latin typeface="Calibri"/>
              </a:rPr>
              <a:t>6</a:t>
            </a:r>
          </a:p>
        </p:txBody>
      </p:sp>
      <p:sp>
        <p:nvSpPr>
          <p:cNvPr id="33" name="Rectangle 32"/>
          <p:cNvSpPr/>
          <p:nvPr/>
        </p:nvSpPr>
        <p:spPr>
          <a:xfrm>
            <a:off x="6239199" y="4835427"/>
            <a:ext cx="443321" cy="3429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r>
              <a:rPr lang="en-IN" sz="1650" dirty="0">
                <a:solidFill>
                  <a:prstClr val="white"/>
                </a:solidFill>
                <a:latin typeface="Calibri"/>
              </a:rPr>
              <a:t>m</a:t>
            </a:r>
          </a:p>
        </p:txBody>
      </p:sp>
      <p:sp>
        <p:nvSpPr>
          <p:cNvPr id="34" name="Rectangle 33"/>
          <p:cNvSpPr/>
          <p:nvPr/>
        </p:nvSpPr>
        <p:spPr>
          <a:xfrm>
            <a:off x="6776409" y="4831625"/>
            <a:ext cx="443321" cy="3429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r>
              <a:rPr lang="en-IN" sz="1650" dirty="0">
                <a:solidFill>
                  <a:prstClr val="white"/>
                </a:solidFill>
                <a:latin typeface="Calibri"/>
              </a:rPr>
              <a:t>n</a:t>
            </a:r>
          </a:p>
        </p:txBody>
      </p:sp>
      <p:sp>
        <p:nvSpPr>
          <p:cNvPr id="35" name="Rectangle 34"/>
          <p:cNvSpPr/>
          <p:nvPr/>
        </p:nvSpPr>
        <p:spPr>
          <a:xfrm>
            <a:off x="6244403" y="4470205"/>
            <a:ext cx="971550" cy="3429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r>
              <a:rPr lang="en-IN" sz="1650" dirty="0">
                <a:solidFill>
                  <a:prstClr val="white"/>
                </a:solidFill>
                <a:latin typeface="Calibri"/>
              </a:rPr>
              <a:t>obj2</a:t>
            </a:r>
          </a:p>
        </p:txBody>
      </p:sp>
      <p:sp>
        <p:nvSpPr>
          <p:cNvPr id="36" name="Rectangle 35"/>
          <p:cNvSpPr/>
          <p:nvPr/>
        </p:nvSpPr>
        <p:spPr>
          <a:xfrm>
            <a:off x="6223284" y="3241037"/>
            <a:ext cx="971550" cy="3429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r>
              <a:rPr lang="en-IN" sz="1650" dirty="0">
                <a:solidFill>
                  <a:prstClr val="white"/>
                </a:solidFill>
                <a:latin typeface="Calibri"/>
              </a:rPr>
              <a:t>obj1 or x</a:t>
            </a:r>
          </a:p>
        </p:txBody>
      </p:sp>
    </p:spTree>
    <p:extLst>
      <p:ext uri="{BB962C8B-B14F-4D97-AF65-F5344CB8AC3E}">
        <p14:creationId xmlns:p14="http://schemas.microsoft.com/office/powerpoint/2010/main" val="2230485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
                                            <p:txEl>
                                              <p:pRg st="0" end="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1">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1">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1">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1">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1">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1">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1">
                                            <p:txEl>
                                              <p:pRg st="14" end="1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4">
                                            <p:txEl>
                                              <p:pRg st="0" end="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4">
                                            <p:txEl>
                                              <p:pRg st="1" end="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4">
                                            <p:txEl>
                                              <p:pRg st="5" end="5"/>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4">
                                            <p:txEl>
                                              <p:pRg st="2" end="2"/>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4">
                                            <p:txEl>
                                              <p:pRg st="3" end="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1">
                                            <p:txEl>
                                              <p:pRg st="9" end="9"/>
                                            </p:txEl>
                                          </p:spTgt>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21">
                                            <p:txEl>
                                              <p:pRg st="10" end="10"/>
                                            </p:txEl>
                                          </p:spTgt>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21">
                                            <p:txEl>
                                              <p:pRg st="11" end="11"/>
                                            </p:txEl>
                                          </p:spTgt>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21">
                                            <p:txEl>
                                              <p:pRg st="12" end="12"/>
                                            </p:txEl>
                                          </p:spTgt>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21">
                                            <p:txEl>
                                              <p:pRg st="13" end="13"/>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5"/>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33"/>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34"/>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31"/>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32"/>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36"/>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2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4" grpId="0" animBg="1"/>
      <p:bldP spid="25" grpId="0" animBg="1"/>
      <p:bldP spid="26" grpId="0" animBg="1"/>
      <p:bldP spid="27" grpId="0" animBg="1"/>
      <p:bldP spid="28" grpId="0" animBg="1"/>
      <p:bldP spid="29" grpId="0" animBg="1"/>
      <p:bldP spid="31" grpId="0" animBg="1"/>
      <p:bldP spid="32" grpId="0" animBg="1"/>
      <p:bldP spid="33" grpId="0" animBg="1"/>
      <p:bldP spid="34" grpId="0" animBg="1"/>
      <p:bldP spid="35" grpId="0" animBg="1"/>
      <p:bldP spid="3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802E4D8-AC97-4FFA-BE69-F34A21E03051}"/>
              </a:ext>
            </a:extLst>
          </p:cNvPr>
          <p:cNvPicPr>
            <a:picLocks noChangeAspect="1"/>
          </p:cNvPicPr>
          <p:nvPr/>
        </p:nvPicPr>
        <p:blipFill>
          <a:blip r:embed="rId2"/>
          <a:stretch>
            <a:fillRect/>
          </a:stretch>
        </p:blipFill>
        <p:spPr>
          <a:xfrm>
            <a:off x="6019800" y="4941916"/>
            <a:ext cx="2362200" cy="1546168"/>
          </a:xfrm>
          <a:prstGeom prst="rect">
            <a:avLst/>
          </a:prstGeom>
        </p:spPr>
      </p:pic>
      <p:pic>
        <p:nvPicPr>
          <p:cNvPr id="5" name="Picture 4">
            <a:extLst>
              <a:ext uri="{FF2B5EF4-FFF2-40B4-BE49-F238E27FC236}">
                <a16:creationId xmlns:a16="http://schemas.microsoft.com/office/drawing/2014/main" id="{54251BD5-9380-4FEE-B231-127A61424E42}"/>
              </a:ext>
            </a:extLst>
          </p:cNvPr>
          <p:cNvPicPr>
            <a:picLocks noChangeAspect="1"/>
          </p:cNvPicPr>
          <p:nvPr/>
        </p:nvPicPr>
        <p:blipFill>
          <a:blip r:embed="rId3"/>
          <a:stretch>
            <a:fillRect/>
          </a:stretch>
        </p:blipFill>
        <p:spPr>
          <a:xfrm>
            <a:off x="152400" y="494581"/>
            <a:ext cx="4068959" cy="5677619"/>
          </a:xfrm>
          <a:prstGeom prst="rect">
            <a:avLst/>
          </a:prstGeom>
          <a:ln>
            <a:solidFill>
              <a:srgbClr val="FF0000"/>
            </a:solidFill>
          </a:ln>
        </p:spPr>
      </p:pic>
      <p:pic>
        <p:nvPicPr>
          <p:cNvPr id="6" name="Picture 5">
            <a:extLst>
              <a:ext uri="{FF2B5EF4-FFF2-40B4-BE49-F238E27FC236}">
                <a16:creationId xmlns:a16="http://schemas.microsoft.com/office/drawing/2014/main" id="{2CE5C554-793B-4A22-9418-A4F959C77864}"/>
              </a:ext>
            </a:extLst>
          </p:cNvPr>
          <p:cNvPicPr>
            <a:picLocks noChangeAspect="1"/>
          </p:cNvPicPr>
          <p:nvPr/>
        </p:nvPicPr>
        <p:blipFill>
          <a:blip r:embed="rId4"/>
          <a:stretch>
            <a:fillRect/>
          </a:stretch>
        </p:blipFill>
        <p:spPr>
          <a:xfrm>
            <a:off x="4770241" y="1143000"/>
            <a:ext cx="4068959" cy="2855409"/>
          </a:xfrm>
          <a:prstGeom prst="rect">
            <a:avLst/>
          </a:prstGeom>
          <a:ln>
            <a:solidFill>
              <a:srgbClr val="FF0000"/>
            </a:solidFill>
          </a:ln>
        </p:spPr>
      </p:pic>
      <p:sp>
        <p:nvSpPr>
          <p:cNvPr id="7" name="TextBox 6">
            <a:extLst>
              <a:ext uri="{FF2B5EF4-FFF2-40B4-BE49-F238E27FC236}">
                <a16:creationId xmlns:a16="http://schemas.microsoft.com/office/drawing/2014/main" id="{86FC7E97-24CD-434E-8416-BE3E7723A3F5}"/>
              </a:ext>
            </a:extLst>
          </p:cNvPr>
          <p:cNvSpPr txBox="1"/>
          <p:nvPr/>
        </p:nvSpPr>
        <p:spPr>
          <a:xfrm>
            <a:off x="6172200" y="4208552"/>
            <a:ext cx="1773195" cy="523220"/>
          </a:xfrm>
          <a:prstGeom prst="rect">
            <a:avLst/>
          </a:prstGeom>
          <a:solidFill>
            <a:schemeClr val="accent2">
              <a:lumMod val="40000"/>
              <a:lumOff val="60000"/>
            </a:schemeClr>
          </a:solidFill>
        </p:spPr>
        <p:txBody>
          <a:bodyPr wrap="square" rtlCol="0">
            <a:spAutoFit/>
          </a:bodyPr>
          <a:lstStyle/>
          <a:p>
            <a:r>
              <a:rPr lang="en-IN" sz="2800" b="1" dirty="0">
                <a:solidFill>
                  <a:srgbClr val="FF0000"/>
                </a:solidFill>
              </a:rPr>
              <a:t>OUTPUT:</a:t>
            </a:r>
          </a:p>
        </p:txBody>
      </p:sp>
    </p:spTree>
    <p:extLst>
      <p:ext uri="{BB962C8B-B14F-4D97-AF65-F5344CB8AC3E}">
        <p14:creationId xmlns:p14="http://schemas.microsoft.com/office/powerpoint/2010/main" val="641872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B75118E-3F68-4D4F-AA18-920F1059075D}"/>
              </a:ext>
            </a:extLst>
          </p:cNvPr>
          <p:cNvPicPr>
            <a:picLocks noChangeAspect="1"/>
          </p:cNvPicPr>
          <p:nvPr/>
        </p:nvPicPr>
        <p:blipFill>
          <a:blip r:embed="rId2"/>
          <a:stretch>
            <a:fillRect/>
          </a:stretch>
        </p:blipFill>
        <p:spPr>
          <a:xfrm>
            <a:off x="228600" y="457200"/>
            <a:ext cx="3259315" cy="4000500"/>
          </a:xfrm>
          <a:prstGeom prst="rect">
            <a:avLst/>
          </a:prstGeom>
          <a:ln>
            <a:solidFill>
              <a:srgbClr val="FF0000"/>
            </a:solidFill>
          </a:ln>
        </p:spPr>
      </p:pic>
      <p:pic>
        <p:nvPicPr>
          <p:cNvPr id="5" name="Picture 4">
            <a:extLst>
              <a:ext uri="{FF2B5EF4-FFF2-40B4-BE49-F238E27FC236}">
                <a16:creationId xmlns:a16="http://schemas.microsoft.com/office/drawing/2014/main" id="{12F49F62-B18E-4BF5-A76D-472C358E4970}"/>
              </a:ext>
            </a:extLst>
          </p:cNvPr>
          <p:cNvPicPr>
            <a:picLocks noChangeAspect="1"/>
          </p:cNvPicPr>
          <p:nvPr/>
        </p:nvPicPr>
        <p:blipFill>
          <a:blip r:embed="rId3"/>
          <a:stretch>
            <a:fillRect/>
          </a:stretch>
        </p:blipFill>
        <p:spPr>
          <a:xfrm>
            <a:off x="3657600" y="430306"/>
            <a:ext cx="5405628" cy="4999970"/>
          </a:xfrm>
          <a:prstGeom prst="rect">
            <a:avLst/>
          </a:prstGeom>
          <a:ln>
            <a:solidFill>
              <a:srgbClr val="FF0000"/>
            </a:solidFill>
          </a:ln>
        </p:spPr>
      </p:pic>
    </p:spTree>
    <p:extLst>
      <p:ext uri="{BB962C8B-B14F-4D97-AF65-F5344CB8AC3E}">
        <p14:creationId xmlns:p14="http://schemas.microsoft.com/office/powerpoint/2010/main" val="18922639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647AC63-BA9D-4BAA-9CFE-07FF4C8F9D4E}"/>
              </a:ext>
            </a:extLst>
          </p:cNvPr>
          <p:cNvPicPr>
            <a:picLocks noChangeAspect="1"/>
          </p:cNvPicPr>
          <p:nvPr/>
        </p:nvPicPr>
        <p:blipFill>
          <a:blip r:embed="rId2"/>
          <a:stretch>
            <a:fillRect/>
          </a:stretch>
        </p:blipFill>
        <p:spPr>
          <a:xfrm>
            <a:off x="1905000" y="1219200"/>
            <a:ext cx="3920998" cy="2457450"/>
          </a:xfrm>
          <a:prstGeom prst="rect">
            <a:avLst/>
          </a:prstGeom>
        </p:spPr>
      </p:pic>
    </p:spTree>
    <p:extLst>
      <p:ext uri="{BB962C8B-B14F-4D97-AF65-F5344CB8AC3E}">
        <p14:creationId xmlns:p14="http://schemas.microsoft.com/office/powerpoint/2010/main" val="29357376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220828" y="533400"/>
            <a:ext cx="8465972" cy="3886200"/>
          </a:xfrm>
          <a:prstGeom prst="rect">
            <a:avLst/>
          </a:prstGeom>
          <a:noFill/>
          <a:ln w="9525">
            <a:noFill/>
            <a:miter lim="800000"/>
            <a:headEnd/>
            <a:tailEnd/>
          </a:ln>
          <a:effectLst/>
        </p:spPr>
      </p:pic>
      <p:pic>
        <p:nvPicPr>
          <p:cNvPr id="1028" name="Picture 4"/>
          <p:cNvPicPr>
            <a:picLocks noChangeAspect="1" noChangeArrowheads="1"/>
          </p:cNvPicPr>
          <p:nvPr/>
        </p:nvPicPr>
        <p:blipFill>
          <a:blip r:embed="rId3"/>
          <a:srcRect/>
          <a:stretch>
            <a:fillRect/>
          </a:stretch>
        </p:blipFill>
        <p:spPr bwMode="auto">
          <a:xfrm>
            <a:off x="4232161" y="702276"/>
            <a:ext cx="4759439" cy="3869724"/>
          </a:xfrm>
          <a:prstGeom prst="rect">
            <a:avLst/>
          </a:prstGeom>
          <a:noFill/>
          <a:ln w="9525">
            <a:solidFill>
              <a:srgbClr val="FF0000"/>
            </a:solidFill>
            <a:miter lim="800000"/>
            <a:headEnd/>
            <a:tailEnd/>
          </a:ln>
          <a:effectLst/>
        </p:spPr>
      </p:pic>
      <p:sp>
        <p:nvSpPr>
          <p:cNvPr id="8" name="Rectangle 7"/>
          <p:cNvSpPr/>
          <p:nvPr/>
        </p:nvSpPr>
        <p:spPr>
          <a:xfrm>
            <a:off x="152400" y="5391090"/>
            <a:ext cx="8686800" cy="400110"/>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Calibri"/>
                <a:ea typeface="+mn-ea"/>
                <a:cs typeface="Arial" charset="0"/>
              </a:rPr>
              <a:t>Note: If multiple members must be initialized, they’re separated by commas.</a:t>
            </a:r>
          </a:p>
        </p:txBody>
      </p:sp>
      <p:pic>
        <p:nvPicPr>
          <p:cNvPr id="1030" name="Picture 6"/>
          <p:cNvPicPr>
            <a:picLocks noChangeAspect="1" noChangeArrowheads="1"/>
          </p:cNvPicPr>
          <p:nvPr/>
        </p:nvPicPr>
        <p:blipFill>
          <a:blip r:embed="rId4"/>
          <a:srcRect/>
          <a:stretch>
            <a:fillRect/>
          </a:stretch>
        </p:blipFill>
        <p:spPr bwMode="auto">
          <a:xfrm>
            <a:off x="228600" y="5867400"/>
            <a:ext cx="8629650" cy="657225"/>
          </a:xfrm>
          <a:prstGeom prst="rect">
            <a:avLst/>
          </a:prstGeom>
          <a:noFill/>
          <a:ln w="9525">
            <a:noFill/>
            <a:miter lim="800000"/>
            <a:headEnd/>
            <a:tailEnd/>
          </a:ln>
          <a:effectLst/>
        </p:spPr>
      </p:pic>
    </p:spTree>
    <p:extLst>
      <p:ext uri="{BB962C8B-B14F-4D97-AF65-F5344CB8AC3E}">
        <p14:creationId xmlns:p14="http://schemas.microsoft.com/office/powerpoint/2010/main" val="1093249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4" presetClass="entr" presetSubtype="16" fill="hold" nodeType="withEffect">
                                  <p:stCondLst>
                                    <p:cond delay="0"/>
                                  </p:stCondLst>
                                  <p:childTnLst>
                                    <p:set>
                                      <p:cBhvr>
                                        <p:cTn id="10" dur="1" fill="hold">
                                          <p:stCondLst>
                                            <p:cond delay="0"/>
                                          </p:stCondLst>
                                        </p:cTn>
                                        <p:tgtEl>
                                          <p:spTgt spid="1030"/>
                                        </p:tgtEl>
                                        <p:attrNameLst>
                                          <p:attrName>style.visibility</p:attrName>
                                        </p:attrNameLst>
                                      </p:cBhvr>
                                      <p:to>
                                        <p:strVal val="visible"/>
                                      </p:to>
                                    </p:set>
                                    <p:animEffect transition="in" filter="box(in)">
                                      <p:cBhvr>
                                        <p:cTn id="11" dur="500"/>
                                        <p:tgtEl>
                                          <p:spTgt spid="10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011" y="228600"/>
            <a:ext cx="8229600" cy="533400"/>
          </a:xfrm>
        </p:spPr>
        <p:txBody>
          <a:bodyPr>
            <a:normAutofit/>
          </a:bodyPr>
          <a:lstStyle/>
          <a:p>
            <a:r>
              <a:rPr lang="en-IN" sz="2800" b="1" dirty="0">
                <a:solidFill>
                  <a:srgbClr val="0070C0"/>
                </a:solidFill>
              </a:rPr>
              <a:t>Example-3</a:t>
            </a:r>
          </a:p>
        </p:txBody>
      </p:sp>
      <p:pic>
        <p:nvPicPr>
          <p:cNvPr id="4" name="Picture 3"/>
          <p:cNvPicPr>
            <a:picLocks noChangeAspect="1"/>
          </p:cNvPicPr>
          <p:nvPr/>
        </p:nvPicPr>
        <p:blipFill>
          <a:blip r:embed="rId2"/>
          <a:stretch>
            <a:fillRect/>
          </a:stretch>
        </p:blipFill>
        <p:spPr>
          <a:xfrm>
            <a:off x="51487" y="685800"/>
            <a:ext cx="6634424" cy="4343400"/>
          </a:xfrm>
          <a:prstGeom prst="rect">
            <a:avLst/>
          </a:prstGeom>
        </p:spPr>
      </p:pic>
      <p:pic>
        <p:nvPicPr>
          <p:cNvPr id="5" name="Picture 4"/>
          <p:cNvPicPr>
            <a:picLocks noChangeAspect="1"/>
          </p:cNvPicPr>
          <p:nvPr/>
        </p:nvPicPr>
        <p:blipFill>
          <a:blip r:embed="rId3"/>
          <a:stretch>
            <a:fillRect/>
          </a:stretch>
        </p:blipFill>
        <p:spPr>
          <a:xfrm>
            <a:off x="4865348" y="3697110"/>
            <a:ext cx="4050052" cy="2207675"/>
          </a:xfrm>
          <a:prstGeom prst="rect">
            <a:avLst/>
          </a:prstGeom>
        </p:spPr>
      </p:pic>
      <p:sp>
        <p:nvSpPr>
          <p:cNvPr id="6" name="TextBox 5"/>
          <p:cNvSpPr txBox="1"/>
          <p:nvPr/>
        </p:nvSpPr>
        <p:spPr>
          <a:xfrm>
            <a:off x="5465805" y="3058180"/>
            <a:ext cx="1773195" cy="523220"/>
          </a:xfrm>
          <a:prstGeom prst="rect">
            <a:avLst/>
          </a:prstGeom>
          <a:solidFill>
            <a:schemeClr val="accent2">
              <a:lumMod val="40000"/>
              <a:lumOff val="60000"/>
            </a:schemeClr>
          </a:solid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IN" sz="2800" b="1" i="0" u="none" strike="noStrike" kern="1200" cap="none" spc="0" normalizeH="0" baseline="0" noProof="0" dirty="0">
                <a:ln>
                  <a:noFill/>
                </a:ln>
                <a:solidFill>
                  <a:srgbClr val="FF0000"/>
                </a:solidFill>
                <a:effectLst/>
                <a:uLnTx/>
                <a:uFillTx/>
                <a:latin typeface="Times New Roman" pitchFamily="18" charset="0"/>
                <a:ea typeface="+mn-ea"/>
                <a:cs typeface="Arial" charset="0"/>
              </a:rPr>
              <a:t>OUTPUT:</a:t>
            </a:r>
          </a:p>
        </p:txBody>
      </p:sp>
    </p:spTree>
    <p:extLst>
      <p:ext uri="{BB962C8B-B14F-4D97-AF65-F5344CB8AC3E}">
        <p14:creationId xmlns:p14="http://schemas.microsoft.com/office/powerpoint/2010/main" val="936258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CEF3E-7C60-46ED-B77C-7CB701C5E86F}"/>
              </a:ext>
            </a:extLst>
          </p:cNvPr>
          <p:cNvSpPr>
            <a:spLocks noGrp="1"/>
          </p:cNvSpPr>
          <p:nvPr>
            <p:ph type="title"/>
          </p:nvPr>
        </p:nvSpPr>
        <p:spPr/>
        <p:txBody>
          <a:bodyPr>
            <a:normAutofit fontScale="90000"/>
          </a:bodyPr>
          <a:lstStyle/>
          <a:p>
            <a:r>
              <a:rPr lang="en-US" dirty="0"/>
              <a:t>Another way to initialize an object</a:t>
            </a:r>
            <a:br>
              <a:rPr lang="en-US" dirty="0"/>
            </a:br>
            <a:r>
              <a:rPr lang="en-US" b="1" i="1" dirty="0">
                <a:solidFill>
                  <a:srgbClr val="FF0000"/>
                </a:solidFill>
                <a:latin typeface="Times New Roman" panose="02020603050405020304" pitchFamily="18" charset="0"/>
                <a:cs typeface="Times New Roman" panose="02020603050405020304" pitchFamily="18" charset="0"/>
              </a:rPr>
              <a:t>default copy constructor</a:t>
            </a:r>
            <a:endParaRPr lang="en-IN" dirty="0"/>
          </a:p>
        </p:txBody>
      </p:sp>
      <p:sp>
        <p:nvSpPr>
          <p:cNvPr id="3" name="Content Placeholder 2">
            <a:extLst>
              <a:ext uri="{FF2B5EF4-FFF2-40B4-BE49-F238E27FC236}">
                <a16:creationId xmlns:a16="http://schemas.microsoft.com/office/drawing/2014/main" id="{68674311-1959-4248-95D3-515762DE650D}"/>
              </a:ext>
            </a:extLst>
          </p:cNvPr>
          <p:cNvSpPr>
            <a:spLocks noGrp="1"/>
          </p:cNvSpPr>
          <p:nvPr>
            <p:ph idx="1"/>
          </p:nvPr>
        </p:nvSpPr>
        <p:spPr>
          <a:xfrm>
            <a:off x="457200" y="2030001"/>
            <a:ext cx="8229600" cy="4525963"/>
          </a:xfrm>
        </p:spPr>
        <p:txBody>
          <a:bodyPr>
            <a:normAutofit/>
          </a:bodyPr>
          <a:lstStyle/>
          <a:p>
            <a:pPr>
              <a:spcBef>
                <a:spcPts val="0"/>
              </a:spcBef>
              <a:spcAft>
                <a:spcPts val="3000"/>
              </a:spcAft>
            </a:pPr>
            <a:r>
              <a:rPr lang="en-US" sz="2400" dirty="0">
                <a:latin typeface="Times New Roman" panose="02020603050405020304" pitchFamily="18" charset="0"/>
                <a:cs typeface="Times New Roman" panose="02020603050405020304" pitchFamily="18" charset="0"/>
              </a:rPr>
              <a:t>We can initialize it with </a:t>
            </a:r>
            <a:r>
              <a:rPr lang="en-US" sz="2400" i="1" dirty="0">
                <a:latin typeface="Times New Roman" panose="02020603050405020304" pitchFamily="18" charset="0"/>
                <a:cs typeface="Times New Roman" panose="02020603050405020304" pitchFamily="18" charset="0"/>
              </a:rPr>
              <a:t>another object of the same type</a:t>
            </a:r>
            <a:r>
              <a:rPr lang="en-US" sz="2400" dirty="0">
                <a:latin typeface="Times New Roman" panose="02020603050405020304" pitchFamily="18" charset="0"/>
                <a:cs typeface="Times New Roman" panose="02020603050405020304" pitchFamily="18" charset="0"/>
              </a:rPr>
              <a:t>.</a:t>
            </a:r>
          </a:p>
          <a:p>
            <a:pPr>
              <a:spcBef>
                <a:spcPts val="0"/>
              </a:spcBef>
              <a:spcAft>
                <a:spcPts val="3000"/>
              </a:spcAft>
            </a:pPr>
            <a:r>
              <a:rPr lang="en-US" sz="2400" dirty="0">
                <a:latin typeface="Times New Roman" panose="02020603050405020304" pitchFamily="18" charset="0"/>
                <a:cs typeface="Times New Roman" panose="02020603050405020304" pitchFamily="18" charset="0"/>
              </a:rPr>
              <a:t>No need to create a special constructor for this; one is already built into all classes. It’s called the </a:t>
            </a:r>
            <a:r>
              <a:rPr lang="en-US" sz="2400" b="1" i="1" dirty="0">
                <a:solidFill>
                  <a:srgbClr val="FF0000"/>
                </a:solidFill>
                <a:latin typeface="Times New Roman" panose="02020603050405020304" pitchFamily="18" charset="0"/>
                <a:cs typeface="Times New Roman" panose="02020603050405020304" pitchFamily="18" charset="0"/>
              </a:rPr>
              <a:t>default copy constructor</a:t>
            </a:r>
            <a:r>
              <a:rPr lang="en-US" sz="2400" dirty="0">
                <a:latin typeface="Times New Roman" panose="02020603050405020304" pitchFamily="18" charset="0"/>
                <a:cs typeface="Times New Roman" panose="02020603050405020304" pitchFamily="18" charset="0"/>
              </a:rPr>
              <a:t>. </a:t>
            </a:r>
          </a:p>
          <a:p>
            <a:pPr>
              <a:spcBef>
                <a:spcPts val="0"/>
              </a:spcBef>
              <a:spcAft>
                <a:spcPts val="3000"/>
              </a:spcAft>
            </a:pPr>
            <a:r>
              <a:rPr lang="en-US" sz="2400" dirty="0">
                <a:solidFill>
                  <a:srgbClr val="FF0000"/>
                </a:solidFill>
                <a:latin typeface="Times New Roman" panose="02020603050405020304" pitchFamily="18" charset="0"/>
                <a:cs typeface="Times New Roman" panose="02020603050405020304" pitchFamily="18" charset="0"/>
              </a:rPr>
              <a:t>It’s a one argument constructor whose argument is an object of the same class as the constructor</a:t>
            </a:r>
            <a:endParaRPr lang="en-IN" sz="24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242538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a:srcRect/>
          <a:stretch>
            <a:fillRect/>
          </a:stretch>
        </p:blipFill>
        <p:spPr bwMode="auto">
          <a:xfrm>
            <a:off x="76200" y="218303"/>
            <a:ext cx="7772400" cy="4030133"/>
          </a:xfrm>
          <a:prstGeom prst="rect">
            <a:avLst/>
          </a:prstGeom>
          <a:noFill/>
          <a:ln w="9525">
            <a:noFill/>
            <a:miter lim="800000"/>
            <a:headEnd/>
            <a:tailEnd/>
          </a:ln>
          <a:effectLst/>
        </p:spPr>
      </p:pic>
      <p:pic>
        <p:nvPicPr>
          <p:cNvPr id="2052" name="Picture 4"/>
          <p:cNvPicPr>
            <a:picLocks noChangeAspect="1" noChangeArrowheads="1"/>
          </p:cNvPicPr>
          <p:nvPr/>
        </p:nvPicPr>
        <p:blipFill>
          <a:blip r:embed="rId4"/>
          <a:srcRect/>
          <a:stretch>
            <a:fillRect/>
          </a:stretch>
        </p:blipFill>
        <p:spPr bwMode="auto">
          <a:xfrm>
            <a:off x="76200" y="4963297"/>
            <a:ext cx="8457708" cy="1676400"/>
          </a:xfrm>
          <a:prstGeom prst="rect">
            <a:avLst/>
          </a:prstGeom>
          <a:noFill/>
          <a:ln w="9525">
            <a:noFill/>
            <a:miter lim="800000"/>
            <a:headEnd/>
            <a:tailEnd/>
          </a:ln>
          <a:effectLst/>
        </p:spPr>
      </p:pic>
      <p:sp>
        <p:nvSpPr>
          <p:cNvPr id="7" name="TextBox 6"/>
          <p:cNvSpPr txBox="1"/>
          <p:nvPr/>
        </p:nvSpPr>
        <p:spPr>
          <a:xfrm>
            <a:off x="914400" y="4338935"/>
            <a:ext cx="396240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a:ea typeface="+mn-ea"/>
                <a:cs typeface="Arial" charset="0"/>
              </a:rPr>
              <a:t>.  .  .  .  .  .  .  .  .  .  .   .</a:t>
            </a:r>
          </a:p>
        </p:txBody>
      </p:sp>
    </p:spTree>
    <p:extLst>
      <p:ext uri="{BB962C8B-B14F-4D97-AF65-F5344CB8AC3E}">
        <p14:creationId xmlns:p14="http://schemas.microsoft.com/office/powerpoint/2010/main" val="25906439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AD86B1-27CB-4DD0-8FCE-8CBDC921A3FE}"/>
              </a:ext>
            </a:extLst>
          </p:cNvPr>
          <p:cNvSpPr>
            <a:spLocks noGrp="1"/>
          </p:cNvSpPr>
          <p:nvPr>
            <p:ph idx="4294967295"/>
          </p:nvPr>
        </p:nvSpPr>
        <p:spPr>
          <a:xfrm>
            <a:off x="-38100" y="2057400"/>
            <a:ext cx="9220200" cy="4525963"/>
          </a:xfrm>
        </p:spPr>
        <p:txBody>
          <a:bodyPr>
            <a:normAutofit fontScale="85000" lnSpcReduction="10000"/>
          </a:bodyPr>
          <a:lstStyle/>
          <a:p>
            <a:r>
              <a:rPr lang="en-US" dirty="0"/>
              <a:t>We initialize dist1 to the value of 11’-6.25” using the two-argument constructor. </a:t>
            </a:r>
          </a:p>
          <a:p>
            <a:r>
              <a:rPr lang="en-US" dirty="0"/>
              <a:t>Then we define two more objects of type Distance, dist2 and dist3, initializing both to the value of dist1. </a:t>
            </a:r>
          </a:p>
          <a:p>
            <a:r>
              <a:rPr lang="en-US" dirty="0"/>
              <a:t>You might think this would require us to define a one-argument constructor</a:t>
            </a:r>
            <a:r>
              <a:rPr lang="en-US" dirty="0">
                <a:solidFill>
                  <a:srgbClr val="FF0000"/>
                </a:solidFill>
              </a:rPr>
              <a:t>, but initializing an object with another object of the same type is a special case</a:t>
            </a:r>
            <a:r>
              <a:rPr lang="en-US" dirty="0"/>
              <a:t>. </a:t>
            </a:r>
          </a:p>
          <a:p>
            <a:r>
              <a:rPr lang="en-US" dirty="0"/>
              <a:t>These definitions both use the default copy constructor. The object dist2 is initialized in the statement </a:t>
            </a:r>
            <a:r>
              <a:rPr lang="en-IN" dirty="0"/>
              <a:t>Distance dist2(dist1);</a:t>
            </a:r>
          </a:p>
          <a:p>
            <a:r>
              <a:rPr lang="en-US" dirty="0">
                <a:solidFill>
                  <a:srgbClr val="CC0000"/>
                </a:solidFill>
              </a:rPr>
              <a:t>This causes the default copy constructor for the Distance class to perform a member-by-member copy of dist1 into dist2.</a:t>
            </a:r>
            <a:endParaRPr lang="en-IN" dirty="0">
              <a:solidFill>
                <a:srgbClr val="CC0000"/>
              </a:solidFill>
            </a:endParaRPr>
          </a:p>
        </p:txBody>
      </p:sp>
      <p:sp>
        <p:nvSpPr>
          <p:cNvPr id="4" name="Rectangle 3">
            <a:extLst>
              <a:ext uri="{FF2B5EF4-FFF2-40B4-BE49-F238E27FC236}">
                <a16:creationId xmlns:a16="http://schemas.microsoft.com/office/drawing/2014/main" id="{258F8769-F4F3-4AB8-A56D-1F0AF6A0CC72}"/>
              </a:ext>
            </a:extLst>
          </p:cNvPr>
          <p:cNvSpPr/>
          <p:nvPr/>
        </p:nvSpPr>
        <p:spPr>
          <a:xfrm>
            <a:off x="457200" y="609600"/>
            <a:ext cx="8153400" cy="1323439"/>
          </a:xfrm>
          <a:prstGeom prst="rect">
            <a:avLst/>
          </a:prstGeom>
        </p:spPr>
        <p:txBody>
          <a:bodyPr wrap="square">
            <a:spAutoFit/>
          </a:bodyPr>
          <a:lstStyle/>
          <a:p>
            <a:r>
              <a:rPr lang="en-US" sz="1600" dirty="0">
                <a:latin typeface="Times-Roman"/>
              </a:rPr>
              <a:t>Let’s mention another way to initialize an object: you can initialize it with </a:t>
            </a:r>
            <a:r>
              <a:rPr lang="en-US" sz="1600" i="1" dirty="0">
                <a:latin typeface="Times-Italic"/>
              </a:rPr>
              <a:t>another object of the same type</a:t>
            </a:r>
            <a:r>
              <a:rPr lang="en-US" sz="1600" dirty="0">
                <a:latin typeface="Times-Roman"/>
              </a:rPr>
              <a:t>. </a:t>
            </a:r>
          </a:p>
          <a:p>
            <a:r>
              <a:rPr lang="en-US" sz="1600" dirty="0">
                <a:latin typeface="Times-Roman"/>
              </a:rPr>
              <a:t>Surprisingly, you don’t need to create a special constructor for this; one is already built into all classes. It’s called the </a:t>
            </a:r>
            <a:r>
              <a:rPr lang="en-US" sz="1600" i="1" dirty="0">
                <a:latin typeface="Times-Italic"/>
              </a:rPr>
              <a:t>default copy constructor</a:t>
            </a:r>
            <a:r>
              <a:rPr lang="en-US" sz="1600" dirty="0">
                <a:latin typeface="Times-Roman"/>
              </a:rPr>
              <a:t>. </a:t>
            </a:r>
          </a:p>
          <a:p>
            <a:r>
              <a:rPr lang="en-US" sz="1600" dirty="0">
                <a:latin typeface="Times-Roman"/>
              </a:rPr>
              <a:t>It’s a </a:t>
            </a:r>
            <a:r>
              <a:rPr lang="en-US" sz="1600" dirty="0" err="1">
                <a:latin typeface="Times-Roman"/>
              </a:rPr>
              <a:t>oneargument</a:t>
            </a:r>
            <a:r>
              <a:rPr lang="en-US" sz="1600" dirty="0">
                <a:latin typeface="Times-Roman"/>
              </a:rPr>
              <a:t> constructor whose argument is an object of the same class as the constructor</a:t>
            </a:r>
            <a:endParaRPr lang="en-IN" sz="4400" dirty="0"/>
          </a:p>
        </p:txBody>
      </p:sp>
    </p:spTree>
    <p:extLst>
      <p:ext uri="{BB962C8B-B14F-4D97-AF65-F5344CB8AC3E}">
        <p14:creationId xmlns:p14="http://schemas.microsoft.com/office/powerpoint/2010/main" val="23186126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143000" y="937023"/>
            <a:ext cx="6572250" cy="606028"/>
          </a:xfrm>
        </p:spPr>
        <p:txBody>
          <a:bodyPr/>
          <a:lstStyle/>
          <a:p>
            <a:pPr algn="l"/>
            <a:r>
              <a:rPr lang="en-IN" dirty="0"/>
              <a:t>Destructor</a:t>
            </a:r>
          </a:p>
        </p:txBody>
      </p:sp>
      <p:sp>
        <p:nvSpPr>
          <p:cNvPr id="3" name="Content Placeholder 2"/>
          <p:cNvSpPr>
            <a:spLocks noGrp="1"/>
          </p:cNvSpPr>
          <p:nvPr>
            <p:ph idx="4294967295"/>
          </p:nvPr>
        </p:nvSpPr>
        <p:spPr>
          <a:xfrm>
            <a:off x="1270172" y="1559410"/>
            <a:ext cx="4399360" cy="2155340"/>
          </a:xfrm>
          <a:solidFill>
            <a:schemeClr val="tx2">
              <a:lumMod val="20000"/>
              <a:lumOff val="80000"/>
            </a:schemeClr>
          </a:solidFill>
        </p:spPr>
        <p:txBody>
          <a:bodyPr>
            <a:normAutofit lnSpcReduction="10000"/>
          </a:bodyPr>
          <a:lstStyle/>
          <a:p>
            <a:pPr lvl="0" algn="just">
              <a:buClr>
                <a:schemeClr val="tx1"/>
              </a:buClr>
            </a:pPr>
            <a:r>
              <a:rPr lang="en-US" sz="1800" b="1" dirty="0">
                <a:solidFill>
                  <a:srgbClr val="C00000"/>
                </a:solidFill>
              </a:rPr>
              <a:t>Destructor</a:t>
            </a:r>
            <a:r>
              <a:rPr lang="en-US" sz="1800" dirty="0"/>
              <a:t> is used to destroy the objects that have been created by a constructor. </a:t>
            </a:r>
          </a:p>
          <a:p>
            <a:pPr lvl="0" algn="just">
              <a:buClr>
                <a:schemeClr val="tx1"/>
              </a:buClr>
            </a:pPr>
            <a:r>
              <a:rPr lang="en-IN" sz="1800" dirty="0"/>
              <a:t>The syntax for </a:t>
            </a:r>
            <a:r>
              <a:rPr lang="en-IN" sz="1800" b="1" dirty="0">
                <a:solidFill>
                  <a:srgbClr val="C00000"/>
                </a:solidFill>
              </a:rPr>
              <a:t>destructor</a:t>
            </a:r>
            <a:r>
              <a:rPr lang="en-IN" sz="1800" dirty="0"/>
              <a:t> is same as that for the constructor, </a:t>
            </a:r>
          </a:p>
          <a:p>
            <a:pPr lvl="1" indent="-257175" algn="just">
              <a:buClr>
                <a:schemeClr val="tx1"/>
              </a:buClr>
            </a:pPr>
            <a:r>
              <a:rPr lang="en-IN" sz="1800" dirty="0"/>
              <a:t>the class name is used for the name of  destructor, </a:t>
            </a:r>
          </a:p>
          <a:p>
            <a:pPr lvl="1" indent="-257175" algn="just">
              <a:buClr>
                <a:schemeClr val="tx1"/>
              </a:buClr>
            </a:pPr>
            <a:r>
              <a:rPr lang="en-IN" sz="1800" dirty="0"/>
              <a:t>with a </a:t>
            </a:r>
            <a:r>
              <a:rPr lang="en-IN" sz="1800" b="1" dirty="0">
                <a:solidFill>
                  <a:srgbClr val="C00000"/>
                </a:solidFill>
              </a:rPr>
              <a:t>tilde (~)</a:t>
            </a:r>
            <a:r>
              <a:rPr lang="en-IN" sz="1800" dirty="0">
                <a:solidFill>
                  <a:srgbClr val="C00000"/>
                </a:solidFill>
              </a:rPr>
              <a:t> </a:t>
            </a:r>
            <a:r>
              <a:rPr lang="en-IN" sz="1800" dirty="0"/>
              <a:t>sign as prefix to it.</a:t>
            </a:r>
          </a:p>
        </p:txBody>
      </p:sp>
      <p:sp>
        <p:nvSpPr>
          <p:cNvPr id="4" name="Rectangle 3"/>
          <p:cNvSpPr/>
          <p:nvPr/>
        </p:nvSpPr>
        <p:spPr>
          <a:xfrm>
            <a:off x="1267708" y="4073170"/>
            <a:ext cx="6608585" cy="1754326"/>
          </a:xfrm>
          <a:prstGeom prst="rect">
            <a:avLst/>
          </a:prstGeom>
          <a:solidFill>
            <a:schemeClr val="tx2">
              <a:lumMod val="20000"/>
              <a:lumOff val="80000"/>
            </a:schemeClr>
          </a:solidFill>
        </p:spPr>
        <p:txBody>
          <a:bodyPr wrap="square">
            <a:spAutoFit/>
          </a:bodyPr>
          <a:lstStyle/>
          <a:p>
            <a:pPr algn="ctr" defTabSz="685800" fontAlgn="auto">
              <a:spcBef>
                <a:spcPts val="0"/>
              </a:spcBef>
              <a:spcAft>
                <a:spcPts val="0"/>
              </a:spcAft>
              <a:buClr>
                <a:prstClr val="black"/>
              </a:buClr>
            </a:pPr>
            <a:r>
              <a:rPr lang="en-US" sz="1800" b="1" dirty="0">
                <a:solidFill>
                  <a:srgbClr val="C00000"/>
                </a:solidFill>
                <a:latin typeface="Calibri"/>
                <a:cs typeface="+mn-cs"/>
              </a:rPr>
              <a:t>Destructor</a:t>
            </a:r>
            <a:r>
              <a:rPr lang="en-US" sz="1800" dirty="0">
                <a:solidFill>
                  <a:srgbClr val="C00000"/>
                </a:solidFill>
                <a:latin typeface="Calibri"/>
                <a:cs typeface="+mn-cs"/>
              </a:rPr>
              <a:t> </a:t>
            </a:r>
          </a:p>
          <a:p>
            <a:pPr marL="257175" indent="-257175" algn="just" defTabSz="685800" fontAlgn="auto">
              <a:spcBef>
                <a:spcPts val="0"/>
              </a:spcBef>
              <a:spcAft>
                <a:spcPts val="0"/>
              </a:spcAft>
              <a:buClr>
                <a:prstClr val="black"/>
              </a:buClr>
              <a:buFont typeface="Wingdings" panose="05000000000000000000" pitchFamily="2" charset="2"/>
              <a:buChar char="§"/>
            </a:pPr>
            <a:r>
              <a:rPr lang="en-US" sz="1800" dirty="0">
                <a:solidFill>
                  <a:prstClr val="black"/>
                </a:solidFill>
                <a:latin typeface="Calibri"/>
                <a:cs typeface="+mn-cs"/>
              </a:rPr>
              <a:t>never takes any argument nor it returns any value nor it has return type. </a:t>
            </a:r>
            <a:endParaRPr lang="en-IN" sz="1800" dirty="0">
              <a:solidFill>
                <a:prstClr val="black"/>
              </a:solidFill>
              <a:latin typeface="Calibri"/>
              <a:cs typeface="+mn-cs"/>
            </a:endParaRPr>
          </a:p>
          <a:p>
            <a:pPr marL="257175" indent="-257175" algn="just" defTabSz="685800" fontAlgn="auto">
              <a:spcBef>
                <a:spcPts val="0"/>
              </a:spcBef>
              <a:spcAft>
                <a:spcPts val="0"/>
              </a:spcAft>
              <a:buClr>
                <a:prstClr val="black"/>
              </a:buClr>
              <a:buFont typeface="Wingdings" panose="05000000000000000000" pitchFamily="2" charset="2"/>
              <a:buChar char="§"/>
            </a:pPr>
            <a:r>
              <a:rPr lang="en-US" sz="1800" dirty="0">
                <a:solidFill>
                  <a:prstClr val="black"/>
                </a:solidFill>
                <a:latin typeface="Calibri"/>
                <a:cs typeface="+mn-cs"/>
              </a:rPr>
              <a:t>is invoked automatically by the complier upon exit from the program. </a:t>
            </a:r>
            <a:endParaRPr lang="en-IN" sz="1800" dirty="0">
              <a:solidFill>
                <a:prstClr val="black"/>
              </a:solidFill>
              <a:latin typeface="Calibri"/>
              <a:cs typeface="+mn-cs"/>
            </a:endParaRPr>
          </a:p>
          <a:p>
            <a:pPr marL="257175" indent="-257175" algn="just" defTabSz="685800" fontAlgn="auto">
              <a:spcBef>
                <a:spcPts val="0"/>
              </a:spcBef>
              <a:spcAft>
                <a:spcPts val="0"/>
              </a:spcAft>
              <a:buClr>
                <a:prstClr val="black"/>
              </a:buClr>
              <a:buFont typeface="Wingdings" panose="05000000000000000000" pitchFamily="2" charset="2"/>
              <a:buChar char="§"/>
            </a:pPr>
            <a:r>
              <a:rPr lang="en-US" sz="1800" dirty="0">
                <a:solidFill>
                  <a:prstClr val="black"/>
                </a:solidFill>
                <a:latin typeface="Calibri"/>
                <a:cs typeface="+mn-cs"/>
              </a:rPr>
              <a:t>should be declared in the public section.</a:t>
            </a:r>
            <a:endParaRPr lang="en-IN" sz="1800" dirty="0">
              <a:solidFill>
                <a:prstClr val="black"/>
              </a:solidFill>
              <a:latin typeface="Calibri"/>
              <a:cs typeface="+mn-cs"/>
            </a:endParaRPr>
          </a:p>
        </p:txBody>
      </p:sp>
      <p:sp>
        <p:nvSpPr>
          <p:cNvPr id="5" name="Rounded Rectangle 4"/>
          <p:cNvSpPr/>
          <p:nvPr/>
        </p:nvSpPr>
        <p:spPr>
          <a:xfrm>
            <a:off x="5741439" y="1120790"/>
            <a:ext cx="2198794" cy="2781587"/>
          </a:xfrm>
          <a:prstGeom prst="roundRect">
            <a:avLst>
              <a:gd name="adj" fmla="val 5528"/>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pPr defTabSz="685800" fontAlgn="auto">
              <a:spcBef>
                <a:spcPts val="0"/>
              </a:spcBef>
              <a:spcAft>
                <a:spcPts val="0"/>
              </a:spcAft>
            </a:pPr>
            <a:r>
              <a:rPr lang="en-IN" sz="1350" dirty="0">
                <a:solidFill>
                  <a:srgbClr val="0000FF"/>
                </a:solidFill>
                <a:latin typeface="Consolas" panose="020B0609020204030204" pitchFamily="49" charset="0"/>
                <a:ea typeface="Times New Roman" panose="02020603050405020304" pitchFamily="18" charset="0"/>
                <a:cs typeface="Shruti"/>
              </a:rPr>
              <a:t>class</a:t>
            </a:r>
            <a:r>
              <a:rPr lang="en-IN" sz="1350" dirty="0">
                <a:solidFill>
                  <a:srgbClr val="000000"/>
                </a:solidFill>
                <a:latin typeface="Consolas" panose="020B0609020204030204" pitchFamily="49" charset="0"/>
                <a:ea typeface="Times New Roman" panose="02020603050405020304" pitchFamily="18" charset="0"/>
                <a:cs typeface="Shruti"/>
              </a:rPr>
              <a:t> car</a:t>
            </a:r>
            <a:endParaRPr lang="en-IN" sz="1350" dirty="0">
              <a:solidFill>
                <a:prstClr val="white"/>
              </a:solidFill>
              <a:latin typeface="Consolas" panose="020B0609020204030204" pitchFamily="49" charset="0"/>
              <a:ea typeface="Times New Roman" panose="02020603050405020304" pitchFamily="18" charset="0"/>
            </a:endParaRPr>
          </a:p>
          <a:p>
            <a:pPr defTabSz="685800" fontAlgn="auto">
              <a:spcBef>
                <a:spcPts val="0"/>
              </a:spcBef>
              <a:spcAft>
                <a:spcPts val="0"/>
              </a:spcAft>
            </a:pPr>
            <a:r>
              <a:rPr lang="en-IN" sz="1350" dirty="0">
                <a:solidFill>
                  <a:srgbClr val="000000"/>
                </a:solidFill>
                <a:latin typeface="Consolas" panose="020B0609020204030204" pitchFamily="49" charset="0"/>
                <a:ea typeface="Times New Roman" panose="02020603050405020304" pitchFamily="18" charset="0"/>
                <a:cs typeface="Shruti"/>
              </a:rPr>
              <a:t>{</a:t>
            </a:r>
            <a:endParaRPr lang="en-IN" sz="1350" dirty="0">
              <a:solidFill>
                <a:prstClr val="white"/>
              </a:solidFill>
              <a:latin typeface="Consolas" panose="020B0609020204030204" pitchFamily="49" charset="0"/>
              <a:ea typeface="Times New Roman" panose="02020603050405020304" pitchFamily="18" charset="0"/>
            </a:endParaRPr>
          </a:p>
          <a:p>
            <a:pPr defTabSz="685800" fontAlgn="auto">
              <a:spcBef>
                <a:spcPts val="0"/>
              </a:spcBef>
              <a:spcAft>
                <a:spcPts val="0"/>
              </a:spcAft>
            </a:pPr>
            <a:r>
              <a:rPr lang="en-IN" sz="1350" dirty="0">
                <a:solidFill>
                  <a:srgbClr val="0000FF"/>
                </a:solidFill>
                <a:latin typeface="Consolas" panose="020B0609020204030204" pitchFamily="49" charset="0"/>
                <a:ea typeface="Times New Roman" panose="02020603050405020304" pitchFamily="18" charset="0"/>
                <a:cs typeface="Shruti"/>
              </a:rPr>
              <a:t>    float</a:t>
            </a:r>
            <a:r>
              <a:rPr lang="en-IN" sz="1350" dirty="0">
                <a:solidFill>
                  <a:srgbClr val="000000"/>
                </a:solidFill>
                <a:latin typeface="Consolas" panose="020B0609020204030204" pitchFamily="49" charset="0"/>
                <a:ea typeface="Times New Roman" panose="02020603050405020304" pitchFamily="18" charset="0"/>
                <a:cs typeface="Shruti"/>
              </a:rPr>
              <a:t> mileage;</a:t>
            </a:r>
            <a:endParaRPr lang="en-IN" sz="1350" dirty="0">
              <a:solidFill>
                <a:prstClr val="white"/>
              </a:solidFill>
              <a:latin typeface="Consolas" panose="020B0609020204030204" pitchFamily="49" charset="0"/>
              <a:ea typeface="Times New Roman" panose="02020603050405020304" pitchFamily="18" charset="0"/>
            </a:endParaRPr>
          </a:p>
          <a:p>
            <a:pPr defTabSz="685800" fontAlgn="auto">
              <a:spcBef>
                <a:spcPts val="0"/>
              </a:spcBef>
              <a:spcAft>
                <a:spcPts val="0"/>
              </a:spcAft>
            </a:pPr>
            <a:r>
              <a:rPr lang="en-IN" sz="1350" dirty="0">
                <a:solidFill>
                  <a:srgbClr val="0000FF"/>
                </a:solidFill>
                <a:latin typeface="Consolas" panose="020B0609020204030204" pitchFamily="49" charset="0"/>
                <a:ea typeface="Times New Roman" panose="02020603050405020304" pitchFamily="18" charset="0"/>
                <a:cs typeface="Shruti"/>
              </a:rPr>
              <a:t>  public</a:t>
            </a:r>
            <a:r>
              <a:rPr lang="en-IN" sz="1350" dirty="0">
                <a:solidFill>
                  <a:srgbClr val="000000"/>
                </a:solidFill>
                <a:latin typeface="Consolas" panose="020B0609020204030204" pitchFamily="49" charset="0"/>
                <a:ea typeface="Times New Roman" panose="02020603050405020304" pitchFamily="18" charset="0"/>
                <a:cs typeface="Shruti"/>
              </a:rPr>
              <a:t>: </a:t>
            </a:r>
            <a:endParaRPr lang="en-IN" sz="1350" dirty="0">
              <a:solidFill>
                <a:prstClr val="white"/>
              </a:solidFill>
              <a:latin typeface="Consolas" panose="020B0609020204030204" pitchFamily="49" charset="0"/>
              <a:ea typeface="Times New Roman" panose="02020603050405020304" pitchFamily="18" charset="0"/>
            </a:endParaRPr>
          </a:p>
          <a:p>
            <a:pPr defTabSz="685800" fontAlgn="auto">
              <a:spcBef>
                <a:spcPts val="0"/>
              </a:spcBef>
              <a:spcAft>
                <a:spcPts val="0"/>
              </a:spcAft>
            </a:pPr>
            <a:r>
              <a:rPr lang="en-IN" sz="1350" dirty="0">
                <a:solidFill>
                  <a:srgbClr val="000000"/>
                </a:solidFill>
                <a:latin typeface="Consolas" panose="020B0609020204030204" pitchFamily="49" charset="0"/>
                <a:ea typeface="Times New Roman" panose="02020603050405020304" pitchFamily="18" charset="0"/>
                <a:cs typeface="Shruti"/>
              </a:rPr>
              <a:t>   car(){</a:t>
            </a:r>
          </a:p>
          <a:p>
            <a:pPr defTabSz="685800" fontAlgn="auto">
              <a:spcBef>
                <a:spcPts val="0"/>
              </a:spcBef>
              <a:spcAft>
                <a:spcPts val="0"/>
              </a:spcAft>
            </a:pPr>
            <a:r>
              <a:rPr lang="en-IN" sz="1350" dirty="0">
                <a:solidFill>
                  <a:srgbClr val="000000"/>
                </a:solidFill>
                <a:latin typeface="Consolas" panose="020B0609020204030204" pitchFamily="49" charset="0"/>
                <a:ea typeface="Times New Roman" panose="02020603050405020304" pitchFamily="18" charset="0"/>
                <a:cs typeface="Shruti"/>
              </a:rPr>
              <a:t>     mileage=0;</a:t>
            </a:r>
          </a:p>
          <a:p>
            <a:pPr defTabSz="685800" fontAlgn="auto">
              <a:spcBef>
                <a:spcPts val="0"/>
              </a:spcBef>
              <a:spcAft>
                <a:spcPts val="0"/>
              </a:spcAft>
            </a:pPr>
            <a:r>
              <a:rPr lang="en-IN" sz="1350" dirty="0">
                <a:solidFill>
                  <a:srgbClr val="000000"/>
                </a:solidFill>
                <a:latin typeface="Consolas" panose="020B0609020204030204" pitchFamily="49" charset="0"/>
                <a:ea typeface="Times New Roman" panose="02020603050405020304" pitchFamily="18" charset="0"/>
                <a:cs typeface="Shruti"/>
              </a:rPr>
              <a:t>   }</a:t>
            </a:r>
          </a:p>
          <a:p>
            <a:pPr defTabSz="685800" fontAlgn="auto">
              <a:spcBef>
                <a:spcPts val="0"/>
              </a:spcBef>
              <a:spcAft>
                <a:spcPts val="0"/>
              </a:spcAft>
            </a:pPr>
            <a:endParaRPr lang="en-IN" sz="1350" dirty="0">
              <a:solidFill>
                <a:srgbClr val="000000"/>
              </a:solidFill>
              <a:latin typeface="Consolas" panose="020B0609020204030204" pitchFamily="49" charset="0"/>
              <a:ea typeface="Times New Roman" panose="02020603050405020304" pitchFamily="18" charset="0"/>
              <a:cs typeface="Shruti"/>
            </a:endParaRPr>
          </a:p>
          <a:p>
            <a:pPr defTabSz="685800" fontAlgn="auto">
              <a:spcBef>
                <a:spcPts val="0"/>
              </a:spcBef>
              <a:spcAft>
                <a:spcPts val="0"/>
              </a:spcAft>
            </a:pPr>
            <a:r>
              <a:rPr lang="en-IN" sz="1350" dirty="0">
                <a:solidFill>
                  <a:srgbClr val="000000"/>
                </a:solidFill>
                <a:latin typeface="Consolas" panose="020B0609020204030204" pitchFamily="49" charset="0"/>
                <a:ea typeface="Times New Roman" panose="02020603050405020304" pitchFamily="18" charset="0"/>
                <a:cs typeface="Shruti"/>
              </a:rPr>
              <a:t>   ~car(){   </a:t>
            </a:r>
          </a:p>
          <a:p>
            <a:pPr defTabSz="685800" fontAlgn="auto">
              <a:spcBef>
                <a:spcPts val="0"/>
              </a:spcBef>
              <a:spcAft>
                <a:spcPts val="0"/>
              </a:spcAft>
            </a:pPr>
            <a:r>
              <a:rPr lang="en-IN" sz="1350" dirty="0" err="1">
                <a:solidFill>
                  <a:srgbClr val="000000"/>
                </a:solidFill>
                <a:latin typeface="Consolas" panose="020B0609020204030204" pitchFamily="49" charset="0"/>
                <a:ea typeface="Times New Roman" panose="02020603050405020304" pitchFamily="18" charset="0"/>
                <a:cs typeface="Shruti"/>
              </a:rPr>
              <a:t>cout</a:t>
            </a:r>
            <a:r>
              <a:rPr lang="en-IN" sz="1350" dirty="0">
                <a:solidFill>
                  <a:srgbClr val="000000"/>
                </a:solidFill>
                <a:latin typeface="Consolas" panose="020B0609020204030204" pitchFamily="49" charset="0"/>
                <a:ea typeface="Times New Roman" panose="02020603050405020304" pitchFamily="18" charset="0"/>
                <a:cs typeface="Shruti"/>
              </a:rPr>
              <a:t>&lt;&lt;" destructor";</a:t>
            </a:r>
          </a:p>
          <a:p>
            <a:pPr defTabSz="685800" fontAlgn="auto">
              <a:spcBef>
                <a:spcPts val="0"/>
              </a:spcBef>
              <a:spcAft>
                <a:spcPts val="0"/>
              </a:spcAft>
            </a:pPr>
            <a:r>
              <a:rPr lang="en-IN" sz="1350" dirty="0">
                <a:solidFill>
                  <a:srgbClr val="000000"/>
                </a:solidFill>
                <a:latin typeface="Consolas" panose="020B0609020204030204" pitchFamily="49" charset="0"/>
                <a:ea typeface="Times New Roman" panose="02020603050405020304" pitchFamily="18" charset="0"/>
                <a:cs typeface="Shruti"/>
              </a:rPr>
              <a:t>   }</a:t>
            </a:r>
          </a:p>
          <a:p>
            <a:pPr defTabSz="685800" fontAlgn="auto">
              <a:spcBef>
                <a:spcPts val="0"/>
              </a:spcBef>
              <a:spcAft>
                <a:spcPts val="0"/>
              </a:spcAft>
            </a:pPr>
            <a:r>
              <a:rPr lang="en-IN" sz="1350" dirty="0">
                <a:solidFill>
                  <a:srgbClr val="000000"/>
                </a:solidFill>
                <a:latin typeface="Consolas" panose="020B0609020204030204" pitchFamily="49" charset="0"/>
                <a:ea typeface="Times New Roman" panose="02020603050405020304" pitchFamily="18" charset="0"/>
                <a:cs typeface="Shruti"/>
              </a:rPr>
              <a:t>  </a:t>
            </a:r>
          </a:p>
          <a:p>
            <a:pPr defTabSz="685800" fontAlgn="auto">
              <a:spcBef>
                <a:spcPts val="0"/>
              </a:spcBef>
              <a:spcAft>
                <a:spcPts val="0"/>
              </a:spcAft>
            </a:pPr>
            <a:r>
              <a:rPr lang="en-IN" sz="1350" dirty="0">
                <a:solidFill>
                  <a:srgbClr val="000000"/>
                </a:solidFill>
                <a:latin typeface="Consolas" panose="020B0609020204030204" pitchFamily="49" charset="0"/>
                <a:ea typeface="Times New Roman" panose="02020603050405020304" pitchFamily="18" charset="0"/>
                <a:cs typeface="Shruti"/>
              </a:rPr>
              <a:t>};</a:t>
            </a:r>
            <a:endParaRPr lang="en-IN" sz="1350" dirty="0">
              <a:solidFill>
                <a:prstClr val="white"/>
              </a:solidFill>
              <a:latin typeface="Consolas" panose="020B0609020204030204" pitchFamily="49" charset="0"/>
              <a:ea typeface="Times New Roman" panose="02020603050405020304" pitchFamily="18" charset="0"/>
            </a:endParaRPr>
          </a:p>
        </p:txBody>
      </p:sp>
      <p:cxnSp>
        <p:nvCxnSpPr>
          <p:cNvPr id="7" name="Straight Connector 6"/>
          <p:cNvCxnSpPr/>
          <p:nvPr/>
        </p:nvCxnSpPr>
        <p:spPr>
          <a:xfrm>
            <a:off x="1222860" y="3987773"/>
            <a:ext cx="662985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8" name="Rounded Rectangle 7"/>
          <p:cNvSpPr/>
          <p:nvPr/>
        </p:nvSpPr>
        <p:spPr>
          <a:xfrm>
            <a:off x="5829300" y="2800350"/>
            <a:ext cx="1943100" cy="742950"/>
          </a:xfrm>
          <a:prstGeom prst="round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IN" sz="1350">
              <a:solidFill>
                <a:prstClr val="white"/>
              </a:solidFill>
              <a:latin typeface="Calibri"/>
            </a:endParaRPr>
          </a:p>
        </p:txBody>
      </p:sp>
    </p:spTree>
    <p:extLst>
      <p:ext uri="{BB962C8B-B14F-4D97-AF65-F5344CB8AC3E}">
        <p14:creationId xmlns:p14="http://schemas.microsoft.com/office/powerpoint/2010/main" val="3451387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0" end="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1" end="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xEl>
                                              <p:pRg st="2" end="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
                                            <p:txEl>
                                              <p:pRg st="3" end="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
                                            <p:txEl>
                                              <p:pRg st="4" end="4"/>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
                                            <p:txEl>
                                              <p:pRg st="6" end="6"/>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5">
                                            <p:txEl>
                                              <p:pRg st="8" end="8"/>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5">
                                            <p:txEl>
                                              <p:pRg st="9" end="9"/>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
                                            <p:txEl>
                                              <p:pRg st="10" end="10"/>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
                                            <p:txEl>
                                              <p:pRg st="0" end="0"/>
                                            </p:txEl>
                                          </p:spTgt>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P spid="4" grpId="0" animBg="1"/>
      <p:bldP spid="5" grpId="0" animBg="1"/>
      <p:bldP spid="8"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Program: Destructor</a:t>
            </a:r>
          </a:p>
        </p:txBody>
      </p:sp>
      <p:sp>
        <p:nvSpPr>
          <p:cNvPr id="6" name="Rectangle 5"/>
          <p:cNvSpPr/>
          <p:nvPr/>
        </p:nvSpPr>
        <p:spPr>
          <a:xfrm>
            <a:off x="1371600" y="1536523"/>
            <a:ext cx="6515100" cy="4339650"/>
          </a:xfrm>
          <a:prstGeom prst="rect">
            <a:avLst/>
          </a:prstGeom>
        </p:spPr>
        <p:txBody>
          <a:bodyPr wrap="square">
            <a:spAutoFit/>
          </a:bodyPr>
          <a:lstStyle/>
          <a:p>
            <a:pPr defTabSz="685800" fontAlgn="auto">
              <a:spcBef>
                <a:spcPts val="0"/>
              </a:spcBef>
              <a:spcAft>
                <a:spcPts val="0"/>
              </a:spcAft>
            </a:pPr>
            <a:r>
              <a:rPr lang="en-IN" sz="1725" dirty="0">
                <a:solidFill>
                  <a:srgbClr val="0000FF"/>
                </a:solidFill>
                <a:highlight>
                  <a:srgbClr val="FFFFFF"/>
                </a:highlight>
                <a:latin typeface="Consolas" panose="020B0609020204030204" pitchFamily="49" charset="0"/>
                <a:cs typeface="+mn-cs"/>
              </a:rPr>
              <a:t>class</a:t>
            </a:r>
            <a:r>
              <a:rPr lang="en-IN" sz="1725" dirty="0">
                <a:solidFill>
                  <a:srgbClr val="000000"/>
                </a:solidFill>
                <a:highlight>
                  <a:srgbClr val="FFFFFF"/>
                </a:highlight>
                <a:latin typeface="Consolas" panose="020B0609020204030204" pitchFamily="49" charset="0"/>
                <a:cs typeface="+mn-cs"/>
              </a:rPr>
              <a:t> rectangle </a:t>
            </a:r>
          </a:p>
          <a:p>
            <a:pPr defTabSz="685800" fontAlgn="auto">
              <a:spcBef>
                <a:spcPts val="0"/>
              </a:spcBef>
              <a:spcAft>
                <a:spcPts val="0"/>
              </a:spcAft>
            </a:pPr>
            <a:r>
              <a:rPr lang="en-IN" sz="1725" dirty="0">
                <a:solidFill>
                  <a:srgbClr val="000000"/>
                </a:solidFill>
                <a:highlight>
                  <a:srgbClr val="FFFFFF"/>
                </a:highlight>
                <a:latin typeface="Consolas" panose="020B0609020204030204" pitchFamily="49" charset="0"/>
                <a:cs typeface="+mn-cs"/>
              </a:rPr>
              <a:t>{ </a:t>
            </a:r>
          </a:p>
          <a:p>
            <a:pPr defTabSz="685800" fontAlgn="auto">
              <a:spcBef>
                <a:spcPts val="0"/>
              </a:spcBef>
              <a:spcAft>
                <a:spcPts val="0"/>
              </a:spcAft>
            </a:pPr>
            <a:r>
              <a:rPr lang="en-IN" sz="1725" dirty="0">
                <a:solidFill>
                  <a:srgbClr val="000000"/>
                </a:solidFill>
                <a:highlight>
                  <a:srgbClr val="FFFFFF"/>
                </a:highlight>
                <a:latin typeface="Consolas" panose="020B0609020204030204" pitchFamily="49" charset="0"/>
                <a:cs typeface="+mn-cs"/>
              </a:rPr>
              <a:t>  </a:t>
            </a:r>
            <a:r>
              <a:rPr lang="en-IN" sz="1725" dirty="0" err="1">
                <a:solidFill>
                  <a:srgbClr val="0000FF"/>
                </a:solidFill>
                <a:highlight>
                  <a:srgbClr val="FFFFFF"/>
                </a:highlight>
                <a:latin typeface="Consolas" panose="020B0609020204030204" pitchFamily="49" charset="0"/>
                <a:cs typeface="+mn-cs"/>
              </a:rPr>
              <a:t>int</a:t>
            </a:r>
            <a:r>
              <a:rPr lang="en-IN" sz="1725" dirty="0">
                <a:solidFill>
                  <a:srgbClr val="000000"/>
                </a:solidFill>
                <a:highlight>
                  <a:srgbClr val="FFFFFF"/>
                </a:highlight>
                <a:latin typeface="Consolas" panose="020B0609020204030204" pitchFamily="49" charset="0"/>
                <a:cs typeface="+mn-cs"/>
              </a:rPr>
              <a:t> length, width;     </a:t>
            </a:r>
          </a:p>
          <a:p>
            <a:pPr defTabSz="685800" fontAlgn="auto">
              <a:spcBef>
                <a:spcPts val="0"/>
              </a:spcBef>
              <a:spcAft>
                <a:spcPts val="0"/>
              </a:spcAft>
            </a:pPr>
            <a:r>
              <a:rPr lang="en-IN" sz="1725" dirty="0">
                <a:solidFill>
                  <a:srgbClr val="000000"/>
                </a:solidFill>
                <a:highlight>
                  <a:srgbClr val="FFFFFF"/>
                </a:highlight>
                <a:latin typeface="Consolas" panose="020B0609020204030204" pitchFamily="49" charset="0"/>
                <a:cs typeface="+mn-cs"/>
              </a:rPr>
              <a:t>  </a:t>
            </a:r>
            <a:r>
              <a:rPr lang="en-IN" sz="1725" dirty="0">
                <a:solidFill>
                  <a:srgbClr val="0000FF"/>
                </a:solidFill>
                <a:highlight>
                  <a:srgbClr val="FFFFFF"/>
                </a:highlight>
                <a:latin typeface="Consolas" panose="020B0609020204030204" pitchFamily="49" charset="0"/>
                <a:cs typeface="+mn-cs"/>
              </a:rPr>
              <a:t>public</a:t>
            </a:r>
            <a:r>
              <a:rPr lang="en-IN" sz="1725" dirty="0">
                <a:solidFill>
                  <a:srgbClr val="000000"/>
                </a:solidFill>
                <a:highlight>
                  <a:srgbClr val="FFFFFF"/>
                </a:highlight>
                <a:latin typeface="Consolas" panose="020B0609020204030204" pitchFamily="49" charset="0"/>
                <a:cs typeface="+mn-cs"/>
              </a:rPr>
              <a:t>: </a:t>
            </a:r>
          </a:p>
          <a:p>
            <a:pPr defTabSz="685800" fontAlgn="auto">
              <a:spcBef>
                <a:spcPts val="0"/>
              </a:spcBef>
              <a:spcAft>
                <a:spcPts val="0"/>
              </a:spcAft>
            </a:pPr>
            <a:r>
              <a:rPr lang="en-IN" sz="1725" dirty="0">
                <a:solidFill>
                  <a:srgbClr val="000000"/>
                </a:solidFill>
                <a:highlight>
                  <a:srgbClr val="FFFFFF"/>
                </a:highlight>
                <a:latin typeface="Consolas" panose="020B0609020204030204" pitchFamily="49" charset="0"/>
                <a:cs typeface="+mn-cs"/>
              </a:rPr>
              <a:t>  rectangle(){ </a:t>
            </a:r>
            <a:r>
              <a:rPr lang="en-IN" sz="1725" dirty="0">
                <a:solidFill>
                  <a:srgbClr val="008000"/>
                </a:solidFill>
                <a:highlight>
                  <a:srgbClr val="FFFFFF"/>
                </a:highlight>
                <a:latin typeface="Consolas" panose="020B0609020204030204" pitchFamily="49" charset="0"/>
                <a:cs typeface="+mn-cs"/>
              </a:rPr>
              <a:t>//Constructor </a:t>
            </a:r>
            <a:endParaRPr lang="en-IN" sz="1725" dirty="0">
              <a:solidFill>
                <a:srgbClr val="000000"/>
              </a:solidFill>
              <a:highlight>
                <a:srgbClr val="FFFFFF"/>
              </a:highlight>
              <a:latin typeface="Consolas" panose="020B0609020204030204" pitchFamily="49" charset="0"/>
              <a:cs typeface="+mn-cs"/>
            </a:endParaRPr>
          </a:p>
          <a:p>
            <a:pPr defTabSz="685800" fontAlgn="auto">
              <a:spcBef>
                <a:spcPts val="0"/>
              </a:spcBef>
              <a:spcAft>
                <a:spcPts val="0"/>
              </a:spcAft>
            </a:pPr>
            <a:r>
              <a:rPr lang="en-IN" sz="1725" dirty="0">
                <a:solidFill>
                  <a:srgbClr val="000000"/>
                </a:solidFill>
                <a:highlight>
                  <a:srgbClr val="FFFFFF"/>
                </a:highlight>
                <a:latin typeface="Consolas" panose="020B0609020204030204" pitchFamily="49" charset="0"/>
                <a:cs typeface="+mn-cs"/>
              </a:rPr>
              <a:t>   length=0; </a:t>
            </a:r>
          </a:p>
          <a:p>
            <a:pPr defTabSz="685800" fontAlgn="auto">
              <a:spcBef>
                <a:spcPts val="0"/>
              </a:spcBef>
              <a:spcAft>
                <a:spcPts val="0"/>
              </a:spcAft>
            </a:pPr>
            <a:r>
              <a:rPr lang="en-IN" sz="1725" dirty="0">
                <a:solidFill>
                  <a:srgbClr val="000000"/>
                </a:solidFill>
                <a:highlight>
                  <a:srgbClr val="FFFFFF"/>
                </a:highlight>
                <a:latin typeface="Consolas" panose="020B0609020204030204" pitchFamily="49" charset="0"/>
                <a:cs typeface="+mn-cs"/>
              </a:rPr>
              <a:t>   width=0;</a:t>
            </a:r>
          </a:p>
          <a:p>
            <a:pPr defTabSz="685800" fontAlgn="auto">
              <a:spcBef>
                <a:spcPts val="0"/>
              </a:spcBef>
              <a:spcAft>
                <a:spcPts val="0"/>
              </a:spcAft>
            </a:pPr>
            <a:r>
              <a:rPr lang="en-IN" sz="1725" dirty="0">
                <a:solidFill>
                  <a:srgbClr val="000000"/>
                </a:solidFill>
                <a:highlight>
                  <a:srgbClr val="FFFFFF"/>
                </a:highlight>
                <a:latin typeface="Consolas" panose="020B0609020204030204" pitchFamily="49" charset="0"/>
                <a:cs typeface="+mn-cs"/>
              </a:rPr>
              <a:t>   </a:t>
            </a:r>
            <a:r>
              <a:rPr lang="en-IN" sz="1725" dirty="0" err="1">
                <a:solidFill>
                  <a:srgbClr val="000000"/>
                </a:solidFill>
                <a:highlight>
                  <a:srgbClr val="FFFFFF"/>
                </a:highlight>
                <a:latin typeface="Consolas" panose="020B0609020204030204" pitchFamily="49" charset="0"/>
                <a:cs typeface="+mn-cs"/>
              </a:rPr>
              <a:t>cout</a:t>
            </a:r>
            <a:r>
              <a:rPr lang="en-IN" sz="1725" dirty="0">
                <a:solidFill>
                  <a:srgbClr val="000000"/>
                </a:solidFill>
                <a:highlight>
                  <a:srgbClr val="FFFFFF"/>
                </a:highlight>
                <a:latin typeface="Consolas" panose="020B0609020204030204" pitchFamily="49" charset="0"/>
                <a:cs typeface="+mn-cs"/>
              </a:rPr>
              <a:t>&lt;&lt;”Constructor Called”; </a:t>
            </a:r>
          </a:p>
          <a:p>
            <a:pPr defTabSz="685800" fontAlgn="auto">
              <a:spcBef>
                <a:spcPts val="0"/>
              </a:spcBef>
              <a:spcAft>
                <a:spcPts val="0"/>
              </a:spcAft>
            </a:pPr>
            <a:r>
              <a:rPr lang="en-IN" sz="1725" dirty="0">
                <a:solidFill>
                  <a:srgbClr val="000000"/>
                </a:solidFill>
                <a:highlight>
                  <a:srgbClr val="FFFFFF"/>
                </a:highlight>
                <a:latin typeface="Consolas" panose="020B0609020204030204" pitchFamily="49" charset="0"/>
                <a:cs typeface="+mn-cs"/>
              </a:rPr>
              <a:t>  } </a:t>
            </a:r>
          </a:p>
          <a:p>
            <a:pPr defTabSz="685800" fontAlgn="auto">
              <a:spcBef>
                <a:spcPts val="0"/>
              </a:spcBef>
              <a:spcAft>
                <a:spcPts val="0"/>
              </a:spcAft>
            </a:pPr>
            <a:r>
              <a:rPr lang="en-IN" sz="1725" dirty="0">
                <a:solidFill>
                  <a:srgbClr val="000000"/>
                </a:solidFill>
                <a:highlight>
                  <a:srgbClr val="FFFFFF"/>
                </a:highlight>
                <a:latin typeface="Consolas" panose="020B0609020204030204" pitchFamily="49" charset="0"/>
                <a:cs typeface="+mn-cs"/>
              </a:rPr>
              <a:t>  ~rectangle() </a:t>
            </a:r>
            <a:r>
              <a:rPr lang="en-IN" sz="1725" dirty="0">
                <a:solidFill>
                  <a:srgbClr val="008000"/>
                </a:solidFill>
                <a:highlight>
                  <a:srgbClr val="FFFFFF"/>
                </a:highlight>
                <a:latin typeface="Consolas" panose="020B0609020204030204" pitchFamily="49" charset="0"/>
                <a:cs typeface="+mn-cs"/>
              </a:rPr>
              <a:t>//Destructor </a:t>
            </a:r>
            <a:endParaRPr lang="en-IN" sz="1725" dirty="0">
              <a:solidFill>
                <a:srgbClr val="000000"/>
              </a:solidFill>
              <a:highlight>
                <a:srgbClr val="FFFFFF"/>
              </a:highlight>
              <a:latin typeface="Consolas" panose="020B0609020204030204" pitchFamily="49" charset="0"/>
              <a:cs typeface="+mn-cs"/>
            </a:endParaRPr>
          </a:p>
          <a:p>
            <a:pPr defTabSz="685800" fontAlgn="auto">
              <a:spcBef>
                <a:spcPts val="0"/>
              </a:spcBef>
              <a:spcAft>
                <a:spcPts val="0"/>
              </a:spcAft>
            </a:pPr>
            <a:r>
              <a:rPr lang="en-IN" sz="1725" dirty="0">
                <a:solidFill>
                  <a:srgbClr val="000000"/>
                </a:solidFill>
                <a:highlight>
                  <a:srgbClr val="FFFFFF"/>
                </a:highlight>
                <a:latin typeface="Consolas" panose="020B0609020204030204" pitchFamily="49" charset="0"/>
                <a:cs typeface="+mn-cs"/>
              </a:rPr>
              <a:t>  { </a:t>
            </a:r>
          </a:p>
          <a:p>
            <a:pPr defTabSz="685800" fontAlgn="auto">
              <a:spcBef>
                <a:spcPts val="0"/>
              </a:spcBef>
              <a:spcAft>
                <a:spcPts val="0"/>
              </a:spcAft>
            </a:pPr>
            <a:r>
              <a:rPr lang="en-IN" sz="1725" dirty="0">
                <a:solidFill>
                  <a:srgbClr val="000000"/>
                </a:solidFill>
                <a:highlight>
                  <a:srgbClr val="FFFFFF"/>
                </a:highlight>
                <a:latin typeface="Consolas" panose="020B0609020204030204" pitchFamily="49" charset="0"/>
                <a:cs typeface="+mn-cs"/>
              </a:rPr>
              <a:t>   </a:t>
            </a:r>
            <a:r>
              <a:rPr lang="en-IN" sz="1725" dirty="0" err="1">
                <a:solidFill>
                  <a:srgbClr val="000000"/>
                </a:solidFill>
                <a:highlight>
                  <a:srgbClr val="FFFFFF"/>
                </a:highlight>
                <a:latin typeface="Consolas" panose="020B0609020204030204" pitchFamily="49" charset="0"/>
                <a:cs typeface="+mn-cs"/>
              </a:rPr>
              <a:t>cout</a:t>
            </a:r>
            <a:r>
              <a:rPr lang="en-IN" sz="1725" dirty="0">
                <a:solidFill>
                  <a:srgbClr val="000000"/>
                </a:solidFill>
                <a:highlight>
                  <a:srgbClr val="FFFFFF"/>
                </a:highlight>
                <a:latin typeface="Consolas" panose="020B0609020204030204" pitchFamily="49" charset="0"/>
                <a:cs typeface="+mn-cs"/>
              </a:rPr>
              <a:t>&lt;&lt;”Destructor Called”;</a:t>
            </a:r>
          </a:p>
          <a:p>
            <a:pPr defTabSz="685800" fontAlgn="auto">
              <a:spcBef>
                <a:spcPts val="0"/>
              </a:spcBef>
              <a:spcAft>
                <a:spcPts val="0"/>
              </a:spcAft>
            </a:pPr>
            <a:r>
              <a:rPr lang="en-IN" sz="1725" dirty="0">
                <a:solidFill>
                  <a:srgbClr val="000000"/>
                </a:solidFill>
                <a:highlight>
                  <a:srgbClr val="FFFFFF"/>
                </a:highlight>
                <a:latin typeface="Consolas" panose="020B0609020204030204" pitchFamily="49" charset="0"/>
                <a:cs typeface="+mn-cs"/>
              </a:rPr>
              <a:t>  } </a:t>
            </a:r>
          </a:p>
          <a:p>
            <a:pPr defTabSz="685800" fontAlgn="auto">
              <a:spcBef>
                <a:spcPts val="0"/>
              </a:spcBef>
              <a:spcAft>
                <a:spcPts val="0"/>
              </a:spcAft>
            </a:pPr>
            <a:r>
              <a:rPr lang="en-IN" sz="1725" dirty="0">
                <a:solidFill>
                  <a:srgbClr val="008000"/>
                </a:solidFill>
                <a:highlight>
                  <a:srgbClr val="FFFFFF"/>
                </a:highlight>
                <a:latin typeface="Consolas" panose="020B0609020204030204" pitchFamily="49" charset="0"/>
                <a:cs typeface="+mn-cs"/>
              </a:rPr>
              <a:t>// other functions for reading, writing and processing can be written here </a:t>
            </a:r>
            <a:endParaRPr lang="en-IN" sz="1725" dirty="0">
              <a:solidFill>
                <a:srgbClr val="000000"/>
              </a:solidFill>
              <a:highlight>
                <a:srgbClr val="FFFFFF"/>
              </a:highlight>
              <a:latin typeface="Consolas" panose="020B0609020204030204" pitchFamily="49" charset="0"/>
              <a:cs typeface="+mn-cs"/>
            </a:endParaRPr>
          </a:p>
          <a:p>
            <a:pPr defTabSz="685800" fontAlgn="auto">
              <a:spcBef>
                <a:spcPts val="0"/>
              </a:spcBef>
              <a:spcAft>
                <a:spcPts val="0"/>
              </a:spcAft>
            </a:pPr>
            <a:r>
              <a:rPr lang="en-IN" sz="1725" dirty="0">
                <a:solidFill>
                  <a:srgbClr val="000000"/>
                </a:solidFill>
                <a:highlight>
                  <a:srgbClr val="FFFFFF"/>
                </a:highlight>
                <a:latin typeface="Consolas" panose="020B0609020204030204" pitchFamily="49" charset="0"/>
                <a:cs typeface="+mn-cs"/>
              </a:rPr>
              <a:t>}; </a:t>
            </a:r>
          </a:p>
        </p:txBody>
      </p:sp>
      <p:sp>
        <p:nvSpPr>
          <p:cNvPr id="7" name="Rectangle 6"/>
          <p:cNvSpPr/>
          <p:nvPr/>
        </p:nvSpPr>
        <p:spPr>
          <a:xfrm>
            <a:off x="5257800" y="1543050"/>
            <a:ext cx="2743200" cy="2031325"/>
          </a:xfrm>
          <a:prstGeom prst="rect">
            <a:avLst/>
          </a:prstGeom>
        </p:spPr>
        <p:txBody>
          <a:bodyPr wrap="square">
            <a:spAutoFit/>
          </a:bodyPr>
          <a:lstStyle/>
          <a:p>
            <a:pPr defTabSz="685800" fontAlgn="auto">
              <a:spcBef>
                <a:spcPts val="0"/>
              </a:spcBef>
              <a:spcAft>
                <a:spcPts val="0"/>
              </a:spcAft>
            </a:pPr>
            <a:r>
              <a:rPr lang="en-IN" sz="1800" dirty="0" err="1">
                <a:solidFill>
                  <a:srgbClr val="0000FF"/>
                </a:solidFill>
                <a:highlight>
                  <a:srgbClr val="FFFFFF"/>
                </a:highlight>
                <a:latin typeface="Consolas" panose="020B0609020204030204" pitchFamily="49" charset="0"/>
                <a:cs typeface="+mn-cs"/>
              </a:rPr>
              <a:t>int</a:t>
            </a:r>
            <a:r>
              <a:rPr lang="en-IN" sz="1800" dirty="0">
                <a:solidFill>
                  <a:srgbClr val="000000"/>
                </a:solidFill>
                <a:highlight>
                  <a:srgbClr val="FFFFFF"/>
                </a:highlight>
                <a:latin typeface="Consolas" panose="020B0609020204030204" pitchFamily="49" charset="0"/>
                <a:cs typeface="+mn-cs"/>
              </a:rPr>
              <a:t> main()</a:t>
            </a:r>
          </a:p>
          <a:p>
            <a:pPr defTabSz="685800" fontAlgn="auto">
              <a:spcBef>
                <a:spcPts val="0"/>
              </a:spcBef>
              <a:spcAft>
                <a:spcPts val="0"/>
              </a:spcAft>
            </a:pPr>
            <a:r>
              <a:rPr lang="en-IN" sz="1800" dirty="0">
                <a:solidFill>
                  <a:srgbClr val="000000"/>
                </a:solidFill>
                <a:highlight>
                  <a:srgbClr val="FFFFFF"/>
                </a:highlight>
                <a:latin typeface="Consolas" panose="020B0609020204030204" pitchFamily="49" charset="0"/>
                <a:cs typeface="+mn-cs"/>
              </a:rPr>
              <a:t>{</a:t>
            </a:r>
          </a:p>
          <a:p>
            <a:pPr defTabSz="685800" fontAlgn="auto">
              <a:spcBef>
                <a:spcPts val="0"/>
              </a:spcBef>
              <a:spcAft>
                <a:spcPts val="0"/>
              </a:spcAft>
            </a:pPr>
            <a:r>
              <a:rPr lang="en-IN" sz="1800" dirty="0">
                <a:solidFill>
                  <a:srgbClr val="000000"/>
                </a:solidFill>
                <a:highlight>
                  <a:srgbClr val="FFFFFF"/>
                </a:highlight>
                <a:latin typeface="Consolas" panose="020B0609020204030204" pitchFamily="49" charset="0"/>
                <a:cs typeface="+mn-cs"/>
              </a:rPr>
              <a:t>   rectangle x; </a:t>
            </a:r>
          </a:p>
          <a:p>
            <a:pPr defTabSz="685800" fontAlgn="auto">
              <a:spcBef>
                <a:spcPts val="0"/>
              </a:spcBef>
              <a:spcAft>
                <a:spcPts val="0"/>
              </a:spcAft>
            </a:pPr>
            <a:r>
              <a:rPr lang="en-IN" sz="1800" dirty="0">
                <a:solidFill>
                  <a:srgbClr val="008000"/>
                </a:solidFill>
                <a:highlight>
                  <a:srgbClr val="FFFFFF"/>
                </a:highlight>
                <a:latin typeface="Consolas" panose="020B0609020204030204" pitchFamily="49" charset="0"/>
                <a:cs typeface="+mn-cs"/>
              </a:rPr>
              <a:t>// default constructor is called</a:t>
            </a:r>
            <a:endParaRPr lang="en-IN" sz="1800" dirty="0">
              <a:solidFill>
                <a:srgbClr val="000000"/>
              </a:solidFill>
              <a:highlight>
                <a:srgbClr val="FFFFFF"/>
              </a:highlight>
              <a:latin typeface="Consolas" panose="020B0609020204030204" pitchFamily="49" charset="0"/>
              <a:cs typeface="+mn-cs"/>
            </a:endParaRPr>
          </a:p>
          <a:p>
            <a:pPr defTabSz="685800" fontAlgn="auto">
              <a:spcBef>
                <a:spcPts val="0"/>
              </a:spcBef>
              <a:spcAft>
                <a:spcPts val="0"/>
              </a:spcAft>
            </a:pPr>
            <a:r>
              <a:rPr lang="en-IN" sz="1800" dirty="0">
                <a:solidFill>
                  <a:srgbClr val="000000"/>
                </a:solidFill>
                <a:highlight>
                  <a:srgbClr val="FFFFFF"/>
                </a:highlight>
                <a:latin typeface="Consolas" panose="020B0609020204030204" pitchFamily="49" charset="0"/>
                <a:cs typeface="+mn-cs"/>
              </a:rPr>
              <a:t>}</a:t>
            </a:r>
            <a:endParaRPr lang="en-IN" sz="1725" dirty="0">
              <a:solidFill>
                <a:prstClr val="black"/>
              </a:solidFill>
              <a:latin typeface="Courier New" panose="02070309020205020404" pitchFamily="49" charset="0"/>
              <a:cs typeface="Courier New" panose="02070309020205020404" pitchFamily="49" charset="0"/>
            </a:endParaRPr>
          </a:p>
        </p:txBody>
      </p:sp>
      <p:sp>
        <p:nvSpPr>
          <p:cNvPr id="8" name="Rectangle 7"/>
          <p:cNvSpPr/>
          <p:nvPr/>
        </p:nvSpPr>
        <p:spPr>
          <a:xfrm>
            <a:off x="1605098" y="3946619"/>
            <a:ext cx="3657600" cy="10287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IN" sz="1350">
              <a:solidFill>
                <a:prstClr val="white"/>
              </a:solidFill>
              <a:latin typeface="Calibri"/>
            </a:endParaRPr>
          </a:p>
        </p:txBody>
      </p:sp>
    </p:spTree>
    <p:extLst>
      <p:ext uri="{BB962C8B-B14F-4D97-AF65-F5344CB8AC3E}">
        <p14:creationId xmlns:p14="http://schemas.microsoft.com/office/powerpoint/2010/main" val="993270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6">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Program: Destructor</a:t>
            </a:r>
          </a:p>
        </p:txBody>
      </p:sp>
      <p:sp>
        <p:nvSpPr>
          <p:cNvPr id="5" name="Rectangle 4"/>
          <p:cNvSpPr/>
          <p:nvPr/>
        </p:nvSpPr>
        <p:spPr>
          <a:xfrm>
            <a:off x="1285876" y="1657351"/>
            <a:ext cx="6580717" cy="4074192"/>
          </a:xfrm>
          <a:prstGeom prst="rect">
            <a:avLst/>
          </a:prstGeom>
        </p:spPr>
        <p:txBody>
          <a:bodyPr wrap="square">
            <a:spAutoFit/>
          </a:bodyPr>
          <a:lstStyle/>
          <a:p>
            <a:pPr defTabSz="685800" fontAlgn="auto">
              <a:spcBef>
                <a:spcPts val="0"/>
              </a:spcBef>
              <a:spcAft>
                <a:spcPts val="0"/>
              </a:spcAft>
            </a:pPr>
            <a:r>
              <a:rPr lang="en-IN" sz="1725" dirty="0">
                <a:solidFill>
                  <a:srgbClr val="0000FF"/>
                </a:solidFill>
                <a:highlight>
                  <a:srgbClr val="FFFFFF"/>
                </a:highlight>
                <a:latin typeface="Consolas" panose="020B0609020204030204" pitchFamily="49" charset="0"/>
                <a:cs typeface="+mn-cs"/>
              </a:rPr>
              <a:t>class</a:t>
            </a:r>
            <a:r>
              <a:rPr lang="en-IN" sz="1725" dirty="0">
                <a:solidFill>
                  <a:srgbClr val="000000"/>
                </a:solidFill>
                <a:highlight>
                  <a:srgbClr val="FFFFFF"/>
                </a:highlight>
                <a:latin typeface="Consolas" panose="020B0609020204030204" pitchFamily="49" charset="0"/>
                <a:cs typeface="+mn-cs"/>
              </a:rPr>
              <a:t> Marks{</a:t>
            </a:r>
          </a:p>
          <a:p>
            <a:pPr defTabSz="685800" fontAlgn="auto">
              <a:spcBef>
                <a:spcPts val="0"/>
              </a:spcBef>
              <a:spcAft>
                <a:spcPts val="0"/>
              </a:spcAft>
            </a:pPr>
            <a:r>
              <a:rPr lang="en-IN" sz="1725" dirty="0">
                <a:solidFill>
                  <a:srgbClr val="0000FF"/>
                </a:solidFill>
                <a:highlight>
                  <a:srgbClr val="FFFFFF"/>
                </a:highlight>
                <a:latin typeface="Consolas" panose="020B0609020204030204" pitchFamily="49" charset="0"/>
                <a:cs typeface="+mn-cs"/>
              </a:rPr>
              <a:t>public</a:t>
            </a:r>
            <a:r>
              <a:rPr lang="en-IN" sz="1725" dirty="0">
                <a:solidFill>
                  <a:srgbClr val="000000"/>
                </a:solidFill>
                <a:highlight>
                  <a:srgbClr val="FFFFFF"/>
                </a:highlight>
                <a:latin typeface="Consolas" panose="020B0609020204030204" pitchFamily="49" charset="0"/>
                <a:cs typeface="+mn-cs"/>
              </a:rPr>
              <a:t>:</a:t>
            </a:r>
          </a:p>
          <a:p>
            <a:pPr defTabSz="685800" fontAlgn="auto">
              <a:spcBef>
                <a:spcPts val="0"/>
              </a:spcBef>
              <a:spcAft>
                <a:spcPts val="0"/>
              </a:spcAft>
            </a:pPr>
            <a:r>
              <a:rPr lang="en-IN" sz="1725" dirty="0">
                <a:solidFill>
                  <a:srgbClr val="000000"/>
                </a:solidFill>
                <a:highlight>
                  <a:srgbClr val="FFFFFF"/>
                </a:highlight>
                <a:latin typeface="Consolas" panose="020B0609020204030204" pitchFamily="49" charset="0"/>
                <a:cs typeface="+mn-cs"/>
              </a:rPr>
              <a:t>   </a:t>
            </a:r>
            <a:r>
              <a:rPr lang="en-IN" sz="1725" dirty="0" err="1">
                <a:solidFill>
                  <a:srgbClr val="0000FF"/>
                </a:solidFill>
                <a:highlight>
                  <a:srgbClr val="FFFFFF"/>
                </a:highlight>
                <a:latin typeface="Consolas" panose="020B0609020204030204" pitchFamily="49" charset="0"/>
                <a:cs typeface="+mn-cs"/>
              </a:rPr>
              <a:t>int</a:t>
            </a:r>
            <a:r>
              <a:rPr lang="en-IN" sz="1725" dirty="0">
                <a:solidFill>
                  <a:srgbClr val="000000"/>
                </a:solidFill>
                <a:highlight>
                  <a:srgbClr val="FFFFFF"/>
                </a:highlight>
                <a:latin typeface="Consolas" panose="020B0609020204030204" pitchFamily="49" charset="0"/>
                <a:cs typeface="+mn-cs"/>
              </a:rPr>
              <a:t> maths;</a:t>
            </a:r>
          </a:p>
          <a:p>
            <a:pPr defTabSz="685800" fontAlgn="auto">
              <a:spcBef>
                <a:spcPts val="0"/>
              </a:spcBef>
              <a:spcAft>
                <a:spcPts val="0"/>
              </a:spcAft>
            </a:pPr>
            <a:r>
              <a:rPr lang="en-IN" sz="1725" dirty="0">
                <a:solidFill>
                  <a:srgbClr val="000000"/>
                </a:solidFill>
                <a:highlight>
                  <a:srgbClr val="FFFFFF"/>
                </a:highlight>
                <a:latin typeface="Consolas" panose="020B0609020204030204" pitchFamily="49" charset="0"/>
                <a:cs typeface="+mn-cs"/>
              </a:rPr>
              <a:t>   </a:t>
            </a:r>
            <a:r>
              <a:rPr lang="en-IN" sz="1725" dirty="0" err="1">
                <a:solidFill>
                  <a:srgbClr val="0000FF"/>
                </a:solidFill>
                <a:highlight>
                  <a:srgbClr val="FFFFFF"/>
                </a:highlight>
                <a:latin typeface="Consolas" panose="020B0609020204030204" pitchFamily="49" charset="0"/>
                <a:cs typeface="+mn-cs"/>
              </a:rPr>
              <a:t>int</a:t>
            </a:r>
            <a:r>
              <a:rPr lang="en-IN" sz="1725" dirty="0">
                <a:solidFill>
                  <a:srgbClr val="000000"/>
                </a:solidFill>
                <a:highlight>
                  <a:srgbClr val="FFFFFF"/>
                </a:highlight>
                <a:latin typeface="Consolas" panose="020B0609020204030204" pitchFamily="49" charset="0"/>
                <a:cs typeface="+mn-cs"/>
              </a:rPr>
              <a:t> science;</a:t>
            </a:r>
          </a:p>
          <a:p>
            <a:pPr defTabSz="685800" fontAlgn="auto">
              <a:spcBef>
                <a:spcPts val="0"/>
              </a:spcBef>
              <a:spcAft>
                <a:spcPts val="0"/>
              </a:spcAft>
            </a:pPr>
            <a:r>
              <a:rPr lang="en-IN" sz="1725" dirty="0">
                <a:solidFill>
                  <a:srgbClr val="000000"/>
                </a:solidFill>
                <a:highlight>
                  <a:srgbClr val="FFFFFF"/>
                </a:highlight>
                <a:latin typeface="Consolas" panose="020B0609020204030204" pitchFamily="49" charset="0"/>
                <a:cs typeface="+mn-cs"/>
              </a:rPr>
              <a:t>   </a:t>
            </a:r>
            <a:r>
              <a:rPr lang="en-IN" sz="1725" dirty="0">
                <a:solidFill>
                  <a:srgbClr val="008000"/>
                </a:solidFill>
                <a:highlight>
                  <a:srgbClr val="FFFFFF"/>
                </a:highlight>
                <a:latin typeface="Consolas" panose="020B0609020204030204" pitchFamily="49" charset="0"/>
                <a:cs typeface="+mn-cs"/>
              </a:rPr>
              <a:t>//constructor</a:t>
            </a:r>
            <a:endParaRPr lang="en-IN" sz="1725" dirty="0">
              <a:solidFill>
                <a:srgbClr val="000000"/>
              </a:solidFill>
              <a:highlight>
                <a:srgbClr val="FFFFFF"/>
              </a:highlight>
              <a:latin typeface="Consolas" panose="020B0609020204030204" pitchFamily="49" charset="0"/>
              <a:cs typeface="+mn-cs"/>
            </a:endParaRPr>
          </a:p>
          <a:p>
            <a:pPr defTabSz="685800" fontAlgn="auto">
              <a:spcBef>
                <a:spcPts val="0"/>
              </a:spcBef>
              <a:spcAft>
                <a:spcPts val="0"/>
              </a:spcAft>
            </a:pPr>
            <a:r>
              <a:rPr lang="en-IN" sz="1725" dirty="0">
                <a:solidFill>
                  <a:srgbClr val="000000"/>
                </a:solidFill>
                <a:highlight>
                  <a:srgbClr val="FFFFFF"/>
                </a:highlight>
                <a:latin typeface="Consolas" panose="020B0609020204030204" pitchFamily="49" charset="0"/>
                <a:cs typeface="+mn-cs"/>
              </a:rPr>
              <a:t>   Marks() {</a:t>
            </a:r>
          </a:p>
          <a:p>
            <a:pPr defTabSz="685800" fontAlgn="auto">
              <a:spcBef>
                <a:spcPts val="0"/>
              </a:spcBef>
              <a:spcAft>
                <a:spcPts val="0"/>
              </a:spcAft>
            </a:pPr>
            <a:r>
              <a:rPr lang="en-IN" sz="1725" dirty="0">
                <a:solidFill>
                  <a:srgbClr val="000000"/>
                </a:solidFill>
                <a:highlight>
                  <a:srgbClr val="FFFFFF"/>
                </a:highlight>
                <a:latin typeface="Consolas" panose="020B0609020204030204" pitchFamily="49" charset="0"/>
                <a:cs typeface="+mn-cs"/>
              </a:rPr>
              <a:t>      </a:t>
            </a:r>
            <a:r>
              <a:rPr lang="en-IN" sz="1725" dirty="0" err="1">
                <a:solidFill>
                  <a:srgbClr val="000000"/>
                </a:solidFill>
                <a:highlight>
                  <a:srgbClr val="FFFFFF"/>
                </a:highlight>
                <a:latin typeface="Consolas" panose="020B0609020204030204" pitchFamily="49" charset="0"/>
                <a:cs typeface="+mn-cs"/>
              </a:rPr>
              <a:t>cout</a:t>
            </a:r>
            <a:r>
              <a:rPr lang="en-IN" sz="1725" dirty="0">
                <a:solidFill>
                  <a:srgbClr val="000000"/>
                </a:solidFill>
                <a:highlight>
                  <a:srgbClr val="FFFFFF"/>
                </a:highlight>
                <a:latin typeface="Consolas" panose="020B0609020204030204" pitchFamily="49" charset="0"/>
                <a:cs typeface="+mn-cs"/>
              </a:rPr>
              <a:t> &lt;&lt; </a:t>
            </a:r>
            <a:r>
              <a:rPr lang="en-IN" sz="1725" dirty="0">
                <a:solidFill>
                  <a:srgbClr val="A31515"/>
                </a:solidFill>
                <a:highlight>
                  <a:srgbClr val="FFFFFF"/>
                </a:highlight>
                <a:latin typeface="Consolas" panose="020B0609020204030204" pitchFamily="49" charset="0"/>
                <a:cs typeface="+mn-cs"/>
              </a:rPr>
              <a:t>"Inside Constructor"</a:t>
            </a:r>
            <a:r>
              <a:rPr lang="en-IN" sz="1725" dirty="0">
                <a:solidFill>
                  <a:srgbClr val="000000"/>
                </a:solidFill>
                <a:highlight>
                  <a:srgbClr val="FFFFFF"/>
                </a:highlight>
                <a:latin typeface="Consolas" panose="020B0609020204030204" pitchFamily="49" charset="0"/>
                <a:cs typeface="+mn-cs"/>
              </a:rPr>
              <a:t>&lt;&lt;</a:t>
            </a:r>
            <a:r>
              <a:rPr lang="en-IN" sz="1725" dirty="0" err="1">
                <a:solidFill>
                  <a:srgbClr val="000000"/>
                </a:solidFill>
                <a:highlight>
                  <a:srgbClr val="FFFFFF"/>
                </a:highlight>
                <a:latin typeface="Consolas" panose="020B0609020204030204" pitchFamily="49" charset="0"/>
                <a:cs typeface="+mn-cs"/>
              </a:rPr>
              <a:t>endl</a:t>
            </a:r>
            <a:r>
              <a:rPr lang="en-IN" sz="1725" dirty="0">
                <a:solidFill>
                  <a:srgbClr val="000000"/>
                </a:solidFill>
                <a:highlight>
                  <a:srgbClr val="FFFFFF"/>
                </a:highlight>
                <a:latin typeface="Consolas" panose="020B0609020204030204" pitchFamily="49" charset="0"/>
                <a:cs typeface="+mn-cs"/>
              </a:rPr>
              <a:t>;</a:t>
            </a:r>
          </a:p>
          <a:p>
            <a:pPr defTabSz="685800" fontAlgn="auto">
              <a:spcBef>
                <a:spcPts val="0"/>
              </a:spcBef>
              <a:spcAft>
                <a:spcPts val="0"/>
              </a:spcAft>
            </a:pPr>
            <a:r>
              <a:rPr lang="en-IN" sz="1725" dirty="0">
                <a:solidFill>
                  <a:srgbClr val="000000"/>
                </a:solidFill>
                <a:highlight>
                  <a:srgbClr val="FFFFFF"/>
                </a:highlight>
                <a:latin typeface="Consolas" panose="020B0609020204030204" pitchFamily="49" charset="0"/>
                <a:cs typeface="+mn-cs"/>
              </a:rPr>
              <a:t>      </a:t>
            </a:r>
            <a:r>
              <a:rPr lang="en-IN" sz="1725" dirty="0" err="1">
                <a:solidFill>
                  <a:srgbClr val="000000"/>
                </a:solidFill>
                <a:highlight>
                  <a:srgbClr val="FFFFFF"/>
                </a:highlight>
                <a:latin typeface="Consolas" panose="020B0609020204030204" pitchFamily="49" charset="0"/>
                <a:cs typeface="+mn-cs"/>
              </a:rPr>
              <a:t>cout</a:t>
            </a:r>
            <a:r>
              <a:rPr lang="en-IN" sz="1725" dirty="0">
                <a:solidFill>
                  <a:srgbClr val="000000"/>
                </a:solidFill>
                <a:highlight>
                  <a:srgbClr val="FFFFFF"/>
                </a:highlight>
                <a:latin typeface="Consolas" panose="020B0609020204030204" pitchFamily="49" charset="0"/>
                <a:cs typeface="+mn-cs"/>
              </a:rPr>
              <a:t> &lt;&lt; </a:t>
            </a:r>
            <a:r>
              <a:rPr lang="en-IN" sz="1725" dirty="0">
                <a:solidFill>
                  <a:srgbClr val="A31515"/>
                </a:solidFill>
                <a:highlight>
                  <a:srgbClr val="FFFFFF"/>
                </a:highlight>
                <a:latin typeface="Consolas" panose="020B0609020204030204" pitchFamily="49" charset="0"/>
                <a:cs typeface="+mn-cs"/>
              </a:rPr>
              <a:t>"C++ Object created"</a:t>
            </a:r>
            <a:r>
              <a:rPr lang="en-IN" sz="1725" dirty="0">
                <a:solidFill>
                  <a:srgbClr val="000000"/>
                </a:solidFill>
                <a:highlight>
                  <a:srgbClr val="FFFFFF"/>
                </a:highlight>
                <a:latin typeface="Consolas" panose="020B0609020204030204" pitchFamily="49" charset="0"/>
                <a:cs typeface="+mn-cs"/>
              </a:rPr>
              <a:t>&lt;&lt;</a:t>
            </a:r>
            <a:r>
              <a:rPr lang="en-IN" sz="1725" dirty="0" err="1">
                <a:solidFill>
                  <a:srgbClr val="000000"/>
                </a:solidFill>
                <a:highlight>
                  <a:srgbClr val="FFFFFF"/>
                </a:highlight>
                <a:latin typeface="Consolas" panose="020B0609020204030204" pitchFamily="49" charset="0"/>
                <a:cs typeface="+mn-cs"/>
              </a:rPr>
              <a:t>endl</a:t>
            </a:r>
            <a:r>
              <a:rPr lang="en-IN" sz="1725" dirty="0">
                <a:solidFill>
                  <a:srgbClr val="000000"/>
                </a:solidFill>
                <a:highlight>
                  <a:srgbClr val="FFFFFF"/>
                </a:highlight>
                <a:latin typeface="Consolas" panose="020B0609020204030204" pitchFamily="49" charset="0"/>
                <a:cs typeface="+mn-cs"/>
              </a:rPr>
              <a:t>;</a:t>
            </a:r>
          </a:p>
          <a:p>
            <a:pPr defTabSz="685800" fontAlgn="auto">
              <a:spcBef>
                <a:spcPts val="0"/>
              </a:spcBef>
              <a:spcAft>
                <a:spcPts val="0"/>
              </a:spcAft>
            </a:pPr>
            <a:r>
              <a:rPr lang="en-IN" sz="1725" dirty="0">
                <a:solidFill>
                  <a:srgbClr val="000000"/>
                </a:solidFill>
                <a:highlight>
                  <a:srgbClr val="FFFFFF"/>
                </a:highlight>
                <a:latin typeface="Consolas" panose="020B0609020204030204" pitchFamily="49" charset="0"/>
                <a:cs typeface="+mn-cs"/>
              </a:rPr>
              <a:t>   }</a:t>
            </a:r>
          </a:p>
          <a:p>
            <a:pPr defTabSz="685800" fontAlgn="auto">
              <a:spcBef>
                <a:spcPts val="0"/>
              </a:spcBef>
              <a:spcAft>
                <a:spcPts val="0"/>
              </a:spcAft>
            </a:pPr>
            <a:r>
              <a:rPr lang="en-IN" sz="1725" dirty="0">
                <a:solidFill>
                  <a:srgbClr val="000000"/>
                </a:solidFill>
                <a:highlight>
                  <a:srgbClr val="FFFFFF"/>
                </a:highlight>
                <a:latin typeface="Consolas" panose="020B0609020204030204" pitchFamily="49" charset="0"/>
                <a:cs typeface="+mn-cs"/>
              </a:rPr>
              <a:t>  </a:t>
            </a:r>
            <a:r>
              <a:rPr lang="en-IN" sz="1725" dirty="0">
                <a:solidFill>
                  <a:srgbClr val="008000"/>
                </a:solidFill>
                <a:highlight>
                  <a:srgbClr val="FFFFFF"/>
                </a:highlight>
                <a:latin typeface="Consolas" panose="020B0609020204030204" pitchFamily="49" charset="0"/>
                <a:cs typeface="+mn-cs"/>
              </a:rPr>
              <a:t>//Destructor</a:t>
            </a:r>
            <a:endParaRPr lang="en-IN" sz="1725" dirty="0">
              <a:solidFill>
                <a:srgbClr val="000000"/>
              </a:solidFill>
              <a:highlight>
                <a:srgbClr val="FFFFFF"/>
              </a:highlight>
              <a:latin typeface="Consolas" panose="020B0609020204030204" pitchFamily="49" charset="0"/>
              <a:cs typeface="+mn-cs"/>
            </a:endParaRPr>
          </a:p>
          <a:p>
            <a:pPr defTabSz="685800" fontAlgn="auto">
              <a:spcBef>
                <a:spcPts val="0"/>
              </a:spcBef>
              <a:spcAft>
                <a:spcPts val="0"/>
              </a:spcAft>
            </a:pPr>
            <a:r>
              <a:rPr lang="en-IN" sz="1725" dirty="0">
                <a:solidFill>
                  <a:srgbClr val="000000"/>
                </a:solidFill>
                <a:highlight>
                  <a:srgbClr val="FFFFFF"/>
                </a:highlight>
                <a:latin typeface="Consolas" panose="020B0609020204030204" pitchFamily="49" charset="0"/>
                <a:cs typeface="+mn-cs"/>
              </a:rPr>
              <a:t>   ~Marks() {</a:t>
            </a:r>
          </a:p>
          <a:p>
            <a:pPr defTabSz="685800" fontAlgn="auto">
              <a:spcBef>
                <a:spcPts val="0"/>
              </a:spcBef>
              <a:spcAft>
                <a:spcPts val="0"/>
              </a:spcAft>
            </a:pPr>
            <a:r>
              <a:rPr lang="en-IN" sz="1725" dirty="0">
                <a:solidFill>
                  <a:srgbClr val="000000"/>
                </a:solidFill>
                <a:highlight>
                  <a:srgbClr val="FFFFFF"/>
                </a:highlight>
                <a:latin typeface="Consolas" panose="020B0609020204030204" pitchFamily="49" charset="0"/>
                <a:cs typeface="+mn-cs"/>
              </a:rPr>
              <a:t>      </a:t>
            </a:r>
            <a:r>
              <a:rPr lang="en-IN" sz="1725" dirty="0" err="1">
                <a:solidFill>
                  <a:srgbClr val="000000"/>
                </a:solidFill>
                <a:highlight>
                  <a:srgbClr val="FFFFFF"/>
                </a:highlight>
                <a:latin typeface="Consolas" panose="020B0609020204030204" pitchFamily="49" charset="0"/>
                <a:cs typeface="+mn-cs"/>
              </a:rPr>
              <a:t>cout</a:t>
            </a:r>
            <a:r>
              <a:rPr lang="en-IN" sz="1725" dirty="0">
                <a:solidFill>
                  <a:srgbClr val="000000"/>
                </a:solidFill>
                <a:highlight>
                  <a:srgbClr val="FFFFFF"/>
                </a:highlight>
                <a:latin typeface="Consolas" panose="020B0609020204030204" pitchFamily="49" charset="0"/>
                <a:cs typeface="+mn-cs"/>
              </a:rPr>
              <a:t> &lt;&lt; </a:t>
            </a:r>
            <a:r>
              <a:rPr lang="en-IN" sz="1725" dirty="0">
                <a:solidFill>
                  <a:srgbClr val="A31515"/>
                </a:solidFill>
                <a:highlight>
                  <a:srgbClr val="FFFFFF"/>
                </a:highlight>
                <a:latin typeface="Consolas" panose="020B0609020204030204" pitchFamily="49" charset="0"/>
                <a:cs typeface="+mn-cs"/>
              </a:rPr>
              <a:t>"Inside Destructor"</a:t>
            </a:r>
            <a:r>
              <a:rPr lang="en-IN" sz="1725" dirty="0">
                <a:solidFill>
                  <a:srgbClr val="000000"/>
                </a:solidFill>
                <a:highlight>
                  <a:srgbClr val="FFFFFF"/>
                </a:highlight>
                <a:latin typeface="Consolas" panose="020B0609020204030204" pitchFamily="49" charset="0"/>
                <a:cs typeface="+mn-cs"/>
              </a:rPr>
              <a:t>&lt;&lt;</a:t>
            </a:r>
            <a:r>
              <a:rPr lang="en-IN" sz="1725" dirty="0" err="1">
                <a:solidFill>
                  <a:srgbClr val="000000"/>
                </a:solidFill>
                <a:highlight>
                  <a:srgbClr val="FFFFFF"/>
                </a:highlight>
                <a:latin typeface="Consolas" panose="020B0609020204030204" pitchFamily="49" charset="0"/>
                <a:cs typeface="+mn-cs"/>
              </a:rPr>
              <a:t>endl</a:t>
            </a:r>
            <a:r>
              <a:rPr lang="en-IN" sz="1725" dirty="0">
                <a:solidFill>
                  <a:srgbClr val="000000"/>
                </a:solidFill>
                <a:highlight>
                  <a:srgbClr val="FFFFFF"/>
                </a:highlight>
                <a:latin typeface="Consolas" panose="020B0609020204030204" pitchFamily="49" charset="0"/>
                <a:cs typeface="+mn-cs"/>
              </a:rPr>
              <a:t>;</a:t>
            </a:r>
          </a:p>
          <a:p>
            <a:pPr defTabSz="685800" fontAlgn="auto">
              <a:spcBef>
                <a:spcPts val="0"/>
              </a:spcBef>
              <a:spcAft>
                <a:spcPts val="0"/>
              </a:spcAft>
            </a:pPr>
            <a:r>
              <a:rPr lang="en-IN" sz="1725" dirty="0">
                <a:solidFill>
                  <a:srgbClr val="000000"/>
                </a:solidFill>
                <a:highlight>
                  <a:srgbClr val="FFFFFF"/>
                </a:highlight>
                <a:latin typeface="Consolas" panose="020B0609020204030204" pitchFamily="49" charset="0"/>
                <a:cs typeface="+mn-cs"/>
              </a:rPr>
              <a:t>      </a:t>
            </a:r>
            <a:r>
              <a:rPr lang="en-IN" sz="1725" dirty="0" err="1">
                <a:solidFill>
                  <a:srgbClr val="000000"/>
                </a:solidFill>
                <a:highlight>
                  <a:srgbClr val="FFFFFF"/>
                </a:highlight>
                <a:latin typeface="Consolas" panose="020B0609020204030204" pitchFamily="49" charset="0"/>
                <a:cs typeface="+mn-cs"/>
              </a:rPr>
              <a:t>cout</a:t>
            </a:r>
            <a:r>
              <a:rPr lang="en-IN" sz="1725" dirty="0">
                <a:solidFill>
                  <a:srgbClr val="000000"/>
                </a:solidFill>
                <a:highlight>
                  <a:srgbClr val="FFFFFF"/>
                </a:highlight>
                <a:latin typeface="Consolas" panose="020B0609020204030204" pitchFamily="49" charset="0"/>
                <a:cs typeface="+mn-cs"/>
              </a:rPr>
              <a:t> &lt;&lt; </a:t>
            </a:r>
            <a:r>
              <a:rPr lang="en-IN" sz="1725" dirty="0">
                <a:solidFill>
                  <a:srgbClr val="A31515"/>
                </a:solidFill>
                <a:highlight>
                  <a:srgbClr val="FFFFFF"/>
                </a:highlight>
                <a:latin typeface="Consolas" panose="020B0609020204030204" pitchFamily="49" charset="0"/>
                <a:cs typeface="+mn-cs"/>
              </a:rPr>
              <a:t>"C++ Object destructed"</a:t>
            </a:r>
            <a:r>
              <a:rPr lang="en-IN" sz="1725" dirty="0">
                <a:solidFill>
                  <a:srgbClr val="000000"/>
                </a:solidFill>
                <a:highlight>
                  <a:srgbClr val="FFFFFF"/>
                </a:highlight>
                <a:latin typeface="Consolas" panose="020B0609020204030204" pitchFamily="49" charset="0"/>
                <a:cs typeface="+mn-cs"/>
              </a:rPr>
              <a:t>&lt;&lt;</a:t>
            </a:r>
            <a:r>
              <a:rPr lang="en-IN" sz="1725" dirty="0" err="1">
                <a:solidFill>
                  <a:srgbClr val="000000"/>
                </a:solidFill>
                <a:highlight>
                  <a:srgbClr val="FFFFFF"/>
                </a:highlight>
                <a:latin typeface="Consolas" panose="020B0609020204030204" pitchFamily="49" charset="0"/>
                <a:cs typeface="+mn-cs"/>
              </a:rPr>
              <a:t>endl</a:t>
            </a:r>
            <a:r>
              <a:rPr lang="en-IN" sz="1725" dirty="0">
                <a:solidFill>
                  <a:srgbClr val="000000"/>
                </a:solidFill>
                <a:highlight>
                  <a:srgbClr val="FFFFFF"/>
                </a:highlight>
                <a:latin typeface="Consolas" panose="020B0609020204030204" pitchFamily="49" charset="0"/>
                <a:cs typeface="+mn-cs"/>
              </a:rPr>
              <a:t>;</a:t>
            </a:r>
          </a:p>
          <a:p>
            <a:pPr defTabSz="685800" fontAlgn="auto">
              <a:spcBef>
                <a:spcPts val="0"/>
              </a:spcBef>
              <a:spcAft>
                <a:spcPts val="0"/>
              </a:spcAft>
            </a:pPr>
            <a:r>
              <a:rPr lang="en-IN" sz="1725" dirty="0">
                <a:solidFill>
                  <a:srgbClr val="000000"/>
                </a:solidFill>
                <a:highlight>
                  <a:srgbClr val="FFFFFF"/>
                </a:highlight>
                <a:latin typeface="Consolas" panose="020B0609020204030204" pitchFamily="49" charset="0"/>
                <a:cs typeface="+mn-cs"/>
              </a:rPr>
              <a:t>   }</a:t>
            </a:r>
          </a:p>
          <a:p>
            <a:pPr defTabSz="685800" fontAlgn="auto">
              <a:spcBef>
                <a:spcPts val="0"/>
              </a:spcBef>
              <a:spcAft>
                <a:spcPts val="0"/>
              </a:spcAft>
            </a:pPr>
            <a:r>
              <a:rPr lang="en-IN" sz="1725" dirty="0">
                <a:solidFill>
                  <a:srgbClr val="000000"/>
                </a:solidFill>
                <a:highlight>
                  <a:srgbClr val="FFFFFF"/>
                </a:highlight>
                <a:latin typeface="Consolas" panose="020B0609020204030204" pitchFamily="49" charset="0"/>
                <a:cs typeface="+mn-cs"/>
              </a:rPr>
              <a:t>};</a:t>
            </a:r>
            <a:endParaRPr lang="en-IN" sz="1725" dirty="0">
              <a:solidFill>
                <a:prstClr val="black"/>
              </a:solidFill>
              <a:latin typeface="Courier New" panose="02070309020205020404" pitchFamily="49" charset="0"/>
              <a:cs typeface="Courier New" panose="02070309020205020404" pitchFamily="49" charset="0"/>
            </a:endParaRPr>
          </a:p>
        </p:txBody>
      </p:sp>
      <p:sp>
        <p:nvSpPr>
          <p:cNvPr id="6" name="Rectangle 5"/>
          <p:cNvSpPr/>
          <p:nvPr/>
        </p:nvSpPr>
        <p:spPr>
          <a:xfrm>
            <a:off x="6115051" y="1600200"/>
            <a:ext cx="1751542" cy="1754326"/>
          </a:xfrm>
          <a:prstGeom prst="rect">
            <a:avLst/>
          </a:prstGeom>
        </p:spPr>
        <p:txBody>
          <a:bodyPr wrap="square">
            <a:spAutoFit/>
          </a:bodyPr>
          <a:lstStyle/>
          <a:p>
            <a:pPr defTabSz="685800" fontAlgn="auto">
              <a:spcBef>
                <a:spcPts val="0"/>
              </a:spcBef>
              <a:spcAft>
                <a:spcPts val="0"/>
              </a:spcAft>
            </a:pPr>
            <a:r>
              <a:rPr lang="en-IN" sz="1800" dirty="0" err="1">
                <a:solidFill>
                  <a:srgbClr val="0000FF"/>
                </a:solidFill>
                <a:highlight>
                  <a:srgbClr val="FFFFFF"/>
                </a:highlight>
                <a:latin typeface="Consolas" panose="020B0609020204030204" pitchFamily="49" charset="0"/>
                <a:cs typeface="+mn-cs"/>
              </a:rPr>
              <a:t>int</a:t>
            </a:r>
            <a:r>
              <a:rPr lang="en-IN" sz="1800" dirty="0">
                <a:solidFill>
                  <a:srgbClr val="000000"/>
                </a:solidFill>
                <a:highlight>
                  <a:srgbClr val="FFFFFF"/>
                </a:highlight>
                <a:latin typeface="Consolas" panose="020B0609020204030204" pitchFamily="49" charset="0"/>
                <a:cs typeface="+mn-cs"/>
              </a:rPr>
              <a:t> main( )</a:t>
            </a:r>
          </a:p>
          <a:p>
            <a:pPr defTabSz="685800" fontAlgn="auto">
              <a:spcBef>
                <a:spcPts val="0"/>
              </a:spcBef>
              <a:spcAft>
                <a:spcPts val="0"/>
              </a:spcAft>
            </a:pPr>
            <a:r>
              <a:rPr lang="en-IN" sz="1800" dirty="0">
                <a:solidFill>
                  <a:srgbClr val="000000"/>
                </a:solidFill>
                <a:highlight>
                  <a:srgbClr val="FFFFFF"/>
                </a:highlight>
                <a:latin typeface="Consolas" panose="020B0609020204030204" pitchFamily="49" charset="0"/>
                <a:cs typeface="+mn-cs"/>
              </a:rPr>
              <a:t>{</a:t>
            </a:r>
          </a:p>
          <a:p>
            <a:pPr defTabSz="685800" fontAlgn="auto">
              <a:spcBef>
                <a:spcPts val="0"/>
              </a:spcBef>
              <a:spcAft>
                <a:spcPts val="0"/>
              </a:spcAft>
            </a:pPr>
            <a:r>
              <a:rPr lang="en-IN" sz="1800" dirty="0">
                <a:solidFill>
                  <a:srgbClr val="000000"/>
                </a:solidFill>
                <a:highlight>
                  <a:srgbClr val="FFFFFF"/>
                </a:highlight>
                <a:latin typeface="Consolas" panose="020B0609020204030204" pitchFamily="49" charset="0"/>
                <a:cs typeface="+mn-cs"/>
              </a:rPr>
              <a:t>   Marks m1;</a:t>
            </a:r>
          </a:p>
          <a:p>
            <a:pPr defTabSz="685800" fontAlgn="auto">
              <a:spcBef>
                <a:spcPts val="0"/>
              </a:spcBef>
              <a:spcAft>
                <a:spcPts val="0"/>
              </a:spcAft>
            </a:pPr>
            <a:r>
              <a:rPr lang="en-IN" sz="1800" dirty="0">
                <a:solidFill>
                  <a:srgbClr val="000000"/>
                </a:solidFill>
                <a:highlight>
                  <a:srgbClr val="FFFFFF"/>
                </a:highlight>
                <a:latin typeface="Consolas" panose="020B0609020204030204" pitchFamily="49" charset="0"/>
                <a:cs typeface="+mn-cs"/>
              </a:rPr>
              <a:t>   Marks m2;</a:t>
            </a:r>
          </a:p>
          <a:p>
            <a:pPr defTabSz="685800" fontAlgn="auto">
              <a:spcBef>
                <a:spcPts val="0"/>
              </a:spcBef>
              <a:spcAft>
                <a:spcPts val="0"/>
              </a:spcAft>
            </a:pPr>
            <a:r>
              <a:rPr lang="en-IN" sz="1800" dirty="0">
                <a:solidFill>
                  <a:srgbClr val="000000"/>
                </a:solidFill>
                <a:highlight>
                  <a:srgbClr val="FFFFFF"/>
                </a:highlight>
                <a:latin typeface="Consolas" panose="020B0609020204030204" pitchFamily="49" charset="0"/>
                <a:cs typeface="+mn-cs"/>
              </a:rPr>
              <a:t>   </a:t>
            </a:r>
            <a:r>
              <a:rPr lang="en-IN" sz="1800" dirty="0">
                <a:solidFill>
                  <a:srgbClr val="0000FF"/>
                </a:solidFill>
                <a:highlight>
                  <a:srgbClr val="FFFFFF"/>
                </a:highlight>
                <a:latin typeface="Consolas" panose="020B0609020204030204" pitchFamily="49" charset="0"/>
                <a:cs typeface="+mn-cs"/>
              </a:rPr>
              <a:t>return</a:t>
            </a:r>
            <a:r>
              <a:rPr lang="en-IN" sz="1800" dirty="0">
                <a:solidFill>
                  <a:srgbClr val="000000"/>
                </a:solidFill>
                <a:highlight>
                  <a:srgbClr val="FFFFFF"/>
                </a:highlight>
                <a:latin typeface="Consolas" panose="020B0609020204030204" pitchFamily="49" charset="0"/>
                <a:cs typeface="+mn-cs"/>
              </a:rPr>
              <a:t> 0;</a:t>
            </a:r>
          </a:p>
          <a:p>
            <a:pPr defTabSz="685800" fontAlgn="auto">
              <a:spcBef>
                <a:spcPts val="0"/>
              </a:spcBef>
              <a:spcAft>
                <a:spcPts val="0"/>
              </a:spcAft>
            </a:pPr>
            <a:r>
              <a:rPr lang="en-IN" sz="1800" dirty="0">
                <a:solidFill>
                  <a:srgbClr val="000000"/>
                </a:solidFill>
                <a:highlight>
                  <a:srgbClr val="FFFFFF"/>
                </a:highlight>
                <a:latin typeface="Consolas" panose="020B0609020204030204" pitchFamily="49" charset="0"/>
                <a:cs typeface="+mn-cs"/>
              </a:rPr>
              <a:t>}</a:t>
            </a:r>
            <a:endParaRPr lang="en-IN" sz="1650" dirty="0">
              <a:solidFill>
                <a:prstClr val="black"/>
              </a:solidFill>
              <a:latin typeface="Courier New" panose="02070309020205020404" pitchFamily="49" charset="0"/>
              <a:cs typeface="Courier New" panose="02070309020205020404" pitchFamily="49" charset="0"/>
            </a:endParaRPr>
          </a:p>
        </p:txBody>
      </p:sp>
      <p:sp>
        <p:nvSpPr>
          <p:cNvPr id="7" name="Rectangle 6"/>
          <p:cNvSpPr/>
          <p:nvPr/>
        </p:nvSpPr>
        <p:spPr>
          <a:xfrm>
            <a:off x="1543050" y="4071941"/>
            <a:ext cx="5486400" cy="13144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IN" sz="1350">
              <a:solidFill>
                <a:prstClr val="white"/>
              </a:solidFill>
              <a:latin typeface="Calibri"/>
            </a:endParaRPr>
          </a:p>
        </p:txBody>
      </p:sp>
    </p:spTree>
    <p:extLst>
      <p:ext uri="{BB962C8B-B14F-4D97-AF65-F5344CB8AC3E}">
        <p14:creationId xmlns:p14="http://schemas.microsoft.com/office/powerpoint/2010/main" val="2382816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6"/>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5FAF7-5E9C-406A-8A2A-00AB6391332C}"/>
              </a:ext>
            </a:extLst>
          </p:cNvPr>
          <p:cNvSpPr>
            <a:spLocks noGrp="1"/>
          </p:cNvSpPr>
          <p:nvPr>
            <p:ph type="title"/>
          </p:nvPr>
        </p:nvSpPr>
        <p:spPr/>
        <p:txBody>
          <a:bodyPr>
            <a:normAutofit/>
          </a:bodyPr>
          <a:lstStyle/>
          <a:p>
            <a:r>
              <a:rPr lang="en-US" sz="2700" dirty="0"/>
              <a:t>Destructor Example-2:</a:t>
            </a:r>
            <a:endParaRPr lang="en-IN" sz="2700" dirty="0"/>
          </a:p>
        </p:txBody>
      </p:sp>
      <p:pic>
        <p:nvPicPr>
          <p:cNvPr id="4" name="Picture 3">
            <a:extLst>
              <a:ext uri="{FF2B5EF4-FFF2-40B4-BE49-F238E27FC236}">
                <a16:creationId xmlns:a16="http://schemas.microsoft.com/office/drawing/2014/main" id="{C2232F4A-C28E-41E0-94E1-6DCD1962D801}"/>
              </a:ext>
            </a:extLst>
          </p:cNvPr>
          <p:cNvPicPr>
            <a:picLocks noChangeAspect="1"/>
          </p:cNvPicPr>
          <p:nvPr/>
        </p:nvPicPr>
        <p:blipFill>
          <a:blip r:embed="rId2"/>
          <a:stretch>
            <a:fillRect/>
          </a:stretch>
        </p:blipFill>
        <p:spPr>
          <a:xfrm>
            <a:off x="190500" y="1657350"/>
            <a:ext cx="5923098" cy="4114800"/>
          </a:xfrm>
          <a:prstGeom prst="rect">
            <a:avLst/>
          </a:prstGeom>
        </p:spPr>
      </p:pic>
      <p:pic>
        <p:nvPicPr>
          <p:cNvPr id="5" name="Picture 4">
            <a:extLst>
              <a:ext uri="{FF2B5EF4-FFF2-40B4-BE49-F238E27FC236}">
                <a16:creationId xmlns:a16="http://schemas.microsoft.com/office/drawing/2014/main" id="{74994352-D8B1-4775-A525-13FC767289B6}"/>
              </a:ext>
            </a:extLst>
          </p:cNvPr>
          <p:cNvPicPr>
            <a:picLocks noChangeAspect="1"/>
          </p:cNvPicPr>
          <p:nvPr/>
        </p:nvPicPr>
        <p:blipFill>
          <a:blip r:embed="rId3"/>
          <a:stretch>
            <a:fillRect/>
          </a:stretch>
        </p:blipFill>
        <p:spPr>
          <a:xfrm>
            <a:off x="5824851" y="1663303"/>
            <a:ext cx="3128650" cy="1428750"/>
          </a:xfrm>
          <a:prstGeom prst="rect">
            <a:avLst/>
          </a:prstGeom>
        </p:spPr>
      </p:pic>
      <p:pic>
        <p:nvPicPr>
          <p:cNvPr id="6" name="Picture 5">
            <a:extLst>
              <a:ext uri="{FF2B5EF4-FFF2-40B4-BE49-F238E27FC236}">
                <a16:creationId xmlns:a16="http://schemas.microsoft.com/office/drawing/2014/main" id="{6F4EEDB4-2D51-49DD-9022-F2743DF025E7}"/>
              </a:ext>
            </a:extLst>
          </p:cNvPr>
          <p:cNvPicPr>
            <a:picLocks noChangeAspect="1"/>
          </p:cNvPicPr>
          <p:nvPr/>
        </p:nvPicPr>
        <p:blipFill>
          <a:blip r:embed="rId4"/>
          <a:stretch>
            <a:fillRect/>
          </a:stretch>
        </p:blipFill>
        <p:spPr>
          <a:xfrm>
            <a:off x="6113599" y="3406140"/>
            <a:ext cx="2884868" cy="1597938"/>
          </a:xfrm>
          <a:prstGeom prst="rect">
            <a:avLst/>
          </a:prstGeom>
        </p:spPr>
      </p:pic>
    </p:spTree>
    <p:extLst>
      <p:ext uri="{BB962C8B-B14F-4D97-AF65-F5344CB8AC3E}">
        <p14:creationId xmlns:p14="http://schemas.microsoft.com/office/powerpoint/2010/main" val="2397106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1607921-2FA5-4B94-9CA3-04D02534B311}"/>
              </a:ext>
            </a:extLst>
          </p:cNvPr>
          <p:cNvPicPr>
            <a:picLocks noChangeAspect="1"/>
          </p:cNvPicPr>
          <p:nvPr/>
        </p:nvPicPr>
        <p:blipFill>
          <a:blip r:embed="rId2"/>
          <a:stretch>
            <a:fillRect/>
          </a:stretch>
        </p:blipFill>
        <p:spPr>
          <a:xfrm>
            <a:off x="114300" y="1028700"/>
            <a:ext cx="3992123" cy="4743450"/>
          </a:xfrm>
          <a:prstGeom prst="rect">
            <a:avLst/>
          </a:prstGeom>
        </p:spPr>
      </p:pic>
      <p:pic>
        <p:nvPicPr>
          <p:cNvPr id="5" name="Picture 4">
            <a:extLst>
              <a:ext uri="{FF2B5EF4-FFF2-40B4-BE49-F238E27FC236}">
                <a16:creationId xmlns:a16="http://schemas.microsoft.com/office/drawing/2014/main" id="{3BE6C97C-3140-49AB-9E2B-3EAEE87CEB23}"/>
              </a:ext>
            </a:extLst>
          </p:cNvPr>
          <p:cNvPicPr>
            <a:picLocks noChangeAspect="1"/>
          </p:cNvPicPr>
          <p:nvPr/>
        </p:nvPicPr>
        <p:blipFill>
          <a:blip r:embed="rId3"/>
          <a:stretch>
            <a:fillRect/>
          </a:stretch>
        </p:blipFill>
        <p:spPr>
          <a:xfrm>
            <a:off x="4572000" y="1600200"/>
            <a:ext cx="3879988" cy="1543050"/>
          </a:xfrm>
          <a:prstGeom prst="rect">
            <a:avLst/>
          </a:prstGeom>
        </p:spPr>
      </p:pic>
      <p:pic>
        <p:nvPicPr>
          <p:cNvPr id="6" name="Picture 5">
            <a:extLst>
              <a:ext uri="{FF2B5EF4-FFF2-40B4-BE49-F238E27FC236}">
                <a16:creationId xmlns:a16="http://schemas.microsoft.com/office/drawing/2014/main" id="{27EDCC20-FE64-4080-BDE6-A1C784EF9242}"/>
              </a:ext>
            </a:extLst>
          </p:cNvPr>
          <p:cNvPicPr>
            <a:picLocks noChangeAspect="1"/>
          </p:cNvPicPr>
          <p:nvPr/>
        </p:nvPicPr>
        <p:blipFill>
          <a:blip r:embed="rId4"/>
          <a:stretch>
            <a:fillRect/>
          </a:stretch>
        </p:blipFill>
        <p:spPr>
          <a:xfrm>
            <a:off x="5200650" y="4114800"/>
            <a:ext cx="3598600" cy="725091"/>
          </a:xfrm>
          <a:prstGeom prst="rect">
            <a:avLst/>
          </a:prstGeom>
        </p:spPr>
      </p:pic>
      <p:sp>
        <p:nvSpPr>
          <p:cNvPr id="2" name="TextBox 1">
            <a:extLst>
              <a:ext uri="{FF2B5EF4-FFF2-40B4-BE49-F238E27FC236}">
                <a16:creationId xmlns:a16="http://schemas.microsoft.com/office/drawing/2014/main" id="{0D1125E5-AFD3-4D54-8283-575FAB256B4E}"/>
              </a:ext>
            </a:extLst>
          </p:cNvPr>
          <p:cNvSpPr txBox="1"/>
          <p:nvPr/>
        </p:nvSpPr>
        <p:spPr>
          <a:xfrm>
            <a:off x="3808854" y="914400"/>
            <a:ext cx="2457450" cy="415498"/>
          </a:xfrm>
          <a:prstGeom prst="rect">
            <a:avLst/>
          </a:prstGeom>
          <a:noFill/>
        </p:spPr>
        <p:txBody>
          <a:bodyPr wrap="square" rtlCol="0">
            <a:spAutoFit/>
          </a:bodyPr>
          <a:lstStyle/>
          <a:p>
            <a:pPr defTabSz="685800" fontAlgn="auto">
              <a:spcBef>
                <a:spcPts val="0"/>
              </a:spcBef>
              <a:spcAft>
                <a:spcPts val="0"/>
              </a:spcAft>
            </a:pPr>
            <a:r>
              <a:rPr lang="en-US" sz="2100" b="1" dirty="0">
                <a:solidFill>
                  <a:prstClr val="black"/>
                </a:solidFill>
                <a:latin typeface="Calibri"/>
                <a:cs typeface="+mn-cs"/>
              </a:rPr>
              <a:t>Question</a:t>
            </a:r>
            <a:endParaRPr lang="en-IN" sz="2100" b="1" dirty="0">
              <a:solidFill>
                <a:prstClr val="black"/>
              </a:solidFill>
              <a:latin typeface="Calibri"/>
              <a:cs typeface="+mn-cs"/>
            </a:endParaRPr>
          </a:p>
        </p:txBody>
      </p:sp>
    </p:spTree>
    <p:extLst>
      <p:ext uri="{BB962C8B-B14F-4D97-AF65-F5344CB8AC3E}">
        <p14:creationId xmlns:p14="http://schemas.microsoft.com/office/powerpoint/2010/main" val="26440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additive="base">
                                        <p:cTn id="14" dur="500" fill="hold"/>
                                        <p:tgtEl>
                                          <p:spTgt spid="6"/>
                                        </p:tgtEl>
                                        <p:attrNameLst>
                                          <p:attrName>ppt_x</p:attrName>
                                        </p:attrNameLst>
                                      </p:cBhvr>
                                      <p:tavLst>
                                        <p:tav tm="0">
                                          <p:val>
                                            <p:strVal val="#ppt_x"/>
                                          </p:val>
                                        </p:tav>
                                        <p:tav tm="100000">
                                          <p:val>
                                            <p:strVal val="#ppt_x"/>
                                          </p:val>
                                        </p:tav>
                                      </p:tavLst>
                                    </p:anim>
                                    <p:anim calcmode="lin" valueType="num">
                                      <p:cBhvr additive="base">
                                        <p:cTn id="15"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52400" y="152400"/>
            <a:ext cx="5715000" cy="3753456"/>
          </a:xfrm>
          <a:prstGeom prst="rect">
            <a:avLst/>
          </a:prstGeom>
        </p:spPr>
      </p:pic>
      <p:pic>
        <p:nvPicPr>
          <p:cNvPr id="3" name="Picture 2"/>
          <p:cNvPicPr>
            <a:picLocks noChangeAspect="1"/>
          </p:cNvPicPr>
          <p:nvPr/>
        </p:nvPicPr>
        <p:blipFill>
          <a:blip r:embed="rId3"/>
          <a:stretch>
            <a:fillRect/>
          </a:stretch>
        </p:blipFill>
        <p:spPr>
          <a:xfrm>
            <a:off x="60212" y="4038600"/>
            <a:ext cx="2682988" cy="2514600"/>
          </a:xfrm>
          <a:prstGeom prst="rect">
            <a:avLst/>
          </a:prstGeom>
        </p:spPr>
      </p:pic>
      <p:pic>
        <p:nvPicPr>
          <p:cNvPr id="4" name="Picture 3"/>
          <p:cNvPicPr>
            <a:picLocks noChangeAspect="1"/>
          </p:cNvPicPr>
          <p:nvPr/>
        </p:nvPicPr>
        <p:blipFill>
          <a:blip r:embed="rId4"/>
          <a:stretch>
            <a:fillRect/>
          </a:stretch>
        </p:blipFill>
        <p:spPr>
          <a:xfrm>
            <a:off x="4854766" y="3733800"/>
            <a:ext cx="3908234" cy="2514600"/>
          </a:xfrm>
          <a:prstGeom prst="rect">
            <a:avLst/>
          </a:prstGeom>
        </p:spPr>
      </p:pic>
      <p:sp>
        <p:nvSpPr>
          <p:cNvPr id="6" name="TextBox 5"/>
          <p:cNvSpPr txBox="1"/>
          <p:nvPr/>
        </p:nvSpPr>
        <p:spPr>
          <a:xfrm>
            <a:off x="6019800" y="3048000"/>
            <a:ext cx="1773195" cy="523220"/>
          </a:xfrm>
          <a:prstGeom prst="rect">
            <a:avLst/>
          </a:prstGeom>
          <a:solidFill>
            <a:schemeClr val="accent2">
              <a:lumMod val="40000"/>
              <a:lumOff val="60000"/>
            </a:schemeClr>
          </a:solid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IN" sz="2800" b="1" i="0" u="none" strike="noStrike" kern="1200" cap="none" spc="0" normalizeH="0" baseline="0" noProof="0" dirty="0">
                <a:ln>
                  <a:noFill/>
                </a:ln>
                <a:solidFill>
                  <a:srgbClr val="FF0000"/>
                </a:solidFill>
                <a:effectLst/>
                <a:uLnTx/>
                <a:uFillTx/>
                <a:latin typeface="Times New Roman" pitchFamily="18" charset="0"/>
                <a:ea typeface="+mn-ea"/>
                <a:cs typeface="Arial" charset="0"/>
              </a:rPr>
              <a:t>OUTPUT:</a:t>
            </a:r>
          </a:p>
        </p:txBody>
      </p:sp>
      <p:sp>
        <p:nvSpPr>
          <p:cNvPr id="7" name="Title 1"/>
          <p:cNvSpPr txBox="1">
            <a:spLocks/>
          </p:cNvSpPr>
          <p:nvPr/>
        </p:nvSpPr>
        <p:spPr>
          <a:xfrm>
            <a:off x="2286000" y="-15355"/>
            <a:ext cx="5378271" cy="63976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IN" sz="2800" b="1" i="0" u="sng" strike="noStrike" kern="1200" cap="none" spc="0" normalizeH="0" baseline="0" noProof="0" dirty="0">
                <a:ln>
                  <a:noFill/>
                </a:ln>
                <a:solidFill>
                  <a:srgbClr val="FF0000"/>
                </a:solidFill>
                <a:effectLst/>
                <a:uLnTx/>
                <a:uFillTx/>
                <a:latin typeface="Calibri"/>
                <a:ea typeface="+mj-ea"/>
                <a:cs typeface="+mj-cs"/>
              </a:rPr>
              <a:t>Question</a:t>
            </a:r>
          </a:p>
        </p:txBody>
      </p:sp>
    </p:spTree>
    <p:extLst>
      <p:ext uri="{BB962C8B-B14F-4D97-AF65-F5344CB8AC3E}">
        <p14:creationId xmlns:p14="http://schemas.microsoft.com/office/powerpoint/2010/main" val="1284050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12642"/>
            <a:ext cx="7886700" cy="700713"/>
          </a:xfrm>
        </p:spPr>
        <p:txBody>
          <a:bodyPr>
            <a:normAutofit/>
          </a:bodyPr>
          <a:lstStyle/>
          <a:p>
            <a:r>
              <a:rPr lang="en-IN" sz="2100" b="1" u="sng" dirty="0">
                <a:solidFill>
                  <a:srgbClr val="00B0F0"/>
                </a:solidFill>
              </a:rPr>
              <a:t>ARRAY OF OBJECTS</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962400" y="1295400"/>
            <a:ext cx="5036843" cy="4278516"/>
          </a:xfrm>
          <a:prstGeom prst="rect">
            <a:avLst/>
          </a:prstGeom>
        </p:spPr>
      </p:pic>
      <p:pic>
        <p:nvPicPr>
          <p:cNvPr id="7" name="Picture 6"/>
          <p:cNvPicPr>
            <a:picLocks noChangeAspect="1"/>
          </p:cNvPicPr>
          <p:nvPr/>
        </p:nvPicPr>
        <p:blipFill>
          <a:blip r:embed="rId3"/>
          <a:stretch>
            <a:fillRect/>
          </a:stretch>
        </p:blipFill>
        <p:spPr>
          <a:xfrm>
            <a:off x="228600" y="1066800"/>
            <a:ext cx="3302000" cy="2667000"/>
          </a:xfrm>
          <a:prstGeom prst="rect">
            <a:avLst/>
          </a:prstGeom>
        </p:spPr>
      </p:pic>
    </p:spTree>
    <p:extLst>
      <p:ext uri="{BB962C8B-B14F-4D97-AF65-F5344CB8AC3E}">
        <p14:creationId xmlns:p14="http://schemas.microsoft.com/office/powerpoint/2010/main" val="20342657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BF9C5B2-B44E-49F7-BDB2-AE1773204DD4}"/>
              </a:ext>
            </a:extLst>
          </p:cNvPr>
          <p:cNvPicPr>
            <a:picLocks noChangeAspect="1"/>
          </p:cNvPicPr>
          <p:nvPr/>
        </p:nvPicPr>
        <p:blipFill>
          <a:blip r:embed="rId2"/>
          <a:stretch>
            <a:fillRect/>
          </a:stretch>
        </p:blipFill>
        <p:spPr>
          <a:xfrm>
            <a:off x="40341" y="319881"/>
            <a:ext cx="4648200" cy="3370992"/>
          </a:xfrm>
          <a:prstGeom prst="rect">
            <a:avLst/>
          </a:prstGeom>
        </p:spPr>
      </p:pic>
      <p:sp>
        <p:nvSpPr>
          <p:cNvPr id="6" name="Title 1">
            <a:extLst>
              <a:ext uri="{FF2B5EF4-FFF2-40B4-BE49-F238E27FC236}">
                <a16:creationId xmlns:a16="http://schemas.microsoft.com/office/drawing/2014/main" id="{1D832974-F367-45A3-A597-8E2762F6666E}"/>
              </a:ext>
            </a:extLst>
          </p:cNvPr>
          <p:cNvSpPr txBox="1">
            <a:spLocks/>
          </p:cNvSpPr>
          <p:nvPr/>
        </p:nvSpPr>
        <p:spPr>
          <a:xfrm>
            <a:off x="3657600" y="152400"/>
            <a:ext cx="5257800" cy="990600"/>
          </a:xfrm>
          <a:prstGeom prst="rect">
            <a:avLst/>
          </a:prstGeom>
        </p:spPr>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spcAft>
                <a:spcPts val="0"/>
              </a:spcAft>
            </a:pPr>
            <a:r>
              <a:rPr lang="en-IN" sz="2400" b="1" dirty="0"/>
              <a:t>Array of objects:</a:t>
            </a:r>
          </a:p>
        </p:txBody>
      </p:sp>
      <p:pic>
        <p:nvPicPr>
          <p:cNvPr id="7" name="Picture 6">
            <a:extLst>
              <a:ext uri="{FF2B5EF4-FFF2-40B4-BE49-F238E27FC236}">
                <a16:creationId xmlns:a16="http://schemas.microsoft.com/office/drawing/2014/main" id="{7465A235-9D02-4BF5-A5A0-B5AF56561CCA}"/>
              </a:ext>
            </a:extLst>
          </p:cNvPr>
          <p:cNvPicPr>
            <a:picLocks noChangeAspect="1"/>
          </p:cNvPicPr>
          <p:nvPr/>
        </p:nvPicPr>
        <p:blipFill>
          <a:blip r:embed="rId3"/>
          <a:stretch>
            <a:fillRect/>
          </a:stretch>
        </p:blipFill>
        <p:spPr>
          <a:xfrm>
            <a:off x="40340" y="3810000"/>
            <a:ext cx="7122459" cy="2910573"/>
          </a:xfrm>
          <a:prstGeom prst="rect">
            <a:avLst/>
          </a:prstGeom>
        </p:spPr>
      </p:pic>
      <p:pic>
        <p:nvPicPr>
          <p:cNvPr id="8" name="Picture 7">
            <a:extLst>
              <a:ext uri="{FF2B5EF4-FFF2-40B4-BE49-F238E27FC236}">
                <a16:creationId xmlns:a16="http://schemas.microsoft.com/office/drawing/2014/main" id="{E43D43BF-8427-4CAA-B850-25A201E739A6}"/>
              </a:ext>
            </a:extLst>
          </p:cNvPr>
          <p:cNvPicPr>
            <a:picLocks noChangeAspect="1"/>
          </p:cNvPicPr>
          <p:nvPr/>
        </p:nvPicPr>
        <p:blipFill>
          <a:blip r:embed="rId4"/>
          <a:stretch>
            <a:fillRect/>
          </a:stretch>
        </p:blipFill>
        <p:spPr>
          <a:xfrm>
            <a:off x="5462190" y="1917494"/>
            <a:ext cx="3401218" cy="1195023"/>
          </a:xfrm>
          <a:prstGeom prst="rect">
            <a:avLst/>
          </a:prstGeom>
        </p:spPr>
      </p:pic>
    </p:spTree>
    <p:extLst>
      <p:ext uri="{BB962C8B-B14F-4D97-AF65-F5344CB8AC3E}">
        <p14:creationId xmlns:p14="http://schemas.microsoft.com/office/powerpoint/2010/main" val="3458655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2895600" y="0"/>
            <a:ext cx="6248400" cy="639762"/>
          </a:xfrm>
          <a:prstGeom prst="rect">
            <a:avLst/>
          </a:prstGeom>
        </p:spPr>
        <p:txBody>
          <a:bodyPr vert="horz" lIns="91440" tIns="45720" rIns="91440" bIns="45720" rtlCol="0" anchor="ctr">
            <a:normAutofit fontScale="850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IN" sz="3200" b="1" i="0" u="sng" strike="noStrike" kern="1200" cap="none" spc="0" normalizeH="0" baseline="0" noProof="0" dirty="0">
                <a:ln>
                  <a:noFill/>
                </a:ln>
                <a:solidFill>
                  <a:srgbClr val="FF0000"/>
                </a:solidFill>
                <a:effectLst/>
                <a:uLnTx/>
                <a:uFillTx/>
                <a:latin typeface="Calibri"/>
                <a:ea typeface="+mj-ea"/>
                <a:cs typeface="+mj-cs"/>
              </a:rPr>
              <a:t>Example: Objects as function argument</a:t>
            </a:r>
          </a:p>
        </p:txBody>
      </p:sp>
      <p:pic>
        <p:nvPicPr>
          <p:cNvPr id="2" name="Picture 1">
            <a:extLst>
              <a:ext uri="{FF2B5EF4-FFF2-40B4-BE49-F238E27FC236}">
                <a16:creationId xmlns:a16="http://schemas.microsoft.com/office/drawing/2014/main" id="{39D091D0-0B25-4A7C-99E0-D109D2BD5186}"/>
              </a:ext>
            </a:extLst>
          </p:cNvPr>
          <p:cNvPicPr>
            <a:picLocks noChangeAspect="1"/>
          </p:cNvPicPr>
          <p:nvPr/>
        </p:nvPicPr>
        <p:blipFill>
          <a:blip r:embed="rId2"/>
          <a:stretch>
            <a:fillRect/>
          </a:stretch>
        </p:blipFill>
        <p:spPr>
          <a:xfrm>
            <a:off x="304800" y="639762"/>
            <a:ext cx="7162800" cy="6070360"/>
          </a:xfrm>
          <a:prstGeom prst="rect">
            <a:avLst/>
          </a:prstGeom>
        </p:spPr>
      </p:pic>
    </p:spTree>
    <p:extLst>
      <p:ext uri="{BB962C8B-B14F-4D97-AF65-F5344CB8AC3E}">
        <p14:creationId xmlns:p14="http://schemas.microsoft.com/office/powerpoint/2010/main" val="2506868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4D0F959-C9A6-4AF0-AE1C-503FA361A4A6}"/>
              </a:ext>
            </a:extLst>
          </p:cNvPr>
          <p:cNvPicPr>
            <a:picLocks noChangeAspect="1"/>
          </p:cNvPicPr>
          <p:nvPr/>
        </p:nvPicPr>
        <p:blipFill>
          <a:blip r:embed="rId2"/>
          <a:stretch>
            <a:fillRect/>
          </a:stretch>
        </p:blipFill>
        <p:spPr>
          <a:xfrm>
            <a:off x="165847" y="3299012"/>
            <a:ext cx="4925257" cy="3254188"/>
          </a:xfrm>
          <a:prstGeom prst="rect">
            <a:avLst/>
          </a:prstGeom>
        </p:spPr>
      </p:pic>
      <p:pic>
        <p:nvPicPr>
          <p:cNvPr id="6" name="Picture 5">
            <a:extLst>
              <a:ext uri="{FF2B5EF4-FFF2-40B4-BE49-F238E27FC236}">
                <a16:creationId xmlns:a16="http://schemas.microsoft.com/office/drawing/2014/main" id="{89D0B314-F8D2-4D10-9396-B287C3133F6F}"/>
              </a:ext>
            </a:extLst>
          </p:cNvPr>
          <p:cNvPicPr>
            <a:picLocks noChangeAspect="1"/>
          </p:cNvPicPr>
          <p:nvPr/>
        </p:nvPicPr>
        <p:blipFill>
          <a:blip r:embed="rId3"/>
          <a:stretch>
            <a:fillRect/>
          </a:stretch>
        </p:blipFill>
        <p:spPr>
          <a:xfrm>
            <a:off x="152400" y="219636"/>
            <a:ext cx="7747970" cy="3003176"/>
          </a:xfrm>
          <a:prstGeom prst="rect">
            <a:avLst/>
          </a:prstGeom>
        </p:spPr>
      </p:pic>
      <p:pic>
        <p:nvPicPr>
          <p:cNvPr id="7" name="Picture 6">
            <a:extLst>
              <a:ext uri="{FF2B5EF4-FFF2-40B4-BE49-F238E27FC236}">
                <a16:creationId xmlns:a16="http://schemas.microsoft.com/office/drawing/2014/main" id="{F49294E5-0BF9-4194-A643-D549526EC009}"/>
              </a:ext>
            </a:extLst>
          </p:cNvPr>
          <p:cNvPicPr>
            <a:picLocks noChangeAspect="1"/>
          </p:cNvPicPr>
          <p:nvPr/>
        </p:nvPicPr>
        <p:blipFill>
          <a:blip r:embed="rId4"/>
          <a:stretch>
            <a:fillRect/>
          </a:stretch>
        </p:blipFill>
        <p:spPr>
          <a:xfrm>
            <a:off x="5638800" y="1828800"/>
            <a:ext cx="2969800" cy="2530479"/>
          </a:xfrm>
          <a:prstGeom prst="rect">
            <a:avLst/>
          </a:prstGeom>
        </p:spPr>
      </p:pic>
    </p:spTree>
    <p:extLst>
      <p:ext uri="{BB962C8B-B14F-4D97-AF65-F5344CB8AC3E}">
        <p14:creationId xmlns:p14="http://schemas.microsoft.com/office/powerpoint/2010/main" val="3354040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4A93CD5-1126-4AF9-B157-40CD32A4DBE6}"/>
              </a:ext>
            </a:extLst>
          </p:cNvPr>
          <p:cNvSpPr txBox="1">
            <a:spLocks/>
          </p:cNvSpPr>
          <p:nvPr/>
        </p:nvSpPr>
        <p:spPr>
          <a:xfrm>
            <a:off x="4103720" y="304800"/>
            <a:ext cx="4729549" cy="411162"/>
          </a:xfrm>
          <a:prstGeom prst="rect">
            <a:avLst/>
          </a:prstGeom>
        </p:spPr>
        <p:txBody>
          <a:bodyPr vert="horz" lIns="91440" tIns="45720" rIns="91440" bIns="45720" rtlCol="0" anchor="ctr">
            <a:noAutofit/>
          </a:bodyPr>
          <a:lstStyle>
            <a:lvl1pPr algn="l" defTabSz="685800" rtl="0" eaLnBrk="1" latinLnBrk="0" hangingPunct="1">
              <a:spcBef>
                <a:spcPct val="0"/>
              </a:spcBef>
              <a:buNone/>
              <a:defRPr sz="3300" kern="1200">
                <a:solidFill>
                  <a:schemeClr val="tx1"/>
                </a:solidFill>
                <a:latin typeface="+mj-lt"/>
                <a:ea typeface="Open Sans Semibold" panose="020B0706030804020204"/>
                <a:cs typeface="Open Sans Semibold" panose="020B0706030804020204"/>
              </a:defRPr>
            </a:lvl1pPr>
          </a:lstStyle>
          <a:p>
            <a:pPr fontAlgn="auto">
              <a:spcAft>
                <a:spcPts val="0"/>
              </a:spcAft>
            </a:pPr>
            <a:r>
              <a:rPr lang="en-IN" sz="2400" b="1" u="sng" dirty="0">
                <a:solidFill>
                  <a:srgbClr val="FF0000"/>
                </a:solidFill>
              </a:rPr>
              <a:t>Example-: Returning an object</a:t>
            </a:r>
          </a:p>
        </p:txBody>
      </p:sp>
      <p:pic>
        <p:nvPicPr>
          <p:cNvPr id="5" name="Picture 4">
            <a:extLst>
              <a:ext uri="{FF2B5EF4-FFF2-40B4-BE49-F238E27FC236}">
                <a16:creationId xmlns:a16="http://schemas.microsoft.com/office/drawing/2014/main" id="{5DFE9307-21FE-4563-BCF6-BDA0534E6E83}"/>
              </a:ext>
            </a:extLst>
          </p:cNvPr>
          <p:cNvPicPr>
            <a:picLocks noChangeAspect="1"/>
          </p:cNvPicPr>
          <p:nvPr/>
        </p:nvPicPr>
        <p:blipFill>
          <a:blip r:embed="rId2"/>
          <a:stretch>
            <a:fillRect/>
          </a:stretch>
        </p:blipFill>
        <p:spPr>
          <a:xfrm>
            <a:off x="140764" y="866417"/>
            <a:ext cx="7250635" cy="5839583"/>
          </a:xfrm>
          <a:prstGeom prst="rect">
            <a:avLst/>
          </a:prstGeom>
        </p:spPr>
      </p:pic>
    </p:spTree>
    <p:extLst>
      <p:ext uri="{BB962C8B-B14F-4D97-AF65-F5344CB8AC3E}">
        <p14:creationId xmlns:p14="http://schemas.microsoft.com/office/powerpoint/2010/main" val="15028463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5603913-AC35-439D-9B05-D2A3E5A8E086}"/>
              </a:ext>
            </a:extLst>
          </p:cNvPr>
          <p:cNvPicPr>
            <a:picLocks noChangeAspect="1"/>
          </p:cNvPicPr>
          <p:nvPr/>
        </p:nvPicPr>
        <p:blipFill>
          <a:blip r:embed="rId2"/>
          <a:stretch>
            <a:fillRect/>
          </a:stretch>
        </p:blipFill>
        <p:spPr>
          <a:xfrm>
            <a:off x="152400" y="561062"/>
            <a:ext cx="4972744" cy="3172738"/>
          </a:xfrm>
          <a:prstGeom prst="rect">
            <a:avLst/>
          </a:prstGeom>
        </p:spPr>
      </p:pic>
      <p:pic>
        <p:nvPicPr>
          <p:cNvPr id="5" name="Picture 4">
            <a:extLst>
              <a:ext uri="{FF2B5EF4-FFF2-40B4-BE49-F238E27FC236}">
                <a16:creationId xmlns:a16="http://schemas.microsoft.com/office/drawing/2014/main" id="{24FDE9F6-E6C0-4D52-899E-69124019DD29}"/>
              </a:ext>
            </a:extLst>
          </p:cNvPr>
          <p:cNvPicPr>
            <a:picLocks noChangeAspect="1"/>
          </p:cNvPicPr>
          <p:nvPr/>
        </p:nvPicPr>
        <p:blipFill>
          <a:blip r:embed="rId3"/>
          <a:stretch>
            <a:fillRect/>
          </a:stretch>
        </p:blipFill>
        <p:spPr>
          <a:xfrm>
            <a:off x="174812" y="3739287"/>
            <a:ext cx="5347447" cy="3042513"/>
          </a:xfrm>
          <a:prstGeom prst="rect">
            <a:avLst/>
          </a:prstGeom>
        </p:spPr>
      </p:pic>
    </p:spTree>
    <p:extLst>
      <p:ext uri="{BB962C8B-B14F-4D97-AF65-F5344CB8AC3E}">
        <p14:creationId xmlns:p14="http://schemas.microsoft.com/office/powerpoint/2010/main" val="37979307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3BAC5BD-2608-4EBD-A262-0E6D9204B94A}"/>
              </a:ext>
            </a:extLst>
          </p:cNvPr>
          <p:cNvPicPr>
            <a:picLocks noChangeAspect="1"/>
          </p:cNvPicPr>
          <p:nvPr/>
        </p:nvPicPr>
        <p:blipFill>
          <a:blip r:embed="rId3"/>
          <a:stretch>
            <a:fillRect/>
          </a:stretch>
        </p:blipFill>
        <p:spPr>
          <a:xfrm>
            <a:off x="163556" y="152400"/>
            <a:ext cx="4372585" cy="4391638"/>
          </a:xfrm>
          <a:prstGeom prst="rect">
            <a:avLst/>
          </a:prstGeom>
        </p:spPr>
      </p:pic>
      <p:sp>
        <p:nvSpPr>
          <p:cNvPr id="6" name="Title 1">
            <a:extLst>
              <a:ext uri="{FF2B5EF4-FFF2-40B4-BE49-F238E27FC236}">
                <a16:creationId xmlns:a16="http://schemas.microsoft.com/office/drawing/2014/main" id="{4E4FA1E4-8BA3-4F02-A830-6BB56E8B4B79}"/>
              </a:ext>
            </a:extLst>
          </p:cNvPr>
          <p:cNvSpPr txBox="1">
            <a:spLocks/>
          </p:cNvSpPr>
          <p:nvPr/>
        </p:nvSpPr>
        <p:spPr>
          <a:xfrm>
            <a:off x="2667000" y="31882"/>
            <a:ext cx="6096000" cy="563562"/>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spcAft>
                <a:spcPts val="0"/>
              </a:spcAft>
            </a:pPr>
            <a:r>
              <a:rPr lang="en-IN" sz="2400" b="1" u="sng" dirty="0">
                <a:solidFill>
                  <a:srgbClr val="FF0000"/>
                </a:solidFill>
              </a:rPr>
              <a:t>Constant member function</a:t>
            </a:r>
          </a:p>
        </p:txBody>
      </p:sp>
      <p:pic>
        <p:nvPicPr>
          <p:cNvPr id="7" name="Picture 6">
            <a:extLst>
              <a:ext uri="{FF2B5EF4-FFF2-40B4-BE49-F238E27FC236}">
                <a16:creationId xmlns:a16="http://schemas.microsoft.com/office/drawing/2014/main" id="{D4B18FD9-555B-49D1-B121-3AB165649A84}"/>
              </a:ext>
            </a:extLst>
          </p:cNvPr>
          <p:cNvPicPr>
            <a:picLocks noChangeAspect="1"/>
          </p:cNvPicPr>
          <p:nvPr/>
        </p:nvPicPr>
        <p:blipFill>
          <a:blip r:embed="rId4"/>
          <a:stretch>
            <a:fillRect/>
          </a:stretch>
        </p:blipFill>
        <p:spPr>
          <a:xfrm>
            <a:off x="168038" y="4646626"/>
            <a:ext cx="3821440" cy="2023115"/>
          </a:xfrm>
          <a:prstGeom prst="rect">
            <a:avLst/>
          </a:prstGeom>
        </p:spPr>
      </p:pic>
    </p:spTree>
    <p:extLst>
      <p:ext uri="{BB962C8B-B14F-4D97-AF65-F5344CB8AC3E}">
        <p14:creationId xmlns:p14="http://schemas.microsoft.com/office/powerpoint/2010/main" val="38285494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76200" y="218303"/>
            <a:ext cx="8964818" cy="6096000"/>
          </a:xfrm>
          <a:prstGeom prst="rect">
            <a:avLst/>
          </a:prstGeom>
        </p:spPr>
      </p:pic>
      <p:sp>
        <p:nvSpPr>
          <p:cNvPr id="5" name="Title 1"/>
          <p:cNvSpPr>
            <a:spLocks noGrp="1"/>
          </p:cNvSpPr>
          <p:nvPr>
            <p:ph type="title"/>
          </p:nvPr>
        </p:nvSpPr>
        <p:spPr>
          <a:xfrm>
            <a:off x="2895600" y="73438"/>
            <a:ext cx="6096000" cy="563562"/>
          </a:xfrm>
        </p:spPr>
        <p:txBody>
          <a:bodyPr>
            <a:noAutofit/>
          </a:bodyPr>
          <a:lstStyle/>
          <a:p>
            <a:r>
              <a:rPr lang="en-IN" sz="2400" b="1" u="sng" dirty="0">
                <a:solidFill>
                  <a:srgbClr val="FF0000"/>
                </a:solidFill>
              </a:rPr>
              <a:t>Constant member function…</a:t>
            </a:r>
          </a:p>
        </p:txBody>
      </p:sp>
    </p:spTree>
    <p:extLst>
      <p:ext uri="{BB962C8B-B14F-4D97-AF65-F5344CB8AC3E}">
        <p14:creationId xmlns:p14="http://schemas.microsoft.com/office/powerpoint/2010/main" val="188445040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FCA2AF2-2367-4754-B827-0EB3C58760B9}"/>
              </a:ext>
            </a:extLst>
          </p:cNvPr>
          <p:cNvPicPr>
            <a:picLocks noChangeAspect="1"/>
          </p:cNvPicPr>
          <p:nvPr/>
        </p:nvPicPr>
        <p:blipFill>
          <a:blip r:embed="rId3"/>
          <a:stretch>
            <a:fillRect/>
          </a:stretch>
        </p:blipFill>
        <p:spPr>
          <a:xfrm>
            <a:off x="161309" y="183333"/>
            <a:ext cx="4410691" cy="4353533"/>
          </a:xfrm>
          <a:prstGeom prst="rect">
            <a:avLst/>
          </a:prstGeom>
        </p:spPr>
      </p:pic>
      <p:sp>
        <p:nvSpPr>
          <p:cNvPr id="9" name="Title 1">
            <a:extLst>
              <a:ext uri="{FF2B5EF4-FFF2-40B4-BE49-F238E27FC236}">
                <a16:creationId xmlns:a16="http://schemas.microsoft.com/office/drawing/2014/main" id="{675DFFAD-C5D1-4270-9775-05E0EB30DBD6}"/>
              </a:ext>
            </a:extLst>
          </p:cNvPr>
          <p:cNvSpPr txBox="1">
            <a:spLocks/>
          </p:cNvSpPr>
          <p:nvPr/>
        </p:nvSpPr>
        <p:spPr>
          <a:xfrm>
            <a:off x="22654" y="122238"/>
            <a:ext cx="8229600" cy="411162"/>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spcAft>
                <a:spcPts val="0"/>
              </a:spcAft>
            </a:pPr>
            <a:r>
              <a:rPr lang="en-IN" sz="2800" b="1">
                <a:solidFill>
                  <a:srgbClr val="FF0000"/>
                </a:solidFill>
              </a:rPr>
              <a:t> Constant objects</a:t>
            </a:r>
            <a:endParaRPr lang="en-IN" sz="2800" b="1" dirty="0">
              <a:solidFill>
                <a:srgbClr val="FF0000"/>
              </a:solidFill>
            </a:endParaRPr>
          </a:p>
        </p:txBody>
      </p:sp>
      <p:pic>
        <p:nvPicPr>
          <p:cNvPr id="7" name="Picture 6">
            <a:extLst>
              <a:ext uri="{FF2B5EF4-FFF2-40B4-BE49-F238E27FC236}">
                <a16:creationId xmlns:a16="http://schemas.microsoft.com/office/drawing/2014/main" id="{B91F2243-F29C-44AB-8686-630BA751177E}"/>
              </a:ext>
            </a:extLst>
          </p:cNvPr>
          <p:cNvPicPr>
            <a:picLocks noChangeAspect="1"/>
          </p:cNvPicPr>
          <p:nvPr/>
        </p:nvPicPr>
        <p:blipFill>
          <a:blip r:embed="rId4"/>
          <a:stretch>
            <a:fillRect/>
          </a:stretch>
        </p:blipFill>
        <p:spPr>
          <a:xfrm>
            <a:off x="165791" y="4615890"/>
            <a:ext cx="4742732" cy="2058777"/>
          </a:xfrm>
          <a:prstGeom prst="rect">
            <a:avLst/>
          </a:prstGeom>
        </p:spPr>
      </p:pic>
    </p:spTree>
    <p:extLst>
      <p:ext uri="{BB962C8B-B14F-4D97-AF65-F5344CB8AC3E}">
        <p14:creationId xmlns:p14="http://schemas.microsoft.com/office/powerpoint/2010/main" val="804291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8A86F-B61E-44FA-97E8-EFD6A8684A98}"/>
              </a:ext>
            </a:extLst>
          </p:cNvPr>
          <p:cNvSpPr>
            <a:spLocks noGrp="1"/>
          </p:cNvSpPr>
          <p:nvPr>
            <p:ph type="title"/>
          </p:nvPr>
        </p:nvSpPr>
        <p:spPr>
          <a:xfrm>
            <a:off x="609600" y="86986"/>
            <a:ext cx="8229600" cy="411162"/>
          </a:xfrm>
        </p:spPr>
        <p:txBody>
          <a:bodyPr>
            <a:noAutofit/>
          </a:bodyPr>
          <a:lstStyle/>
          <a:p>
            <a:r>
              <a:rPr lang="en-IN" sz="3200" b="1" dirty="0">
                <a:solidFill>
                  <a:srgbClr val="FF0000"/>
                </a:solidFill>
              </a:rPr>
              <a:t>Constant member function argument</a:t>
            </a:r>
          </a:p>
        </p:txBody>
      </p:sp>
      <p:pic>
        <p:nvPicPr>
          <p:cNvPr id="5" name="Picture 4">
            <a:extLst>
              <a:ext uri="{FF2B5EF4-FFF2-40B4-BE49-F238E27FC236}">
                <a16:creationId xmlns:a16="http://schemas.microsoft.com/office/drawing/2014/main" id="{E80AC5DE-834A-4E13-9FE0-A7AE73571BAD}"/>
              </a:ext>
            </a:extLst>
          </p:cNvPr>
          <p:cNvPicPr>
            <a:picLocks noChangeAspect="1"/>
          </p:cNvPicPr>
          <p:nvPr/>
        </p:nvPicPr>
        <p:blipFill>
          <a:blip r:embed="rId3"/>
          <a:stretch>
            <a:fillRect/>
          </a:stretch>
        </p:blipFill>
        <p:spPr>
          <a:xfrm>
            <a:off x="425824" y="861639"/>
            <a:ext cx="6858000" cy="5703794"/>
          </a:xfrm>
          <a:prstGeom prst="rect">
            <a:avLst/>
          </a:prstGeom>
        </p:spPr>
      </p:pic>
    </p:spTree>
    <p:extLst>
      <p:ext uri="{BB962C8B-B14F-4D97-AF65-F5344CB8AC3E}">
        <p14:creationId xmlns:p14="http://schemas.microsoft.com/office/powerpoint/2010/main" val="26693510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785BC3B-5D4D-44E6-9F17-764B8EF966EA}"/>
              </a:ext>
            </a:extLst>
          </p:cNvPr>
          <p:cNvPicPr>
            <a:picLocks noChangeAspect="1"/>
          </p:cNvPicPr>
          <p:nvPr/>
        </p:nvPicPr>
        <p:blipFill>
          <a:blip r:embed="rId2"/>
          <a:stretch>
            <a:fillRect/>
          </a:stretch>
        </p:blipFill>
        <p:spPr>
          <a:xfrm>
            <a:off x="304800" y="571500"/>
            <a:ext cx="8270776" cy="5715000"/>
          </a:xfrm>
          <a:prstGeom prst="rect">
            <a:avLst/>
          </a:prstGeom>
        </p:spPr>
      </p:pic>
    </p:spTree>
    <p:extLst>
      <p:ext uri="{BB962C8B-B14F-4D97-AF65-F5344CB8AC3E}">
        <p14:creationId xmlns:p14="http://schemas.microsoft.com/office/powerpoint/2010/main" val="14215177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152400" y="466322"/>
            <a:ext cx="4724400" cy="5979504"/>
          </a:xfrm>
          <a:prstGeom prst="rect">
            <a:avLst/>
          </a:prstGeom>
        </p:spPr>
      </p:pic>
      <p:sp>
        <p:nvSpPr>
          <p:cNvPr id="10" name="Rounded Rectangular Callout 9"/>
          <p:cNvSpPr/>
          <p:nvPr/>
        </p:nvSpPr>
        <p:spPr>
          <a:xfrm>
            <a:off x="3886200" y="5029200"/>
            <a:ext cx="1120346" cy="685800"/>
          </a:xfrm>
          <a:prstGeom prst="wedgeRoundRectCallout">
            <a:avLst>
              <a:gd name="adj1" fmla="val -138961"/>
              <a:gd name="adj2" fmla="val 38586"/>
              <a:gd name="adj3" fmla="val 16667"/>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IN" sz="2400" b="1" i="0" u="none" strike="noStrike" kern="1200" cap="none" spc="0" normalizeH="0" baseline="0" noProof="0" dirty="0">
              <a:ln>
                <a:noFill/>
              </a:ln>
              <a:solidFill>
                <a:srgbClr val="FF0000"/>
              </a:solidFill>
              <a:effectLst/>
              <a:uLnTx/>
              <a:uFillTx/>
              <a:latin typeface="Calibri"/>
              <a:ea typeface="+mn-ea"/>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IN" sz="2400" b="1" i="0" u="none" strike="noStrike" kern="1200" cap="none" spc="0" normalizeH="0" baseline="0" noProof="0" dirty="0">
                <a:ln>
                  <a:noFill/>
                </a:ln>
                <a:solidFill>
                  <a:srgbClr val="FF0000"/>
                </a:solidFill>
                <a:effectLst/>
                <a:uLnTx/>
                <a:uFillTx/>
                <a:latin typeface="Calibri"/>
                <a:ea typeface="+mn-ea"/>
                <a:cs typeface="+mn-cs"/>
              </a:rPr>
              <a:t>Error !</a:t>
            </a: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IN" sz="2400" b="0" i="0" u="none" strike="noStrike" kern="1200" cap="none" spc="0" normalizeH="0" baseline="0" noProof="0" dirty="0">
              <a:ln>
                <a:noFill/>
              </a:ln>
              <a:solidFill>
                <a:prstClr val="white"/>
              </a:solidFill>
              <a:effectLst/>
              <a:uLnTx/>
              <a:uFillTx/>
              <a:latin typeface="Calibri"/>
              <a:ea typeface="+mn-ea"/>
              <a:cs typeface="+mn-cs"/>
            </a:endParaRPr>
          </a:p>
        </p:txBody>
      </p:sp>
      <p:sp>
        <p:nvSpPr>
          <p:cNvPr id="12" name="Title 1"/>
          <p:cNvSpPr>
            <a:spLocks noGrp="1"/>
          </p:cNvSpPr>
          <p:nvPr>
            <p:ph type="title"/>
          </p:nvPr>
        </p:nvSpPr>
        <p:spPr>
          <a:xfrm>
            <a:off x="3124200" y="294280"/>
            <a:ext cx="5482281" cy="344084"/>
          </a:xfrm>
        </p:spPr>
        <p:txBody>
          <a:bodyPr>
            <a:noAutofit/>
          </a:bodyPr>
          <a:lstStyle/>
          <a:p>
            <a:r>
              <a:rPr lang="en-IN" sz="2400" b="1" u="sng" dirty="0">
                <a:solidFill>
                  <a:srgbClr val="FF0000"/>
                </a:solidFill>
              </a:rPr>
              <a:t>Question-1:</a:t>
            </a:r>
          </a:p>
        </p:txBody>
      </p:sp>
    </p:spTree>
    <p:extLst>
      <p:ext uri="{BB962C8B-B14F-4D97-AF65-F5344CB8AC3E}">
        <p14:creationId xmlns:p14="http://schemas.microsoft.com/office/powerpoint/2010/main" val="3881850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F922C78-15C1-4DF1-8A0F-0E3EDD64D0F9}"/>
              </a:ext>
            </a:extLst>
          </p:cNvPr>
          <p:cNvPicPr>
            <a:picLocks noChangeAspect="1"/>
          </p:cNvPicPr>
          <p:nvPr/>
        </p:nvPicPr>
        <p:blipFill>
          <a:blip r:embed="rId2"/>
          <a:stretch>
            <a:fillRect/>
          </a:stretch>
        </p:blipFill>
        <p:spPr>
          <a:xfrm>
            <a:off x="533400" y="761999"/>
            <a:ext cx="6400800" cy="5536749"/>
          </a:xfrm>
          <a:prstGeom prst="rect">
            <a:avLst/>
          </a:prstGeom>
        </p:spPr>
      </p:pic>
      <p:sp>
        <p:nvSpPr>
          <p:cNvPr id="6" name="Title 1">
            <a:extLst>
              <a:ext uri="{FF2B5EF4-FFF2-40B4-BE49-F238E27FC236}">
                <a16:creationId xmlns:a16="http://schemas.microsoft.com/office/drawing/2014/main" id="{D42A814B-5333-423F-986F-7A41FA884980}"/>
              </a:ext>
            </a:extLst>
          </p:cNvPr>
          <p:cNvSpPr>
            <a:spLocks noGrp="1"/>
          </p:cNvSpPr>
          <p:nvPr>
            <p:ph type="title"/>
          </p:nvPr>
        </p:nvSpPr>
        <p:spPr>
          <a:xfrm>
            <a:off x="3429000" y="242062"/>
            <a:ext cx="5482281" cy="344084"/>
          </a:xfrm>
        </p:spPr>
        <p:txBody>
          <a:bodyPr>
            <a:noAutofit/>
          </a:bodyPr>
          <a:lstStyle/>
          <a:p>
            <a:r>
              <a:rPr lang="en-IN" sz="2400" b="1" u="sng" dirty="0">
                <a:solidFill>
                  <a:srgbClr val="FF0000"/>
                </a:solidFill>
              </a:rPr>
              <a:t>Question-2: Will it compile?</a:t>
            </a:r>
          </a:p>
        </p:txBody>
      </p:sp>
    </p:spTree>
    <p:extLst>
      <p:ext uri="{BB962C8B-B14F-4D97-AF65-F5344CB8AC3E}">
        <p14:creationId xmlns:p14="http://schemas.microsoft.com/office/powerpoint/2010/main" val="307748775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Static Data members </a:t>
            </a:r>
          </a:p>
        </p:txBody>
      </p:sp>
      <p:sp>
        <p:nvSpPr>
          <p:cNvPr id="4" name="Rectangle 3"/>
          <p:cNvSpPr/>
          <p:nvPr/>
        </p:nvSpPr>
        <p:spPr>
          <a:xfrm>
            <a:off x="1287390" y="1556297"/>
            <a:ext cx="6570736" cy="9144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685800" fontAlgn="auto">
              <a:spcBef>
                <a:spcPts val="0"/>
              </a:spcBef>
              <a:spcAft>
                <a:spcPts val="0"/>
              </a:spcAft>
              <a:defRPr/>
            </a:pPr>
            <a:r>
              <a:rPr lang="en-IN" sz="1800" dirty="0">
                <a:solidFill>
                  <a:prstClr val="black"/>
                </a:solidFill>
                <a:latin typeface="Calibri"/>
              </a:rPr>
              <a:t>A static data member is useful,</a:t>
            </a:r>
          </a:p>
          <a:p>
            <a:pPr algn="just" defTabSz="685800" fontAlgn="auto">
              <a:spcBef>
                <a:spcPts val="0"/>
              </a:spcBef>
              <a:spcAft>
                <a:spcPts val="0"/>
              </a:spcAft>
              <a:defRPr/>
            </a:pPr>
            <a:r>
              <a:rPr lang="en-IN" sz="1800" dirty="0">
                <a:solidFill>
                  <a:prstClr val="black"/>
                </a:solidFill>
                <a:latin typeface="Calibri"/>
              </a:rPr>
              <a:t>when all objects of the same class must </a:t>
            </a:r>
            <a:r>
              <a:rPr lang="en-IN" sz="1800" b="1" dirty="0">
                <a:solidFill>
                  <a:srgbClr val="C00000"/>
                </a:solidFill>
                <a:latin typeface="Calibri"/>
              </a:rPr>
              <a:t>share a common information</a:t>
            </a:r>
            <a:r>
              <a:rPr lang="en-IN" sz="1800" dirty="0">
                <a:solidFill>
                  <a:prstClr val="black"/>
                </a:solidFill>
                <a:latin typeface="Calibri"/>
              </a:rPr>
              <a:t>.</a:t>
            </a:r>
          </a:p>
        </p:txBody>
      </p:sp>
      <p:sp>
        <p:nvSpPr>
          <p:cNvPr id="15" name="Rectangle 14"/>
          <p:cNvSpPr/>
          <p:nvPr/>
        </p:nvSpPr>
        <p:spPr>
          <a:xfrm>
            <a:off x="1543050" y="3128963"/>
            <a:ext cx="6315075" cy="400050"/>
          </a:xfrm>
          <a:prstGeom prst="rect">
            <a:avLst/>
          </a:prstGeom>
          <a:no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800" fontAlgn="auto">
              <a:spcBef>
                <a:spcPts val="0"/>
              </a:spcBef>
              <a:spcAft>
                <a:spcPts val="0"/>
              </a:spcAft>
              <a:defRPr/>
            </a:pPr>
            <a:r>
              <a:rPr lang="en-IN" sz="1800" dirty="0">
                <a:solidFill>
                  <a:prstClr val="black"/>
                </a:solidFill>
                <a:latin typeface="Calibri"/>
              </a:rPr>
              <a:t>It is initialized to zero when first object of class created</a:t>
            </a:r>
          </a:p>
        </p:txBody>
      </p:sp>
      <p:sp>
        <p:nvSpPr>
          <p:cNvPr id="16" name="Rectangle 15"/>
          <p:cNvSpPr/>
          <p:nvPr/>
        </p:nvSpPr>
        <p:spPr>
          <a:xfrm>
            <a:off x="1543050" y="3705746"/>
            <a:ext cx="6315075" cy="400050"/>
          </a:xfrm>
          <a:prstGeom prst="rect">
            <a:avLst/>
          </a:prstGeom>
          <a:no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800" fontAlgn="auto">
              <a:spcBef>
                <a:spcPts val="0"/>
              </a:spcBef>
              <a:spcAft>
                <a:spcPts val="0"/>
              </a:spcAft>
              <a:defRPr/>
            </a:pPr>
            <a:r>
              <a:rPr lang="en-IN" sz="1800" dirty="0">
                <a:solidFill>
                  <a:prstClr val="black"/>
                </a:solidFill>
                <a:latin typeface="Calibri"/>
              </a:rPr>
              <a:t>Only one copy is created for each object</a:t>
            </a:r>
          </a:p>
        </p:txBody>
      </p:sp>
      <p:sp>
        <p:nvSpPr>
          <p:cNvPr id="17" name="Rectangle 16"/>
          <p:cNvSpPr/>
          <p:nvPr/>
        </p:nvSpPr>
        <p:spPr>
          <a:xfrm>
            <a:off x="1543050" y="2561705"/>
            <a:ext cx="6315075" cy="400050"/>
          </a:xfrm>
          <a:prstGeom prst="rect">
            <a:avLst/>
          </a:prstGeom>
          <a:no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800" fontAlgn="auto">
              <a:spcBef>
                <a:spcPts val="0"/>
              </a:spcBef>
              <a:spcAft>
                <a:spcPts val="0"/>
              </a:spcAft>
              <a:defRPr/>
            </a:pPr>
            <a:r>
              <a:rPr lang="en-IN" sz="1800" dirty="0">
                <a:solidFill>
                  <a:prstClr val="black"/>
                </a:solidFill>
                <a:latin typeface="Calibri"/>
              </a:rPr>
              <a:t>Just write static keyword prefix to regular variable</a:t>
            </a:r>
          </a:p>
        </p:txBody>
      </p:sp>
      <p:sp>
        <p:nvSpPr>
          <p:cNvPr id="18" name="Rectangle 17"/>
          <p:cNvSpPr/>
          <p:nvPr/>
        </p:nvSpPr>
        <p:spPr>
          <a:xfrm>
            <a:off x="1543050" y="4292054"/>
            <a:ext cx="6315075" cy="400050"/>
          </a:xfrm>
          <a:prstGeom prst="rect">
            <a:avLst/>
          </a:prstGeom>
          <a:no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800" fontAlgn="auto">
              <a:spcBef>
                <a:spcPts val="0"/>
              </a:spcBef>
              <a:spcAft>
                <a:spcPts val="0"/>
              </a:spcAft>
              <a:defRPr/>
            </a:pPr>
            <a:r>
              <a:rPr lang="en-IN" sz="1800" dirty="0">
                <a:solidFill>
                  <a:prstClr val="black"/>
                </a:solidFill>
                <a:latin typeface="Calibri"/>
              </a:rPr>
              <a:t>Its life time is entire program</a:t>
            </a:r>
          </a:p>
        </p:txBody>
      </p:sp>
    </p:spTree>
    <p:extLst>
      <p:ext uri="{BB962C8B-B14F-4D97-AF65-F5344CB8AC3E}">
        <p14:creationId xmlns:p14="http://schemas.microsoft.com/office/powerpoint/2010/main" val="3390932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7118" y="1250189"/>
            <a:ext cx="8727731" cy="4534271"/>
          </a:xfrm>
          <a:prstGeom prst="rect">
            <a:avLst/>
          </a:prstGeom>
        </p:spPr>
      </p:pic>
      <p:sp>
        <p:nvSpPr>
          <p:cNvPr id="5" name="TextBox 4"/>
          <p:cNvSpPr txBox="1"/>
          <p:nvPr/>
        </p:nvSpPr>
        <p:spPr>
          <a:xfrm>
            <a:off x="1179097" y="3925303"/>
            <a:ext cx="902369" cy="300082"/>
          </a:xfrm>
          <a:prstGeom prst="rect">
            <a:avLst/>
          </a:prstGeom>
          <a:noFill/>
        </p:spPr>
        <p:txBody>
          <a:bodyPr wrap="square" rtlCol="0">
            <a:spAutoFit/>
          </a:bodyPr>
          <a:lstStyle/>
          <a:p>
            <a:pPr defTabSz="685800" fontAlgn="auto">
              <a:spcBef>
                <a:spcPts val="0"/>
              </a:spcBef>
              <a:spcAft>
                <a:spcPts val="0"/>
              </a:spcAft>
            </a:pPr>
            <a:r>
              <a:rPr lang="en-IN" sz="1350" b="1" dirty="0">
                <a:solidFill>
                  <a:prstClr val="black"/>
                </a:solidFill>
                <a:latin typeface="Calibri" panose="020F0502020204030204"/>
                <a:cs typeface="+mn-cs"/>
              </a:rPr>
              <a:t>;</a:t>
            </a:r>
          </a:p>
        </p:txBody>
      </p:sp>
    </p:spTree>
    <p:extLst>
      <p:ext uri="{BB962C8B-B14F-4D97-AF65-F5344CB8AC3E}">
        <p14:creationId xmlns:p14="http://schemas.microsoft.com/office/powerpoint/2010/main" val="79892721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71600" y="236901"/>
            <a:ext cx="5791200" cy="6384198"/>
          </a:xfrm>
          <a:prstGeom prst="rect">
            <a:avLst/>
          </a:prstGeom>
        </p:spPr>
      </p:pic>
    </p:spTree>
    <p:extLst>
      <p:ext uri="{BB962C8B-B14F-4D97-AF65-F5344CB8AC3E}">
        <p14:creationId xmlns:p14="http://schemas.microsoft.com/office/powerpoint/2010/main" val="71947656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742951" y="1086051"/>
            <a:ext cx="3600450" cy="4708981"/>
          </a:xfrm>
          <a:prstGeom prst="rect">
            <a:avLst/>
          </a:prstGeom>
        </p:spPr>
        <p:txBody>
          <a:bodyPr wrap="square">
            <a:spAutoFit/>
          </a:bodyPr>
          <a:lstStyle/>
          <a:p>
            <a:pPr defTabSz="685800" fontAlgn="auto">
              <a:spcBef>
                <a:spcPts val="0"/>
              </a:spcBef>
              <a:spcAft>
                <a:spcPts val="0"/>
              </a:spcAft>
              <a:defRPr/>
            </a:pPr>
            <a:r>
              <a:rPr lang="en-IN" sz="1500" dirty="0">
                <a:solidFill>
                  <a:srgbClr val="0000FF"/>
                </a:solidFill>
                <a:highlight>
                  <a:srgbClr val="FFFFFF"/>
                </a:highlight>
                <a:latin typeface="Consolas" panose="020B0609020204030204" pitchFamily="49" charset="0"/>
                <a:cs typeface="+mn-cs"/>
              </a:rPr>
              <a:t>class</a:t>
            </a:r>
            <a:r>
              <a:rPr lang="en-IN" sz="1500" dirty="0">
                <a:solidFill>
                  <a:srgbClr val="000000"/>
                </a:solidFill>
                <a:highlight>
                  <a:srgbClr val="FFFFFF"/>
                </a:highlight>
                <a:latin typeface="Consolas" panose="020B0609020204030204" pitchFamily="49" charset="0"/>
                <a:cs typeface="+mn-cs"/>
              </a:rPr>
              <a:t> demo</a:t>
            </a:r>
          </a:p>
          <a:p>
            <a:pPr defTabSz="685800" fontAlgn="auto">
              <a:spcBef>
                <a:spcPts val="0"/>
              </a:spcBef>
              <a:spcAft>
                <a:spcPts val="0"/>
              </a:spcAft>
              <a:defRPr/>
            </a:pPr>
            <a:r>
              <a:rPr lang="en-IN" sz="1500" dirty="0">
                <a:solidFill>
                  <a:srgbClr val="000000"/>
                </a:solidFill>
                <a:highlight>
                  <a:srgbClr val="FFFFFF"/>
                </a:highlight>
                <a:latin typeface="Consolas" panose="020B0609020204030204" pitchFamily="49" charset="0"/>
                <a:cs typeface="+mn-cs"/>
              </a:rPr>
              <a:t>{</a:t>
            </a:r>
          </a:p>
          <a:p>
            <a:pPr defTabSz="685800" fontAlgn="auto">
              <a:spcBef>
                <a:spcPts val="0"/>
              </a:spcBef>
              <a:spcAft>
                <a:spcPts val="0"/>
              </a:spcAft>
              <a:defRPr/>
            </a:pPr>
            <a:r>
              <a:rPr lang="en-IN" sz="1500" dirty="0">
                <a:solidFill>
                  <a:srgbClr val="000000"/>
                </a:solidFill>
                <a:highlight>
                  <a:srgbClr val="FFFFFF"/>
                </a:highlight>
                <a:latin typeface="Consolas" panose="020B0609020204030204" pitchFamily="49" charset="0"/>
                <a:cs typeface="+mn-cs"/>
              </a:rPr>
              <a:t>  </a:t>
            </a:r>
            <a:r>
              <a:rPr lang="en-IN" sz="1500" dirty="0">
                <a:solidFill>
                  <a:srgbClr val="0000FF"/>
                </a:solidFill>
                <a:highlight>
                  <a:srgbClr val="FFFFFF"/>
                </a:highlight>
                <a:latin typeface="Consolas" panose="020B0609020204030204" pitchFamily="49" charset="0"/>
                <a:cs typeface="+mn-cs"/>
              </a:rPr>
              <a:t>static</a:t>
            </a:r>
            <a:r>
              <a:rPr lang="en-IN" sz="1500" dirty="0">
                <a:solidFill>
                  <a:srgbClr val="000000"/>
                </a:solidFill>
                <a:highlight>
                  <a:srgbClr val="FFFFFF"/>
                </a:highlight>
                <a:latin typeface="Consolas" panose="020B0609020204030204" pitchFamily="49" charset="0"/>
                <a:cs typeface="+mn-cs"/>
              </a:rPr>
              <a:t> </a:t>
            </a:r>
            <a:r>
              <a:rPr lang="en-IN" sz="1500" dirty="0" err="1">
                <a:solidFill>
                  <a:srgbClr val="0000FF"/>
                </a:solidFill>
                <a:highlight>
                  <a:srgbClr val="FFFFFF"/>
                </a:highlight>
                <a:latin typeface="Consolas" panose="020B0609020204030204" pitchFamily="49" charset="0"/>
                <a:cs typeface="+mn-cs"/>
              </a:rPr>
              <a:t>int</a:t>
            </a:r>
            <a:r>
              <a:rPr lang="en-IN" sz="1500" dirty="0">
                <a:solidFill>
                  <a:srgbClr val="000000"/>
                </a:solidFill>
                <a:highlight>
                  <a:srgbClr val="FFFFFF"/>
                </a:highlight>
                <a:latin typeface="Consolas" panose="020B0609020204030204" pitchFamily="49" charset="0"/>
                <a:cs typeface="+mn-cs"/>
              </a:rPr>
              <a:t> count;</a:t>
            </a:r>
          </a:p>
          <a:p>
            <a:pPr defTabSz="685800" fontAlgn="auto">
              <a:spcBef>
                <a:spcPts val="0"/>
              </a:spcBef>
              <a:spcAft>
                <a:spcPts val="0"/>
              </a:spcAft>
              <a:defRPr/>
            </a:pPr>
            <a:r>
              <a:rPr lang="en-IN" sz="1500" dirty="0">
                <a:solidFill>
                  <a:srgbClr val="000000"/>
                </a:solidFill>
                <a:highlight>
                  <a:srgbClr val="FFFFFF"/>
                </a:highlight>
                <a:latin typeface="Consolas" panose="020B0609020204030204" pitchFamily="49" charset="0"/>
                <a:cs typeface="+mn-cs"/>
              </a:rPr>
              <a:t>  </a:t>
            </a:r>
            <a:r>
              <a:rPr lang="en-IN" sz="1500" dirty="0">
                <a:solidFill>
                  <a:srgbClr val="0000FF"/>
                </a:solidFill>
                <a:highlight>
                  <a:srgbClr val="FFFFFF"/>
                </a:highlight>
                <a:latin typeface="Consolas" panose="020B0609020204030204" pitchFamily="49" charset="0"/>
                <a:cs typeface="+mn-cs"/>
              </a:rPr>
              <a:t>public</a:t>
            </a:r>
            <a:r>
              <a:rPr lang="en-IN" sz="1500" dirty="0">
                <a:solidFill>
                  <a:srgbClr val="000000"/>
                </a:solidFill>
                <a:highlight>
                  <a:srgbClr val="FFFFFF"/>
                </a:highlight>
                <a:latin typeface="Consolas" panose="020B0609020204030204" pitchFamily="49" charset="0"/>
                <a:cs typeface="+mn-cs"/>
              </a:rPr>
              <a:t>:</a:t>
            </a:r>
          </a:p>
          <a:p>
            <a:pPr defTabSz="685800" fontAlgn="auto">
              <a:spcBef>
                <a:spcPts val="0"/>
              </a:spcBef>
              <a:spcAft>
                <a:spcPts val="0"/>
              </a:spcAft>
              <a:defRPr/>
            </a:pPr>
            <a:r>
              <a:rPr lang="en-IN" sz="1500" dirty="0">
                <a:solidFill>
                  <a:srgbClr val="000000"/>
                </a:solidFill>
                <a:highlight>
                  <a:srgbClr val="FFFFFF"/>
                </a:highlight>
                <a:latin typeface="Consolas" panose="020B0609020204030204" pitchFamily="49" charset="0"/>
                <a:cs typeface="+mn-cs"/>
              </a:rPr>
              <a:t>   </a:t>
            </a:r>
            <a:r>
              <a:rPr lang="en-IN" sz="1500" dirty="0">
                <a:solidFill>
                  <a:srgbClr val="0000FF"/>
                </a:solidFill>
                <a:highlight>
                  <a:srgbClr val="FFFFFF"/>
                </a:highlight>
                <a:latin typeface="Consolas" panose="020B0609020204030204" pitchFamily="49" charset="0"/>
                <a:cs typeface="+mn-cs"/>
              </a:rPr>
              <a:t>void</a:t>
            </a:r>
            <a:r>
              <a:rPr lang="en-IN" sz="1500" dirty="0">
                <a:solidFill>
                  <a:srgbClr val="000000"/>
                </a:solidFill>
                <a:highlight>
                  <a:srgbClr val="FFFFFF"/>
                </a:highlight>
                <a:latin typeface="Consolas" panose="020B0609020204030204" pitchFamily="49" charset="0"/>
                <a:cs typeface="+mn-cs"/>
              </a:rPr>
              <a:t> </a:t>
            </a:r>
            <a:r>
              <a:rPr lang="en-IN" sz="1500" dirty="0" err="1">
                <a:solidFill>
                  <a:srgbClr val="000000"/>
                </a:solidFill>
                <a:highlight>
                  <a:srgbClr val="FFFFFF"/>
                </a:highlight>
                <a:latin typeface="Consolas" panose="020B0609020204030204" pitchFamily="49" charset="0"/>
                <a:cs typeface="+mn-cs"/>
              </a:rPr>
              <a:t>getcount</a:t>
            </a:r>
            <a:r>
              <a:rPr lang="en-IN" sz="1500" dirty="0">
                <a:solidFill>
                  <a:srgbClr val="000000"/>
                </a:solidFill>
                <a:highlight>
                  <a:srgbClr val="FFFFFF"/>
                </a:highlight>
                <a:latin typeface="Consolas" panose="020B0609020204030204" pitchFamily="49" charset="0"/>
                <a:cs typeface="+mn-cs"/>
              </a:rPr>
              <a:t>()</a:t>
            </a:r>
          </a:p>
          <a:p>
            <a:pPr defTabSz="685800" fontAlgn="auto">
              <a:spcBef>
                <a:spcPts val="0"/>
              </a:spcBef>
              <a:spcAft>
                <a:spcPts val="0"/>
              </a:spcAft>
              <a:defRPr/>
            </a:pPr>
            <a:r>
              <a:rPr lang="en-IN" sz="1500" dirty="0">
                <a:solidFill>
                  <a:srgbClr val="000000"/>
                </a:solidFill>
                <a:highlight>
                  <a:srgbClr val="FFFFFF"/>
                </a:highlight>
                <a:latin typeface="Consolas" panose="020B0609020204030204" pitchFamily="49" charset="0"/>
                <a:cs typeface="+mn-cs"/>
              </a:rPr>
              <a:t>   {</a:t>
            </a:r>
          </a:p>
          <a:p>
            <a:pPr defTabSz="685800" fontAlgn="auto">
              <a:spcBef>
                <a:spcPts val="0"/>
              </a:spcBef>
              <a:spcAft>
                <a:spcPts val="0"/>
              </a:spcAft>
              <a:defRPr/>
            </a:pPr>
            <a:r>
              <a:rPr lang="en-IN" sz="1500" dirty="0">
                <a:solidFill>
                  <a:srgbClr val="000000"/>
                </a:solidFill>
                <a:highlight>
                  <a:srgbClr val="FFFFFF"/>
                </a:highlight>
                <a:latin typeface="Consolas" panose="020B0609020204030204" pitchFamily="49" charset="0"/>
                <a:cs typeface="+mn-cs"/>
              </a:rPr>
              <a:t>        </a:t>
            </a:r>
            <a:r>
              <a:rPr lang="en-IN" sz="1500" dirty="0" err="1">
                <a:solidFill>
                  <a:srgbClr val="000000"/>
                </a:solidFill>
                <a:highlight>
                  <a:srgbClr val="FFFFFF"/>
                </a:highlight>
                <a:latin typeface="Consolas" panose="020B0609020204030204" pitchFamily="49" charset="0"/>
                <a:cs typeface="+mn-cs"/>
              </a:rPr>
              <a:t>cout</a:t>
            </a:r>
            <a:r>
              <a:rPr lang="en-IN" sz="1500" dirty="0">
                <a:solidFill>
                  <a:srgbClr val="000000"/>
                </a:solidFill>
                <a:highlight>
                  <a:srgbClr val="FFFFFF"/>
                </a:highlight>
                <a:latin typeface="Consolas" panose="020B0609020204030204" pitchFamily="49" charset="0"/>
                <a:cs typeface="+mn-cs"/>
              </a:rPr>
              <a:t>&lt;&lt;</a:t>
            </a:r>
            <a:r>
              <a:rPr lang="en-IN" sz="1500" dirty="0">
                <a:solidFill>
                  <a:srgbClr val="A31515"/>
                </a:solidFill>
                <a:highlight>
                  <a:srgbClr val="FFFFFF"/>
                </a:highlight>
                <a:latin typeface="Consolas" panose="020B0609020204030204" pitchFamily="49" charset="0"/>
                <a:cs typeface="+mn-cs"/>
              </a:rPr>
              <a:t>"count="</a:t>
            </a:r>
            <a:r>
              <a:rPr lang="en-IN" sz="1500" dirty="0">
                <a:solidFill>
                  <a:srgbClr val="000000"/>
                </a:solidFill>
                <a:highlight>
                  <a:srgbClr val="FFFFFF"/>
                </a:highlight>
                <a:latin typeface="Consolas" panose="020B0609020204030204" pitchFamily="49" charset="0"/>
                <a:cs typeface="+mn-cs"/>
              </a:rPr>
              <a:t>&lt;&lt;++count;</a:t>
            </a:r>
          </a:p>
          <a:p>
            <a:pPr defTabSz="685800" fontAlgn="auto">
              <a:spcBef>
                <a:spcPts val="0"/>
              </a:spcBef>
              <a:spcAft>
                <a:spcPts val="0"/>
              </a:spcAft>
              <a:defRPr/>
            </a:pPr>
            <a:r>
              <a:rPr lang="en-IN" sz="1500" dirty="0">
                <a:solidFill>
                  <a:srgbClr val="000000"/>
                </a:solidFill>
                <a:highlight>
                  <a:srgbClr val="FFFFFF"/>
                </a:highlight>
                <a:latin typeface="Consolas" panose="020B0609020204030204" pitchFamily="49" charset="0"/>
                <a:cs typeface="+mn-cs"/>
              </a:rPr>
              <a:t>   }</a:t>
            </a:r>
          </a:p>
          <a:p>
            <a:pPr defTabSz="685800" fontAlgn="auto">
              <a:spcBef>
                <a:spcPts val="0"/>
              </a:spcBef>
              <a:spcAft>
                <a:spcPts val="0"/>
              </a:spcAft>
              <a:defRPr/>
            </a:pPr>
            <a:r>
              <a:rPr lang="en-IN" sz="1500" dirty="0">
                <a:solidFill>
                  <a:srgbClr val="000000"/>
                </a:solidFill>
                <a:highlight>
                  <a:srgbClr val="FFFFFF"/>
                </a:highlight>
                <a:latin typeface="Consolas" panose="020B0609020204030204" pitchFamily="49" charset="0"/>
                <a:cs typeface="+mn-cs"/>
              </a:rPr>
              <a:t>};</a:t>
            </a:r>
          </a:p>
          <a:p>
            <a:pPr defTabSz="685800" fontAlgn="auto">
              <a:spcBef>
                <a:spcPts val="0"/>
              </a:spcBef>
              <a:spcAft>
                <a:spcPts val="0"/>
              </a:spcAft>
              <a:defRPr/>
            </a:pPr>
            <a:endParaRPr lang="en-IN" sz="1500" dirty="0">
              <a:solidFill>
                <a:srgbClr val="0000FF"/>
              </a:solidFill>
              <a:highlight>
                <a:srgbClr val="FFFFFF"/>
              </a:highlight>
              <a:latin typeface="Consolas" panose="020B0609020204030204" pitchFamily="49" charset="0"/>
              <a:cs typeface="+mn-cs"/>
            </a:endParaRPr>
          </a:p>
          <a:p>
            <a:pPr defTabSz="685800" fontAlgn="auto">
              <a:spcBef>
                <a:spcPts val="0"/>
              </a:spcBef>
              <a:spcAft>
                <a:spcPts val="0"/>
              </a:spcAft>
              <a:defRPr/>
            </a:pPr>
            <a:r>
              <a:rPr lang="en-IN" sz="1500" dirty="0" err="1">
                <a:solidFill>
                  <a:srgbClr val="0000FF"/>
                </a:solidFill>
                <a:highlight>
                  <a:srgbClr val="FFFFFF"/>
                </a:highlight>
                <a:latin typeface="Consolas" panose="020B0609020204030204" pitchFamily="49" charset="0"/>
                <a:cs typeface="+mn-cs"/>
              </a:rPr>
              <a:t>int</a:t>
            </a:r>
            <a:r>
              <a:rPr lang="en-IN" sz="1500" dirty="0">
                <a:solidFill>
                  <a:srgbClr val="000000"/>
                </a:solidFill>
                <a:highlight>
                  <a:srgbClr val="FFFFFF"/>
                </a:highlight>
                <a:latin typeface="Consolas" panose="020B0609020204030204" pitchFamily="49" charset="0"/>
                <a:cs typeface="+mn-cs"/>
              </a:rPr>
              <a:t> demo::count;</a:t>
            </a:r>
          </a:p>
          <a:p>
            <a:pPr defTabSz="685800" fontAlgn="auto">
              <a:spcBef>
                <a:spcPts val="0"/>
              </a:spcBef>
              <a:spcAft>
                <a:spcPts val="0"/>
              </a:spcAft>
              <a:defRPr/>
            </a:pPr>
            <a:endParaRPr lang="en-IN" sz="1500" dirty="0">
              <a:solidFill>
                <a:srgbClr val="0000FF"/>
              </a:solidFill>
              <a:highlight>
                <a:srgbClr val="FFFFFF"/>
              </a:highlight>
              <a:latin typeface="Consolas" panose="020B0609020204030204" pitchFamily="49" charset="0"/>
              <a:cs typeface="+mn-cs"/>
            </a:endParaRPr>
          </a:p>
          <a:p>
            <a:pPr defTabSz="685800" fontAlgn="auto">
              <a:spcBef>
                <a:spcPts val="0"/>
              </a:spcBef>
              <a:spcAft>
                <a:spcPts val="0"/>
              </a:spcAft>
              <a:defRPr/>
            </a:pPr>
            <a:r>
              <a:rPr lang="en-IN" sz="1500" dirty="0" err="1">
                <a:solidFill>
                  <a:srgbClr val="0000FF"/>
                </a:solidFill>
                <a:highlight>
                  <a:srgbClr val="FFFFFF"/>
                </a:highlight>
                <a:latin typeface="Consolas" panose="020B0609020204030204" pitchFamily="49" charset="0"/>
                <a:cs typeface="+mn-cs"/>
              </a:rPr>
              <a:t>int</a:t>
            </a:r>
            <a:r>
              <a:rPr lang="en-IN" sz="1500" dirty="0">
                <a:solidFill>
                  <a:srgbClr val="000000"/>
                </a:solidFill>
                <a:highlight>
                  <a:srgbClr val="FFFFFF"/>
                </a:highlight>
                <a:latin typeface="Consolas" panose="020B0609020204030204" pitchFamily="49" charset="0"/>
                <a:cs typeface="+mn-cs"/>
              </a:rPr>
              <a:t> main()</a:t>
            </a:r>
          </a:p>
          <a:p>
            <a:pPr defTabSz="685800" fontAlgn="auto">
              <a:spcBef>
                <a:spcPts val="0"/>
              </a:spcBef>
              <a:spcAft>
                <a:spcPts val="0"/>
              </a:spcAft>
              <a:defRPr/>
            </a:pPr>
            <a:r>
              <a:rPr lang="en-IN" sz="1500" dirty="0">
                <a:solidFill>
                  <a:srgbClr val="000000"/>
                </a:solidFill>
                <a:highlight>
                  <a:srgbClr val="FFFFFF"/>
                </a:highlight>
                <a:latin typeface="Consolas" panose="020B0609020204030204" pitchFamily="49" charset="0"/>
                <a:cs typeface="+mn-cs"/>
              </a:rPr>
              <a:t>{</a:t>
            </a:r>
          </a:p>
          <a:p>
            <a:pPr defTabSz="685800" fontAlgn="auto">
              <a:spcBef>
                <a:spcPts val="0"/>
              </a:spcBef>
              <a:spcAft>
                <a:spcPts val="0"/>
              </a:spcAft>
              <a:defRPr/>
            </a:pPr>
            <a:r>
              <a:rPr lang="en-IN" sz="1500" dirty="0">
                <a:solidFill>
                  <a:srgbClr val="000000"/>
                </a:solidFill>
                <a:highlight>
                  <a:srgbClr val="FFFFFF"/>
                </a:highlight>
                <a:latin typeface="Consolas" panose="020B0609020204030204" pitchFamily="49" charset="0"/>
                <a:cs typeface="+mn-cs"/>
              </a:rPr>
              <a:t>  demo d1,d2,d3;</a:t>
            </a:r>
          </a:p>
          <a:p>
            <a:pPr defTabSz="685800" fontAlgn="auto">
              <a:spcBef>
                <a:spcPts val="0"/>
              </a:spcBef>
              <a:spcAft>
                <a:spcPts val="0"/>
              </a:spcAft>
              <a:defRPr/>
            </a:pPr>
            <a:r>
              <a:rPr lang="en-IN" sz="1500" dirty="0">
                <a:solidFill>
                  <a:srgbClr val="000000"/>
                </a:solidFill>
                <a:highlight>
                  <a:srgbClr val="FFFFFF"/>
                </a:highlight>
                <a:latin typeface="Consolas" panose="020B0609020204030204" pitchFamily="49" charset="0"/>
                <a:cs typeface="+mn-cs"/>
              </a:rPr>
              <a:t>  d1.getcount();</a:t>
            </a:r>
          </a:p>
          <a:p>
            <a:pPr defTabSz="685800" fontAlgn="auto">
              <a:spcBef>
                <a:spcPts val="0"/>
              </a:spcBef>
              <a:spcAft>
                <a:spcPts val="0"/>
              </a:spcAft>
              <a:defRPr/>
            </a:pPr>
            <a:r>
              <a:rPr lang="en-IN" sz="1500" dirty="0">
                <a:solidFill>
                  <a:srgbClr val="000000"/>
                </a:solidFill>
                <a:highlight>
                  <a:srgbClr val="FFFFFF"/>
                </a:highlight>
                <a:latin typeface="Consolas" panose="020B0609020204030204" pitchFamily="49" charset="0"/>
                <a:cs typeface="+mn-cs"/>
              </a:rPr>
              <a:t>  d2.getcount();</a:t>
            </a:r>
          </a:p>
          <a:p>
            <a:pPr defTabSz="685800" fontAlgn="auto">
              <a:spcBef>
                <a:spcPts val="0"/>
              </a:spcBef>
              <a:spcAft>
                <a:spcPts val="0"/>
              </a:spcAft>
              <a:defRPr/>
            </a:pPr>
            <a:r>
              <a:rPr lang="en-IN" sz="1500" dirty="0">
                <a:solidFill>
                  <a:srgbClr val="000000"/>
                </a:solidFill>
                <a:highlight>
                  <a:srgbClr val="FFFFFF"/>
                </a:highlight>
                <a:latin typeface="Consolas" panose="020B0609020204030204" pitchFamily="49" charset="0"/>
                <a:cs typeface="+mn-cs"/>
              </a:rPr>
              <a:t>  d3.getcount();</a:t>
            </a:r>
          </a:p>
          <a:p>
            <a:pPr defTabSz="685800" fontAlgn="auto">
              <a:spcBef>
                <a:spcPts val="0"/>
              </a:spcBef>
              <a:spcAft>
                <a:spcPts val="0"/>
              </a:spcAft>
              <a:defRPr/>
            </a:pPr>
            <a:r>
              <a:rPr lang="en-IN" sz="1500" dirty="0">
                <a:solidFill>
                  <a:srgbClr val="000000"/>
                </a:solidFill>
                <a:highlight>
                  <a:srgbClr val="FFFFFF"/>
                </a:highlight>
                <a:latin typeface="Consolas" panose="020B0609020204030204" pitchFamily="49" charset="0"/>
                <a:cs typeface="+mn-cs"/>
              </a:rPr>
              <a:t>  </a:t>
            </a:r>
            <a:r>
              <a:rPr lang="en-IN" sz="1500" dirty="0">
                <a:solidFill>
                  <a:srgbClr val="0000FF"/>
                </a:solidFill>
                <a:highlight>
                  <a:srgbClr val="FFFFFF"/>
                </a:highlight>
                <a:latin typeface="Consolas" panose="020B0609020204030204" pitchFamily="49" charset="0"/>
                <a:cs typeface="+mn-cs"/>
              </a:rPr>
              <a:t>return</a:t>
            </a:r>
            <a:r>
              <a:rPr lang="en-IN" sz="1500" dirty="0">
                <a:solidFill>
                  <a:srgbClr val="000000"/>
                </a:solidFill>
                <a:highlight>
                  <a:srgbClr val="FFFFFF"/>
                </a:highlight>
                <a:latin typeface="Consolas" panose="020B0609020204030204" pitchFamily="49" charset="0"/>
                <a:cs typeface="+mn-cs"/>
              </a:rPr>
              <a:t> 0;</a:t>
            </a:r>
          </a:p>
          <a:p>
            <a:pPr defTabSz="685800" fontAlgn="auto">
              <a:spcBef>
                <a:spcPts val="0"/>
              </a:spcBef>
              <a:spcAft>
                <a:spcPts val="0"/>
              </a:spcAft>
              <a:defRPr/>
            </a:pPr>
            <a:r>
              <a:rPr lang="en-IN" sz="1500" dirty="0">
                <a:solidFill>
                  <a:srgbClr val="000000"/>
                </a:solidFill>
                <a:highlight>
                  <a:srgbClr val="FFFFFF"/>
                </a:highlight>
                <a:latin typeface="Consolas" panose="020B0609020204030204" pitchFamily="49" charset="0"/>
                <a:cs typeface="+mn-cs"/>
              </a:rPr>
              <a:t>}</a:t>
            </a:r>
            <a:endParaRPr lang="en-IN" sz="1500" dirty="0">
              <a:solidFill>
                <a:prstClr val="black"/>
              </a:solidFill>
              <a:latin typeface="Calibri"/>
              <a:cs typeface="+mn-cs"/>
            </a:endParaRPr>
          </a:p>
        </p:txBody>
      </p:sp>
      <p:sp>
        <p:nvSpPr>
          <p:cNvPr id="6" name="Rectangle 5"/>
          <p:cNvSpPr/>
          <p:nvPr/>
        </p:nvSpPr>
        <p:spPr>
          <a:xfrm>
            <a:off x="1200150" y="970635"/>
            <a:ext cx="3600450" cy="323165"/>
          </a:xfrm>
          <a:prstGeom prst="rect">
            <a:avLst/>
          </a:prstGeom>
        </p:spPr>
        <p:txBody>
          <a:bodyPr wrap="square">
            <a:spAutoFit/>
          </a:bodyPr>
          <a:lstStyle/>
          <a:p>
            <a:pPr defTabSz="685800" fontAlgn="auto">
              <a:spcBef>
                <a:spcPts val="0"/>
              </a:spcBef>
              <a:spcAft>
                <a:spcPts val="0"/>
              </a:spcAft>
              <a:defRPr/>
            </a:pPr>
            <a:endParaRPr lang="en-IN" sz="1500" dirty="0">
              <a:solidFill>
                <a:prstClr val="black"/>
              </a:solidFill>
              <a:latin typeface="Calibri"/>
              <a:cs typeface="+mn-cs"/>
            </a:endParaRPr>
          </a:p>
        </p:txBody>
      </p:sp>
      <p:sp>
        <p:nvSpPr>
          <p:cNvPr id="13" name="Rectangle 12"/>
          <p:cNvSpPr/>
          <p:nvPr/>
        </p:nvSpPr>
        <p:spPr>
          <a:xfrm>
            <a:off x="5823683" y="2531477"/>
            <a:ext cx="800100" cy="457200"/>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defRPr/>
            </a:pPr>
            <a:r>
              <a:rPr lang="en-IN" sz="2100" dirty="0">
                <a:solidFill>
                  <a:prstClr val="black"/>
                </a:solidFill>
                <a:latin typeface="Calibri"/>
              </a:rPr>
              <a:t>0</a:t>
            </a:r>
            <a:endParaRPr lang="en-IN" sz="1350" dirty="0">
              <a:solidFill>
                <a:prstClr val="black"/>
              </a:solidFill>
              <a:latin typeface="Calibri"/>
            </a:endParaRPr>
          </a:p>
        </p:txBody>
      </p:sp>
      <p:sp>
        <p:nvSpPr>
          <p:cNvPr id="25" name="Rectangle 24"/>
          <p:cNvSpPr/>
          <p:nvPr/>
        </p:nvSpPr>
        <p:spPr>
          <a:xfrm>
            <a:off x="5823683" y="2196793"/>
            <a:ext cx="800100" cy="2723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defRPr/>
            </a:pPr>
            <a:r>
              <a:rPr lang="en-IN" sz="1800" dirty="0">
                <a:solidFill>
                  <a:prstClr val="black"/>
                </a:solidFill>
                <a:latin typeface="Calibri"/>
              </a:rPr>
              <a:t>count</a:t>
            </a:r>
          </a:p>
        </p:txBody>
      </p:sp>
      <p:sp>
        <p:nvSpPr>
          <p:cNvPr id="21" name="Rounded Rectangle 20"/>
          <p:cNvSpPr/>
          <p:nvPr/>
        </p:nvSpPr>
        <p:spPr>
          <a:xfrm>
            <a:off x="4627254" y="3479718"/>
            <a:ext cx="800100"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defRPr/>
            </a:pPr>
            <a:r>
              <a:rPr lang="en-IN" dirty="0">
                <a:solidFill>
                  <a:prstClr val="black"/>
                </a:solidFill>
                <a:latin typeface="Calibri"/>
              </a:rPr>
              <a:t>d1</a:t>
            </a:r>
            <a:endParaRPr lang="en-IN" sz="1350" dirty="0">
              <a:solidFill>
                <a:prstClr val="black"/>
              </a:solidFill>
              <a:latin typeface="Calibri"/>
            </a:endParaRPr>
          </a:p>
        </p:txBody>
      </p:sp>
      <p:sp>
        <p:nvSpPr>
          <p:cNvPr id="22" name="Rounded Rectangle 21"/>
          <p:cNvSpPr/>
          <p:nvPr/>
        </p:nvSpPr>
        <p:spPr>
          <a:xfrm>
            <a:off x="5827404" y="3479718"/>
            <a:ext cx="800100"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defRPr/>
            </a:pPr>
            <a:r>
              <a:rPr lang="en-IN" dirty="0">
                <a:solidFill>
                  <a:prstClr val="black"/>
                </a:solidFill>
                <a:latin typeface="Calibri"/>
              </a:rPr>
              <a:t>d2</a:t>
            </a:r>
            <a:endParaRPr lang="en-IN" sz="1350" dirty="0">
              <a:solidFill>
                <a:prstClr val="black"/>
              </a:solidFill>
              <a:latin typeface="Calibri"/>
            </a:endParaRPr>
          </a:p>
        </p:txBody>
      </p:sp>
      <p:sp>
        <p:nvSpPr>
          <p:cNvPr id="23" name="Rounded Rectangle 22"/>
          <p:cNvSpPr/>
          <p:nvPr/>
        </p:nvSpPr>
        <p:spPr>
          <a:xfrm>
            <a:off x="7027554" y="3479718"/>
            <a:ext cx="800100"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defRPr/>
            </a:pPr>
            <a:r>
              <a:rPr lang="en-IN" dirty="0">
                <a:solidFill>
                  <a:prstClr val="black"/>
                </a:solidFill>
                <a:latin typeface="Calibri"/>
              </a:rPr>
              <a:t>d3</a:t>
            </a:r>
            <a:endParaRPr lang="en-IN" sz="1350" dirty="0">
              <a:solidFill>
                <a:prstClr val="black"/>
              </a:solidFill>
              <a:latin typeface="Calibri"/>
            </a:endParaRPr>
          </a:p>
        </p:txBody>
      </p:sp>
      <p:cxnSp>
        <p:nvCxnSpPr>
          <p:cNvPr id="5" name="Straight Connector 4"/>
          <p:cNvCxnSpPr/>
          <p:nvPr/>
        </p:nvCxnSpPr>
        <p:spPr>
          <a:xfrm flipH="1">
            <a:off x="4390329" y="1143000"/>
            <a:ext cx="10222" cy="480060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4509233" y="1963458"/>
            <a:ext cx="3429000" cy="2171700"/>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defRPr/>
            </a:pPr>
            <a:endParaRPr lang="en-IN" sz="1350">
              <a:solidFill>
                <a:prstClr val="white"/>
              </a:solidFill>
              <a:latin typeface="Calibri"/>
            </a:endParaRPr>
          </a:p>
        </p:txBody>
      </p:sp>
      <p:sp>
        <p:nvSpPr>
          <p:cNvPr id="14" name="Rectangle 13"/>
          <p:cNvSpPr/>
          <p:nvPr/>
        </p:nvSpPr>
        <p:spPr>
          <a:xfrm>
            <a:off x="6023708" y="2608143"/>
            <a:ext cx="400050" cy="303871"/>
          </a:xfrm>
          <a:prstGeom prst="rect">
            <a:avLst/>
          </a:prstGeom>
          <a:solidFill>
            <a:srgbClr val="C6D9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defRPr/>
            </a:pPr>
            <a:r>
              <a:rPr lang="en-IN" sz="2100" dirty="0">
                <a:solidFill>
                  <a:prstClr val="black"/>
                </a:solidFill>
                <a:latin typeface="Calibri"/>
              </a:rPr>
              <a:t>1</a:t>
            </a:r>
          </a:p>
        </p:txBody>
      </p:sp>
      <p:sp>
        <p:nvSpPr>
          <p:cNvPr id="33" name="Rectangle 32"/>
          <p:cNvSpPr/>
          <p:nvPr/>
        </p:nvSpPr>
        <p:spPr>
          <a:xfrm>
            <a:off x="6023708" y="2609072"/>
            <a:ext cx="400050" cy="303871"/>
          </a:xfrm>
          <a:prstGeom prst="rect">
            <a:avLst/>
          </a:prstGeom>
          <a:solidFill>
            <a:srgbClr val="C6D9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defRPr/>
            </a:pPr>
            <a:r>
              <a:rPr lang="en-IN" sz="2100" dirty="0">
                <a:solidFill>
                  <a:prstClr val="black"/>
                </a:solidFill>
                <a:latin typeface="Calibri"/>
              </a:rPr>
              <a:t>2</a:t>
            </a:r>
          </a:p>
        </p:txBody>
      </p:sp>
      <p:sp>
        <p:nvSpPr>
          <p:cNvPr id="34" name="Rectangle 33"/>
          <p:cNvSpPr/>
          <p:nvPr/>
        </p:nvSpPr>
        <p:spPr>
          <a:xfrm>
            <a:off x="6023708" y="2608143"/>
            <a:ext cx="400050" cy="303871"/>
          </a:xfrm>
          <a:prstGeom prst="rect">
            <a:avLst/>
          </a:prstGeom>
          <a:solidFill>
            <a:srgbClr val="C6D9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defRPr/>
            </a:pPr>
            <a:r>
              <a:rPr lang="en-IN" sz="2100" dirty="0">
                <a:solidFill>
                  <a:prstClr val="black"/>
                </a:solidFill>
                <a:latin typeface="Calibri"/>
              </a:rPr>
              <a:t>3</a:t>
            </a:r>
          </a:p>
        </p:txBody>
      </p:sp>
      <p:sp>
        <p:nvSpPr>
          <p:cNvPr id="15" name="Rectangular Callout 14"/>
          <p:cNvSpPr/>
          <p:nvPr/>
        </p:nvSpPr>
        <p:spPr>
          <a:xfrm>
            <a:off x="4489701" y="4504937"/>
            <a:ext cx="3429000" cy="854080"/>
          </a:xfrm>
          <a:prstGeom prst="wedgeRectCallout">
            <a:avLst>
              <a:gd name="adj1" fmla="val -94925"/>
              <a:gd name="adj2" fmla="val -166960"/>
            </a:avLst>
          </a:prstGeom>
          <a:noFill/>
          <a:ln w="19050">
            <a:solidFill>
              <a:srgbClr val="4A7EBB"/>
            </a:solidFill>
            <a:prstDash val="sysDash"/>
          </a:ln>
        </p:spPr>
        <p:txBody>
          <a:bodyPr>
            <a:spAutoFit/>
          </a:bodyPr>
          <a:lstStyle/>
          <a:p>
            <a:pPr algn="just" defTabSz="685800" fontAlgn="auto">
              <a:spcBef>
                <a:spcPts val="0"/>
              </a:spcBef>
              <a:spcAft>
                <a:spcPts val="0"/>
              </a:spcAft>
              <a:buClr>
                <a:prstClr val="black"/>
              </a:buClr>
              <a:defRPr/>
            </a:pPr>
            <a:r>
              <a:rPr lang="en-US" sz="1650" b="1" dirty="0">
                <a:solidFill>
                  <a:srgbClr val="4F81BD">
                    <a:lumMod val="75000"/>
                  </a:srgbClr>
                </a:solidFill>
                <a:latin typeface="Calibri"/>
                <a:cs typeface="+mn-cs"/>
              </a:rPr>
              <a:t>Static members </a:t>
            </a:r>
            <a:r>
              <a:rPr lang="en-US" sz="1650" dirty="0">
                <a:solidFill>
                  <a:prstClr val="black"/>
                </a:solidFill>
                <a:latin typeface="Calibri"/>
                <a:cs typeface="+mn-cs"/>
              </a:rPr>
              <a:t>are </a:t>
            </a:r>
            <a:r>
              <a:rPr lang="en-US" sz="1650" b="1" dirty="0">
                <a:solidFill>
                  <a:srgbClr val="C00000"/>
                </a:solidFill>
                <a:latin typeface="Calibri"/>
                <a:cs typeface="+mn-cs"/>
              </a:rPr>
              <a:t>declared</a:t>
            </a:r>
            <a:r>
              <a:rPr lang="en-US" sz="1650" dirty="0">
                <a:solidFill>
                  <a:prstClr val="black"/>
                </a:solidFill>
                <a:latin typeface="Calibri"/>
                <a:cs typeface="+mn-cs"/>
              </a:rPr>
              <a:t> inside the class and </a:t>
            </a:r>
            <a:r>
              <a:rPr lang="en-US" sz="1650" b="1" dirty="0">
                <a:solidFill>
                  <a:srgbClr val="C00000"/>
                </a:solidFill>
                <a:latin typeface="Calibri"/>
                <a:cs typeface="+mn-cs"/>
              </a:rPr>
              <a:t>defined</a:t>
            </a:r>
            <a:r>
              <a:rPr lang="en-US" sz="1650" dirty="0">
                <a:solidFill>
                  <a:prstClr val="black"/>
                </a:solidFill>
                <a:latin typeface="Calibri"/>
                <a:cs typeface="+mn-cs"/>
              </a:rPr>
              <a:t> outside the class.</a:t>
            </a:r>
            <a:endParaRPr lang="en-IN" sz="1650" dirty="0">
              <a:solidFill>
                <a:prstClr val="black"/>
              </a:solidFill>
              <a:latin typeface="Calibri"/>
              <a:cs typeface="+mn-cs"/>
            </a:endParaRPr>
          </a:p>
        </p:txBody>
      </p:sp>
      <p:sp>
        <p:nvSpPr>
          <p:cNvPr id="35" name="Title 1"/>
          <p:cNvSpPr txBox="1">
            <a:spLocks/>
          </p:cNvSpPr>
          <p:nvPr/>
        </p:nvSpPr>
        <p:spPr>
          <a:xfrm>
            <a:off x="4686868" y="869528"/>
            <a:ext cx="3286125" cy="606028"/>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defTabSz="685800" fontAlgn="auto">
              <a:spcAft>
                <a:spcPts val="0"/>
              </a:spcAft>
              <a:defRPr/>
            </a:pPr>
            <a:r>
              <a:rPr lang="en-IN" sz="2700" dirty="0">
                <a:solidFill>
                  <a:prstClr val="black"/>
                </a:solidFill>
                <a:latin typeface="Calibri"/>
              </a:rPr>
              <a:t>Static Data members </a:t>
            </a:r>
          </a:p>
        </p:txBody>
      </p:sp>
    </p:spTree>
    <p:extLst>
      <p:ext uri="{BB962C8B-B14F-4D97-AF65-F5344CB8AC3E}">
        <p14:creationId xmlns:p14="http://schemas.microsoft.com/office/powerpoint/2010/main" val="1838404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2" end="1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3" end="1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8" end="1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9" end="1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par>
                                <p:cTn id="35" presetID="1" presetClass="exit" presetSubtype="0" fill="hold" grpId="1" nodeType="withEffect">
                                  <p:stCondLst>
                                    <p:cond delay="0"/>
                                  </p:stCondLst>
                                  <p:childTnLst>
                                    <p:set>
                                      <p:cBhvr>
                                        <p:cTn id="36" dur="1" fill="hold">
                                          <p:stCondLst>
                                            <p:cond delay="0"/>
                                          </p:stCondLst>
                                        </p:cTn>
                                        <p:tgtEl>
                                          <p:spTgt spid="15"/>
                                        </p:tgtEl>
                                        <p:attrNameLst>
                                          <p:attrName>style.visibility</p:attrName>
                                        </p:attrNameLst>
                                      </p:cBhvr>
                                      <p:to>
                                        <p:strVal val="hidden"/>
                                      </p:to>
                                    </p:set>
                                  </p:childTnLst>
                                </p:cTn>
                              </p:par>
                              <p:par>
                                <p:cTn id="37" presetID="1"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2"/>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3">
                                            <p:txEl>
                                              <p:pRg st="4" end="4"/>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
                                            <p:txEl>
                                              <p:pRg st="5" end="5"/>
                                            </p:txEl>
                                          </p:spTgt>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
                                            <p:txEl>
                                              <p:pRg st="6" end="6"/>
                                            </p:tx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4"/>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33"/>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5" grpId="0"/>
      <p:bldP spid="21" grpId="0" animBg="1"/>
      <p:bldP spid="22" grpId="0" animBg="1"/>
      <p:bldP spid="23" grpId="0" animBg="1"/>
      <p:bldP spid="12" grpId="0" animBg="1"/>
      <p:bldP spid="14" grpId="0" animBg="1"/>
      <p:bldP spid="33" grpId="0" animBg="1"/>
      <p:bldP spid="34" grpId="0" animBg="1"/>
      <p:bldP spid="15" grpId="0" animBg="1"/>
      <p:bldP spid="15" grpId="1"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57201" y="1143001"/>
            <a:ext cx="3771900" cy="4478149"/>
          </a:xfrm>
          <a:prstGeom prst="rect">
            <a:avLst/>
          </a:prstGeom>
        </p:spPr>
        <p:txBody>
          <a:bodyPr wrap="square">
            <a:spAutoFit/>
          </a:bodyPr>
          <a:lstStyle/>
          <a:p>
            <a:pPr defTabSz="685800" fontAlgn="auto">
              <a:spcBef>
                <a:spcPts val="0"/>
              </a:spcBef>
              <a:spcAft>
                <a:spcPts val="0"/>
              </a:spcAft>
              <a:defRPr/>
            </a:pPr>
            <a:r>
              <a:rPr lang="en-IN" sz="1350" dirty="0">
                <a:solidFill>
                  <a:srgbClr val="0000FF"/>
                </a:solidFill>
                <a:highlight>
                  <a:srgbClr val="FFFFFF"/>
                </a:highlight>
                <a:latin typeface="Consolas" panose="020B0609020204030204" pitchFamily="49" charset="0"/>
                <a:cs typeface="+mn-cs"/>
              </a:rPr>
              <a:t>class</a:t>
            </a:r>
            <a:r>
              <a:rPr lang="en-IN" sz="1350" dirty="0">
                <a:solidFill>
                  <a:srgbClr val="000000"/>
                </a:solidFill>
                <a:highlight>
                  <a:srgbClr val="FFFFFF"/>
                </a:highlight>
                <a:latin typeface="Consolas" panose="020B0609020204030204" pitchFamily="49" charset="0"/>
                <a:cs typeface="+mn-cs"/>
              </a:rPr>
              <a:t> demo</a:t>
            </a:r>
          </a:p>
          <a:p>
            <a:pPr defTabSz="685800" fontAlgn="auto">
              <a:spcBef>
                <a:spcPts val="0"/>
              </a:spcBef>
              <a:spcAft>
                <a:spcPts val="0"/>
              </a:spcAft>
              <a:defRPr/>
            </a:pPr>
            <a:r>
              <a:rPr lang="en-IN" sz="1350" dirty="0">
                <a:solidFill>
                  <a:srgbClr val="000000"/>
                </a:solidFill>
                <a:highlight>
                  <a:srgbClr val="FFFFFF"/>
                </a:highlight>
                <a:latin typeface="Consolas" panose="020B0609020204030204" pitchFamily="49" charset="0"/>
                <a:cs typeface="+mn-cs"/>
              </a:rPr>
              <a:t>{</a:t>
            </a:r>
          </a:p>
          <a:p>
            <a:pPr defTabSz="685800" fontAlgn="auto">
              <a:spcBef>
                <a:spcPts val="0"/>
              </a:spcBef>
              <a:spcAft>
                <a:spcPts val="0"/>
              </a:spcAft>
              <a:defRPr/>
            </a:pPr>
            <a:r>
              <a:rPr lang="en-IN" sz="1350" dirty="0">
                <a:solidFill>
                  <a:srgbClr val="000000"/>
                </a:solidFill>
                <a:highlight>
                  <a:srgbClr val="FFFFFF"/>
                </a:highlight>
                <a:latin typeface="Consolas" panose="020B0609020204030204" pitchFamily="49" charset="0"/>
                <a:cs typeface="+mn-cs"/>
              </a:rPr>
              <a:t>  </a:t>
            </a:r>
            <a:r>
              <a:rPr lang="en-IN" sz="1350" dirty="0" err="1">
                <a:solidFill>
                  <a:srgbClr val="0000FF"/>
                </a:solidFill>
                <a:highlight>
                  <a:srgbClr val="FFFFFF"/>
                </a:highlight>
                <a:latin typeface="Consolas" panose="020B0609020204030204" pitchFamily="49" charset="0"/>
                <a:cs typeface="+mn-cs"/>
              </a:rPr>
              <a:t>int</a:t>
            </a:r>
            <a:r>
              <a:rPr lang="en-IN" sz="1350" dirty="0">
                <a:solidFill>
                  <a:srgbClr val="000000"/>
                </a:solidFill>
                <a:highlight>
                  <a:srgbClr val="FFFFFF"/>
                </a:highlight>
                <a:latin typeface="Consolas" panose="020B0609020204030204" pitchFamily="49" charset="0"/>
                <a:cs typeface="+mn-cs"/>
              </a:rPr>
              <a:t> count;</a:t>
            </a:r>
          </a:p>
          <a:p>
            <a:pPr defTabSz="685800" fontAlgn="auto">
              <a:spcBef>
                <a:spcPts val="0"/>
              </a:spcBef>
              <a:spcAft>
                <a:spcPts val="0"/>
              </a:spcAft>
              <a:defRPr/>
            </a:pPr>
            <a:r>
              <a:rPr lang="en-IN" sz="1350" dirty="0">
                <a:solidFill>
                  <a:srgbClr val="000000"/>
                </a:solidFill>
                <a:highlight>
                  <a:srgbClr val="FFFFFF"/>
                </a:highlight>
                <a:latin typeface="Consolas" panose="020B0609020204030204" pitchFamily="49" charset="0"/>
                <a:cs typeface="+mn-cs"/>
              </a:rPr>
              <a:t>  </a:t>
            </a:r>
          </a:p>
          <a:p>
            <a:pPr defTabSz="685800" fontAlgn="auto">
              <a:spcBef>
                <a:spcPts val="0"/>
              </a:spcBef>
              <a:spcAft>
                <a:spcPts val="0"/>
              </a:spcAft>
              <a:defRPr/>
            </a:pPr>
            <a:r>
              <a:rPr lang="en-IN" sz="1350" dirty="0">
                <a:solidFill>
                  <a:srgbClr val="000000"/>
                </a:solidFill>
                <a:highlight>
                  <a:srgbClr val="FFFFFF"/>
                </a:highlight>
                <a:latin typeface="Consolas" panose="020B0609020204030204" pitchFamily="49" charset="0"/>
                <a:cs typeface="+mn-cs"/>
              </a:rPr>
              <a:t>  </a:t>
            </a:r>
            <a:r>
              <a:rPr lang="en-IN" sz="1350" dirty="0">
                <a:solidFill>
                  <a:srgbClr val="0000FF"/>
                </a:solidFill>
                <a:highlight>
                  <a:srgbClr val="FFFFFF"/>
                </a:highlight>
                <a:latin typeface="Consolas" panose="020B0609020204030204" pitchFamily="49" charset="0"/>
                <a:cs typeface="+mn-cs"/>
              </a:rPr>
              <a:t>public</a:t>
            </a:r>
            <a:r>
              <a:rPr lang="en-IN" sz="1350" dirty="0">
                <a:solidFill>
                  <a:srgbClr val="000000"/>
                </a:solidFill>
                <a:highlight>
                  <a:srgbClr val="FFFFFF"/>
                </a:highlight>
                <a:latin typeface="Consolas" panose="020B0609020204030204" pitchFamily="49" charset="0"/>
                <a:cs typeface="+mn-cs"/>
              </a:rPr>
              <a:t>:</a:t>
            </a:r>
          </a:p>
          <a:p>
            <a:pPr defTabSz="685800" fontAlgn="auto">
              <a:spcBef>
                <a:spcPts val="0"/>
              </a:spcBef>
              <a:spcAft>
                <a:spcPts val="0"/>
              </a:spcAft>
              <a:defRPr/>
            </a:pPr>
            <a:r>
              <a:rPr lang="en-IN" sz="1350" dirty="0">
                <a:solidFill>
                  <a:srgbClr val="000000"/>
                </a:solidFill>
                <a:highlight>
                  <a:srgbClr val="FFFFFF"/>
                </a:highlight>
                <a:latin typeface="Consolas" panose="020B0609020204030204" pitchFamily="49" charset="0"/>
                <a:cs typeface="+mn-cs"/>
              </a:rPr>
              <a:t>    </a:t>
            </a:r>
            <a:r>
              <a:rPr lang="en-IN" sz="1350" dirty="0">
                <a:solidFill>
                  <a:srgbClr val="0000FF"/>
                </a:solidFill>
                <a:highlight>
                  <a:srgbClr val="FFFFFF"/>
                </a:highlight>
                <a:latin typeface="Consolas" panose="020B0609020204030204" pitchFamily="49" charset="0"/>
                <a:cs typeface="+mn-cs"/>
              </a:rPr>
              <a:t>void</a:t>
            </a:r>
            <a:r>
              <a:rPr lang="en-IN" sz="1350" dirty="0">
                <a:solidFill>
                  <a:srgbClr val="000000"/>
                </a:solidFill>
                <a:highlight>
                  <a:srgbClr val="FFFFFF"/>
                </a:highlight>
                <a:latin typeface="Consolas" panose="020B0609020204030204" pitchFamily="49" charset="0"/>
                <a:cs typeface="+mn-cs"/>
              </a:rPr>
              <a:t> </a:t>
            </a:r>
            <a:r>
              <a:rPr lang="en-IN" sz="1350" dirty="0" err="1">
                <a:solidFill>
                  <a:srgbClr val="000000"/>
                </a:solidFill>
                <a:highlight>
                  <a:srgbClr val="FFFFFF"/>
                </a:highlight>
                <a:latin typeface="Consolas" panose="020B0609020204030204" pitchFamily="49" charset="0"/>
                <a:cs typeface="+mn-cs"/>
              </a:rPr>
              <a:t>getcount</a:t>
            </a:r>
            <a:r>
              <a:rPr lang="en-IN" sz="1350" dirty="0">
                <a:solidFill>
                  <a:srgbClr val="000000"/>
                </a:solidFill>
                <a:highlight>
                  <a:srgbClr val="FFFFFF"/>
                </a:highlight>
                <a:latin typeface="Consolas" panose="020B0609020204030204" pitchFamily="49" charset="0"/>
                <a:cs typeface="+mn-cs"/>
              </a:rPr>
              <a:t>()</a:t>
            </a:r>
          </a:p>
          <a:p>
            <a:pPr defTabSz="685800" fontAlgn="auto">
              <a:spcBef>
                <a:spcPts val="0"/>
              </a:spcBef>
              <a:spcAft>
                <a:spcPts val="0"/>
              </a:spcAft>
              <a:defRPr/>
            </a:pPr>
            <a:r>
              <a:rPr lang="en-IN" sz="1350" dirty="0">
                <a:solidFill>
                  <a:srgbClr val="000000"/>
                </a:solidFill>
                <a:highlight>
                  <a:srgbClr val="FFFFFF"/>
                </a:highlight>
                <a:latin typeface="Consolas" panose="020B0609020204030204" pitchFamily="49" charset="0"/>
                <a:cs typeface="+mn-cs"/>
              </a:rPr>
              <a:t>    {</a:t>
            </a:r>
          </a:p>
          <a:p>
            <a:pPr defTabSz="685800" fontAlgn="auto">
              <a:spcBef>
                <a:spcPts val="0"/>
              </a:spcBef>
              <a:spcAft>
                <a:spcPts val="0"/>
              </a:spcAft>
              <a:defRPr/>
            </a:pPr>
            <a:r>
              <a:rPr lang="en-IN" sz="1350" dirty="0">
                <a:solidFill>
                  <a:srgbClr val="000000"/>
                </a:solidFill>
                <a:highlight>
                  <a:srgbClr val="FFFFFF"/>
                </a:highlight>
                <a:latin typeface="Consolas" panose="020B0609020204030204" pitchFamily="49" charset="0"/>
                <a:cs typeface="+mn-cs"/>
              </a:rPr>
              <a:t>      count = 0; </a:t>
            </a:r>
          </a:p>
          <a:p>
            <a:pPr defTabSz="685800" fontAlgn="auto">
              <a:spcBef>
                <a:spcPts val="0"/>
              </a:spcBef>
              <a:spcAft>
                <a:spcPts val="0"/>
              </a:spcAft>
              <a:defRPr/>
            </a:pPr>
            <a:r>
              <a:rPr lang="en-IN" sz="1350" dirty="0">
                <a:solidFill>
                  <a:srgbClr val="000000"/>
                </a:solidFill>
                <a:highlight>
                  <a:srgbClr val="FFFFFF"/>
                </a:highlight>
                <a:latin typeface="Consolas" panose="020B0609020204030204" pitchFamily="49" charset="0"/>
                <a:cs typeface="+mn-cs"/>
              </a:rPr>
              <a:t>      </a:t>
            </a:r>
            <a:r>
              <a:rPr lang="en-IN" sz="1350" dirty="0" err="1">
                <a:solidFill>
                  <a:srgbClr val="000000"/>
                </a:solidFill>
                <a:highlight>
                  <a:srgbClr val="FFFFFF"/>
                </a:highlight>
                <a:latin typeface="Consolas" panose="020B0609020204030204" pitchFamily="49" charset="0"/>
                <a:cs typeface="+mn-cs"/>
              </a:rPr>
              <a:t>cout</a:t>
            </a:r>
            <a:r>
              <a:rPr lang="en-IN" sz="1350" dirty="0">
                <a:solidFill>
                  <a:srgbClr val="000000"/>
                </a:solidFill>
                <a:highlight>
                  <a:srgbClr val="FFFFFF"/>
                </a:highlight>
                <a:latin typeface="Consolas" panose="020B0609020204030204" pitchFamily="49" charset="0"/>
                <a:cs typeface="+mn-cs"/>
              </a:rPr>
              <a:t>&lt;&lt;</a:t>
            </a:r>
            <a:r>
              <a:rPr lang="en-IN" sz="1350" dirty="0">
                <a:solidFill>
                  <a:srgbClr val="A31515"/>
                </a:solidFill>
                <a:highlight>
                  <a:srgbClr val="FFFFFF"/>
                </a:highlight>
                <a:latin typeface="Consolas" panose="020B0609020204030204" pitchFamily="49" charset="0"/>
                <a:cs typeface="+mn-cs"/>
              </a:rPr>
              <a:t>"count="</a:t>
            </a:r>
            <a:r>
              <a:rPr lang="en-IN" sz="1350" dirty="0">
                <a:solidFill>
                  <a:srgbClr val="000000"/>
                </a:solidFill>
                <a:highlight>
                  <a:srgbClr val="FFFFFF"/>
                </a:highlight>
                <a:latin typeface="Consolas" panose="020B0609020204030204" pitchFamily="49" charset="0"/>
                <a:cs typeface="+mn-cs"/>
              </a:rPr>
              <a:t>&lt;&lt; ++count;</a:t>
            </a:r>
          </a:p>
          <a:p>
            <a:pPr defTabSz="685800" fontAlgn="auto">
              <a:spcBef>
                <a:spcPts val="0"/>
              </a:spcBef>
              <a:spcAft>
                <a:spcPts val="0"/>
              </a:spcAft>
              <a:defRPr/>
            </a:pPr>
            <a:r>
              <a:rPr lang="en-IN" sz="1350" dirty="0">
                <a:solidFill>
                  <a:srgbClr val="000000"/>
                </a:solidFill>
                <a:highlight>
                  <a:srgbClr val="FFFFFF"/>
                </a:highlight>
                <a:latin typeface="Consolas" panose="020B0609020204030204" pitchFamily="49" charset="0"/>
                <a:cs typeface="+mn-cs"/>
              </a:rPr>
              <a:t>    }</a:t>
            </a:r>
          </a:p>
          <a:p>
            <a:pPr defTabSz="685800" fontAlgn="auto">
              <a:spcBef>
                <a:spcPts val="0"/>
              </a:spcBef>
              <a:spcAft>
                <a:spcPts val="0"/>
              </a:spcAft>
              <a:defRPr/>
            </a:pPr>
            <a:r>
              <a:rPr lang="en-IN" sz="1350" dirty="0">
                <a:solidFill>
                  <a:srgbClr val="000000"/>
                </a:solidFill>
                <a:highlight>
                  <a:srgbClr val="FFFFFF"/>
                </a:highlight>
                <a:latin typeface="Consolas" panose="020B0609020204030204" pitchFamily="49" charset="0"/>
                <a:cs typeface="+mn-cs"/>
              </a:rPr>
              <a:t>};</a:t>
            </a:r>
          </a:p>
          <a:p>
            <a:pPr defTabSz="685800" fontAlgn="auto">
              <a:spcBef>
                <a:spcPts val="0"/>
              </a:spcBef>
              <a:spcAft>
                <a:spcPts val="0"/>
              </a:spcAft>
              <a:defRPr/>
            </a:pPr>
            <a:r>
              <a:rPr lang="en-IN" sz="1400" dirty="0">
                <a:solidFill>
                  <a:srgbClr val="0000FF"/>
                </a:solidFill>
                <a:highlight>
                  <a:srgbClr val="FFFFFF"/>
                </a:highlight>
                <a:latin typeface="Consolas" panose="020B0609020204030204" pitchFamily="49" charset="0"/>
              </a:rPr>
              <a:t>int</a:t>
            </a:r>
            <a:r>
              <a:rPr lang="en-IN" sz="1400" dirty="0">
                <a:solidFill>
                  <a:srgbClr val="000000"/>
                </a:solidFill>
                <a:highlight>
                  <a:srgbClr val="FFFFFF"/>
                </a:highlight>
                <a:latin typeface="Consolas" panose="020B0609020204030204" pitchFamily="49" charset="0"/>
              </a:rPr>
              <a:t> demo::count;</a:t>
            </a:r>
          </a:p>
          <a:p>
            <a:pPr defTabSz="685800" fontAlgn="auto">
              <a:spcBef>
                <a:spcPts val="0"/>
              </a:spcBef>
              <a:spcAft>
                <a:spcPts val="0"/>
              </a:spcAft>
              <a:defRPr/>
            </a:pPr>
            <a:endParaRPr lang="en-IN" sz="1350" dirty="0">
              <a:solidFill>
                <a:srgbClr val="000000"/>
              </a:solidFill>
              <a:highlight>
                <a:srgbClr val="FFFFFF"/>
              </a:highlight>
              <a:latin typeface="Consolas" panose="020B0609020204030204" pitchFamily="49" charset="0"/>
              <a:cs typeface="+mn-cs"/>
            </a:endParaRPr>
          </a:p>
          <a:p>
            <a:pPr defTabSz="685800" fontAlgn="auto">
              <a:spcBef>
                <a:spcPts val="0"/>
              </a:spcBef>
              <a:spcAft>
                <a:spcPts val="0"/>
              </a:spcAft>
              <a:defRPr/>
            </a:pPr>
            <a:r>
              <a:rPr lang="en-IN" sz="1350" dirty="0" err="1">
                <a:solidFill>
                  <a:srgbClr val="0000FF"/>
                </a:solidFill>
                <a:highlight>
                  <a:srgbClr val="FFFFFF"/>
                </a:highlight>
                <a:latin typeface="Consolas" panose="020B0609020204030204" pitchFamily="49" charset="0"/>
                <a:cs typeface="+mn-cs"/>
              </a:rPr>
              <a:t>int</a:t>
            </a:r>
            <a:r>
              <a:rPr lang="en-IN" sz="1350" dirty="0">
                <a:solidFill>
                  <a:srgbClr val="000000"/>
                </a:solidFill>
                <a:highlight>
                  <a:srgbClr val="FFFFFF"/>
                </a:highlight>
                <a:latin typeface="Consolas" panose="020B0609020204030204" pitchFamily="49" charset="0"/>
                <a:cs typeface="+mn-cs"/>
              </a:rPr>
              <a:t> main()</a:t>
            </a:r>
          </a:p>
          <a:p>
            <a:pPr defTabSz="685800" fontAlgn="auto">
              <a:spcBef>
                <a:spcPts val="0"/>
              </a:spcBef>
              <a:spcAft>
                <a:spcPts val="0"/>
              </a:spcAft>
              <a:defRPr/>
            </a:pPr>
            <a:r>
              <a:rPr lang="en-IN" sz="1350" dirty="0">
                <a:solidFill>
                  <a:srgbClr val="000000"/>
                </a:solidFill>
                <a:highlight>
                  <a:srgbClr val="FFFFFF"/>
                </a:highlight>
                <a:latin typeface="Consolas" panose="020B0609020204030204" pitchFamily="49" charset="0"/>
                <a:cs typeface="+mn-cs"/>
              </a:rPr>
              <a:t>{</a:t>
            </a:r>
          </a:p>
          <a:p>
            <a:pPr defTabSz="685800" fontAlgn="auto">
              <a:spcBef>
                <a:spcPts val="0"/>
              </a:spcBef>
              <a:spcAft>
                <a:spcPts val="0"/>
              </a:spcAft>
              <a:defRPr/>
            </a:pPr>
            <a:r>
              <a:rPr lang="en-IN" sz="1350" dirty="0">
                <a:solidFill>
                  <a:srgbClr val="000000"/>
                </a:solidFill>
                <a:highlight>
                  <a:srgbClr val="FFFFFF"/>
                </a:highlight>
                <a:latin typeface="Consolas" panose="020B0609020204030204" pitchFamily="49" charset="0"/>
                <a:cs typeface="+mn-cs"/>
              </a:rPr>
              <a:t>  demo d1,d2,d3;</a:t>
            </a:r>
          </a:p>
          <a:p>
            <a:pPr defTabSz="685800" fontAlgn="auto">
              <a:spcBef>
                <a:spcPts val="0"/>
              </a:spcBef>
              <a:spcAft>
                <a:spcPts val="0"/>
              </a:spcAft>
              <a:defRPr/>
            </a:pPr>
            <a:r>
              <a:rPr lang="en-IN" sz="1350" dirty="0">
                <a:solidFill>
                  <a:srgbClr val="000000"/>
                </a:solidFill>
                <a:highlight>
                  <a:srgbClr val="FFFFFF"/>
                </a:highlight>
                <a:latin typeface="Consolas" panose="020B0609020204030204" pitchFamily="49" charset="0"/>
                <a:cs typeface="+mn-cs"/>
              </a:rPr>
              <a:t>  d1.getcount();</a:t>
            </a:r>
          </a:p>
          <a:p>
            <a:pPr defTabSz="685800" fontAlgn="auto">
              <a:spcBef>
                <a:spcPts val="0"/>
              </a:spcBef>
              <a:spcAft>
                <a:spcPts val="0"/>
              </a:spcAft>
              <a:defRPr/>
            </a:pPr>
            <a:r>
              <a:rPr lang="en-IN" sz="1350" dirty="0">
                <a:solidFill>
                  <a:srgbClr val="000000"/>
                </a:solidFill>
                <a:highlight>
                  <a:srgbClr val="FFFFFF"/>
                </a:highlight>
                <a:latin typeface="Consolas" panose="020B0609020204030204" pitchFamily="49" charset="0"/>
                <a:cs typeface="+mn-cs"/>
              </a:rPr>
              <a:t>  d2.getcount();</a:t>
            </a:r>
          </a:p>
          <a:p>
            <a:pPr defTabSz="685800" fontAlgn="auto">
              <a:spcBef>
                <a:spcPts val="0"/>
              </a:spcBef>
              <a:spcAft>
                <a:spcPts val="0"/>
              </a:spcAft>
              <a:defRPr/>
            </a:pPr>
            <a:r>
              <a:rPr lang="en-IN" sz="1350" dirty="0">
                <a:solidFill>
                  <a:srgbClr val="000000"/>
                </a:solidFill>
                <a:highlight>
                  <a:srgbClr val="FFFFFF"/>
                </a:highlight>
                <a:latin typeface="Consolas" panose="020B0609020204030204" pitchFamily="49" charset="0"/>
                <a:cs typeface="+mn-cs"/>
              </a:rPr>
              <a:t>  d3.getcount();</a:t>
            </a:r>
          </a:p>
          <a:p>
            <a:pPr defTabSz="685800" fontAlgn="auto">
              <a:spcBef>
                <a:spcPts val="0"/>
              </a:spcBef>
              <a:spcAft>
                <a:spcPts val="0"/>
              </a:spcAft>
              <a:defRPr/>
            </a:pPr>
            <a:r>
              <a:rPr lang="en-IN" sz="1350" dirty="0">
                <a:solidFill>
                  <a:srgbClr val="000000"/>
                </a:solidFill>
                <a:highlight>
                  <a:srgbClr val="FFFFFF"/>
                </a:highlight>
                <a:latin typeface="Consolas" panose="020B0609020204030204" pitchFamily="49" charset="0"/>
                <a:cs typeface="+mn-cs"/>
              </a:rPr>
              <a:t>  </a:t>
            </a:r>
            <a:r>
              <a:rPr lang="en-IN" sz="1350" dirty="0">
                <a:solidFill>
                  <a:srgbClr val="0000FF"/>
                </a:solidFill>
                <a:highlight>
                  <a:srgbClr val="FFFFFF"/>
                </a:highlight>
                <a:latin typeface="Consolas" panose="020B0609020204030204" pitchFamily="49" charset="0"/>
                <a:cs typeface="+mn-cs"/>
              </a:rPr>
              <a:t>return</a:t>
            </a:r>
            <a:r>
              <a:rPr lang="en-IN" sz="1350" dirty="0">
                <a:solidFill>
                  <a:srgbClr val="000000"/>
                </a:solidFill>
                <a:highlight>
                  <a:srgbClr val="FFFFFF"/>
                </a:highlight>
                <a:latin typeface="Consolas" panose="020B0609020204030204" pitchFamily="49" charset="0"/>
                <a:cs typeface="+mn-cs"/>
              </a:rPr>
              <a:t> 0;</a:t>
            </a:r>
          </a:p>
          <a:p>
            <a:pPr defTabSz="685800" fontAlgn="auto">
              <a:spcBef>
                <a:spcPts val="0"/>
              </a:spcBef>
              <a:spcAft>
                <a:spcPts val="0"/>
              </a:spcAft>
              <a:defRPr/>
            </a:pPr>
            <a:r>
              <a:rPr lang="en-IN" sz="1350" dirty="0">
                <a:solidFill>
                  <a:srgbClr val="000000"/>
                </a:solidFill>
                <a:highlight>
                  <a:srgbClr val="FFFFFF"/>
                </a:highlight>
                <a:latin typeface="Consolas" panose="020B0609020204030204" pitchFamily="49" charset="0"/>
                <a:cs typeface="+mn-cs"/>
              </a:rPr>
              <a:t>}</a:t>
            </a:r>
            <a:endParaRPr lang="en-IN" sz="1350" dirty="0">
              <a:solidFill>
                <a:prstClr val="black"/>
              </a:solidFill>
              <a:latin typeface="Calibri"/>
              <a:cs typeface="+mn-cs"/>
            </a:endParaRPr>
          </a:p>
        </p:txBody>
      </p:sp>
      <p:cxnSp>
        <p:nvCxnSpPr>
          <p:cNvPr id="4" name="Straight Connector 3"/>
          <p:cNvCxnSpPr/>
          <p:nvPr/>
        </p:nvCxnSpPr>
        <p:spPr>
          <a:xfrm>
            <a:off x="4229100" y="1143000"/>
            <a:ext cx="0" cy="405765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3" name="Rounded Rectangle 12"/>
          <p:cNvSpPr/>
          <p:nvPr/>
        </p:nvSpPr>
        <p:spPr>
          <a:xfrm>
            <a:off x="6842815" y="2400301"/>
            <a:ext cx="1026000" cy="1771651"/>
          </a:xfrm>
          <a:prstGeom prst="roundRect">
            <a:avLst/>
          </a:prstGeom>
          <a:solidFill>
            <a:srgbClr val="C6D9F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defRPr/>
            </a:pPr>
            <a:endParaRPr lang="en-IN" sz="1350">
              <a:solidFill>
                <a:prstClr val="white"/>
              </a:solidFill>
              <a:latin typeface="Calibri"/>
            </a:endParaRPr>
          </a:p>
        </p:txBody>
      </p:sp>
      <p:sp>
        <p:nvSpPr>
          <p:cNvPr id="14" name="Rounded Rectangle 13"/>
          <p:cNvSpPr/>
          <p:nvPr/>
        </p:nvSpPr>
        <p:spPr>
          <a:xfrm>
            <a:off x="7006175" y="2541851"/>
            <a:ext cx="675000"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defRPr/>
            </a:pPr>
            <a:r>
              <a:rPr lang="en-IN" sz="2100" dirty="0">
                <a:solidFill>
                  <a:prstClr val="black"/>
                </a:solidFill>
                <a:latin typeface="Calibri"/>
              </a:rPr>
              <a:t>d3</a:t>
            </a:r>
            <a:endParaRPr lang="en-IN" sz="1200" dirty="0">
              <a:solidFill>
                <a:prstClr val="black"/>
              </a:solidFill>
              <a:latin typeface="Calibri"/>
            </a:endParaRPr>
          </a:p>
        </p:txBody>
      </p:sp>
      <p:sp>
        <p:nvSpPr>
          <p:cNvPr id="15" name="Rectangle 14"/>
          <p:cNvSpPr/>
          <p:nvPr/>
        </p:nvSpPr>
        <p:spPr>
          <a:xfrm>
            <a:off x="6972300" y="3257550"/>
            <a:ext cx="800100" cy="457200"/>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defRPr/>
            </a:pPr>
            <a:endParaRPr lang="en-IN" sz="1350" dirty="0">
              <a:solidFill>
                <a:prstClr val="black"/>
              </a:solidFill>
              <a:latin typeface="Calibri"/>
            </a:endParaRPr>
          </a:p>
        </p:txBody>
      </p:sp>
      <p:sp>
        <p:nvSpPr>
          <p:cNvPr id="16" name="Rectangle 15"/>
          <p:cNvSpPr/>
          <p:nvPr/>
        </p:nvSpPr>
        <p:spPr>
          <a:xfrm>
            <a:off x="6972300" y="3740186"/>
            <a:ext cx="800100" cy="2723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defRPr/>
            </a:pPr>
            <a:r>
              <a:rPr lang="en-IN" sz="1800" dirty="0">
                <a:solidFill>
                  <a:prstClr val="black"/>
                </a:solidFill>
                <a:latin typeface="Calibri"/>
              </a:rPr>
              <a:t>count</a:t>
            </a:r>
          </a:p>
        </p:txBody>
      </p:sp>
      <p:sp>
        <p:nvSpPr>
          <p:cNvPr id="18" name="Rounded Rectangle 17"/>
          <p:cNvSpPr/>
          <p:nvPr/>
        </p:nvSpPr>
        <p:spPr>
          <a:xfrm>
            <a:off x="4509957" y="2400301"/>
            <a:ext cx="1026000" cy="1771651"/>
          </a:xfrm>
          <a:prstGeom prst="roundRect">
            <a:avLst/>
          </a:prstGeom>
          <a:solidFill>
            <a:srgbClr val="C6D9F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defRPr/>
            </a:pPr>
            <a:endParaRPr lang="en-IN" sz="1350">
              <a:solidFill>
                <a:prstClr val="white"/>
              </a:solidFill>
              <a:latin typeface="Calibri"/>
            </a:endParaRPr>
          </a:p>
        </p:txBody>
      </p:sp>
      <p:sp>
        <p:nvSpPr>
          <p:cNvPr id="19" name="Rounded Rectangle 18"/>
          <p:cNvSpPr/>
          <p:nvPr/>
        </p:nvSpPr>
        <p:spPr>
          <a:xfrm>
            <a:off x="4673318" y="2541851"/>
            <a:ext cx="675000"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defRPr/>
            </a:pPr>
            <a:r>
              <a:rPr lang="en-IN" sz="2100" dirty="0">
                <a:solidFill>
                  <a:prstClr val="black"/>
                </a:solidFill>
                <a:latin typeface="Calibri"/>
              </a:rPr>
              <a:t>d1</a:t>
            </a:r>
            <a:endParaRPr lang="en-IN" sz="1200" dirty="0">
              <a:solidFill>
                <a:prstClr val="black"/>
              </a:solidFill>
              <a:latin typeface="Calibri"/>
            </a:endParaRPr>
          </a:p>
        </p:txBody>
      </p:sp>
      <p:sp>
        <p:nvSpPr>
          <p:cNvPr id="20" name="Rectangle 19"/>
          <p:cNvSpPr/>
          <p:nvPr/>
        </p:nvSpPr>
        <p:spPr>
          <a:xfrm>
            <a:off x="4639442" y="3257550"/>
            <a:ext cx="800100" cy="457200"/>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defRPr/>
            </a:pPr>
            <a:endParaRPr lang="en-IN" sz="1350" dirty="0">
              <a:solidFill>
                <a:prstClr val="black"/>
              </a:solidFill>
              <a:latin typeface="Calibri"/>
            </a:endParaRPr>
          </a:p>
        </p:txBody>
      </p:sp>
      <p:sp>
        <p:nvSpPr>
          <p:cNvPr id="21" name="Rectangle 20"/>
          <p:cNvSpPr/>
          <p:nvPr/>
        </p:nvSpPr>
        <p:spPr>
          <a:xfrm>
            <a:off x="4639442" y="3740186"/>
            <a:ext cx="800100" cy="2723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defRPr/>
            </a:pPr>
            <a:r>
              <a:rPr lang="en-IN" sz="1800" dirty="0">
                <a:solidFill>
                  <a:prstClr val="black"/>
                </a:solidFill>
                <a:latin typeface="Calibri"/>
              </a:rPr>
              <a:t>count</a:t>
            </a:r>
          </a:p>
        </p:txBody>
      </p:sp>
      <p:sp>
        <p:nvSpPr>
          <p:cNvPr id="22" name="Rounded Rectangle 21"/>
          <p:cNvSpPr/>
          <p:nvPr/>
        </p:nvSpPr>
        <p:spPr>
          <a:xfrm>
            <a:off x="5676386" y="2411550"/>
            <a:ext cx="1026000" cy="1771651"/>
          </a:xfrm>
          <a:prstGeom prst="roundRect">
            <a:avLst/>
          </a:prstGeom>
          <a:solidFill>
            <a:srgbClr val="C6D9F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defRPr/>
            </a:pPr>
            <a:endParaRPr lang="en-IN" sz="1350">
              <a:solidFill>
                <a:prstClr val="white"/>
              </a:solidFill>
              <a:latin typeface="Calibri"/>
            </a:endParaRPr>
          </a:p>
        </p:txBody>
      </p:sp>
      <p:sp>
        <p:nvSpPr>
          <p:cNvPr id="23" name="Rounded Rectangle 22"/>
          <p:cNvSpPr/>
          <p:nvPr/>
        </p:nvSpPr>
        <p:spPr>
          <a:xfrm>
            <a:off x="5839746" y="2553101"/>
            <a:ext cx="675000"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defRPr/>
            </a:pPr>
            <a:r>
              <a:rPr lang="en-IN" sz="2100" dirty="0">
                <a:solidFill>
                  <a:prstClr val="black"/>
                </a:solidFill>
                <a:latin typeface="Calibri"/>
              </a:rPr>
              <a:t>d2</a:t>
            </a:r>
            <a:endParaRPr lang="en-IN" sz="1200" dirty="0">
              <a:solidFill>
                <a:prstClr val="black"/>
              </a:solidFill>
              <a:latin typeface="Calibri"/>
            </a:endParaRPr>
          </a:p>
        </p:txBody>
      </p:sp>
      <p:sp>
        <p:nvSpPr>
          <p:cNvPr id="24" name="Rectangle 23"/>
          <p:cNvSpPr/>
          <p:nvPr/>
        </p:nvSpPr>
        <p:spPr>
          <a:xfrm>
            <a:off x="5805871" y="3268799"/>
            <a:ext cx="800100" cy="457200"/>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defRPr/>
            </a:pPr>
            <a:endParaRPr lang="en-IN" sz="1350" dirty="0">
              <a:solidFill>
                <a:prstClr val="black"/>
              </a:solidFill>
              <a:latin typeface="Calibri"/>
            </a:endParaRPr>
          </a:p>
        </p:txBody>
      </p:sp>
      <p:sp>
        <p:nvSpPr>
          <p:cNvPr id="25" name="Rectangle 24"/>
          <p:cNvSpPr/>
          <p:nvPr/>
        </p:nvSpPr>
        <p:spPr>
          <a:xfrm>
            <a:off x="5805871" y="3751436"/>
            <a:ext cx="800100" cy="2723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defRPr/>
            </a:pPr>
            <a:r>
              <a:rPr lang="en-IN" sz="1800" dirty="0">
                <a:solidFill>
                  <a:prstClr val="black"/>
                </a:solidFill>
                <a:latin typeface="Calibri"/>
              </a:rPr>
              <a:t>count</a:t>
            </a:r>
          </a:p>
        </p:txBody>
      </p:sp>
      <p:sp>
        <p:nvSpPr>
          <p:cNvPr id="26" name="Rectangle 25"/>
          <p:cNvSpPr/>
          <p:nvPr/>
        </p:nvSpPr>
        <p:spPr>
          <a:xfrm>
            <a:off x="4839467" y="3334215"/>
            <a:ext cx="400050" cy="303871"/>
          </a:xfrm>
          <a:prstGeom prst="rect">
            <a:avLst/>
          </a:prstGeom>
          <a:solidFill>
            <a:srgbClr val="C6D9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defRPr/>
            </a:pPr>
            <a:r>
              <a:rPr lang="en-IN" sz="2100" dirty="0">
                <a:solidFill>
                  <a:prstClr val="black"/>
                </a:solidFill>
                <a:latin typeface="Calibri"/>
              </a:rPr>
              <a:t>0</a:t>
            </a:r>
          </a:p>
        </p:txBody>
      </p:sp>
      <p:sp>
        <p:nvSpPr>
          <p:cNvPr id="27" name="Rectangle 26"/>
          <p:cNvSpPr/>
          <p:nvPr/>
        </p:nvSpPr>
        <p:spPr>
          <a:xfrm>
            <a:off x="6005896" y="3345465"/>
            <a:ext cx="400050" cy="303871"/>
          </a:xfrm>
          <a:prstGeom prst="rect">
            <a:avLst/>
          </a:prstGeom>
          <a:solidFill>
            <a:srgbClr val="C6D9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defRPr/>
            </a:pPr>
            <a:r>
              <a:rPr lang="en-IN" sz="2100" dirty="0">
                <a:solidFill>
                  <a:prstClr val="black"/>
                </a:solidFill>
                <a:latin typeface="Calibri"/>
              </a:rPr>
              <a:t>0</a:t>
            </a:r>
          </a:p>
        </p:txBody>
      </p:sp>
      <p:sp>
        <p:nvSpPr>
          <p:cNvPr id="28" name="Rectangle 27"/>
          <p:cNvSpPr/>
          <p:nvPr/>
        </p:nvSpPr>
        <p:spPr>
          <a:xfrm>
            <a:off x="7155790" y="3345465"/>
            <a:ext cx="400050" cy="303871"/>
          </a:xfrm>
          <a:prstGeom prst="rect">
            <a:avLst/>
          </a:prstGeom>
          <a:solidFill>
            <a:srgbClr val="C6D9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defRPr/>
            </a:pPr>
            <a:r>
              <a:rPr lang="en-IN" sz="2100" dirty="0">
                <a:solidFill>
                  <a:prstClr val="black"/>
                </a:solidFill>
                <a:latin typeface="Calibri"/>
              </a:rPr>
              <a:t>0</a:t>
            </a:r>
          </a:p>
        </p:txBody>
      </p:sp>
      <p:sp>
        <p:nvSpPr>
          <p:cNvPr id="29" name="Rectangle 28"/>
          <p:cNvSpPr/>
          <p:nvPr/>
        </p:nvSpPr>
        <p:spPr>
          <a:xfrm>
            <a:off x="4822932" y="3334215"/>
            <a:ext cx="400050" cy="303871"/>
          </a:xfrm>
          <a:prstGeom prst="rect">
            <a:avLst/>
          </a:prstGeom>
          <a:solidFill>
            <a:srgbClr val="C6D9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defRPr/>
            </a:pPr>
            <a:r>
              <a:rPr lang="en-IN" sz="2100" dirty="0">
                <a:solidFill>
                  <a:prstClr val="black"/>
                </a:solidFill>
                <a:latin typeface="Calibri"/>
              </a:rPr>
              <a:t>1</a:t>
            </a:r>
          </a:p>
        </p:txBody>
      </p:sp>
      <p:sp>
        <p:nvSpPr>
          <p:cNvPr id="30" name="Rectangle 29"/>
          <p:cNvSpPr/>
          <p:nvPr/>
        </p:nvSpPr>
        <p:spPr>
          <a:xfrm>
            <a:off x="6018035" y="3345465"/>
            <a:ext cx="400050" cy="303871"/>
          </a:xfrm>
          <a:prstGeom prst="rect">
            <a:avLst/>
          </a:prstGeom>
          <a:solidFill>
            <a:srgbClr val="C6D9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defRPr/>
            </a:pPr>
            <a:r>
              <a:rPr lang="en-IN" sz="2100" dirty="0">
                <a:solidFill>
                  <a:prstClr val="black"/>
                </a:solidFill>
                <a:latin typeface="Calibri"/>
              </a:rPr>
              <a:t>1</a:t>
            </a:r>
          </a:p>
        </p:txBody>
      </p:sp>
      <p:sp>
        <p:nvSpPr>
          <p:cNvPr id="31" name="Rectangle 30"/>
          <p:cNvSpPr/>
          <p:nvPr/>
        </p:nvSpPr>
        <p:spPr>
          <a:xfrm>
            <a:off x="7143650" y="3332019"/>
            <a:ext cx="400050" cy="303871"/>
          </a:xfrm>
          <a:prstGeom prst="rect">
            <a:avLst/>
          </a:prstGeom>
          <a:solidFill>
            <a:srgbClr val="C6D9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defRPr/>
            </a:pPr>
            <a:r>
              <a:rPr lang="en-IN" sz="2100" dirty="0">
                <a:solidFill>
                  <a:prstClr val="black"/>
                </a:solidFill>
                <a:latin typeface="Calibri"/>
              </a:rPr>
              <a:t>1</a:t>
            </a:r>
          </a:p>
        </p:txBody>
      </p:sp>
      <p:sp>
        <p:nvSpPr>
          <p:cNvPr id="32" name="Title 1"/>
          <p:cNvSpPr txBox="1">
            <a:spLocks/>
          </p:cNvSpPr>
          <p:nvPr/>
        </p:nvSpPr>
        <p:spPr>
          <a:xfrm>
            <a:off x="4400551" y="869528"/>
            <a:ext cx="3572443" cy="606028"/>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defTabSz="685800" fontAlgn="auto">
              <a:spcAft>
                <a:spcPts val="0"/>
              </a:spcAft>
              <a:defRPr/>
            </a:pPr>
            <a:r>
              <a:rPr lang="en-IN" sz="2700" dirty="0">
                <a:solidFill>
                  <a:prstClr val="black"/>
                </a:solidFill>
                <a:latin typeface="Calibri"/>
              </a:rPr>
              <a:t>Regular Data members </a:t>
            </a:r>
          </a:p>
        </p:txBody>
      </p:sp>
    </p:spTree>
    <p:extLst>
      <p:ext uri="{BB962C8B-B14F-4D97-AF65-F5344CB8AC3E}">
        <p14:creationId xmlns:p14="http://schemas.microsoft.com/office/powerpoint/2010/main" val="1174262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1" end="1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3" end="1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4" end="1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9" end="1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20" end="2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6"/>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5"/>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3"/>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3">
                                            <p:txEl>
                                              <p:pRg st="4" end="4"/>
                                            </p:txEl>
                                          </p:spTgt>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3">
                                            <p:txEl>
                                              <p:pRg st="5" end="5"/>
                                            </p:txEl>
                                          </p:spTgt>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3">
                                            <p:txEl>
                                              <p:pRg st="6" end="6"/>
                                            </p:txEl>
                                          </p:spTgt>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3">
                                            <p:txEl>
                                              <p:pRg st="7" end="7"/>
                                            </p:txEl>
                                          </p:spTgt>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3">
                                            <p:txEl>
                                              <p:pRg st="8" end="8"/>
                                            </p:txEl>
                                          </p:spTgt>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26"/>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29"/>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27"/>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30"/>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28"/>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p:bldP spid="18" grpId="0" animBg="1"/>
      <p:bldP spid="19" grpId="0" animBg="1"/>
      <p:bldP spid="20" grpId="0" animBg="1"/>
      <p:bldP spid="21" grpId="0"/>
      <p:bldP spid="22" grpId="0" animBg="1"/>
      <p:bldP spid="23" grpId="0" animBg="1"/>
      <p:bldP spid="24" grpId="0" animBg="1"/>
      <p:bldP spid="25" grpId="0"/>
      <p:bldP spid="26" grpId="0" animBg="1"/>
      <p:bldP spid="27" grpId="0" animBg="1"/>
      <p:bldP spid="28" grpId="0" animBg="1"/>
      <p:bldP spid="29" grpId="0" animBg="1"/>
      <p:bldP spid="30" grpId="0" animBg="1"/>
      <p:bldP spid="31"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Static Data Members</a:t>
            </a:r>
          </a:p>
        </p:txBody>
      </p:sp>
      <p:sp>
        <p:nvSpPr>
          <p:cNvPr id="3" name="Content Placeholder 2"/>
          <p:cNvSpPr>
            <a:spLocks noGrp="1"/>
          </p:cNvSpPr>
          <p:nvPr>
            <p:ph idx="1"/>
          </p:nvPr>
        </p:nvSpPr>
        <p:spPr/>
        <p:txBody>
          <a:bodyPr>
            <a:normAutofit fontScale="92500"/>
          </a:bodyPr>
          <a:lstStyle/>
          <a:p>
            <a:pPr lvl="0" algn="just"/>
            <a:r>
              <a:rPr lang="en-US" sz="2400" b="1" dirty="0"/>
              <a:t>Data members of the class which are shared by all objects are known as </a:t>
            </a:r>
            <a:r>
              <a:rPr lang="en-US" sz="2400" b="1" dirty="0">
                <a:solidFill>
                  <a:srgbClr val="C00000"/>
                </a:solidFill>
              </a:rPr>
              <a:t>static </a:t>
            </a:r>
            <a:r>
              <a:rPr lang="en-US" sz="2400" b="1" dirty="0"/>
              <a:t>data members. </a:t>
            </a:r>
            <a:endParaRPr lang="en-IN" sz="2400" b="1" dirty="0"/>
          </a:p>
          <a:p>
            <a:pPr lvl="0" algn="just">
              <a:buClr>
                <a:schemeClr val="tx1"/>
              </a:buClr>
            </a:pPr>
            <a:r>
              <a:rPr lang="en-US" sz="2400" b="1" dirty="0">
                <a:solidFill>
                  <a:srgbClr val="C00000"/>
                </a:solidFill>
              </a:rPr>
              <a:t>Only one copy </a:t>
            </a:r>
            <a:r>
              <a:rPr lang="en-US" sz="2400" b="1" dirty="0"/>
              <a:t>of a static variable is maintained by the class and it is common for all objects.</a:t>
            </a:r>
            <a:endParaRPr lang="en-IN" sz="2400" b="1" dirty="0"/>
          </a:p>
          <a:p>
            <a:pPr algn="just">
              <a:buClr>
                <a:schemeClr val="tx1"/>
              </a:buClr>
            </a:pPr>
            <a:r>
              <a:rPr lang="en-US" sz="2400" b="1" dirty="0">
                <a:solidFill>
                  <a:srgbClr val="C00000"/>
                </a:solidFill>
              </a:rPr>
              <a:t>Static members </a:t>
            </a:r>
            <a:r>
              <a:rPr lang="en-US" sz="2400" b="1" dirty="0"/>
              <a:t>are </a:t>
            </a:r>
            <a:r>
              <a:rPr lang="en-US" sz="2400" b="1" dirty="0">
                <a:solidFill>
                  <a:srgbClr val="C00000"/>
                </a:solidFill>
              </a:rPr>
              <a:t>declared </a:t>
            </a:r>
            <a:r>
              <a:rPr lang="en-US" sz="2400" b="1" dirty="0"/>
              <a:t>inside the class and </a:t>
            </a:r>
            <a:r>
              <a:rPr lang="en-US" sz="2400" b="1" dirty="0">
                <a:solidFill>
                  <a:srgbClr val="C00000"/>
                </a:solidFill>
              </a:rPr>
              <a:t>defined </a:t>
            </a:r>
            <a:r>
              <a:rPr lang="en-US" sz="2400" b="1" dirty="0"/>
              <a:t>outside the class.</a:t>
            </a:r>
            <a:endParaRPr lang="en-IN" sz="2400" b="1" dirty="0"/>
          </a:p>
          <a:p>
            <a:pPr lvl="0" algn="just"/>
            <a:r>
              <a:rPr lang="en-US" sz="2400" b="1" u="sng" dirty="0"/>
              <a:t>It is initialized to </a:t>
            </a:r>
            <a:r>
              <a:rPr lang="en-US" sz="2400" b="1" u="sng" dirty="0">
                <a:solidFill>
                  <a:srgbClr val="C00000"/>
                </a:solidFill>
              </a:rPr>
              <a:t>zero </a:t>
            </a:r>
            <a:r>
              <a:rPr lang="en-US" sz="2400" b="1" u="sng" dirty="0"/>
              <a:t>when the first object of its class is created. </a:t>
            </a:r>
            <a:endParaRPr lang="en-US" sz="2400" b="1" u="sng" strike="sngStrike" dirty="0"/>
          </a:p>
          <a:p>
            <a:pPr algn="just"/>
            <a:r>
              <a:rPr lang="en-IN" sz="2400" b="1" dirty="0"/>
              <a:t>you cannot initialize a static member variable inside the class declaration.</a:t>
            </a:r>
          </a:p>
          <a:p>
            <a:pPr lvl="0" algn="just"/>
            <a:r>
              <a:rPr lang="en-US" sz="2400" b="1" dirty="0"/>
              <a:t>It is visible only within the class but its lifetime is the entire program. </a:t>
            </a:r>
            <a:endParaRPr lang="en-IN" sz="2400" b="1" dirty="0"/>
          </a:p>
          <a:p>
            <a:pPr lvl="0" algn="just">
              <a:buClr>
                <a:schemeClr val="tx1"/>
              </a:buClr>
            </a:pPr>
            <a:r>
              <a:rPr lang="en-US" sz="2400" b="1" dirty="0">
                <a:solidFill>
                  <a:srgbClr val="C00000"/>
                </a:solidFill>
              </a:rPr>
              <a:t>Static members </a:t>
            </a:r>
            <a:r>
              <a:rPr lang="en-US" sz="2400" b="1" dirty="0"/>
              <a:t>are generally used to maintain values common to the entire class.</a:t>
            </a:r>
            <a:endParaRPr lang="en-IN" sz="2400" b="1" dirty="0"/>
          </a:p>
        </p:txBody>
      </p:sp>
    </p:spTree>
    <p:extLst>
      <p:ext uri="{BB962C8B-B14F-4D97-AF65-F5344CB8AC3E}">
        <p14:creationId xmlns:p14="http://schemas.microsoft.com/office/powerpoint/2010/main" val="355716032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BC1EE3E9-E8F4-4121-B959-4FAB09B99F98}"/>
              </a:ext>
            </a:extLst>
          </p:cNvPr>
          <p:cNvPicPr>
            <a:picLocks noChangeAspect="1"/>
          </p:cNvPicPr>
          <p:nvPr/>
        </p:nvPicPr>
        <p:blipFill>
          <a:blip r:embed="rId2"/>
          <a:stretch>
            <a:fillRect/>
          </a:stretch>
        </p:blipFill>
        <p:spPr>
          <a:xfrm>
            <a:off x="185406" y="228600"/>
            <a:ext cx="4382112" cy="2848373"/>
          </a:xfrm>
          <a:prstGeom prst="rect">
            <a:avLst/>
          </a:prstGeom>
        </p:spPr>
      </p:pic>
      <p:sp>
        <p:nvSpPr>
          <p:cNvPr id="25" name="Title 1">
            <a:extLst>
              <a:ext uri="{FF2B5EF4-FFF2-40B4-BE49-F238E27FC236}">
                <a16:creationId xmlns:a16="http://schemas.microsoft.com/office/drawing/2014/main" id="{191B3D5D-6A20-4D72-A77E-53CE5E1443B8}"/>
              </a:ext>
            </a:extLst>
          </p:cNvPr>
          <p:cNvSpPr txBox="1">
            <a:spLocks/>
          </p:cNvSpPr>
          <p:nvPr/>
        </p:nvSpPr>
        <p:spPr>
          <a:xfrm>
            <a:off x="3581400" y="0"/>
            <a:ext cx="4838700" cy="808037"/>
          </a:xfrm>
          <a:prstGeom prst="rect">
            <a:avLst/>
          </a:prstGeom>
        </p:spPr>
        <p:txBody>
          <a:bodyPr vert="horz" lIns="91440" tIns="45720" rIns="91440" bIns="45720" rtlCol="0" anchor="ctr">
            <a:normAutofit fontScale="90000"/>
          </a:bodyPr>
          <a:lstStyle>
            <a:lvl1pPr algn="l" defTabSz="685800" rtl="0" eaLnBrk="1" latinLnBrk="0" hangingPunct="1">
              <a:spcBef>
                <a:spcPct val="0"/>
              </a:spcBef>
              <a:buNone/>
              <a:defRPr sz="3300" kern="1200">
                <a:solidFill>
                  <a:schemeClr val="tx1"/>
                </a:solidFill>
                <a:latin typeface="+mj-lt"/>
                <a:ea typeface="Open Sans Semibold" panose="020B0706030804020204"/>
                <a:cs typeface="Open Sans Semibold" panose="020B0706030804020204"/>
              </a:defRPr>
            </a:lvl1pPr>
          </a:lstStyle>
          <a:p>
            <a:pPr fontAlgn="auto">
              <a:spcAft>
                <a:spcPts val="0"/>
              </a:spcAft>
            </a:pPr>
            <a:r>
              <a:rPr lang="en-IN"/>
              <a:t>Program : Static data member</a:t>
            </a:r>
            <a:endParaRPr lang="en-IN" dirty="0"/>
          </a:p>
        </p:txBody>
      </p:sp>
      <p:pic>
        <p:nvPicPr>
          <p:cNvPr id="26" name="Picture 25">
            <a:extLst>
              <a:ext uri="{FF2B5EF4-FFF2-40B4-BE49-F238E27FC236}">
                <a16:creationId xmlns:a16="http://schemas.microsoft.com/office/drawing/2014/main" id="{420365D1-0D80-461E-8840-65D7A92AD2A7}"/>
              </a:ext>
            </a:extLst>
          </p:cNvPr>
          <p:cNvPicPr>
            <a:picLocks noChangeAspect="1"/>
          </p:cNvPicPr>
          <p:nvPr/>
        </p:nvPicPr>
        <p:blipFill>
          <a:blip r:embed="rId3"/>
          <a:stretch>
            <a:fillRect/>
          </a:stretch>
        </p:blipFill>
        <p:spPr>
          <a:xfrm>
            <a:off x="151549" y="3200400"/>
            <a:ext cx="6096851" cy="3600953"/>
          </a:xfrm>
          <a:prstGeom prst="rect">
            <a:avLst/>
          </a:prstGeom>
        </p:spPr>
      </p:pic>
      <p:pic>
        <p:nvPicPr>
          <p:cNvPr id="27" name="Picture 26">
            <a:extLst>
              <a:ext uri="{FF2B5EF4-FFF2-40B4-BE49-F238E27FC236}">
                <a16:creationId xmlns:a16="http://schemas.microsoft.com/office/drawing/2014/main" id="{FE0EEECB-97D2-4281-B38B-847FF0CB1B2D}"/>
              </a:ext>
            </a:extLst>
          </p:cNvPr>
          <p:cNvPicPr>
            <a:picLocks noChangeAspect="1"/>
          </p:cNvPicPr>
          <p:nvPr/>
        </p:nvPicPr>
        <p:blipFill>
          <a:blip r:embed="rId4"/>
          <a:stretch>
            <a:fillRect/>
          </a:stretch>
        </p:blipFill>
        <p:spPr>
          <a:xfrm>
            <a:off x="5638800" y="972039"/>
            <a:ext cx="2957844" cy="2470408"/>
          </a:xfrm>
          <a:prstGeom prst="rect">
            <a:avLst/>
          </a:prstGeom>
        </p:spPr>
      </p:pic>
    </p:spTree>
    <p:extLst>
      <p:ext uri="{BB962C8B-B14F-4D97-AF65-F5344CB8AC3E}">
        <p14:creationId xmlns:p14="http://schemas.microsoft.com/office/powerpoint/2010/main" val="1966651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1000"/>
                                        <p:tgtEl>
                                          <p:spTgt spid="27"/>
                                        </p:tgtEl>
                                      </p:cBhvr>
                                    </p:animEffect>
                                    <p:anim calcmode="lin" valueType="num">
                                      <p:cBhvr>
                                        <p:cTn id="8" dur="1000" fill="hold"/>
                                        <p:tgtEl>
                                          <p:spTgt spid="27"/>
                                        </p:tgtEl>
                                        <p:attrNameLst>
                                          <p:attrName>ppt_x</p:attrName>
                                        </p:attrNameLst>
                                      </p:cBhvr>
                                      <p:tavLst>
                                        <p:tav tm="0">
                                          <p:val>
                                            <p:strVal val="#ppt_x"/>
                                          </p:val>
                                        </p:tav>
                                        <p:tav tm="100000">
                                          <p:val>
                                            <p:strVal val="#ppt_x"/>
                                          </p:val>
                                        </p:tav>
                                      </p:tavLst>
                                    </p:anim>
                                    <p:anim calcmode="lin" valueType="num">
                                      <p:cBhvr>
                                        <p:cTn id="9"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C4B3CFB-DBCD-41FC-8FBE-C4B8E1238C87}"/>
              </a:ext>
            </a:extLst>
          </p:cNvPr>
          <p:cNvPicPr>
            <a:picLocks noChangeAspect="1"/>
          </p:cNvPicPr>
          <p:nvPr/>
        </p:nvPicPr>
        <p:blipFill>
          <a:blip r:embed="rId2"/>
          <a:stretch>
            <a:fillRect/>
          </a:stretch>
        </p:blipFill>
        <p:spPr>
          <a:xfrm>
            <a:off x="196055" y="152400"/>
            <a:ext cx="4353533" cy="4105848"/>
          </a:xfrm>
          <a:prstGeom prst="rect">
            <a:avLst/>
          </a:prstGeom>
        </p:spPr>
      </p:pic>
      <p:pic>
        <p:nvPicPr>
          <p:cNvPr id="6" name="Picture 5">
            <a:extLst>
              <a:ext uri="{FF2B5EF4-FFF2-40B4-BE49-F238E27FC236}">
                <a16:creationId xmlns:a16="http://schemas.microsoft.com/office/drawing/2014/main" id="{C3097F1D-84BB-49FE-82E1-574A86A07506}"/>
              </a:ext>
            </a:extLst>
          </p:cNvPr>
          <p:cNvPicPr>
            <a:picLocks noChangeAspect="1"/>
          </p:cNvPicPr>
          <p:nvPr/>
        </p:nvPicPr>
        <p:blipFill>
          <a:blip r:embed="rId3"/>
          <a:stretch>
            <a:fillRect/>
          </a:stretch>
        </p:blipFill>
        <p:spPr>
          <a:xfrm>
            <a:off x="5715000" y="457200"/>
            <a:ext cx="2977019" cy="2362200"/>
          </a:xfrm>
          <a:prstGeom prst="rect">
            <a:avLst/>
          </a:prstGeom>
        </p:spPr>
      </p:pic>
      <p:pic>
        <p:nvPicPr>
          <p:cNvPr id="7" name="Picture 6">
            <a:extLst>
              <a:ext uri="{FF2B5EF4-FFF2-40B4-BE49-F238E27FC236}">
                <a16:creationId xmlns:a16="http://schemas.microsoft.com/office/drawing/2014/main" id="{7A9834F5-BCA4-4882-AA4B-C22FA0399607}"/>
              </a:ext>
            </a:extLst>
          </p:cNvPr>
          <p:cNvPicPr>
            <a:picLocks noChangeAspect="1"/>
          </p:cNvPicPr>
          <p:nvPr/>
        </p:nvPicPr>
        <p:blipFill>
          <a:blip r:embed="rId4"/>
          <a:stretch>
            <a:fillRect/>
          </a:stretch>
        </p:blipFill>
        <p:spPr>
          <a:xfrm>
            <a:off x="152400" y="4343400"/>
            <a:ext cx="5220429" cy="2305372"/>
          </a:xfrm>
          <a:prstGeom prst="rect">
            <a:avLst/>
          </a:prstGeom>
        </p:spPr>
      </p:pic>
    </p:spTree>
    <p:extLst>
      <p:ext uri="{BB962C8B-B14F-4D97-AF65-F5344CB8AC3E}">
        <p14:creationId xmlns:p14="http://schemas.microsoft.com/office/powerpoint/2010/main" val="54569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56598" y="764430"/>
            <a:ext cx="5963202" cy="3286804"/>
          </a:xfrm>
          <a:prstGeom prst="rect">
            <a:avLst/>
          </a:prstGeom>
          <a:ln>
            <a:solidFill>
              <a:schemeClr val="accent1"/>
            </a:solidFill>
          </a:ln>
        </p:spPr>
      </p:pic>
      <p:pic>
        <p:nvPicPr>
          <p:cNvPr id="9" name="Picture 8"/>
          <p:cNvPicPr>
            <a:picLocks noChangeAspect="1"/>
          </p:cNvPicPr>
          <p:nvPr/>
        </p:nvPicPr>
        <p:blipFill>
          <a:blip r:embed="rId3"/>
          <a:stretch>
            <a:fillRect/>
          </a:stretch>
        </p:blipFill>
        <p:spPr>
          <a:xfrm>
            <a:off x="4876799" y="4972574"/>
            <a:ext cx="4086341" cy="1275826"/>
          </a:xfrm>
          <a:prstGeom prst="rect">
            <a:avLst/>
          </a:prstGeom>
        </p:spPr>
      </p:pic>
      <p:sp>
        <p:nvSpPr>
          <p:cNvPr id="10" name="TextBox 9"/>
          <p:cNvSpPr txBox="1"/>
          <p:nvPr/>
        </p:nvSpPr>
        <p:spPr>
          <a:xfrm>
            <a:off x="4899211" y="4419600"/>
            <a:ext cx="1570620" cy="400110"/>
          </a:xfrm>
          <a:prstGeom prst="rect">
            <a:avLst/>
          </a:prstGeom>
          <a:noFill/>
        </p:spPr>
        <p:txBody>
          <a:bodyPr wrap="square" rtlCol="0">
            <a:spAutoFit/>
          </a:bodyPr>
          <a:lstStyle/>
          <a:p>
            <a:pPr defTabSz="685800" fontAlgn="auto">
              <a:spcBef>
                <a:spcPts val="0"/>
              </a:spcBef>
              <a:spcAft>
                <a:spcPts val="0"/>
              </a:spcAft>
            </a:pPr>
            <a:r>
              <a:rPr lang="en-IN" sz="2000" b="1" u="sng" dirty="0">
                <a:solidFill>
                  <a:srgbClr val="FF0000"/>
                </a:solidFill>
                <a:latin typeface="Calibri" panose="020F0502020204030204"/>
                <a:cs typeface="+mn-cs"/>
              </a:rPr>
              <a:t>OUTPUT</a:t>
            </a:r>
          </a:p>
        </p:txBody>
      </p:sp>
      <p:pic>
        <p:nvPicPr>
          <p:cNvPr id="11" name="Picture 10"/>
          <p:cNvPicPr>
            <a:picLocks noChangeAspect="1"/>
          </p:cNvPicPr>
          <p:nvPr/>
        </p:nvPicPr>
        <p:blipFill>
          <a:blip r:embed="rId4"/>
          <a:stretch>
            <a:fillRect/>
          </a:stretch>
        </p:blipFill>
        <p:spPr>
          <a:xfrm>
            <a:off x="6257928" y="1400173"/>
            <a:ext cx="2646760" cy="1954396"/>
          </a:xfrm>
          <a:prstGeom prst="rect">
            <a:avLst/>
          </a:prstGeom>
          <a:ln>
            <a:solidFill>
              <a:srgbClr val="FF0000"/>
            </a:solidFill>
          </a:ln>
        </p:spPr>
      </p:pic>
    </p:spTree>
    <p:extLst>
      <p:ext uri="{BB962C8B-B14F-4D97-AF65-F5344CB8AC3E}">
        <p14:creationId xmlns:p14="http://schemas.microsoft.com/office/powerpoint/2010/main" val="1694513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Static Member Functions</a:t>
            </a:r>
          </a:p>
        </p:txBody>
      </p:sp>
    </p:spTree>
    <p:extLst>
      <p:ext uri="{BB962C8B-B14F-4D97-AF65-F5344CB8AC3E}">
        <p14:creationId xmlns:p14="http://schemas.microsoft.com/office/powerpoint/2010/main" val="264240828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Static Member Functions</a:t>
            </a:r>
          </a:p>
        </p:txBody>
      </p:sp>
      <p:sp>
        <p:nvSpPr>
          <p:cNvPr id="3" name="Content Placeholder 2"/>
          <p:cNvSpPr>
            <a:spLocks noGrp="1"/>
          </p:cNvSpPr>
          <p:nvPr>
            <p:ph idx="1"/>
          </p:nvPr>
        </p:nvSpPr>
        <p:spPr>
          <a:xfrm>
            <a:off x="1285875" y="1600200"/>
            <a:ext cx="6572250" cy="2171700"/>
          </a:xfrm>
          <a:solidFill>
            <a:schemeClr val="tx2">
              <a:lumMod val="20000"/>
              <a:lumOff val="80000"/>
            </a:schemeClr>
          </a:solidFill>
        </p:spPr>
        <p:txBody>
          <a:bodyPr>
            <a:normAutofit/>
          </a:bodyPr>
          <a:lstStyle/>
          <a:p>
            <a:pPr algn="just">
              <a:buClr>
                <a:schemeClr val="tx1"/>
              </a:buClr>
            </a:pPr>
            <a:r>
              <a:rPr lang="en-US" b="1" dirty="0">
                <a:solidFill>
                  <a:srgbClr val="C00000"/>
                </a:solidFill>
              </a:rPr>
              <a:t>Static member functions</a:t>
            </a:r>
            <a:r>
              <a:rPr lang="en-US" dirty="0">
                <a:solidFill>
                  <a:srgbClr val="C00000"/>
                </a:solidFill>
              </a:rPr>
              <a:t> </a:t>
            </a:r>
            <a:r>
              <a:rPr lang="en-US" dirty="0"/>
              <a:t>can access only static members of the class.</a:t>
            </a:r>
            <a:endParaRPr lang="en-IN" dirty="0"/>
          </a:p>
          <a:p>
            <a:pPr lvl="0" algn="just">
              <a:buClr>
                <a:schemeClr val="tx1"/>
              </a:buClr>
            </a:pPr>
            <a:r>
              <a:rPr lang="en-US" b="1" dirty="0">
                <a:solidFill>
                  <a:srgbClr val="C00000"/>
                </a:solidFill>
              </a:rPr>
              <a:t>Static member functions</a:t>
            </a:r>
            <a:r>
              <a:rPr lang="en-US" b="1" dirty="0">
                <a:solidFill>
                  <a:schemeClr val="accent1">
                    <a:lumMod val="75000"/>
                  </a:schemeClr>
                </a:solidFill>
              </a:rPr>
              <a:t> </a:t>
            </a:r>
            <a:r>
              <a:rPr lang="en-US" dirty="0"/>
              <a:t>can be invoked using class name, not object.</a:t>
            </a:r>
            <a:endParaRPr lang="en-IN" dirty="0"/>
          </a:p>
          <a:p>
            <a:pPr lvl="0" algn="just"/>
            <a:r>
              <a:rPr lang="en-US" dirty="0"/>
              <a:t>There cannot be static and non-static version of the same function.</a:t>
            </a:r>
            <a:endParaRPr lang="en-IN" dirty="0"/>
          </a:p>
          <a:p>
            <a:pPr algn="just"/>
            <a:endParaRPr lang="en-IN" dirty="0"/>
          </a:p>
        </p:txBody>
      </p:sp>
      <p:sp>
        <p:nvSpPr>
          <p:cNvPr id="4" name="Rectangle 3"/>
          <p:cNvSpPr/>
          <p:nvPr/>
        </p:nvSpPr>
        <p:spPr>
          <a:xfrm>
            <a:off x="1285875" y="3886201"/>
            <a:ext cx="6572250" cy="390107"/>
          </a:xfrm>
          <a:prstGeom prst="rect">
            <a:avLst/>
          </a:prstGeom>
          <a:solidFill>
            <a:schemeClr val="tx2">
              <a:lumMod val="40000"/>
              <a:lumOff val="60000"/>
            </a:schemeClr>
          </a:solidFill>
        </p:spPr>
        <p:txBody>
          <a:bodyPr wrap="square">
            <a:spAutoFit/>
          </a:bodyPr>
          <a:lstStyle/>
          <a:p>
            <a:pPr marL="257175" indent="-257175" algn="just" defTabSz="685800" fontAlgn="auto">
              <a:lnSpc>
                <a:spcPct val="114000"/>
              </a:lnSpc>
              <a:spcBef>
                <a:spcPct val="20000"/>
              </a:spcBef>
              <a:spcAft>
                <a:spcPts val="0"/>
              </a:spcAft>
              <a:buFont typeface="Wingdings" panose="05000000000000000000" pitchFamily="2" charset="2"/>
              <a:buChar char="§"/>
              <a:defRPr/>
            </a:pPr>
            <a:r>
              <a:rPr lang="en-US" sz="1800" dirty="0">
                <a:solidFill>
                  <a:prstClr val="black"/>
                </a:solidFill>
                <a:latin typeface="Calibri"/>
                <a:ea typeface="Times New Roman" panose="02020603050405020304" pitchFamily="18" charset="0"/>
                <a:cs typeface="Times New Roman" panose="02020603050405020304" pitchFamily="18" charset="0"/>
              </a:rPr>
              <a:t>A static member function does not have </a:t>
            </a:r>
            <a:r>
              <a:rPr lang="en-US" sz="1800" b="1" dirty="0">
                <a:solidFill>
                  <a:srgbClr val="C00000"/>
                </a:solidFill>
                <a:latin typeface="Calibri"/>
                <a:ea typeface="Times New Roman" panose="02020603050405020304" pitchFamily="18" charset="0"/>
                <a:cs typeface="Times New Roman" panose="02020603050405020304" pitchFamily="18" charset="0"/>
              </a:rPr>
              <a:t>this</a:t>
            </a:r>
            <a:r>
              <a:rPr lang="en-US" sz="1800" dirty="0">
                <a:solidFill>
                  <a:srgbClr val="C00000"/>
                </a:solidFill>
                <a:latin typeface="Calibri"/>
                <a:ea typeface="Times New Roman" panose="02020603050405020304" pitchFamily="18" charset="0"/>
                <a:cs typeface="Times New Roman" panose="02020603050405020304" pitchFamily="18" charset="0"/>
              </a:rPr>
              <a:t> </a:t>
            </a:r>
            <a:r>
              <a:rPr lang="en-US" sz="1800" b="1" dirty="0">
                <a:solidFill>
                  <a:srgbClr val="C00000"/>
                </a:solidFill>
                <a:latin typeface="Calibri"/>
                <a:ea typeface="Times New Roman" panose="02020603050405020304" pitchFamily="18" charset="0"/>
                <a:cs typeface="Times New Roman" panose="02020603050405020304" pitchFamily="18" charset="0"/>
              </a:rPr>
              <a:t>pointer</a:t>
            </a:r>
            <a:r>
              <a:rPr lang="en-US" sz="1800" dirty="0">
                <a:solidFill>
                  <a:prstClr val="black"/>
                </a:solidFill>
                <a:latin typeface="Calibri"/>
                <a:ea typeface="Times New Roman" panose="02020603050405020304" pitchFamily="18" charset="0"/>
                <a:cs typeface="Times New Roman" panose="02020603050405020304" pitchFamily="18" charset="0"/>
              </a:rPr>
              <a:t>.</a:t>
            </a:r>
            <a:endParaRPr lang="en-IN" sz="1800" dirty="0">
              <a:solidFill>
                <a:prstClr val="black"/>
              </a:solidFill>
              <a:latin typeface="Calibri"/>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80148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P spid="4"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51378" y="975229"/>
            <a:ext cx="4520621" cy="4034294"/>
          </a:xfrm>
          <a:prstGeom prst="rect">
            <a:avLst/>
          </a:prstGeom>
          <a:noFill/>
          <a:ln>
            <a:solidFill>
              <a:srgbClr val="FF0000"/>
            </a:solidFill>
          </a:ln>
        </p:spPr>
      </p:pic>
      <p:pic>
        <p:nvPicPr>
          <p:cNvPr id="5" name="Picture 4"/>
          <p:cNvPicPr>
            <a:picLocks noChangeAspect="1"/>
          </p:cNvPicPr>
          <p:nvPr/>
        </p:nvPicPr>
        <p:blipFill>
          <a:blip r:embed="rId3"/>
          <a:stretch>
            <a:fillRect/>
          </a:stretch>
        </p:blipFill>
        <p:spPr>
          <a:xfrm>
            <a:off x="4774287" y="975229"/>
            <a:ext cx="4074943" cy="2233802"/>
          </a:xfrm>
          <a:prstGeom prst="rect">
            <a:avLst/>
          </a:prstGeom>
          <a:ln>
            <a:solidFill>
              <a:srgbClr val="FF0000"/>
            </a:solidFill>
          </a:ln>
        </p:spPr>
      </p:pic>
      <p:pic>
        <p:nvPicPr>
          <p:cNvPr id="6" name="Picture 5"/>
          <p:cNvPicPr>
            <a:picLocks noChangeAspect="1"/>
          </p:cNvPicPr>
          <p:nvPr/>
        </p:nvPicPr>
        <p:blipFill>
          <a:blip r:embed="rId4"/>
          <a:stretch>
            <a:fillRect/>
          </a:stretch>
        </p:blipFill>
        <p:spPr>
          <a:xfrm>
            <a:off x="6811759" y="4455060"/>
            <a:ext cx="870443" cy="474787"/>
          </a:xfrm>
          <a:prstGeom prst="rect">
            <a:avLst/>
          </a:prstGeom>
        </p:spPr>
      </p:pic>
      <p:sp>
        <p:nvSpPr>
          <p:cNvPr id="7" name="TextBox 6"/>
          <p:cNvSpPr txBox="1"/>
          <p:nvPr/>
        </p:nvSpPr>
        <p:spPr>
          <a:xfrm>
            <a:off x="5285937" y="4476162"/>
            <a:ext cx="1303439" cy="415498"/>
          </a:xfrm>
          <a:prstGeom prst="rect">
            <a:avLst/>
          </a:prstGeom>
          <a:noFill/>
        </p:spPr>
        <p:txBody>
          <a:bodyPr wrap="square" rtlCol="0">
            <a:spAutoFit/>
          </a:bodyPr>
          <a:lstStyle/>
          <a:p>
            <a:pPr defTabSz="685800" fontAlgn="auto">
              <a:spcBef>
                <a:spcPts val="0"/>
              </a:spcBef>
              <a:spcAft>
                <a:spcPts val="0"/>
              </a:spcAft>
            </a:pPr>
            <a:r>
              <a:rPr lang="en-IN" sz="2100" b="1" u="sng" dirty="0">
                <a:solidFill>
                  <a:srgbClr val="FF0000"/>
                </a:solidFill>
                <a:latin typeface="Calibri" panose="020F0502020204030204"/>
                <a:cs typeface="+mn-cs"/>
              </a:rPr>
              <a:t>OUTPUT</a:t>
            </a:r>
          </a:p>
        </p:txBody>
      </p:sp>
    </p:spTree>
    <p:extLst>
      <p:ext uri="{BB962C8B-B14F-4D97-AF65-F5344CB8AC3E}">
        <p14:creationId xmlns:p14="http://schemas.microsoft.com/office/powerpoint/2010/main" val="3408168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04800" y="761999"/>
            <a:ext cx="6629400" cy="4785991"/>
          </a:xfrm>
          <a:prstGeom prst="rect">
            <a:avLst/>
          </a:prstGeom>
        </p:spPr>
      </p:pic>
    </p:spTree>
    <p:extLst>
      <p:ext uri="{BB962C8B-B14F-4D97-AF65-F5344CB8AC3E}">
        <p14:creationId xmlns:p14="http://schemas.microsoft.com/office/powerpoint/2010/main" val="110229951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96409-9EDB-4133-90A3-18DC5B15334F}"/>
              </a:ext>
            </a:extLst>
          </p:cNvPr>
          <p:cNvSpPr>
            <a:spLocks noGrp="1"/>
          </p:cNvSpPr>
          <p:nvPr>
            <p:ph type="title"/>
          </p:nvPr>
        </p:nvSpPr>
        <p:spPr>
          <a:xfrm>
            <a:off x="628650" y="365127"/>
            <a:ext cx="7886700" cy="473074"/>
          </a:xfrm>
        </p:spPr>
        <p:txBody>
          <a:bodyPr>
            <a:normAutofit fontScale="90000"/>
          </a:bodyPr>
          <a:lstStyle/>
          <a:p>
            <a:r>
              <a:rPr lang="en-IN" b="1" dirty="0">
                <a:solidFill>
                  <a:srgbClr val="7030A0"/>
                </a:solidFill>
              </a:rPr>
              <a:t>Question:</a:t>
            </a:r>
          </a:p>
        </p:txBody>
      </p:sp>
      <p:pic>
        <p:nvPicPr>
          <p:cNvPr id="4" name="Picture 3">
            <a:extLst>
              <a:ext uri="{FF2B5EF4-FFF2-40B4-BE49-F238E27FC236}">
                <a16:creationId xmlns:a16="http://schemas.microsoft.com/office/drawing/2014/main" id="{1C527231-35D9-44BD-840B-C3D75BA616DE}"/>
              </a:ext>
            </a:extLst>
          </p:cNvPr>
          <p:cNvPicPr>
            <a:picLocks noChangeAspect="1"/>
          </p:cNvPicPr>
          <p:nvPr/>
        </p:nvPicPr>
        <p:blipFill>
          <a:blip r:embed="rId2"/>
          <a:stretch>
            <a:fillRect/>
          </a:stretch>
        </p:blipFill>
        <p:spPr>
          <a:xfrm>
            <a:off x="628650" y="1295400"/>
            <a:ext cx="4248743" cy="2333951"/>
          </a:xfrm>
          <a:prstGeom prst="rect">
            <a:avLst/>
          </a:prstGeom>
        </p:spPr>
      </p:pic>
      <p:sp>
        <p:nvSpPr>
          <p:cNvPr id="6" name="TextBox 5">
            <a:extLst>
              <a:ext uri="{FF2B5EF4-FFF2-40B4-BE49-F238E27FC236}">
                <a16:creationId xmlns:a16="http://schemas.microsoft.com/office/drawing/2014/main" id="{EA390CB6-0D9E-4878-8213-ABB055676787}"/>
              </a:ext>
            </a:extLst>
          </p:cNvPr>
          <p:cNvSpPr txBox="1"/>
          <p:nvPr/>
        </p:nvSpPr>
        <p:spPr>
          <a:xfrm>
            <a:off x="249342" y="4086550"/>
            <a:ext cx="8702254" cy="1200329"/>
          </a:xfrm>
          <a:prstGeom prst="rect">
            <a:avLst/>
          </a:prstGeom>
          <a:noFill/>
        </p:spPr>
        <p:txBody>
          <a:bodyPr wrap="none" rtlCol="0">
            <a:spAutoFit/>
          </a:bodyPr>
          <a:lstStyle/>
          <a:p>
            <a:r>
              <a:rPr lang="en-IN" dirty="0"/>
              <a:t>Create Emp class with data members for storing emp id , age , salary.</a:t>
            </a:r>
          </a:p>
          <a:p>
            <a:r>
              <a:rPr lang="en-IN" dirty="0"/>
              <a:t>ID is static.</a:t>
            </a:r>
          </a:p>
          <a:p>
            <a:r>
              <a:rPr lang="en-IN" dirty="0"/>
              <a:t>  </a:t>
            </a:r>
          </a:p>
        </p:txBody>
      </p:sp>
      <p:pic>
        <p:nvPicPr>
          <p:cNvPr id="7" name="Picture 6">
            <a:extLst>
              <a:ext uri="{FF2B5EF4-FFF2-40B4-BE49-F238E27FC236}">
                <a16:creationId xmlns:a16="http://schemas.microsoft.com/office/drawing/2014/main" id="{A41FBA62-88A9-4071-B1FD-92F566B645B3}"/>
              </a:ext>
            </a:extLst>
          </p:cNvPr>
          <p:cNvPicPr>
            <a:picLocks noChangeAspect="1"/>
          </p:cNvPicPr>
          <p:nvPr/>
        </p:nvPicPr>
        <p:blipFill>
          <a:blip r:embed="rId3"/>
          <a:stretch>
            <a:fillRect/>
          </a:stretch>
        </p:blipFill>
        <p:spPr>
          <a:xfrm>
            <a:off x="5257800" y="628372"/>
            <a:ext cx="3484114" cy="1454708"/>
          </a:xfrm>
          <a:prstGeom prst="rect">
            <a:avLst/>
          </a:prstGeom>
        </p:spPr>
      </p:pic>
    </p:spTree>
    <p:extLst>
      <p:ext uri="{BB962C8B-B14F-4D97-AF65-F5344CB8AC3E}">
        <p14:creationId xmlns:p14="http://schemas.microsoft.com/office/powerpoint/2010/main" val="94101521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4D6C297-A07A-44C1-B856-29107FB8B4FC}"/>
              </a:ext>
            </a:extLst>
          </p:cNvPr>
          <p:cNvPicPr>
            <a:picLocks noChangeAspect="1"/>
          </p:cNvPicPr>
          <p:nvPr/>
        </p:nvPicPr>
        <p:blipFill>
          <a:blip r:embed="rId2"/>
          <a:stretch>
            <a:fillRect/>
          </a:stretch>
        </p:blipFill>
        <p:spPr>
          <a:xfrm>
            <a:off x="225238" y="457200"/>
            <a:ext cx="6858892" cy="5638800"/>
          </a:xfrm>
          <a:prstGeom prst="rect">
            <a:avLst/>
          </a:prstGeom>
        </p:spPr>
      </p:pic>
      <p:sp>
        <p:nvSpPr>
          <p:cNvPr id="6" name="Title 1">
            <a:extLst>
              <a:ext uri="{FF2B5EF4-FFF2-40B4-BE49-F238E27FC236}">
                <a16:creationId xmlns:a16="http://schemas.microsoft.com/office/drawing/2014/main" id="{E59162A0-070F-4B44-8768-EBAD1C429767}"/>
              </a:ext>
            </a:extLst>
          </p:cNvPr>
          <p:cNvSpPr txBox="1">
            <a:spLocks/>
          </p:cNvSpPr>
          <p:nvPr/>
        </p:nvSpPr>
        <p:spPr>
          <a:xfrm>
            <a:off x="6553200" y="0"/>
            <a:ext cx="2343150" cy="1325563"/>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fontAlgn="auto">
              <a:spcAft>
                <a:spcPts val="0"/>
              </a:spcAft>
            </a:pPr>
            <a:r>
              <a:rPr lang="en-IN" b="1">
                <a:solidFill>
                  <a:srgbClr val="7030A0"/>
                </a:solidFill>
              </a:rPr>
              <a:t>solution</a:t>
            </a:r>
            <a:endParaRPr lang="en-IN" b="1" dirty="0">
              <a:solidFill>
                <a:srgbClr val="7030A0"/>
              </a:solidFill>
            </a:endParaRPr>
          </a:p>
        </p:txBody>
      </p:sp>
    </p:spTree>
    <p:extLst>
      <p:ext uri="{BB962C8B-B14F-4D97-AF65-F5344CB8AC3E}">
        <p14:creationId xmlns:p14="http://schemas.microsoft.com/office/powerpoint/2010/main" val="26184650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14400"/>
            <a:ext cx="8229600" cy="857250"/>
          </a:xfrm>
        </p:spPr>
        <p:txBody>
          <a:bodyPr>
            <a:normAutofit/>
          </a:bodyPr>
          <a:lstStyle/>
          <a:p>
            <a:r>
              <a:rPr lang="en-US" dirty="0"/>
              <a:t>Friend function</a:t>
            </a:r>
          </a:p>
        </p:txBody>
      </p:sp>
      <p:sp>
        <p:nvSpPr>
          <p:cNvPr id="3" name="Content Placeholder 2"/>
          <p:cNvSpPr>
            <a:spLocks noGrp="1"/>
          </p:cNvSpPr>
          <p:nvPr>
            <p:ph idx="1"/>
          </p:nvPr>
        </p:nvSpPr>
        <p:spPr>
          <a:xfrm>
            <a:off x="533400" y="1803026"/>
            <a:ext cx="8229600" cy="3394472"/>
          </a:xfrm>
        </p:spPr>
        <p:txBody>
          <a:bodyPr>
            <a:noAutofit/>
          </a:bodyPr>
          <a:lstStyle/>
          <a:p>
            <a:pPr algn="just">
              <a:buClr>
                <a:schemeClr val="accent2">
                  <a:lumMod val="60000"/>
                  <a:lumOff val="40000"/>
                </a:schemeClr>
              </a:buClr>
              <a:buFont typeface="Webdings" panose="05030102010509060703" pitchFamily="18" charset="2"/>
              <a:buChar char=""/>
            </a:pPr>
            <a:r>
              <a:rPr lang="en-US" sz="2100" b="1" i="1" dirty="0">
                <a:solidFill>
                  <a:srgbClr val="C00000"/>
                </a:solidFill>
              </a:rPr>
              <a:t>A friend function </a:t>
            </a:r>
            <a:r>
              <a:rPr lang="en-US" sz="2100" dirty="0"/>
              <a:t>is not in the scope of the class, in which it has been declared as friend.</a:t>
            </a:r>
          </a:p>
          <a:p>
            <a:pPr algn="just">
              <a:buClr>
                <a:schemeClr val="accent2">
                  <a:lumMod val="60000"/>
                  <a:lumOff val="40000"/>
                </a:schemeClr>
              </a:buClr>
              <a:buFont typeface="Webdings" panose="05030102010509060703" pitchFamily="18" charset="2"/>
              <a:buChar char=""/>
            </a:pPr>
            <a:r>
              <a:rPr lang="en-US" sz="2100" dirty="0"/>
              <a:t>It cannot be called using the object of that class.</a:t>
            </a:r>
          </a:p>
          <a:p>
            <a:pPr algn="just">
              <a:buClr>
                <a:schemeClr val="accent2">
                  <a:lumMod val="60000"/>
                  <a:lumOff val="40000"/>
                </a:schemeClr>
              </a:buClr>
              <a:buFont typeface="Webdings" panose="05030102010509060703" pitchFamily="18" charset="2"/>
              <a:buChar char=""/>
            </a:pPr>
            <a:r>
              <a:rPr lang="en-US" sz="2100" dirty="0"/>
              <a:t> It can be invoked like a normal function without any object.</a:t>
            </a:r>
          </a:p>
          <a:p>
            <a:pPr algn="just">
              <a:buClr>
                <a:schemeClr val="accent2">
                  <a:lumMod val="60000"/>
                  <a:lumOff val="40000"/>
                </a:schemeClr>
              </a:buClr>
              <a:buFont typeface="Webdings" panose="05030102010509060703" pitchFamily="18" charset="2"/>
              <a:buChar char=""/>
            </a:pPr>
            <a:r>
              <a:rPr lang="en-US" sz="2100" dirty="0"/>
              <a:t>Unlike member functions, it cannot use the member names directly.</a:t>
            </a:r>
          </a:p>
          <a:p>
            <a:pPr algn="just">
              <a:buClr>
                <a:schemeClr val="accent2">
                  <a:lumMod val="60000"/>
                  <a:lumOff val="40000"/>
                </a:schemeClr>
              </a:buClr>
              <a:buFont typeface="Webdings" panose="05030102010509060703" pitchFamily="18" charset="2"/>
              <a:buChar char=""/>
            </a:pPr>
            <a:r>
              <a:rPr lang="en-US" sz="2100" dirty="0"/>
              <a:t>It can be declared in </a:t>
            </a:r>
            <a:r>
              <a:rPr lang="en-US" sz="2100" b="1" i="1" dirty="0"/>
              <a:t>public or private part </a:t>
            </a:r>
            <a:r>
              <a:rPr lang="en-US" sz="2100" dirty="0"/>
              <a:t>without affecting its meaning.</a:t>
            </a:r>
          </a:p>
          <a:p>
            <a:pPr algn="just">
              <a:buClr>
                <a:schemeClr val="accent2">
                  <a:lumMod val="60000"/>
                  <a:lumOff val="40000"/>
                </a:schemeClr>
              </a:buClr>
              <a:buFont typeface="Webdings" panose="05030102010509060703" pitchFamily="18" charset="2"/>
              <a:buChar char=""/>
            </a:pPr>
            <a:r>
              <a:rPr lang="en-US" sz="2100" dirty="0"/>
              <a:t>Usually, it has objects as arguments.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20003" y="1228645"/>
            <a:ext cx="4770926" cy="4200815"/>
          </a:xfrm>
          <a:prstGeom prst="rect">
            <a:avLst/>
          </a:prstGeom>
        </p:spPr>
      </p:pic>
      <p:pic>
        <p:nvPicPr>
          <p:cNvPr id="6" name="Picture 5"/>
          <p:cNvPicPr>
            <a:picLocks noChangeAspect="1"/>
          </p:cNvPicPr>
          <p:nvPr/>
        </p:nvPicPr>
        <p:blipFill>
          <a:blip r:embed="rId3"/>
          <a:stretch>
            <a:fillRect/>
          </a:stretch>
        </p:blipFill>
        <p:spPr>
          <a:xfrm>
            <a:off x="5296239" y="1600200"/>
            <a:ext cx="3637873" cy="2171700"/>
          </a:xfrm>
          <a:prstGeom prst="rect">
            <a:avLst/>
          </a:prstGeom>
          <a:ln>
            <a:noFill/>
          </a:ln>
        </p:spPr>
      </p:pic>
      <p:sp>
        <p:nvSpPr>
          <p:cNvPr id="7" name="TextBox 6"/>
          <p:cNvSpPr txBox="1"/>
          <p:nvPr/>
        </p:nvSpPr>
        <p:spPr>
          <a:xfrm>
            <a:off x="5086350" y="882396"/>
            <a:ext cx="4057650" cy="369332"/>
          </a:xfrm>
          <a:prstGeom prst="rect">
            <a:avLst/>
          </a:prstGeom>
          <a:noFill/>
        </p:spPr>
        <p:txBody>
          <a:bodyPr wrap="square" rtlCol="0">
            <a:spAutoFit/>
          </a:bodyPr>
          <a:lstStyle/>
          <a:p>
            <a:pPr algn="r" defTabSz="685800" fontAlgn="auto">
              <a:spcBef>
                <a:spcPts val="0"/>
              </a:spcBef>
              <a:spcAft>
                <a:spcPts val="0"/>
              </a:spcAft>
            </a:pPr>
            <a:r>
              <a:rPr lang="en-IN" sz="1800" b="1" dirty="0">
                <a:solidFill>
                  <a:srgbClr val="4F81BD"/>
                </a:solidFill>
                <a:latin typeface="Arial" panose="020B0604020202020204"/>
                <a:cs typeface="+mn-cs"/>
              </a:rPr>
              <a:t>Example1: Friend function</a:t>
            </a:r>
          </a:p>
        </p:txBody>
      </p:sp>
      <p:grpSp>
        <p:nvGrpSpPr>
          <p:cNvPr id="4" name="Group 3">
            <a:extLst>
              <a:ext uri="{FF2B5EF4-FFF2-40B4-BE49-F238E27FC236}">
                <a16:creationId xmlns:a16="http://schemas.microsoft.com/office/drawing/2014/main" id="{01A1B443-8BEF-4B72-9F0A-268BE18733C7}"/>
              </a:ext>
            </a:extLst>
          </p:cNvPr>
          <p:cNvGrpSpPr/>
          <p:nvPr/>
        </p:nvGrpSpPr>
        <p:grpSpPr>
          <a:xfrm>
            <a:off x="5503683" y="4514850"/>
            <a:ext cx="3421856" cy="946547"/>
            <a:chOff x="7338243" y="4876800"/>
            <a:chExt cx="4562475" cy="1262062"/>
          </a:xfrm>
        </p:grpSpPr>
        <p:pic>
          <p:nvPicPr>
            <p:cNvPr id="3" name="Picture 2">
              <a:extLst>
                <a:ext uri="{FF2B5EF4-FFF2-40B4-BE49-F238E27FC236}">
                  <a16:creationId xmlns:a16="http://schemas.microsoft.com/office/drawing/2014/main" id="{CB84B1D9-CBD9-402E-87F5-FE5CB069C0FC}"/>
                </a:ext>
              </a:extLst>
            </p:cNvPr>
            <p:cNvPicPr>
              <a:picLocks noChangeAspect="1"/>
            </p:cNvPicPr>
            <p:nvPr/>
          </p:nvPicPr>
          <p:blipFill>
            <a:blip r:embed="rId4"/>
            <a:stretch>
              <a:fillRect/>
            </a:stretch>
          </p:blipFill>
          <p:spPr>
            <a:xfrm>
              <a:off x="7338243" y="5595937"/>
              <a:ext cx="4562475" cy="542925"/>
            </a:xfrm>
            <a:prstGeom prst="rect">
              <a:avLst/>
            </a:prstGeom>
          </p:spPr>
        </p:pic>
        <p:sp>
          <p:nvSpPr>
            <p:cNvPr id="8" name="TextBox 7">
              <a:extLst>
                <a:ext uri="{FF2B5EF4-FFF2-40B4-BE49-F238E27FC236}">
                  <a16:creationId xmlns:a16="http://schemas.microsoft.com/office/drawing/2014/main" id="{24C8C8F4-6129-46AE-BF8F-8658526B762B}"/>
                </a:ext>
              </a:extLst>
            </p:cNvPr>
            <p:cNvSpPr txBox="1"/>
            <p:nvPr/>
          </p:nvSpPr>
          <p:spPr>
            <a:xfrm>
              <a:off x="8432140" y="4876800"/>
              <a:ext cx="2109517" cy="615553"/>
            </a:xfrm>
            <a:prstGeom prst="rect">
              <a:avLst/>
            </a:prstGeom>
            <a:noFill/>
          </p:spPr>
          <p:txBody>
            <a:bodyPr wrap="square" rtlCol="0">
              <a:spAutoFit/>
            </a:bodyPr>
            <a:lstStyle/>
            <a:p>
              <a:pPr algn="ctr" defTabSz="685800" fontAlgn="auto">
                <a:spcBef>
                  <a:spcPts val="0"/>
                </a:spcBef>
                <a:spcAft>
                  <a:spcPts val="0"/>
                </a:spcAft>
              </a:pPr>
              <a:r>
                <a:rPr lang="en-US" dirty="0">
                  <a:solidFill>
                    <a:srgbClr val="C00000"/>
                  </a:solidFill>
                  <a:latin typeface="Arial" panose="020B0604020202020204"/>
                  <a:cs typeface="+mn-cs"/>
                </a:rPr>
                <a:t>Output</a:t>
              </a:r>
            </a:p>
          </p:txBody>
        </p:sp>
      </p:grpSp>
    </p:spTree>
    <p:extLst>
      <p:ext uri="{BB962C8B-B14F-4D97-AF65-F5344CB8AC3E}">
        <p14:creationId xmlns:p14="http://schemas.microsoft.com/office/powerpoint/2010/main" val="3885106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933925"/>
            <a:ext cx="5486400" cy="5075398"/>
          </a:xfrm>
          <a:prstGeom prst="rect">
            <a:avLst/>
          </a:prstGeom>
        </p:spPr>
      </p:pic>
      <p:sp>
        <p:nvSpPr>
          <p:cNvPr id="6" name="TextBox 5"/>
          <p:cNvSpPr txBox="1"/>
          <p:nvPr/>
        </p:nvSpPr>
        <p:spPr>
          <a:xfrm>
            <a:off x="4114800" y="868680"/>
            <a:ext cx="5029200" cy="369332"/>
          </a:xfrm>
          <a:prstGeom prst="rect">
            <a:avLst/>
          </a:prstGeom>
          <a:noFill/>
        </p:spPr>
        <p:txBody>
          <a:bodyPr wrap="square" rtlCol="0">
            <a:spAutoFit/>
          </a:bodyPr>
          <a:lstStyle/>
          <a:p>
            <a:pPr algn="r" defTabSz="685800" fontAlgn="auto">
              <a:spcBef>
                <a:spcPts val="0"/>
              </a:spcBef>
              <a:spcAft>
                <a:spcPts val="0"/>
              </a:spcAft>
            </a:pPr>
            <a:r>
              <a:rPr lang="en-IN" sz="1800" b="1" dirty="0">
                <a:solidFill>
                  <a:srgbClr val="4F81BD"/>
                </a:solidFill>
                <a:latin typeface="Arial" panose="020B0604020202020204"/>
                <a:cs typeface="+mn-cs"/>
              </a:rPr>
              <a:t>Example 2: Friend function with two classes</a:t>
            </a:r>
          </a:p>
        </p:txBody>
      </p:sp>
      <p:pic>
        <p:nvPicPr>
          <p:cNvPr id="5" name="Picture 4">
            <a:extLst>
              <a:ext uri="{FF2B5EF4-FFF2-40B4-BE49-F238E27FC236}">
                <a16:creationId xmlns:a16="http://schemas.microsoft.com/office/drawing/2014/main" id="{0F864E2B-CC43-4880-83B3-C726D54AA08F}"/>
              </a:ext>
            </a:extLst>
          </p:cNvPr>
          <p:cNvPicPr>
            <a:picLocks noChangeAspect="1"/>
          </p:cNvPicPr>
          <p:nvPr/>
        </p:nvPicPr>
        <p:blipFill>
          <a:blip r:embed="rId3"/>
          <a:stretch>
            <a:fillRect/>
          </a:stretch>
        </p:blipFill>
        <p:spPr>
          <a:xfrm>
            <a:off x="5035036" y="1497808"/>
            <a:ext cx="3903395" cy="1085850"/>
          </a:xfrm>
          <a:prstGeom prst="rect">
            <a:avLst/>
          </a:prstGeom>
          <a:ln>
            <a:noFill/>
          </a:ln>
        </p:spPr>
      </p:pic>
      <p:pic>
        <p:nvPicPr>
          <p:cNvPr id="36" name="Picture 35">
            <a:extLst>
              <a:ext uri="{FF2B5EF4-FFF2-40B4-BE49-F238E27FC236}">
                <a16:creationId xmlns:a16="http://schemas.microsoft.com/office/drawing/2014/main" id="{4351D2EA-8580-4A43-B617-05BB9F4D316F}"/>
              </a:ext>
            </a:extLst>
          </p:cNvPr>
          <p:cNvPicPr>
            <a:picLocks noChangeAspect="1"/>
          </p:cNvPicPr>
          <p:nvPr/>
        </p:nvPicPr>
        <p:blipFill>
          <a:blip r:embed="rId4"/>
          <a:stretch>
            <a:fillRect/>
          </a:stretch>
        </p:blipFill>
        <p:spPr>
          <a:xfrm>
            <a:off x="5055038" y="3381421"/>
            <a:ext cx="4029366" cy="1785844"/>
          </a:xfrm>
          <a:prstGeom prst="rect">
            <a:avLst/>
          </a:prstGeom>
        </p:spPr>
      </p:pic>
      <p:sp>
        <p:nvSpPr>
          <p:cNvPr id="3" name="TextBox 2">
            <a:extLst>
              <a:ext uri="{FF2B5EF4-FFF2-40B4-BE49-F238E27FC236}">
                <a16:creationId xmlns:a16="http://schemas.microsoft.com/office/drawing/2014/main" id="{089BFF11-5130-4E5F-AFB7-7FD41D276BD4}"/>
              </a:ext>
            </a:extLst>
          </p:cNvPr>
          <p:cNvSpPr txBox="1"/>
          <p:nvPr/>
        </p:nvSpPr>
        <p:spPr>
          <a:xfrm>
            <a:off x="2228850" y="885646"/>
            <a:ext cx="1742785" cy="300082"/>
          </a:xfrm>
          <a:prstGeom prst="rect">
            <a:avLst/>
          </a:prstGeom>
          <a:noFill/>
        </p:spPr>
        <p:txBody>
          <a:bodyPr wrap="none" rtlCol="0">
            <a:spAutoFit/>
          </a:bodyPr>
          <a:lstStyle/>
          <a:p>
            <a:pPr defTabSz="685800" fontAlgn="auto">
              <a:spcBef>
                <a:spcPts val="0"/>
              </a:spcBef>
              <a:spcAft>
                <a:spcPts val="0"/>
              </a:spcAft>
            </a:pPr>
            <a:r>
              <a:rPr lang="en-US" sz="1350" dirty="0">
                <a:solidFill>
                  <a:srgbClr val="C00000"/>
                </a:solidFill>
                <a:latin typeface="Arial" panose="020B0604020202020204"/>
                <a:cs typeface="+mn-cs"/>
              </a:rPr>
              <a:t>// Forward reference</a:t>
            </a:r>
          </a:p>
        </p:txBody>
      </p:sp>
      <p:sp>
        <p:nvSpPr>
          <p:cNvPr id="7" name="Rectangle 6">
            <a:extLst>
              <a:ext uri="{FF2B5EF4-FFF2-40B4-BE49-F238E27FC236}">
                <a16:creationId xmlns:a16="http://schemas.microsoft.com/office/drawing/2014/main" id="{ACFB5F51-BD28-4000-9E7B-C7D9B98EC8AE}"/>
              </a:ext>
            </a:extLst>
          </p:cNvPr>
          <p:cNvSpPr/>
          <p:nvPr/>
        </p:nvSpPr>
        <p:spPr>
          <a:xfrm>
            <a:off x="2839619" y="2640330"/>
            <a:ext cx="2171700" cy="3462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US" sz="1350">
              <a:solidFill>
                <a:prstClr val="white"/>
              </a:solidFill>
              <a:latin typeface="Arial" panose="020B0604020202020204"/>
            </a:endParaRPr>
          </a:p>
        </p:txBody>
      </p:sp>
      <p:sp>
        <p:nvSpPr>
          <p:cNvPr id="41" name="Rectangle 40">
            <a:extLst>
              <a:ext uri="{FF2B5EF4-FFF2-40B4-BE49-F238E27FC236}">
                <a16:creationId xmlns:a16="http://schemas.microsoft.com/office/drawing/2014/main" id="{B7D69707-A2AF-45BC-84D2-0DC7FC6C3CE1}"/>
              </a:ext>
            </a:extLst>
          </p:cNvPr>
          <p:cNvSpPr/>
          <p:nvPr/>
        </p:nvSpPr>
        <p:spPr>
          <a:xfrm>
            <a:off x="31433" y="859370"/>
            <a:ext cx="2008086" cy="3462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US" sz="1350">
              <a:solidFill>
                <a:prstClr val="white"/>
              </a:solidFill>
              <a:latin typeface="Arial" panose="020B0604020202020204"/>
            </a:endParaRPr>
          </a:p>
        </p:txBody>
      </p:sp>
      <p:pic>
        <p:nvPicPr>
          <p:cNvPr id="9" name="Picture 8">
            <a:extLst>
              <a:ext uri="{FF2B5EF4-FFF2-40B4-BE49-F238E27FC236}">
                <a16:creationId xmlns:a16="http://schemas.microsoft.com/office/drawing/2014/main" id="{7E6CF7EE-05A6-4818-9CA5-681EE33EC4D2}"/>
              </a:ext>
            </a:extLst>
          </p:cNvPr>
          <p:cNvPicPr>
            <a:picLocks noChangeAspect="1"/>
          </p:cNvPicPr>
          <p:nvPr/>
        </p:nvPicPr>
        <p:blipFill>
          <a:blip r:embed="rId5"/>
          <a:stretch>
            <a:fillRect/>
          </a:stretch>
        </p:blipFill>
        <p:spPr>
          <a:xfrm>
            <a:off x="0" y="823438"/>
            <a:ext cx="2260399" cy="364868"/>
          </a:xfrm>
          <a:prstGeom prst="rect">
            <a:avLst/>
          </a:prstGeom>
        </p:spPr>
      </p:pic>
      <p:sp>
        <p:nvSpPr>
          <p:cNvPr id="42" name="TextBox 41">
            <a:extLst>
              <a:ext uri="{FF2B5EF4-FFF2-40B4-BE49-F238E27FC236}">
                <a16:creationId xmlns:a16="http://schemas.microsoft.com/office/drawing/2014/main" id="{6A92A0FD-D6AF-449C-B8F5-3B0AB31D2069}"/>
              </a:ext>
            </a:extLst>
          </p:cNvPr>
          <p:cNvSpPr txBox="1"/>
          <p:nvPr/>
        </p:nvSpPr>
        <p:spPr>
          <a:xfrm>
            <a:off x="2225140" y="1166990"/>
            <a:ext cx="1107996" cy="300082"/>
          </a:xfrm>
          <a:prstGeom prst="rect">
            <a:avLst/>
          </a:prstGeom>
          <a:noFill/>
        </p:spPr>
        <p:txBody>
          <a:bodyPr wrap="none" rtlCol="0">
            <a:spAutoFit/>
          </a:bodyPr>
          <a:lstStyle/>
          <a:p>
            <a:pPr defTabSz="685800" fontAlgn="auto">
              <a:spcBef>
                <a:spcPts val="0"/>
              </a:spcBef>
              <a:spcAft>
                <a:spcPts val="0"/>
              </a:spcAft>
            </a:pPr>
            <a:r>
              <a:rPr lang="en-US" sz="1350" dirty="0">
                <a:solidFill>
                  <a:srgbClr val="C00000"/>
                </a:solidFill>
                <a:latin typeface="Arial" panose="020B0604020202020204"/>
                <a:cs typeface="+mn-cs"/>
              </a:rPr>
              <a:t>// First class</a:t>
            </a:r>
          </a:p>
        </p:txBody>
      </p:sp>
      <p:sp>
        <p:nvSpPr>
          <p:cNvPr id="43" name="TextBox 42">
            <a:extLst>
              <a:ext uri="{FF2B5EF4-FFF2-40B4-BE49-F238E27FC236}">
                <a16:creationId xmlns:a16="http://schemas.microsoft.com/office/drawing/2014/main" id="{C4467A21-FCDC-4359-99BD-E44A32F4E31E}"/>
              </a:ext>
            </a:extLst>
          </p:cNvPr>
          <p:cNvSpPr txBox="1"/>
          <p:nvPr/>
        </p:nvSpPr>
        <p:spPr>
          <a:xfrm>
            <a:off x="2056664" y="3588156"/>
            <a:ext cx="1358064" cy="300082"/>
          </a:xfrm>
          <a:prstGeom prst="rect">
            <a:avLst/>
          </a:prstGeom>
          <a:noFill/>
        </p:spPr>
        <p:txBody>
          <a:bodyPr wrap="none" rtlCol="0">
            <a:spAutoFit/>
          </a:bodyPr>
          <a:lstStyle/>
          <a:p>
            <a:pPr defTabSz="685800" fontAlgn="auto">
              <a:spcBef>
                <a:spcPts val="0"/>
              </a:spcBef>
              <a:spcAft>
                <a:spcPts val="0"/>
              </a:spcAft>
            </a:pPr>
            <a:r>
              <a:rPr lang="en-US" sz="1350" dirty="0">
                <a:solidFill>
                  <a:srgbClr val="C00000"/>
                </a:solidFill>
                <a:latin typeface="Arial" panose="020B0604020202020204"/>
                <a:cs typeface="+mn-cs"/>
              </a:rPr>
              <a:t>// Second class</a:t>
            </a:r>
          </a:p>
        </p:txBody>
      </p:sp>
      <p:pic>
        <p:nvPicPr>
          <p:cNvPr id="38" name="Picture 37">
            <a:extLst>
              <a:ext uri="{FF2B5EF4-FFF2-40B4-BE49-F238E27FC236}">
                <a16:creationId xmlns:a16="http://schemas.microsoft.com/office/drawing/2014/main" id="{67DEA188-B959-4494-88DB-A5DA53B1BCAD}"/>
              </a:ext>
            </a:extLst>
          </p:cNvPr>
          <p:cNvPicPr>
            <a:picLocks noChangeAspect="1"/>
          </p:cNvPicPr>
          <p:nvPr/>
        </p:nvPicPr>
        <p:blipFill>
          <a:blip r:embed="rId6"/>
          <a:stretch>
            <a:fillRect/>
          </a:stretch>
        </p:blipFill>
        <p:spPr>
          <a:xfrm>
            <a:off x="5821138" y="5086350"/>
            <a:ext cx="3243263" cy="728663"/>
          </a:xfrm>
          <a:prstGeom prst="rect">
            <a:avLst/>
          </a:prstGeom>
        </p:spPr>
      </p:pic>
    </p:spTree>
    <p:extLst>
      <p:ext uri="{BB962C8B-B14F-4D97-AF65-F5344CB8AC3E}">
        <p14:creationId xmlns:p14="http://schemas.microsoft.com/office/powerpoint/2010/main" val="1492015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8"/>
                                        </p:tgtEl>
                                        <p:attrNameLst>
                                          <p:attrName>style.visibility</p:attrName>
                                        </p:attrNameLst>
                                      </p:cBhvr>
                                      <p:to>
                                        <p:strVal val="visible"/>
                                      </p:to>
                                    </p:set>
                                    <p:anim calcmode="lin" valueType="num">
                                      <p:cBhvr additive="base">
                                        <p:cTn id="31" dur="500" fill="hold"/>
                                        <p:tgtEl>
                                          <p:spTgt spid="38"/>
                                        </p:tgtEl>
                                        <p:attrNameLst>
                                          <p:attrName>ppt_x</p:attrName>
                                        </p:attrNameLst>
                                      </p:cBhvr>
                                      <p:tavLst>
                                        <p:tav tm="0">
                                          <p:val>
                                            <p:strVal val="#ppt_x"/>
                                          </p:val>
                                        </p:tav>
                                        <p:tav tm="100000">
                                          <p:val>
                                            <p:strVal val="#ppt_x"/>
                                          </p:val>
                                        </p:tav>
                                      </p:tavLst>
                                    </p:anim>
                                    <p:anim calcmode="lin" valueType="num">
                                      <p:cBhvr additive="base">
                                        <p:cTn id="32"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2" grpId="0"/>
      <p:bldP spid="43"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28975" y="848106"/>
            <a:ext cx="5800725" cy="411480"/>
          </a:xfrm>
        </p:spPr>
        <p:txBody>
          <a:bodyPr>
            <a:normAutofit/>
          </a:bodyPr>
          <a:lstStyle/>
          <a:p>
            <a:pPr algn="r"/>
            <a:r>
              <a:rPr lang="en-IN" sz="1575" b="1" dirty="0">
                <a:solidFill>
                  <a:schemeClr val="accent1"/>
                </a:solidFill>
              </a:rPr>
              <a:t>Question: Replace member function by friend function</a:t>
            </a:r>
          </a:p>
        </p:txBody>
      </p:sp>
      <p:pic>
        <p:nvPicPr>
          <p:cNvPr id="4" name="Picture 3"/>
          <p:cNvPicPr>
            <a:picLocks noChangeAspect="1"/>
          </p:cNvPicPr>
          <p:nvPr/>
        </p:nvPicPr>
        <p:blipFill>
          <a:blip r:embed="rId2"/>
          <a:stretch>
            <a:fillRect/>
          </a:stretch>
        </p:blipFill>
        <p:spPr>
          <a:xfrm>
            <a:off x="-57150" y="1475332"/>
            <a:ext cx="4800600" cy="4502558"/>
          </a:xfrm>
          <a:prstGeom prst="rect">
            <a:avLst/>
          </a:prstGeom>
          <a:ln>
            <a:noFill/>
          </a:ln>
        </p:spPr>
      </p:pic>
      <p:pic>
        <p:nvPicPr>
          <p:cNvPr id="5" name="Picture 4"/>
          <p:cNvPicPr>
            <a:picLocks noChangeAspect="1"/>
          </p:cNvPicPr>
          <p:nvPr/>
        </p:nvPicPr>
        <p:blipFill>
          <a:blip r:embed="rId3"/>
          <a:stretch>
            <a:fillRect/>
          </a:stretch>
        </p:blipFill>
        <p:spPr>
          <a:xfrm>
            <a:off x="5543550" y="1543050"/>
            <a:ext cx="3086100" cy="2212258"/>
          </a:xfrm>
          <a:prstGeom prst="rect">
            <a:avLst/>
          </a:prstGeom>
        </p:spPr>
      </p:pic>
    </p:spTree>
    <p:extLst>
      <p:ext uri="{BB962C8B-B14F-4D97-AF65-F5344CB8AC3E}">
        <p14:creationId xmlns:p14="http://schemas.microsoft.com/office/powerpoint/2010/main" val="150951725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52577" y="880372"/>
            <a:ext cx="4343400" cy="1744480"/>
          </a:xfrm>
          <a:prstGeom prst="rect">
            <a:avLst/>
          </a:prstGeom>
        </p:spPr>
      </p:pic>
      <p:pic>
        <p:nvPicPr>
          <p:cNvPr id="6" name="Picture 5"/>
          <p:cNvPicPr>
            <a:picLocks noChangeAspect="1"/>
          </p:cNvPicPr>
          <p:nvPr/>
        </p:nvPicPr>
        <p:blipFill>
          <a:blip r:embed="rId3"/>
          <a:stretch>
            <a:fillRect/>
          </a:stretch>
        </p:blipFill>
        <p:spPr>
          <a:xfrm>
            <a:off x="0" y="2698265"/>
            <a:ext cx="4423410" cy="3226488"/>
          </a:xfrm>
          <a:prstGeom prst="rect">
            <a:avLst/>
          </a:prstGeom>
        </p:spPr>
      </p:pic>
      <p:pic>
        <p:nvPicPr>
          <p:cNvPr id="7" name="Picture 6"/>
          <p:cNvPicPr>
            <a:picLocks noChangeAspect="1"/>
          </p:cNvPicPr>
          <p:nvPr/>
        </p:nvPicPr>
        <p:blipFill>
          <a:blip r:embed="rId4"/>
          <a:stretch>
            <a:fillRect/>
          </a:stretch>
        </p:blipFill>
        <p:spPr>
          <a:xfrm>
            <a:off x="5372100" y="3486150"/>
            <a:ext cx="3454950" cy="2343150"/>
          </a:xfrm>
          <a:prstGeom prst="rect">
            <a:avLst/>
          </a:prstGeom>
          <a:ln>
            <a:noFill/>
          </a:ln>
        </p:spPr>
      </p:pic>
      <p:sp>
        <p:nvSpPr>
          <p:cNvPr id="8" name="Title 1">
            <a:extLst>
              <a:ext uri="{FF2B5EF4-FFF2-40B4-BE49-F238E27FC236}">
                <a16:creationId xmlns:a16="http://schemas.microsoft.com/office/drawing/2014/main" id="{FA6EE38C-BAC4-4F68-AD5A-218FADFA8987}"/>
              </a:ext>
            </a:extLst>
          </p:cNvPr>
          <p:cNvSpPr>
            <a:spLocks noGrp="1"/>
          </p:cNvSpPr>
          <p:nvPr>
            <p:ph type="title"/>
          </p:nvPr>
        </p:nvSpPr>
        <p:spPr>
          <a:xfrm>
            <a:off x="2471737" y="933247"/>
            <a:ext cx="5800725" cy="411480"/>
          </a:xfrm>
        </p:spPr>
        <p:txBody>
          <a:bodyPr>
            <a:normAutofit fontScale="90000"/>
          </a:bodyPr>
          <a:lstStyle/>
          <a:p>
            <a:pPr algn="r"/>
            <a:r>
              <a:rPr lang="en-IN" sz="2400" b="1" dirty="0">
                <a:solidFill>
                  <a:schemeClr val="accent1"/>
                </a:solidFill>
              </a:rPr>
              <a:t>Solution.</a:t>
            </a:r>
          </a:p>
        </p:txBody>
      </p:sp>
    </p:spTree>
    <p:extLst>
      <p:ext uri="{BB962C8B-B14F-4D97-AF65-F5344CB8AC3E}">
        <p14:creationId xmlns:p14="http://schemas.microsoft.com/office/powerpoint/2010/main" val="1817852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CC4B3DF-97B9-4CB3-B226-A4113BDB5BE8}"/>
              </a:ext>
            </a:extLst>
          </p:cNvPr>
          <p:cNvPicPr>
            <a:picLocks noChangeAspect="1"/>
          </p:cNvPicPr>
          <p:nvPr/>
        </p:nvPicPr>
        <p:blipFill>
          <a:blip r:embed="rId2"/>
          <a:stretch>
            <a:fillRect/>
          </a:stretch>
        </p:blipFill>
        <p:spPr>
          <a:xfrm>
            <a:off x="228600" y="40341"/>
            <a:ext cx="7624772" cy="6405282"/>
          </a:xfrm>
          <a:prstGeom prst="rect">
            <a:avLst/>
          </a:prstGeom>
        </p:spPr>
      </p:pic>
      <p:sp>
        <p:nvSpPr>
          <p:cNvPr id="6" name="Title 1">
            <a:extLst>
              <a:ext uri="{FF2B5EF4-FFF2-40B4-BE49-F238E27FC236}">
                <a16:creationId xmlns:a16="http://schemas.microsoft.com/office/drawing/2014/main" id="{02C957D9-3BFD-423D-B38B-9EB2CB724935}"/>
              </a:ext>
            </a:extLst>
          </p:cNvPr>
          <p:cNvSpPr txBox="1">
            <a:spLocks/>
          </p:cNvSpPr>
          <p:nvPr/>
        </p:nvSpPr>
        <p:spPr>
          <a:xfrm>
            <a:off x="4038600" y="228600"/>
            <a:ext cx="4876800" cy="623528"/>
          </a:xfrm>
          <a:prstGeom prst="rect">
            <a:avLst/>
          </a:prstGeom>
        </p:spPr>
        <p:txBody>
          <a:bodyPr vert="horz" lIns="91440" tIns="45720" rIns="91440" bIns="45720" rtlCol="0" anchor="ctr">
            <a:normAutofit fontScale="62500" lnSpcReduction="20000"/>
          </a:bodyPr>
          <a:lstStyle>
            <a:lvl1pPr algn="ctr" defTabSz="685800" rtl="0" eaLnBrk="1" latinLnBrk="0" hangingPunct="1">
              <a:spcBef>
                <a:spcPct val="0"/>
              </a:spcBef>
              <a:buNone/>
              <a:defRPr sz="3300" kern="1200">
                <a:solidFill>
                  <a:schemeClr val="tx1"/>
                </a:solidFill>
                <a:latin typeface="+mj-lt"/>
                <a:ea typeface="+mj-ea"/>
                <a:cs typeface="+mj-cs"/>
              </a:defRPr>
            </a:lvl1pPr>
          </a:lstStyle>
          <a:p>
            <a:pPr fontAlgn="auto">
              <a:spcAft>
                <a:spcPts val="0"/>
              </a:spcAft>
            </a:pPr>
            <a:r>
              <a:rPr lang="en-IN" b="1" dirty="0">
                <a:solidFill>
                  <a:srgbClr val="7030A0"/>
                </a:solidFill>
              </a:rPr>
              <a:t>Question: Define the friend function</a:t>
            </a:r>
          </a:p>
        </p:txBody>
      </p:sp>
    </p:spTree>
    <p:extLst>
      <p:ext uri="{BB962C8B-B14F-4D97-AF65-F5344CB8AC3E}">
        <p14:creationId xmlns:p14="http://schemas.microsoft.com/office/powerpoint/2010/main" val="270355409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E201DF8-D16C-446B-B8B3-52B8C8E6B04E}"/>
              </a:ext>
            </a:extLst>
          </p:cNvPr>
          <p:cNvPicPr>
            <a:picLocks noChangeAspect="1"/>
          </p:cNvPicPr>
          <p:nvPr/>
        </p:nvPicPr>
        <p:blipFill>
          <a:blip r:embed="rId2"/>
          <a:stretch>
            <a:fillRect/>
          </a:stretch>
        </p:blipFill>
        <p:spPr>
          <a:xfrm>
            <a:off x="152400" y="228600"/>
            <a:ext cx="7620000" cy="6077991"/>
          </a:xfrm>
          <a:prstGeom prst="rect">
            <a:avLst/>
          </a:prstGeom>
        </p:spPr>
      </p:pic>
      <p:sp>
        <p:nvSpPr>
          <p:cNvPr id="6" name="Title 1">
            <a:extLst>
              <a:ext uri="{FF2B5EF4-FFF2-40B4-BE49-F238E27FC236}">
                <a16:creationId xmlns:a16="http://schemas.microsoft.com/office/drawing/2014/main" id="{260B8364-BC0A-499C-9A75-BFB05C34FB0F}"/>
              </a:ext>
            </a:extLst>
          </p:cNvPr>
          <p:cNvSpPr txBox="1">
            <a:spLocks/>
          </p:cNvSpPr>
          <p:nvPr/>
        </p:nvSpPr>
        <p:spPr>
          <a:xfrm>
            <a:off x="5791200" y="152400"/>
            <a:ext cx="2514600" cy="487362"/>
          </a:xfrm>
          <a:prstGeom prst="rect">
            <a:avLst/>
          </a:prstGeom>
        </p:spPr>
        <p:txBody>
          <a:bodyPr vert="horz" lIns="91440" tIns="45720" rIns="91440" bIns="45720" rtlCol="0" anchor="ctr">
            <a:normAutofit fontScale="90000" lnSpcReduction="20000"/>
          </a:bodyPr>
          <a:lstStyle>
            <a:lvl1pPr algn="ctr" defTabSz="685800" rtl="0" eaLnBrk="1" latinLnBrk="0" hangingPunct="1">
              <a:spcBef>
                <a:spcPct val="0"/>
              </a:spcBef>
              <a:buNone/>
              <a:defRPr sz="3300" kern="1200">
                <a:solidFill>
                  <a:schemeClr val="tx1"/>
                </a:solidFill>
                <a:latin typeface="+mj-lt"/>
                <a:ea typeface="+mj-ea"/>
                <a:cs typeface="+mj-cs"/>
              </a:defRPr>
            </a:lvl1pPr>
          </a:lstStyle>
          <a:p>
            <a:pPr fontAlgn="auto">
              <a:spcAft>
                <a:spcPts val="0"/>
              </a:spcAft>
            </a:pPr>
            <a:r>
              <a:rPr lang="en-IN" b="1">
                <a:solidFill>
                  <a:srgbClr val="7030A0"/>
                </a:solidFill>
              </a:rPr>
              <a:t>Solution:</a:t>
            </a:r>
            <a:endParaRPr lang="en-IN" b="1" dirty="0">
              <a:solidFill>
                <a:srgbClr val="7030A0"/>
              </a:solidFill>
            </a:endParaRPr>
          </a:p>
        </p:txBody>
      </p:sp>
    </p:spTree>
    <p:extLst>
      <p:ext uri="{BB962C8B-B14F-4D97-AF65-F5344CB8AC3E}">
        <p14:creationId xmlns:p14="http://schemas.microsoft.com/office/powerpoint/2010/main" val="53864609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E56DAFF-7096-469F-AC48-C340026FA6EB}"/>
              </a:ext>
            </a:extLst>
          </p:cNvPr>
          <p:cNvPicPr>
            <a:picLocks noChangeAspect="1"/>
          </p:cNvPicPr>
          <p:nvPr/>
        </p:nvPicPr>
        <p:blipFill>
          <a:blip r:embed="rId2"/>
          <a:stretch>
            <a:fillRect/>
          </a:stretch>
        </p:blipFill>
        <p:spPr>
          <a:xfrm>
            <a:off x="228600" y="361522"/>
            <a:ext cx="6477000" cy="3326306"/>
          </a:xfrm>
          <a:prstGeom prst="rect">
            <a:avLst/>
          </a:prstGeom>
        </p:spPr>
      </p:pic>
      <p:pic>
        <p:nvPicPr>
          <p:cNvPr id="5" name="Picture 4">
            <a:extLst>
              <a:ext uri="{FF2B5EF4-FFF2-40B4-BE49-F238E27FC236}">
                <a16:creationId xmlns:a16="http://schemas.microsoft.com/office/drawing/2014/main" id="{C3CD495A-D721-44E2-8BB1-E253A54F70D4}"/>
              </a:ext>
            </a:extLst>
          </p:cNvPr>
          <p:cNvPicPr>
            <a:picLocks noChangeAspect="1"/>
          </p:cNvPicPr>
          <p:nvPr/>
        </p:nvPicPr>
        <p:blipFill>
          <a:blip r:embed="rId3"/>
          <a:stretch>
            <a:fillRect/>
          </a:stretch>
        </p:blipFill>
        <p:spPr>
          <a:xfrm>
            <a:off x="152401" y="3733800"/>
            <a:ext cx="4572000" cy="2991678"/>
          </a:xfrm>
          <a:prstGeom prst="rect">
            <a:avLst/>
          </a:prstGeom>
        </p:spPr>
      </p:pic>
    </p:spTree>
    <p:extLst>
      <p:ext uri="{BB962C8B-B14F-4D97-AF65-F5344CB8AC3E}">
        <p14:creationId xmlns:p14="http://schemas.microsoft.com/office/powerpoint/2010/main" val="2855761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Arial"/>
      </a:majorFont>
      <a:minorFont>
        <a:latin typeface="Times New Roman"/>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3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4177</TotalTime>
  <Words>2586</Words>
  <Application>Microsoft Office PowerPoint</Application>
  <PresentationFormat>On-screen Show (4:3)</PresentationFormat>
  <Paragraphs>524</Paragraphs>
  <Slides>75</Slides>
  <Notes>12</Notes>
  <HiddenSlides>1</HiddenSlides>
  <MMClips>0</MMClips>
  <ScaleCrop>false</ScaleCrop>
  <HeadingPairs>
    <vt:vector size="6" baseType="variant">
      <vt:variant>
        <vt:lpstr>Fonts Used</vt:lpstr>
      </vt:variant>
      <vt:variant>
        <vt:i4>13</vt:i4>
      </vt:variant>
      <vt:variant>
        <vt:lpstr>Theme</vt:lpstr>
      </vt:variant>
      <vt:variant>
        <vt:i4>5</vt:i4>
      </vt:variant>
      <vt:variant>
        <vt:lpstr>Slide Titles</vt:lpstr>
      </vt:variant>
      <vt:variant>
        <vt:i4>75</vt:i4>
      </vt:variant>
    </vt:vector>
  </HeadingPairs>
  <TitlesOfParts>
    <vt:vector size="93" baseType="lpstr">
      <vt:lpstr>Arial</vt:lpstr>
      <vt:lpstr>Calibri</vt:lpstr>
      <vt:lpstr>Calibri Light</vt:lpstr>
      <vt:lpstr>Consolas</vt:lpstr>
      <vt:lpstr>Courier New</vt:lpstr>
      <vt:lpstr>Latha</vt:lpstr>
      <vt:lpstr>Open Sans Semibold</vt:lpstr>
      <vt:lpstr>Shruti</vt:lpstr>
      <vt:lpstr>Times New Roman</vt:lpstr>
      <vt:lpstr>Times-Italic</vt:lpstr>
      <vt:lpstr>Times-Roman</vt:lpstr>
      <vt:lpstr>Webdings</vt:lpstr>
      <vt:lpstr>Wingdings</vt:lpstr>
      <vt:lpstr>Default Design</vt:lpstr>
      <vt:lpstr>Office Theme</vt:lpstr>
      <vt:lpstr>1_Office Theme</vt:lpstr>
      <vt:lpstr>2_Office Theme</vt:lpstr>
      <vt:lpstr>3_Office Theme</vt:lpstr>
      <vt:lpstr>C++ : Object-Oriented Programming</vt:lpstr>
      <vt:lpstr>C++ class</vt:lpstr>
      <vt:lpstr>Private and public</vt:lpstr>
      <vt:lpstr>Class example-1</vt:lpstr>
      <vt:lpstr>member function definition outside the class:</vt:lpstr>
      <vt:lpstr>PowerPoint Presentation</vt:lpstr>
      <vt:lpstr>Class example-2</vt:lpstr>
      <vt:lpstr>Class example-3</vt:lpstr>
      <vt:lpstr>Class example-4</vt:lpstr>
      <vt:lpstr>PowerPoint Presentation</vt:lpstr>
      <vt:lpstr>PowerPoint Presentation</vt:lpstr>
      <vt:lpstr>Class example-5: Nesting of member functions</vt:lpstr>
      <vt:lpstr>PowerPoint Presentation</vt:lpstr>
      <vt:lpstr>PowerPoint Presentation</vt:lpstr>
      <vt:lpstr>Initialization and Constructors</vt:lpstr>
      <vt:lpstr>Constructors …</vt:lpstr>
      <vt:lpstr>Constructor</vt:lpstr>
      <vt:lpstr>Constructor</vt:lpstr>
      <vt:lpstr>Types of Constructors</vt:lpstr>
      <vt:lpstr>1) Default Constructor</vt:lpstr>
      <vt:lpstr>Program Constructor</vt:lpstr>
      <vt:lpstr>2) Parameterized Constructor</vt:lpstr>
      <vt:lpstr>Parameterized Constructor</vt:lpstr>
      <vt:lpstr>3) Copy Constructor</vt:lpstr>
      <vt:lpstr>Copy Constructor</vt:lpstr>
      <vt:lpstr>PowerPoint Presentation</vt:lpstr>
      <vt:lpstr>PowerPoint Presentation</vt:lpstr>
      <vt:lpstr>PowerPoint Presentation</vt:lpstr>
      <vt:lpstr>PowerPoint Presentation</vt:lpstr>
      <vt:lpstr>Example-3</vt:lpstr>
      <vt:lpstr>Another way to initialize an object default copy constructor</vt:lpstr>
      <vt:lpstr>PowerPoint Presentation</vt:lpstr>
      <vt:lpstr>PowerPoint Presentation</vt:lpstr>
      <vt:lpstr>Destructor</vt:lpstr>
      <vt:lpstr>Program: Destructor</vt:lpstr>
      <vt:lpstr>Program: Destructor</vt:lpstr>
      <vt:lpstr>Destructor Example-2:</vt:lpstr>
      <vt:lpstr>PowerPoint Presentation</vt:lpstr>
      <vt:lpstr>PowerPoint Presentation</vt:lpstr>
      <vt:lpstr>ARRAY OF OBJECTS</vt:lpstr>
      <vt:lpstr>PowerPoint Presentation</vt:lpstr>
      <vt:lpstr>PowerPoint Presentation</vt:lpstr>
      <vt:lpstr>PowerPoint Presentation</vt:lpstr>
      <vt:lpstr>PowerPoint Presentation</vt:lpstr>
      <vt:lpstr>PowerPoint Presentation</vt:lpstr>
      <vt:lpstr>PowerPoint Presentation</vt:lpstr>
      <vt:lpstr>Constant member function…</vt:lpstr>
      <vt:lpstr>PowerPoint Presentation</vt:lpstr>
      <vt:lpstr>Constant member function argument</vt:lpstr>
      <vt:lpstr>PowerPoint Presentation</vt:lpstr>
      <vt:lpstr>Question-1:</vt:lpstr>
      <vt:lpstr>Question-2: Will it compile?</vt:lpstr>
      <vt:lpstr>Static Data members </vt:lpstr>
      <vt:lpstr>PowerPoint Presentation</vt:lpstr>
      <vt:lpstr>PowerPoint Presentation</vt:lpstr>
      <vt:lpstr>PowerPoint Presentation</vt:lpstr>
      <vt:lpstr>PowerPoint Presentation</vt:lpstr>
      <vt:lpstr>Static Data Members</vt:lpstr>
      <vt:lpstr>PowerPoint Presentation</vt:lpstr>
      <vt:lpstr>PowerPoint Presentation</vt:lpstr>
      <vt:lpstr>PowerPoint Presentation</vt:lpstr>
      <vt:lpstr>Static Member Functions</vt:lpstr>
      <vt:lpstr>Static Member Functions</vt:lpstr>
      <vt:lpstr>PowerPoint Presentation</vt:lpstr>
      <vt:lpstr>PowerPoint Presentation</vt:lpstr>
      <vt:lpstr>Question:</vt:lpstr>
      <vt:lpstr>PowerPoint Presentation</vt:lpstr>
      <vt:lpstr>Friend function</vt:lpstr>
      <vt:lpstr>PowerPoint Presentation</vt:lpstr>
      <vt:lpstr>PowerPoint Presentation</vt:lpstr>
      <vt:lpstr>Question: Replace member function by friend function</vt:lpstr>
      <vt:lpstr>Solution.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dc:creator>
  <cp:lastModifiedBy>Linda Varghese [MAHE-MIT]</cp:lastModifiedBy>
  <cp:revision>185</cp:revision>
  <dcterms:created xsi:type="dcterms:W3CDTF">1601-01-01T00:00:00Z</dcterms:created>
  <dcterms:modified xsi:type="dcterms:W3CDTF">2024-08-20T09:46:44Z</dcterms:modified>
</cp:coreProperties>
</file>