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2" r:id="rId1"/>
    <p:sldMasterId id="2147484022" r:id="rId2"/>
    <p:sldMasterId id="2147484034" r:id="rId3"/>
  </p:sldMasterIdLst>
  <p:notesMasterIdLst>
    <p:notesMasterId r:id="rId88"/>
  </p:notesMasterIdLst>
  <p:sldIdLst>
    <p:sldId id="335" r:id="rId4"/>
    <p:sldId id="337" r:id="rId5"/>
    <p:sldId id="338" r:id="rId6"/>
    <p:sldId id="339" r:id="rId7"/>
    <p:sldId id="340" r:id="rId8"/>
    <p:sldId id="342" r:id="rId9"/>
    <p:sldId id="344" r:id="rId10"/>
    <p:sldId id="449" r:id="rId11"/>
    <p:sldId id="439" r:id="rId12"/>
    <p:sldId id="440" r:id="rId13"/>
    <p:sldId id="438" r:id="rId14"/>
    <p:sldId id="442" r:id="rId15"/>
    <p:sldId id="450" r:id="rId16"/>
    <p:sldId id="443" r:id="rId17"/>
    <p:sldId id="444" r:id="rId18"/>
    <p:sldId id="445" r:id="rId19"/>
    <p:sldId id="446" r:id="rId20"/>
    <p:sldId id="447" r:id="rId21"/>
    <p:sldId id="448" r:id="rId22"/>
    <p:sldId id="353" r:id="rId23"/>
    <p:sldId id="354" r:id="rId24"/>
    <p:sldId id="356" r:id="rId25"/>
    <p:sldId id="433" r:id="rId26"/>
    <p:sldId id="452" r:id="rId27"/>
    <p:sldId id="451" r:id="rId28"/>
    <p:sldId id="376" r:id="rId29"/>
    <p:sldId id="377" r:id="rId30"/>
    <p:sldId id="378" r:id="rId31"/>
    <p:sldId id="379" r:id="rId32"/>
    <p:sldId id="380" r:id="rId33"/>
    <p:sldId id="381" r:id="rId34"/>
    <p:sldId id="382" r:id="rId35"/>
    <p:sldId id="384" r:id="rId36"/>
    <p:sldId id="391" r:id="rId37"/>
    <p:sldId id="434" r:id="rId38"/>
    <p:sldId id="453" r:id="rId39"/>
    <p:sldId id="454" r:id="rId40"/>
    <p:sldId id="455" r:id="rId41"/>
    <p:sldId id="474" r:id="rId42"/>
    <p:sldId id="431" r:id="rId43"/>
    <p:sldId id="456" r:id="rId44"/>
    <p:sldId id="432" r:id="rId45"/>
    <p:sldId id="436" r:id="rId46"/>
    <p:sldId id="458" r:id="rId47"/>
    <p:sldId id="401" r:id="rId48"/>
    <p:sldId id="437" r:id="rId49"/>
    <p:sldId id="402" r:id="rId50"/>
    <p:sldId id="404" r:id="rId51"/>
    <p:sldId id="405" r:id="rId52"/>
    <p:sldId id="459" r:id="rId53"/>
    <p:sldId id="462" r:id="rId54"/>
    <p:sldId id="463" r:id="rId55"/>
    <p:sldId id="464" r:id="rId56"/>
    <p:sldId id="466" r:id="rId57"/>
    <p:sldId id="494" r:id="rId58"/>
    <p:sldId id="497" r:id="rId59"/>
    <p:sldId id="472" r:id="rId60"/>
    <p:sldId id="473" r:id="rId61"/>
    <p:sldId id="468" r:id="rId62"/>
    <p:sldId id="469" r:id="rId63"/>
    <p:sldId id="470" r:id="rId64"/>
    <p:sldId id="471" r:id="rId65"/>
    <p:sldId id="495" r:id="rId66"/>
    <p:sldId id="475" r:id="rId67"/>
    <p:sldId id="421" r:id="rId68"/>
    <p:sldId id="423" r:id="rId69"/>
    <p:sldId id="268" r:id="rId70"/>
    <p:sldId id="270" r:id="rId71"/>
    <p:sldId id="478" r:id="rId72"/>
    <p:sldId id="492" r:id="rId73"/>
    <p:sldId id="484" r:id="rId74"/>
    <p:sldId id="480" r:id="rId75"/>
    <p:sldId id="481" r:id="rId76"/>
    <p:sldId id="482" r:id="rId77"/>
    <p:sldId id="485" r:id="rId78"/>
    <p:sldId id="486" r:id="rId79"/>
    <p:sldId id="487" r:id="rId80"/>
    <p:sldId id="489" r:id="rId81"/>
    <p:sldId id="490" r:id="rId82"/>
    <p:sldId id="491" r:id="rId83"/>
    <p:sldId id="424" r:id="rId84"/>
    <p:sldId id="500" r:id="rId85"/>
    <p:sldId id="501" r:id="rId86"/>
    <p:sldId id="428" r:id="rId8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rgbClr val="3333FF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rgbClr val="3333FF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rgbClr val="3333FF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rgbClr val="3333FF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rgbClr val="3333FF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rgbClr val="3333FF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rgbClr val="3333FF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rgbClr val="3333FF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rgbClr val="3333FF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64" autoAdjust="0"/>
    <p:restoredTop sz="87905" autoAdjust="0"/>
  </p:normalViewPr>
  <p:slideViewPr>
    <p:cSldViewPr>
      <p:cViewPr varScale="1">
        <p:scale>
          <a:sx n="55" d="100"/>
          <a:sy n="55" d="100"/>
        </p:scale>
        <p:origin x="14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3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presProps" Target="pres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90" Type="http://schemas.openxmlformats.org/officeDocument/2006/relationships/viewProps" Target="viewProps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8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63C4B302-D4D0-4CD3-8F30-B1B366EC7D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207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545A3024-1AFC-4B0A-B73F-79A83D96D7B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1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45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89BB9BA5-9DF1-409B-8299-0462CBC08B4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2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22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C11FEB3B-B195-4921-87C6-A6BB74F4D976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3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87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A289B658-FA95-4C90-B0EA-D55FEE00AB06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4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87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672C2DAE-E59C-4572-8C48-1088A311A1B6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5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65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59E56CA-07B2-48B4-855D-D08ED411E17F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6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82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7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79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8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570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9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76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10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30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11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63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12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843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13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99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14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3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15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34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16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822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17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255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18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81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A5CAFB7-4862-49C3-91AA-F8CB588EC71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19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67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B65CA819-9292-47CE-A263-3D4D8E8ED3B9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20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162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532CCF37-4A63-4467-91BC-708B096431F3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21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53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20D97183-7820-4C56-9A08-E042ACA3821A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22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414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C4B302-D4D0-4CD3-8F30-B1B366EC7D0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826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61C2E5FE-DD0E-4DF9-BA7A-445F34CF98B9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26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170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CA31C83B-5E9D-4313-A5DC-CF074509E9D7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27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574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54E67BFA-2165-4C8D-AC9C-B295074EFECF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28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033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3BF22C13-B3EF-4C9A-86A5-EB215D1DB620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29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734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BE2820B5-A729-4DA0-BC7A-45C2C85E6E89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30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093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7A82AA77-1AD9-4ECB-8094-F0B629FCC7F6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31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170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D7C657D2-1668-4F53-9370-527F06C5D7C8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32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346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67FE8CF9-4DC9-4526-A1CC-0DA17D6A4014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33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049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B5B36BA0-9233-4F91-AB14-D1BE3F84198A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34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6556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B5B36BA0-9233-4F91-AB14-D1BE3F84198A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39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276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C5CA6DC8-D7BD-478A-B7DD-B5FE93314160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45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array_name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contains the address of the first element. [[[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return_type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function(type *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arrayname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)  ]]]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Returning array from the function--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 function can not return more than one value.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https://www.javatpoint.com/passing-array-to-function-in-c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***To make a function returning an array, the following syntax is used.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*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Function_name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() {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//some statements;   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return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array_type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; 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} 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eaLnBrk="1" hangingPunct="1"/>
            <a:endParaRPr lang="en-US" sz="1200" b="0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720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C5CA6DC8-D7BD-478A-B7DD-B5FE93314160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46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array_name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contains the address of the first element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720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63C087BE-E5F4-4434-9CE5-57B123CA2A34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47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289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4AC4C543-A17D-41E9-BB6F-81A0B03E7238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48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095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8394CDD5-22B1-4536-812C-8DC67B7C3BC4}" type="slidenum">
              <a:rPr lang="en-US" sz="1200" b="0" smtClean="0">
                <a:solidFill>
                  <a:schemeClr val="tx1"/>
                </a:solidFill>
              </a:rPr>
              <a:pPr eaLnBrk="1" hangingPunct="1"/>
              <a:t>49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106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155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5147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877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74F9F5-8589-403A-BAD6-CEFF7112872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02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589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0541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575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846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4E214697-B7BC-4F42-B226-B8F7B972A489}" type="slidenum">
              <a:rPr lang="en-US" sz="1200" b="0">
                <a:solidFill>
                  <a:schemeClr val="tx1"/>
                </a:solidFill>
              </a:rPr>
              <a:pPr algn="r" eaLnBrk="1" hangingPunct="1"/>
              <a:t>65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188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66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308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69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3999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70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565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71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6987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72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316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73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9855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74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2652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75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4800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76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3102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77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796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78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69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79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0936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r" eaLnBrk="1" hangingPunct="1"/>
            <a:fld id="{F4B2BBAC-1B66-424E-B03C-173285A61D00}" type="slidenum">
              <a:rPr lang="en-US" sz="1200" b="0">
                <a:solidFill>
                  <a:schemeClr val="tx1"/>
                </a:solidFill>
              </a:rPr>
              <a:pPr algn="r" eaLnBrk="1" hangingPunct="1"/>
              <a:t>80</a:t>
            </a:fld>
            <a:endParaRPr lang="en-US" sz="1200" b="0">
              <a:solidFill>
                <a:schemeClr val="tx1"/>
              </a:solidFill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56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6F5E-E0B6-465E-9906-187E39033A1B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B16FFC-C7EA-4AE8-907A-D0A4502041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5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0CB31C-630F-4A9B-A82B-97CF4E201AEF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36BDE-6CAF-4B53-A83C-EBBD52A016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0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CD8CC-2F5E-41FD-8332-CA53AA35C6FE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E1D903-3036-456C-8051-56F7B44A53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2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224DD9-158C-4FAF-909B-07CB413E0624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7F38A-8906-45BB-A980-4FE411266F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34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899ED-D787-4E47-BB66-6B8A9781DE06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AC859A-99F4-4FB2-AEF8-62E650A048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19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6F36B5-9B7A-469E-9B3E-5E3B05BE255C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0042EB-32F4-4A1D-84D1-A3678DF551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8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4FF8E-0DEC-4B01-96EF-23A2FA9DC81B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56937-D642-4E0A-B75D-2A8FA67C74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08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9C90FC-DF90-496D-B6F0-F7E149491E10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2EFFD-AA0F-47E3-9B52-4F6EC59FC5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2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6CA70-A0F5-4C8A-9E35-D9747354DD4F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77128-3A6C-4E7C-978D-95E60DB32A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4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56A88-F6C1-47EF-80DE-7B352E0257D4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1245A-032C-4374-9DE0-B6C81096A5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92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839A8-9DC7-49C4-855F-B30B370B8CAC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F9CD4F-BB93-4855-B2EA-A083ACF797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79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FF60E-8D04-483E-AE10-1F317FDA5C7D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E52C0-899E-4E69-99CA-C142A304E7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2C410-CA8E-4363-B2A5-C992C048EF26}" type="datetimeFigureOut">
              <a:rPr lang="en-US" smtClean="0"/>
              <a:t>8/22/2026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9CAC6-A72B-4EF8-B465-34FA47827E7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808E7F-6862-4377-A59B-F2A5DB78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7831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578F88-2C63-4016-B60F-6C221315DE50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FDC30-AAAD-4509-94A3-F9CF1F587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43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F6519-3764-4271-85D9-CDD85A006ADA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4C7F4B-4E98-44CC-9F98-771D0C3609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418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7E3033-28C4-4E9E-9A0C-A37F2598F113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9833D-E43D-44FE-8D39-B62DB9DED7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01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40275-95F6-420B-BF2B-35B7DE162F5E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CC98DC-BDDB-4409-B136-65D37D5C0B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46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F0364-8191-472C-BC60-6EF6FCA89E2A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472120-F7A5-47DA-AD08-C705483B38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641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691B7-70F3-4E26-BDE1-35D3B3002CA5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A0024-C39F-42D8-AFAE-D9F8249412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699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8B0EDC-443F-474E-9BAA-E9A278110A5F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18BEAF-6811-4E35-95FC-E7F0C08052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62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6ED626-1D5D-4E80-9BA9-7AC40DAACF42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76E5BB-37E1-4FE6-A850-5E8D83C7F4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486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44B16-83E6-4818-9AF8-A83DE5607FA7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89828-551D-4A23-BDF9-F24479E316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39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EC86E-A0D3-4616-9DFA-85EFD46E26A7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7574F-91EA-40EB-BBE1-123ACB94C9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808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6520E-22D3-4424-8AE0-8AA1E747DD82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4DE5A-358B-4E54-A9AF-09435913A2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995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6D620-91E2-49AD-B5F3-5D9574656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694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BE0B1-C626-45C8-98EA-E403C7C654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727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BDCF93-7161-461C-9A49-E6E956BCF3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82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77F2C7-1CEF-415F-979B-D2FF487970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389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CC322-9916-45F7-BEF7-4066DB039C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82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A3997C-A84A-4EDD-B18C-7A5F591526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855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FACA4-3E44-407A-87F9-61412EF79D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45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ACD1F-0C95-445C-A7F6-8311CF81DA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282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AA73A-47C6-4DC0-835B-96AB8BDE3B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068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8BE29-39F6-4A34-B9A2-1E1AE5AA19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421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C99E7-2F9E-4E1F-A4E7-111447EC4C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474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C4A21-983F-460C-B4BF-1D37B84783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50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AF78FA8C-A578-4059-9788-E6E8C0E639FB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896184E7-6758-43D3-857B-C444BBAEFB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0" r:id="rId11"/>
    <p:sldLayoutId id="2147484021" r:id="rId12"/>
    <p:sldLayoutId id="2147484047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1AF7EB95-BFDC-447A-BBB2-92199D059CCF}" type="datetime1">
              <a:rPr lang="en-US" smtClean="0"/>
              <a:pPr>
                <a:defRPr/>
              </a:pPr>
              <a:t>8/22/2026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245F4D0-BF45-409E-B6D6-162EA803D2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2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F42AE742-DF09-4485-BFF3-EABA54953E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7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  <p:sldLayoutId id="2147484046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6705600" cy="8382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Modular Programming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458200" cy="472440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Lengthier programs </a:t>
            </a:r>
          </a:p>
          <a:p>
            <a:pPr lvl="1" algn="just" eaLnBrk="1" hangingPunct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Prone to errors</a:t>
            </a:r>
          </a:p>
          <a:p>
            <a:pPr lvl="1" algn="just" eaLnBrk="1" hangingPunct="1"/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tedious to locate and correct the errors</a:t>
            </a:r>
          </a:p>
          <a:p>
            <a:pPr algn="just" eaLnBrk="1" hangingPunct="1">
              <a:buFontTx/>
              <a:buNone/>
            </a:pP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>
              <a:buFontTx/>
              <a:buNone/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To overcome this</a:t>
            </a:r>
          </a:p>
          <a:p>
            <a:pPr algn="just" eaLnBrk="1" hangingPunct="1">
              <a:buFontTx/>
              <a:buNone/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	Programs broken into a number of smaller logical components, each of which serves a specific task.</a:t>
            </a:r>
          </a:p>
          <a:p>
            <a:pPr algn="just" eaLnBrk="1" hangingPunct="1">
              <a:buFontTx/>
              <a:buNone/>
            </a:pP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7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39000" y="6381750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ctr" eaLnBrk="1" hangingPunct="1"/>
            <a:fld id="{ECFBDAF9-539E-4EAD-A5B0-B35DBBA9E6CA}" type="slidenum">
              <a:rPr lang="en-US" sz="1400" b="0" smtClean="0">
                <a:solidFill>
                  <a:schemeClr val="tx1"/>
                </a:solidFill>
              </a:rPr>
              <a:pPr algn="ctr" eaLnBrk="1" hangingPunct="1"/>
              <a:t>1</a:t>
            </a:fld>
            <a:endParaRPr lang="en-US" sz="1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781800" cy="1143000"/>
          </a:xfrm>
        </p:spPr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Advantages of modularization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001000" cy="4525963"/>
          </a:xfrm>
        </p:spPr>
        <p:txBody>
          <a:bodyPr/>
          <a:lstStyle/>
          <a:p>
            <a:pPr eaLnBrk="1" hangingPunct="1"/>
            <a:r>
              <a:rPr lang="en-US"/>
              <a:t>Reusability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Debugging is easier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Build library</a:t>
            </a:r>
          </a:p>
        </p:txBody>
      </p:sp>
      <p:sp>
        <p:nvSpPr>
          <p:cNvPr id="512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8000" y="6381750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ctr" eaLnBrk="1" hangingPunct="1"/>
            <a:fld id="{6F511338-4A03-4CF9-A3EB-689B324FAE1A}" type="slidenum">
              <a:rPr lang="en-US" sz="1400" b="0" smtClean="0">
                <a:solidFill>
                  <a:schemeClr val="tx1"/>
                </a:solidFill>
              </a:rPr>
              <a:pPr algn="ctr" eaLnBrk="1" hangingPunct="1"/>
              <a:t>2</a:t>
            </a:fld>
            <a:endParaRPr lang="en-US" sz="1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58775"/>
            <a:ext cx="7620000" cy="936625"/>
          </a:xfrm>
        </p:spPr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Functions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9080" y="1676400"/>
            <a:ext cx="8656320" cy="3200400"/>
          </a:xfrm>
        </p:spPr>
        <p:txBody>
          <a:bodyPr/>
          <a:lstStyle/>
          <a:p>
            <a:pPr algn="just" eaLnBrk="1" hangingPunct="1">
              <a:buFontTx/>
              <a:buBlip>
                <a:blip r:embed="rId3"/>
              </a:buBlip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b="1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is a set of instructions to carryout a particular task.</a:t>
            </a:r>
          </a:p>
          <a:p>
            <a:pPr algn="just" eaLnBrk="1" hangingPunct="1">
              <a:buFontTx/>
              <a:buBlip>
                <a:blip r:embed="rId3"/>
              </a:buBlip>
            </a:pP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>
              <a:buFontTx/>
              <a:buBlip>
                <a:blip r:embed="rId3"/>
              </a:buBlip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Using functions we can structure our programs in a more modular way. </a:t>
            </a:r>
            <a:endParaRPr 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1" hangingPunct="1"/>
            <a:endParaRPr lang="en-US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52600"/>
            <a:ext cx="8229600" cy="3200400"/>
          </a:xfrm>
        </p:spPr>
        <p:txBody>
          <a:bodyPr/>
          <a:lstStyle/>
          <a:p>
            <a:pPr eaLnBrk="1" hangingPunct="1">
              <a:buFontTx/>
              <a:buBlip>
                <a:blip r:embed="rId3"/>
              </a:buBlip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Standard functions</a:t>
            </a:r>
          </a:p>
          <a:p>
            <a:pPr eaLnBrk="1" hangingPunct="1">
              <a:buFontTx/>
              <a:buNone/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	(library functions or built in functions)</a:t>
            </a:r>
          </a:p>
          <a:p>
            <a:pPr eaLnBrk="1" hangingPunct="1">
              <a:buFontTx/>
              <a:buBlip>
                <a:blip r:embed="rId3"/>
              </a:buBlip>
            </a:pPr>
            <a:endParaRPr lang="en-U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Tx/>
              <a:buBlip>
                <a:blip r:embed="rId3"/>
              </a:buBlip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User-defined functions</a:t>
            </a:r>
          </a:p>
          <a:p>
            <a:pPr lvl="1" eaLnBrk="1" hangingPunct="1">
              <a:buFontTx/>
              <a:buNone/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Written by the user(programmer)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5800" y="358775"/>
            <a:ext cx="762000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3600" b="0" kern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Functions </a:t>
            </a:r>
            <a:endParaRPr lang="en-US" sz="3600" b="0" kern="0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7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391400" y="6381750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ctr" eaLnBrk="1" hangingPunct="1"/>
            <a:fld id="{2561590D-DF79-46BD-A886-AE3811DEC3D8}" type="slidenum">
              <a:rPr lang="en-US" sz="1400" b="0" smtClean="0">
                <a:solidFill>
                  <a:schemeClr val="tx1"/>
                </a:solidFill>
              </a:rPr>
              <a:pPr algn="ctr" eaLnBrk="1" hangingPunct="1"/>
              <a:t>4</a:t>
            </a:fld>
            <a:endParaRPr lang="en-US" sz="1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" y="93028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Defining a Function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" y="1161416"/>
            <a:ext cx="8869680" cy="5239384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en-US" sz="2400" b="1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</a:t>
            </a:r>
          </a:p>
          <a:p>
            <a:pPr lvl="1" algn="just" eaLnBrk="1" hangingPunct="1">
              <a:defRPr/>
            </a:pPr>
            <a:r>
              <a:rPr lang="en-US" sz="2400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You should give functions descriptive names</a:t>
            </a:r>
          </a:p>
          <a:p>
            <a:pPr lvl="1" algn="just" eaLnBrk="1" hangingPunct="1">
              <a:defRPr/>
            </a:pPr>
            <a:r>
              <a:rPr lang="en-US" sz="2400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Same rules as variable names, generally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en-US" sz="2400" b="1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 type </a:t>
            </a:r>
          </a:p>
          <a:p>
            <a:pPr lvl="1" algn="just" eaLnBrk="1" hangingPunct="1">
              <a:buFont typeface="Arial" pitchFamily="34" charset="0"/>
              <a:buChar char="–"/>
              <a:defRPr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Data type of the value returned to the part of the program that activated (called) the function.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US" sz="2800" b="1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Parameter list</a:t>
            </a:r>
          </a:p>
          <a:p>
            <a:pPr lvl="1" algn="just" eaLnBrk="1" hangingPunct="1"/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A list of variables that hold the values being passed to the function</a:t>
            </a:r>
          </a:p>
          <a:p>
            <a:pPr algn="just" eaLnBrk="1" hangingPunct="1">
              <a:buFont typeface="Wingdings" pitchFamily="2" charset="2"/>
              <a:buChar char="ü"/>
            </a:pPr>
            <a:r>
              <a:rPr lang="en-US" sz="2800" b="1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body</a:t>
            </a:r>
          </a:p>
          <a:p>
            <a:pPr lvl="1" algn="just" eaLnBrk="1" hangingPunct="1"/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Statements enclosed in curly braces that perform the function’s operations(tasks)</a:t>
            </a:r>
          </a:p>
          <a:p>
            <a:pPr lvl="1" algn="just" eaLnBrk="1" hangingPunct="1">
              <a:buFont typeface="Arial" pitchFamily="34" charset="0"/>
              <a:buChar char="–"/>
              <a:defRPr/>
            </a:pP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4C39F269-5E84-45EA-B414-10A65DEA81E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5</a:t>
            </a:fld>
            <a:endParaRPr lang="en-US" sz="1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391400" cy="1143000"/>
          </a:xfrm>
        </p:spPr>
        <p:txBody>
          <a:bodyPr/>
          <a:lstStyle/>
          <a:p>
            <a:pPr algn="l" eaLnBrk="1" hangingPunct="1"/>
            <a:r>
              <a:rPr lang="en-US" sz="3200">
                <a:solidFill>
                  <a:schemeClr val="accent2"/>
                </a:solidFill>
              </a:rPr>
              <a:t>The general form of a function definition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417638"/>
            <a:ext cx="88392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b="1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return_type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800" b="1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function_name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( </a:t>
            </a: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parameter_definition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{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	variable   declaration;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	statement1;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	statement2;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		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		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		.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value_computed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	}</a:t>
            </a:r>
          </a:p>
        </p:txBody>
      </p:sp>
      <p:sp>
        <p:nvSpPr>
          <p:cNvPr id="1024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6381750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ctr" eaLnBrk="1" hangingPunct="1"/>
            <a:fld id="{2322F9CC-7FBB-473C-8A17-8CCCA597A40B}" type="slidenum">
              <a:rPr lang="en-US" sz="1400" b="0" smtClean="0">
                <a:solidFill>
                  <a:schemeClr val="tx1"/>
                </a:solidFill>
              </a:rPr>
              <a:pPr algn="ctr" eaLnBrk="1" hangingPunct="1"/>
              <a:t>6</a:t>
            </a:fld>
            <a:endParaRPr lang="en-US" sz="1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7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>
            <a:off x="152400" y="3991233"/>
            <a:ext cx="601980" cy="312852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8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>
            <a:off x="121920" y="4378539"/>
            <a:ext cx="601980" cy="312852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964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9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>
            <a:off x="765810" y="4805199"/>
            <a:ext cx="601980" cy="312852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1285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10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>
            <a:off x="956310" y="5172868"/>
            <a:ext cx="601980" cy="312852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10718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11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grpSp>
        <p:nvGrpSpPr>
          <p:cNvPr id="15" name="Group 18"/>
          <p:cNvGrpSpPr>
            <a:grpSpLocks/>
          </p:cNvGrpSpPr>
          <p:nvPr/>
        </p:nvGrpSpPr>
        <p:grpSpPr bwMode="auto">
          <a:xfrm>
            <a:off x="214630" y="2314833"/>
            <a:ext cx="852170" cy="3019167"/>
            <a:chOff x="384" y="1392"/>
            <a:chExt cx="384" cy="2016"/>
          </a:xfrm>
        </p:grpSpPr>
        <p:sp>
          <p:nvSpPr>
            <p:cNvPr id="16" name="Line 19"/>
            <p:cNvSpPr>
              <a:spLocks noChangeShapeType="1"/>
            </p:cNvSpPr>
            <p:nvPr/>
          </p:nvSpPr>
          <p:spPr bwMode="auto">
            <a:xfrm flipH="1">
              <a:off x="384" y="3408"/>
              <a:ext cx="384" cy="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 flipV="1">
              <a:off x="384" y="1392"/>
              <a:ext cx="0" cy="2016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1"/>
            <p:cNvSpPr>
              <a:spLocks noChangeShapeType="1"/>
            </p:cNvSpPr>
            <p:nvPr/>
          </p:nvSpPr>
          <p:spPr bwMode="auto">
            <a:xfrm>
              <a:off x="384" y="1392"/>
              <a:ext cx="192" cy="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arrow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357259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12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>
            <a:off x="99060" y="2184154"/>
            <a:ext cx="601980" cy="312852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81715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13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>
            <a:off x="60960" y="2572285"/>
            <a:ext cx="601980" cy="312852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36871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14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>
            <a:off x="121920" y="2958889"/>
            <a:ext cx="601980" cy="312852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04491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15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>
            <a:off x="83820" y="3421748"/>
            <a:ext cx="601980" cy="312852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90067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16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grpSp>
        <p:nvGrpSpPr>
          <p:cNvPr id="17" name="Group 18"/>
          <p:cNvGrpSpPr>
            <a:grpSpLocks/>
          </p:cNvGrpSpPr>
          <p:nvPr/>
        </p:nvGrpSpPr>
        <p:grpSpPr bwMode="auto">
          <a:xfrm>
            <a:off x="213360" y="3630367"/>
            <a:ext cx="487680" cy="2008433"/>
            <a:chOff x="533400" y="3509963"/>
            <a:chExt cx="473075" cy="2135187"/>
          </a:xfrm>
        </p:grpSpPr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>
              <a:off x="533400" y="3509963"/>
              <a:ext cx="406400" cy="1587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533400" y="3509963"/>
              <a:ext cx="0" cy="213360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533400" y="5643563"/>
              <a:ext cx="473075" cy="1587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573377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17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>
            <a:off x="400050" y="5562600"/>
            <a:ext cx="601980" cy="312852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28003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18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>
            <a:off x="152400" y="5791200"/>
            <a:ext cx="601980" cy="312852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05094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23900" y="2139906"/>
            <a:ext cx="6781800" cy="1698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  </a:t>
            </a:r>
            <a:r>
              <a:rPr lang="en-US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        	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32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701040" y="3991233"/>
            <a:ext cx="8001000" cy="254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b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);  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return 0;</a:t>
            </a:r>
            <a:b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12293" name="Text Box 4"/>
          <p:cNvSpPr txBox="1">
            <a:spLocks noChangeArrowheads="1"/>
          </p:cNvSpPr>
          <p:nvPr/>
        </p:nvSpPr>
        <p:spPr bwMode="auto">
          <a:xfrm>
            <a:off x="876300" y="1055731"/>
            <a:ext cx="236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Return type</a:t>
            </a:r>
          </a:p>
        </p:txBody>
      </p:sp>
      <p:sp>
        <p:nvSpPr>
          <p:cNvPr id="12294" name="Line 5"/>
          <p:cNvSpPr>
            <a:spLocks noChangeShapeType="1"/>
          </p:cNvSpPr>
          <p:nvPr/>
        </p:nvSpPr>
        <p:spPr bwMode="auto">
          <a:xfrm flipH="1">
            <a:off x="1066800" y="1478340"/>
            <a:ext cx="762000" cy="73146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 flipH="1">
            <a:off x="2819400" y="1219200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round/>
                <a:headEnd type="none" w="sm" len="sm"/>
                <a:tailEnd type="triangle" w="med" len="lg"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5295900" y="1424839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Parameter List</a:t>
            </a:r>
          </a:p>
        </p:txBody>
      </p:sp>
      <p:sp>
        <p:nvSpPr>
          <p:cNvPr id="12297" name="Text Box 11"/>
          <p:cNvSpPr txBox="1">
            <a:spLocks noChangeArrowheads="1"/>
          </p:cNvSpPr>
          <p:nvPr/>
        </p:nvSpPr>
        <p:spPr bwMode="auto">
          <a:xfrm>
            <a:off x="7391400" y="2770188"/>
            <a:ext cx="1222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  <a:latin typeface="Tempus Sans ITC" pitchFamily="82" charset="0"/>
              </a:rPr>
              <a:t>   Body</a:t>
            </a:r>
          </a:p>
        </p:txBody>
      </p:sp>
      <p:sp>
        <p:nvSpPr>
          <p:cNvPr id="12298" name="Line 19"/>
          <p:cNvSpPr>
            <a:spLocks noChangeShapeType="1"/>
          </p:cNvSpPr>
          <p:nvPr/>
        </p:nvSpPr>
        <p:spPr bwMode="auto">
          <a:xfrm flipH="1">
            <a:off x="2819400" y="1517694"/>
            <a:ext cx="1257300" cy="615906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3BC0DC8-B883-458B-8B33-2A3C8DB6991E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19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2301" name="Text Box 4"/>
          <p:cNvSpPr txBox="1">
            <a:spLocks noChangeArrowheads="1"/>
          </p:cNvSpPr>
          <p:nvPr/>
        </p:nvSpPr>
        <p:spPr bwMode="auto">
          <a:xfrm>
            <a:off x="3124200" y="1138238"/>
            <a:ext cx="2362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  <a:latin typeface="Tempus Sans ITC" pitchFamily="82" charset="0"/>
              </a:rPr>
              <a:t>Function name</a:t>
            </a:r>
          </a:p>
        </p:txBody>
      </p:sp>
      <p:sp>
        <p:nvSpPr>
          <p:cNvPr id="12302" name="Line 10"/>
          <p:cNvSpPr>
            <a:spLocks noChangeShapeType="1"/>
          </p:cNvSpPr>
          <p:nvPr/>
        </p:nvSpPr>
        <p:spPr bwMode="auto">
          <a:xfrm flipH="1">
            <a:off x="3931920" y="1708779"/>
            <a:ext cx="1295400" cy="457200"/>
          </a:xfrm>
          <a:prstGeom prst="line">
            <a:avLst/>
          </a:prstGeom>
          <a:noFill/>
          <a:ln w="38100" cap="sq">
            <a:solidFill>
              <a:schemeClr val="accent2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3" name="TextBox 22"/>
          <p:cNvSpPr txBox="1">
            <a:spLocks noChangeArrowheads="1"/>
          </p:cNvSpPr>
          <p:nvPr/>
        </p:nvSpPr>
        <p:spPr bwMode="auto">
          <a:xfrm>
            <a:off x="6667500" y="2184154"/>
            <a:ext cx="838200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8800" b="0" dirty="0">
                <a:solidFill>
                  <a:srgbClr val="002060"/>
                </a:solidFill>
                <a:latin typeface="MS Mincho" pitchFamily="49" charset="-128"/>
                <a:ea typeface="MS Mincho" pitchFamily="49" charset="-128"/>
              </a:rPr>
              <a:t>}</a:t>
            </a:r>
          </a:p>
        </p:txBody>
      </p:sp>
      <p:sp>
        <p:nvSpPr>
          <p:cNvPr id="1230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54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 dirty="0">
                <a:solidFill>
                  <a:schemeClr val="accent2"/>
                </a:solidFill>
              </a:rPr>
              <a:t>Functions</a:t>
            </a:r>
          </a:p>
        </p:txBody>
      </p:sp>
      <p:sp>
        <p:nvSpPr>
          <p:cNvPr id="3" name="Right Arrow 2"/>
          <p:cNvSpPr/>
          <p:nvPr/>
        </p:nvSpPr>
        <p:spPr bwMode="auto">
          <a:xfrm>
            <a:off x="304800" y="3630367"/>
            <a:ext cx="1905000" cy="208466"/>
          </a:xfrm>
          <a:prstGeom prst="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  <p:sp>
        <p:nvSpPr>
          <p:cNvPr id="4" name="Right Arrow 3"/>
          <p:cNvSpPr/>
          <p:nvPr/>
        </p:nvSpPr>
        <p:spPr bwMode="auto">
          <a:xfrm>
            <a:off x="152400" y="6164148"/>
            <a:ext cx="601980" cy="312852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1" i="0" u="none" strike="noStrike" cap="none" normalizeH="0" baseline="0">
              <a:ln>
                <a:noFill/>
              </a:ln>
              <a:solidFill>
                <a:srgbClr val="3333FF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37003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4343400" y="2209800"/>
            <a:ext cx="4038600" cy="533400"/>
          </a:xfrm>
          <a:prstGeom prst="rect">
            <a:avLst/>
          </a:prstGeom>
          <a:solidFill>
            <a:srgbClr val="CC66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1508" name="Text Box 5"/>
          <p:cNvSpPr txBox="1">
            <a:spLocks noChangeArrowheads="1"/>
          </p:cNvSpPr>
          <p:nvPr/>
        </p:nvSpPr>
        <p:spPr bwMode="auto">
          <a:xfrm>
            <a:off x="685800" y="998219"/>
            <a:ext cx="8001000" cy="265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main()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main”;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	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  // FUNCTION CALL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21510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5C8FC9C0-847E-4C6D-8C5C-2A2F2AD14EA0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20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21511" name="Text Box 4"/>
          <p:cNvSpPr txBox="1">
            <a:spLocks noChangeArrowheads="1"/>
          </p:cNvSpPr>
          <p:nvPr/>
        </p:nvSpPr>
        <p:spPr bwMode="auto">
          <a:xfrm>
            <a:off x="647700" y="4675022"/>
            <a:ext cx="6934200" cy="1966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DisplayMessage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(void)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“Hello from the function” ;  </a:t>
            </a:r>
          </a:p>
          <a:p>
            <a:pPr>
              <a:lnSpc>
                <a:spcPct val="8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sp>
        <p:nvSpPr>
          <p:cNvPr id="21512" name="Text Box 6"/>
          <p:cNvSpPr txBox="1">
            <a:spLocks noChangeArrowheads="1"/>
          </p:cNvSpPr>
          <p:nvPr/>
        </p:nvSpPr>
        <p:spPr bwMode="auto">
          <a:xfrm>
            <a:off x="914400" y="3781185"/>
            <a:ext cx="5105400" cy="584200"/>
          </a:xfrm>
          <a:prstGeom prst="rect">
            <a:avLst/>
          </a:prstGeom>
          <a:solidFill>
            <a:srgbClr val="CC66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200" b="0">
                <a:solidFill>
                  <a:schemeClr val="tx1"/>
                </a:solidFill>
                <a:latin typeface="Times New Roman" pitchFamily="18" charset="0"/>
              </a:rPr>
              <a:t>// FUNCTION DEFINITION</a:t>
            </a:r>
          </a:p>
        </p:txBody>
      </p:sp>
      <p:sp>
        <p:nvSpPr>
          <p:cNvPr id="21513" name="Rectangle 3"/>
          <p:cNvSpPr>
            <a:spLocks noChangeArrowheads="1"/>
          </p:cNvSpPr>
          <p:nvPr/>
        </p:nvSpPr>
        <p:spPr bwMode="auto">
          <a:xfrm>
            <a:off x="228600" y="200486"/>
            <a:ext cx="7239000" cy="609600"/>
          </a:xfrm>
          <a:prstGeom prst="rect">
            <a:avLst/>
          </a:prstGeom>
          <a:solidFill>
            <a:srgbClr val="CC66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pPr algn="ctr" eaLnBrk="0" hangingPunct="0"/>
            <a:endParaRPr 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1514" name="Text Box 6"/>
          <p:cNvSpPr txBox="1">
            <a:spLocks noChangeArrowheads="1"/>
          </p:cNvSpPr>
          <p:nvPr/>
        </p:nvSpPr>
        <p:spPr bwMode="auto">
          <a:xfrm>
            <a:off x="381000" y="402546"/>
            <a:ext cx="74676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b="0" dirty="0">
                <a:solidFill>
                  <a:schemeClr val="tx1"/>
                </a:solidFill>
                <a:latin typeface="Arial Rounded MT Bold" pitchFamily="34" charset="0"/>
              </a:rPr>
              <a:t>void </a:t>
            </a:r>
            <a:r>
              <a:rPr lang="en-US" b="0" dirty="0" err="1">
                <a:solidFill>
                  <a:schemeClr val="tx1"/>
                </a:solidFill>
                <a:latin typeface="Arial Rounded MT Bold" pitchFamily="34" charset="0"/>
              </a:rPr>
              <a:t>DisplayMessage</a:t>
            </a:r>
            <a:r>
              <a:rPr lang="en-US" b="0" dirty="0">
                <a:solidFill>
                  <a:schemeClr val="tx1"/>
                </a:solidFill>
                <a:latin typeface="Arial Rounded MT Bold" pitchFamily="34" charset="0"/>
              </a:rPr>
              <a:t>(void); </a:t>
            </a:r>
            <a:r>
              <a:rPr lang="en-US" b="0" dirty="0">
                <a:solidFill>
                  <a:schemeClr val="tx1"/>
                </a:solidFill>
                <a:latin typeface="Tempus Sans ITC" pitchFamily="82" charset="0"/>
              </a:rPr>
              <a:t>//</a:t>
            </a:r>
            <a:r>
              <a:rPr lang="en-US" b="0" dirty="0" err="1">
                <a:solidFill>
                  <a:schemeClr val="tx1"/>
                </a:solidFill>
                <a:latin typeface="Tempus Sans ITC" pitchFamily="82" charset="0"/>
              </a:rPr>
              <a:t>fn</a:t>
            </a:r>
            <a:r>
              <a:rPr lang="en-US" b="0" dirty="0">
                <a:solidFill>
                  <a:schemeClr val="tx1"/>
                </a:solidFill>
                <a:latin typeface="Tempus Sans ITC" pitchFamily="82" charset="0"/>
              </a:rPr>
              <a:t> declaration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990600" y="285974"/>
            <a:ext cx="8153400" cy="903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(void)</a:t>
            </a:r>
          </a:p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“I am now inside function First\n”;}</a:t>
            </a:r>
            <a:endParaRPr lang="en-US" sz="2000" b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990600" y="1458915"/>
            <a:ext cx="8915400" cy="136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0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void 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Second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(void)</a:t>
            </a:r>
          </a:p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 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“I am now inside function Second\n”;</a:t>
            </a:r>
          </a:p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   </a:t>
            </a:r>
          </a:p>
        </p:txBody>
      </p:sp>
      <p:sp>
        <p:nvSpPr>
          <p:cNvPr id="22533" name="Text Box 4"/>
          <p:cNvSpPr txBox="1">
            <a:spLocks noChangeArrowheads="1"/>
          </p:cNvSpPr>
          <p:nvPr/>
        </p:nvSpPr>
        <p:spPr bwMode="auto">
          <a:xfrm>
            <a:off x="929640" y="3251826"/>
            <a:ext cx="8153400" cy="3259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 main ()</a:t>
            </a:r>
          </a:p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    </a:t>
            </a:r>
          </a:p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“I am starting in function main\n”;</a:t>
            </a:r>
          </a:p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	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();</a:t>
            </a:r>
          </a:p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	</a:t>
            </a:r>
            <a:r>
              <a:rPr lang="en-US" sz="2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Second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();</a:t>
            </a:r>
          </a:p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	 </a:t>
            </a:r>
            <a:r>
              <a:rPr lang="en-US" sz="2800" b="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cout</a:t>
            </a: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&lt;&lt; “Back in function main again.\n”;</a:t>
            </a:r>
          </a:p>
          <a:p>
            <a:pPr>
              <a:lnSpc>
                <a:spcPct val="75000"/>
              </a:lnSpc>
              <a:spcBef>
                <a:spcPct val="35000"/>
              </a:spcBef>
            </a:pPr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7200" y="487680"/>
            <a:ext cx="762000" cy="4393823"/>
            <a:chOff x="384" y="480"/>
            <a:chExt cx="480" cy="2496"/>
          </a:xfrm>
        </p:grpSpPr>
        <p:sp>
          <p:nvSpPr>
            <p:cNvPr id="22549" name="Line 6"/>
            <p:cNvSpPr>
              <a:spLocks noChangeShapeType="1"/>
            </p:cNvSpPr>
            <p:nvPr/>
          </p:nvSpPr>
          <p:spPr bwMode="auto">
            <a:xfrm flipH="1">
              <a:off x="384" y="2976"/>
              <a:ext cx="480" cy="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0" name="Line 7"/>
            <p:cNvSpPr>
              <a:spLocks noChangeShapeType="1"/>
            </p:cNvSpPr>
            <p:nvPr/>
          </p:nvSpPr>
          <p:spPr bwMode="auto">
            <a:xfrm flipV="1">
              <a:off x="384" y="480"/>
              <a:ext cx="0" cy="2496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1" name="Line 8"/>
            <p:cNvSpPr>
              <a:spLocks noChangeShapeType="1"/>
            </p:cNvSpPr>
            <p:nvPr/>
          </p:nvSpPr>
          <p:spPr bwMode="auto">
            <a:xfrm>
              <a:off x="384" y="480"/>
              <a:ext cx="288" cy="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3124199" y="1085733"/>
            <a:ext cx="5918200" cy="3759200"/>
            <a:chOff x="1920" y="912"/>
            <a:chExt cx="3360" cy="2208"/>
          </a:xfrm>
        </p:grpSpPr>
        <p:sp>
          <p:nvSpPr>
            <p:cNvPr id="22546" name="Line 10"/>
            <p:cNvSpPr>
              <a:spLocks noChangeShapeType="1"/>
            </p:cNvSpPr>
            <p:nvPr/>
          </p:nvSpPr>
          <p:spPr bwMode="auto">
            <a:xfrm>
              <a:off x="5065" y="912"/>
              <a:ext cx="215" cy="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7" name="Line 11"/>
            <p:cNvSpPr>
              <a:spLocks noChangeShapeType="1"/>
            </p:cNvSpPr>
            <p:nvPr/>
          </p:nvSpPr>
          <p:spPr bwMode="auto">
            <a:xfrm flipH="1">
              <a:off x="5280" y="912"/>
              <a:ext cx="0" cy="2208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8" name="Line 12"/>
            <p:cNvSpPr>
              <a:spLocks noChangeShapeType="1"/>
            </p:cNvSpPr>
            <p:nvPr/>
          </p:nvSpPr>
          <p:spPr bwMode="auto">
            <a:xfrm flipH="1" flipV="1">
              <a:off x="1920" y="3120"/>
              <a:ext cx="3360" cy="0"/>
            </a:xfrm>
            <a:prstGeom prst="line">
              <a:avLst/>
            </a:prstGeom>
            <a:noFill/>
            <a:ln w="38100" cap="sq">
              <a:solidFill>
                <a:schemeClr val="accent2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762000" y="1634127"/>
            <a:ext cx="457200" cy="3733800"/>
            <a:chOff x="624" y="1440"/>
            <a:chExt cx="288" cy="2160"/>
          </a:xfrm>
        </p:grpSpPr>
        <p:sp>
          <p:nvSpPr>
            <p:cNvPr id="22543" name="Line 14"/>
            <p:cNvSpPr>
              <a:spLocks noChangeShapeType="1"/>
            </p:cNvSpPr>
            <p:nvPr/>
          </p:nvSpPr>
          <p:spPr bwMode="auto">
            <a:xfrm flipH="1">
              <a:off x="624" y="3600"/>
              <a:ext cx="288" cy="0"/>
            </a:xfrm>
            <a:prstGeom prst="line">
              <a:avLst/>
            </a:prstGeom>
            <a:noFill/>
            <a:ln w="38100" cap="sq">
              <a:solidFill>
                <a:srgbClr val="C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4" name="Line 15"/>
            <p:cNvSpPr>
              <a:spLocks noChangeShapeType="1"/>
            </p:cNvSpPr>
            <p:nvPr/>
          </p:nvSpPr>
          <p:spPr bwMode="auto">
            <a:xfrm flipV="1">
              <a:off x="624" y="1440"/>
              <a:ext cx="0" cy="2160"/>
            </a:xfrm>
            <a:prstGeom prst="line">
              <a:avLst/>
            </a:prstGeom>
            <a:noFill/>
            <a:ln w="38100" cap="sq">
              <a:solidFill>
                <a:srgbClr val="C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5" name="Line 16"/>
            <p:cNvSpPr>
              <a:spLocks noChangeShapeType="1"/>
            </p:cNvSpPr>
            <p:nvPr/>
          </p:nvSpPr>
          <p:spPr bwMode="auto">
            <a:xfrm>
              <a:off x="624" y="1440"/>
              <a:ext cx="144" cy="0"/>
            </a:xfrm>
            <a:prstGeom prst="line">
              <a:avLst/>
            </a:prstGeom>
            <a:noFill/>
            <a:ln w="38100" cap="sq">
              <a:solidFill>
                <a:srgbClr val="C000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3413759" y="2610951"/>
            <a:ext cx="4594861" cy="2690571"/>
            <a:chOff x="1824" y="1776"/>
            <a:chExt cx="2640" cy="1680"/>
          </a:xfrm>
        </p:grpSpPr>
        <p:sp>
          <p:nvSpPr>
            <p:cNvPr id="22540" name="Line 18"/>
            <p:cNvSpPr>
              <a:spLocks noChangeShapeType="1"/>
            </p:cNvSpPr>
            <p:nvPr/>
          </p:nvSpPr>
          <p:spPr bwMode="auto">
            <a:xfrm flipV="1">
              <a:off x="1824" y="1776"/>
              <a:ext cx="2640" cy="0"/>
            </a:xfrm>
            <a:prstGeom prst="line">
              <a:avLst/>
            </a:prstGeom>
            <a:noFill/>
            <a:ln w="38100" cap="sq">
              <a:solidFill>
                <a:srgbClr val="C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1" name="Line 19"/>
            <p:cNvSpPr>
              <a:spLocks noChangeShapeType="1"/>
            </p:cNvSpPr>
            <p:nvPr/>
          </p:nvSpPr>
          <p:spPr bwMode="auto">
            <a:xfrm>
              <a:off x="4464" y="1776"/>
              <a:ext cx="0" cy="1680"/>
            </a:xfrm>
            <a:prstGeom prst="line">
              <a:avLst/>
            </a:prstGeom>
            <a:noFill/>
            <a:ln w="38100" cap="sq">
              <a:solidFill>
                <a:srgbClr val="C0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2" name="Line 20"/>
            <p:cNvSpPr>
              <a:spLocks noChangeShapeType="1"/>
            </p:cNvSpPr>
            <p:nvPr/>
          </p:nvSpPr>
          <p:spPr bwMode="auto">
            <a:xfrm flipH="1">
              <a:off x="1824" y="3456"/>
              <a:ext cx="2640" cy="0"/>
            </a:xfrm>
            <a:prstGeom prst="line">
              <a:avLst/>
            </a:prstGeom>
            <a:noFill/>
            <a:ln w="38100" cap="sq">
              <a:solidFill>
                <a:srgbClr val="C00000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539" name="Slide Number Placeholder 2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4580674F-29AC-47F8-BAE9-ACD062D4EC92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21</a:t>
            </a:fld>
            <a:endParaRPr lang="en-US" sz="1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772400" cy="685800"/>
          </a:xfrm>
        </p:spPr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Arguments and parameters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447800"/>
            <a:ext cx="8839200" cy="4114800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Ø"/>
            </a:pPr>
            <a:r>
              <a:rPr lang="en-US" sz="2800" dirty="0"/>
              <a:t>Both arguments and parameters are variables used in a </a:t>
            </a:r>
            <a:r>
              <a:rPr lang="en-US" sz="2800" b="1" dirty="0">
                <a:solidFill>
                  <a:schemeClr val="accent2"/>
                </a:solidFill>
                <a:latin typeface="Tempus Sans ITC" pitchFamily="82" charset="0"/>
              </a:rPr>
              <a:t>program</a:t>
            </a:r>
            <a:r>
              <a:rPr lang="en-US" sz="2800" dirty="0">
                <a:latin typeface="Tempus Sans ITC" pitchFamily="82" charset="0"/>
              </a:rPr>
              <a:t> &amp; </a:t>
            </a:r>
            <a:r>
              <a:rPr lang="en-US" sz="2800" b="1" dirty="0">
                <a:solidFill>
                  <a:schemeClr val="accent2"/>
                </a:solidFill>
                <a:latin typeface="Tempus Sans ITC" pitchFamily="82" charset="0"/>
              </a:rPr>
              <a:t>function</a:t>
            </a:r>
            <a:r>
              <a:rPr lang="en-US" sz="2800" b="1" dirty="0"/>
              <a:t>.</a:t>
            </a:r>
          </a:p>
          <a:p>
            <a:pPr algn="just" eaLnBrk="1" hangingPunct="1">
              <a:buFontTx/>
              <a:buNone/>
            </a:pPr>
            <a:endParaRPr lang="en-US" sz="500" dirty="0"/>
          </a:p>
          <a:p>
            <a:pPr algn="just" eaLnBrk="1" hangingPunct="1">
              <a:buFont typeface="Wingdings" pitchFamily="2" charset="2"/>
              <a:buChar char="Ø"/>
            </a:pPr>
            <a:r>
              <a:rPr lang="en-US" sz="2800" dirty="0"/>
              <a:t>Variables used in the </a:t>
            </a:r>
            <a:r>
              <a:rPr lang="en-US" sz="2800" i="1" dirty="0"/>
              <a:t>function reference or function call</a:t>
            </a:r>
            <a:r>
              <a:rPr lang="en-US" sz="2800" dirty="0"/>
              <a:t>  are called as </a:t>
            </a:r>
            <a:r>
              <a:rPr lang="en-US" sz="2800" b="1" dirty="0">
                <a:solidFill>
                  <a:schemeClr val="accent2"/>
                </a:solidFill>
                <a:latin typeface="Tempus Sans ITC" pitchFamily="82" charset="0"/>
              </a:rPr>
              <a:t>arguments</a:t>
            </a:r>
            <a:r>
              <a:rPr lang="en-US" sz="2800" dirty="0"/>
              <a:t>. These are written within the parenthesis followed by the name of the function. They are also called </a:t>
            </a:r>
            <a:r>
              <a:rPr lang="en-US" sz="2800" b="1" dirty="0">
                <a:solidFill>
                  <a:schemeClr val="accent2"/>
                </a:solidFill>
                <a:latin typeface="Tempus Sans ITC" pitchFamily="82" charset="0"/>
              </a:rPr>
              <a:t>actual parameters.</a:t>
            </a:r>
          </a:p>
          <a:p>
            <a:pPr algn="just" eaLnBrk="1" hangingPunct="1">
              <a:buFontTx/>
              <a:buNone/>
            </a:pPr>
            <a:endParaRPr lang="en-US" sz="500" b="1" dirty="0"/>
          </a:p>
          <a:p>
            <a:pPr algn="just" eaLnBrk="1" hangingPunct="1">
              <a:buFont typeface="Wingdings" pitchFamily="2" charset="2"/>
              <a:buChar char="Ø"/>
            </a:pPr>
            <a:r>
              <a:rPr lang="en-US" sz="2800" dirty="0"/>
              <a:t>Variables used in </a:t>
            </a:r>
            <a:r>
              <a:rPr lang="en-US" sz="2800" i="1" dirty="0"/>
              <a:t>function definition</a:t>
            </a:r>
            <a:r>
              <a:rPr lang="en-US" sz="2800" dirty="0"/>
              <a:t> are called parameters, They are also referred to as </a:t>
            </a:r>
            <a:r>
              <a:rPr lang="en-US" sz="2800" b="1" dirty="0">
                <a:solidFill>
                  <a:schemeClr val="accent2"/>
                </a:solidFill>
                <a:latin typeface="Tempus Sans ITC" pitchFamily="82" charset="0"/>
              </a:rPr>
              <a:t>formal parameters.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124200" y="6245225"/>
            <a:ext cx="2895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ctr" eaLnBrk="1" hangingPunct="1"/>
            <a:fld id="{124A2A59-F2F8-4A54-B036-D83640712A53}" type="slidenum">
              <a:rPr lang="en-US" sz="1400" b="0" smtClean="0">
                <a:solidFill>
                  <a:schemeClr val="tx1"/>
                </a:solidFill>
              </a:rPr>
              <a:pPr algn="ctr" eaLnBrk="1" hangingPunct="1"/>
              <a:t>22</a:t>
            </a:fld>
            <a:endParaRPr lang="en-US" sz="1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AE52C0-899E-4E69-99CA-C142A304E7A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69" y="304800"/>
            <a:ext cx="7492031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AE52C0-899E-4E69-99CA-C142A304E7A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39463"/>
            <a:ext cx="7010400" cy="624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22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AE52C0-899E-4E69-99CA-C142A304E7AC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4944"/>
            <a:ext cx="7086600" cy="644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70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609AA829-C624-48F0-8031-E3A98856C426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26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Functions- </a:t>
            </a:r>
            <a:r>
              <a:rPr lang="en-US" sz="3600" b="1">
                <a:solidFill>
                  <a:srgbClr val="C00000"/>
                </a:solidFill>
                <a:latin typeface="Tempus Sans ITC" pitchFamily="82" charset="0"/>
              </a:rPr>
              <a:t>points to note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412875"/>
            <a:ext cx="8610600" cy="45354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 algn="just">
              <a:lnSpc>
                <a:spcPct val="114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The parameter list must be separated by commas</a:t>
            </a:r>
            <a:r>
              <a:rPr lang="en-US" sz="2200" b="0" dirty="0">
                <a:latin typeface="+mn-lt"/>
              </a:rPr>
              <a:t>.</a:t>
            </a:r>
          </a:p>
          <a:p>
            <a:pPr marL="914400" lvl="1" indent="-457200" algn="just">
              <a:lnSpc>
                <a:spcPct val="114000"/>
              </a:lnSpc>
              <a:spcBef>
                <a:spcPts val="0"/>
              </a:spcBef>
              <a:defRPr/>
            </a:pPr>
            <a:r>
              <a:rPr lang="en-US" b="0" dirty="0" err="1">
                <a:solidFill>
                  <a:srgbClr val="002060"/>
                </a:solidFill>
                <a:latin typeface="Baskerville Old Face" pitchFamily="18" charset="0"/>
              </a:rPr>
              <a:t>dispChar</a:t>
            </a:r>
            <a:r>
              <a:rPr lang="en-US" b="0" dirty="0">
                <a:solidFill>
                  <a:srgbClr val="002060"/>
                </a:solidFill>
                <a:latin typeface="Baskerville Old Face" pitchFamily="18" charset="0"/>
              </a:rPr>
              <a:t>( </a:t>
            </a:r>
            <a:r>
              <a:rPr lang="en-US" b="0" dirty="0" err="1">
                <a:solidFill>
                  <a:srgbClr val="C00000"/>
                </a:solidFill>
                <a:latin typeface="Baskerville Old Face" pitchFamily="18" charset="0"/>
              </a:rPr>
              <a:t>int</a:t>
            </a:r>
            <a:r>
              <a:rPr lang="en-US" b="0" dirty="0">
                <a:solidFill>
                  <a:srgbClr val="C00000"/>
                </a:solidFill>
                <a:latin typeface="Baskerville Old Face" pitchFamily="18" charset="0"/>
              </a:rPr>
              <a:t> n, char c</a:t>
            </a:r>
            <a:r>
              <a:rPr lang="en-US" dirty="0">
                <a:solidFill>
                  <a:srgbClr val="002060"/>
                </a:solidFill>
                <a:latin typeface="Baskerville Old Face" pitchFamily="18" charset="0"/>
              </a:rPr>
              <a:t>);</a:t>
            </a:r>
            <a:endParaRPr lang="en-US" b="0" dirty="0">
              <a:latin typeface="Baskerville Old Face" pitchFamily="18" charset="0"/>
            </a:endParaRPr>
          </a:p>
          <a:p>
            <a:pPr marL="457200" indent="-457200" algn="just">
              <a:lnSpc>
                <a:spcPct val="114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The parameter names do not need to be the same in the prototype declaration and the function definition.</a:t>
            </a:r>
          </a:p>
          <a:p>
            <a:pPr marL="457200" indent="-457200" algn="just">
              <a:lnSpc>
                <a:spcPct val="114000"/>
              </a:lnSpc>
              <a:spcBef>
                <a:spcPts val="0"/>
              </a:spcBef>
              <a:defRPr/>
            </a:pPr>
            <a:endParaRPr lang="en-US" sz="300" b="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14000"/>
              </a:lnSpc>
              <a:spcBef>
                <a:spcPts val="0"/>
              </a:spcBef>
              <a:buFont typeface="+mj-lt"/>
              <a:buAutoNum type="arabicPeriod" startAt="3"/>
              <a:defRPr/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The types must match the types of parameters in the function definition, in number and order.</a:t>
            </a:r>
          </a:p>
          <a:p>
            <a:pPr marL="914400" lvl="1" indent="-457200" algn="just">
              <a:lnSpc>
                <a:spcPct val="114000"/>
              </a:lnSpc>
              <a:spcBef>
                <a:spcPts val="0"/>
              </a:spcBef>
              <a:defRPr/>
            </a:pPr>
            <a:r>
              <a:rPr lang="en-US" b="0" dirty="0">
                <a:solidFill>
                  <a:srgbClr val="002060"/>
                </a:solidFill>
                <a:latin typeface="Baskerville Old Face" pitchFamily="18" charset="0"/>
              </a:rPr>
              <a:t>void </a:t>
            </a:r>
            <a:r>
              <a:rPr lang="en-US" b="0" dirty="0" err="1">
                <a:solidFill>
                  <a:srgbClr val="002060"/>
                </a:solidFill>
                <a:latin typeface="Baskerville Old Face" pitchFamily="18" charset="0"/>
              </a:rPr>
              <a:t>dispChar</a:t>
            </a:r>
            <a:r>
              <a:rPr lang="en-US" b="0" dirty="0">
                <a:solidFill>
                  <a:srgbClr val="002060"/>
                </a:solidFill>
                <a:latin typeface="Baskerville Old Face" pitchFamily="18" charset="0"/>
              </a:rPr>
              <a:t> ( </a:t>
            </a:r>
            <a:r>
              <a:rPr lang="en-US" b="0" dirty="0" err="1">
                <a:solidFill>
                  <a:srgbClr val="002060"/>
                </a:solidFill>
                <a:latin typeface="Baskerville Old Face" pitchFamily="18" charset="0"/>
              </a:rPr>
              <a:t>int</a:t>
            </a:r>
            <a:r>
              <a:rPr lang="en-US" b="0" dirty="0">
                <a:solidFill>
                  <a:srgbClr val="002060"/>
                </a:solidFill>
                <a:latin typeface="Baskerville Old Face" pitchFamily="18" charset="0"/>
              </a:rPr>
              <a:t> n, char c);</a:t>
            </a:r>
            <a:r>
              <a:rPr lang="en-US" dirty="0">
                <a:solidFill>
                  <a:schemeClr val="bg2"/>
                </a:solidFill>
                <a:latin typeface="Baskerville Old Face" pitchFamily="18" charset="0"/>
              </a:rPr>
              <a:t>//</a:t>
            </a:r>
            <a:r>
              <a:rPr lang="en-US" b="0" dirty="0">
                <a:solidFill>
                  <a:schemeClr val="bg2"/>
                </a:solidFill>
                <a:latin typeface="Baskerville Old Face" pitchFamily="18" charset="0"/>
              </a:rPr>
              <a:t>proto-type</a:t>
            </a:r>
          </a:p>
          <a:p>
            <a:pPr>
              <a:defRPr/>
            </a:pPr>
            <a:r>
              <a:rPr lang="en-US" b="0" dirty="0">
                <a:latin typeface="Arial Rounded MT Bold" pitchFamily="34" charset="0"/>
              </a:rPr>
              <a:t>      </a:t>
            </a:r>
            <a:r>
              <a:rPr lang="en-US" b="0" dirty="0">
                <a:latin typeface="Baskerville Old Face" pitchFamily="18" charset="0"/>
              </a:rPr>
              <a:t>void </a:t>
            </a:r>
            <a:r>
              <a:rPr lang="en-US" b="0" dirty="0" err="1">
                <a:latin typeface="Baskerville Old Face" pitchFamily="18" charset="0"/>
              </a:rPr>
              <a:t>dispChar</a:t>
            </a:r>
            <a:r>
              <a:rPr lang="en-US" b="0" dirty="0">
                <a:latin typeface="Baskerville Old Face" pitchFamily="18" charset="0"/>
              </a:rPr>
              <a:t> ( </a:t>
            </a:r>
            <a:r>
              <a:rPr lang="en-US" b="0" dirty="0" err="1">
                <a:latin typeface="Baskerville Old Face" pitchFamily="18" charset="0"/>
              </a:rPr>
              <a:t>int</a:t>
            </a:r>
            <a:r>
              <a:rPr lang="en-US" b="0" dirty="0">
                <a:latin typeface="Baskerville Old Face" pitchFamily="18" charset="0"/>
              </a:rPr>
              <a:t> num, char letter) </a:t>
            </a:r>
            <a:r>
              <a:rPr lang="en-US" dirty="0">
                <a:solidFill>
                  <a:schemeClr val="bg2"/>
                </a:solidFill>
                <a:latin typeface="Baskerville Old Face" pitchFamily="18" charset="0"/>
              </a:rPr>
              <a:t>// </a:t>
            </a:r>
            <a:r>
              <a:rPr lang="en-US" b="0" dirty="0">
                <a:solidFill>
                  <a:schemeClr val="bg2"/>
                </a:solidFill>
                <a:latin typeface="Baskerville Old Face" pitchFamily="18" charset="0"/>
              </a:rPr>
              <a:t>function definition</a:t>
            </a:r>
          </a:p>
          <a:p>
            <a:pPr>
              <a:defRPr/>
            </a:pPr>
            <a:r>
              <a:rPr lang="en-US" b="0" dirty="0">
                <a:latin typeface="Baskerville Old Face" pitchFamily="18" charset="0"/>
              </a:rPr>
              <a:t>      { </a:t>
            </a:r>
            <a:r>
              <a:rPr lang="en-US" b="0" dirty="0" err="1">
                <a:latin typeface="Baskerville Old Face" pitchFamily="18" charset="0"/>
              </a:rPr>
              <a:t>cout</a:t>
            </a:r>
            <a:r>
              <a:rPr lang="en-US" b="0" dirty="0">
                <a:latin typeface="Baskerville Old Face" pitchFamily="18" charset="0"/>
              </a:rPr>
              <a:t>&lt;&lt;" You have entered  "&lt;&lt; n&lt;&lt; “&amp;” &lt;&lt;c; }</a:t>
            </a:r>
          </a:p>
          <a:p>
            <a:pPr>
              <a:defRPr/>
            </a:pPr>
            <a:endParaRPr lang="en-US" sz="700" b="0" dirty="0">
              <a:latin typeface="Baskerville Old Face" pitchFamily="18" charset="0"/>
            </a:endParaRPr>
          </a:p>
          <a:p>
            <a:pPr marL="457200" indent="-457200" algn="just">
              <a:lnSpc>
                <a:spcPct val="114000"/>
              </a:lnSpc>
              <a:spcBef>
                <a:spcPts val="0"/>
              </a:spcBef>
              <a:buFont typeface="+mj-lt"/>
              <a:buAutoNum type="arabicPeriod" startAt="4"/>
              <a:defRPr/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Use of parameter names in the declaration is optional.</a:t>
            </a:r>
          </a:p>
          <a:p>
            <a:pPr marL="914400" lvl="1" indent="-457200" algn="just">
              <a:lnSpc>
                <a:spcPct val="114000"/>
              </a:lnSpc>
              <a:spcBef>
                <a:spcPts val="0"/>
              </a:spcBef>
              <a:defRPr/>
            </a:pPr>
            <a:r>
              <a:rPr lang="en-US" b="0" dirty="0">
                <a:solidFill>
                  <a:srgbClr val="002060"/>
                </a:solidFill>
                <a:latin typeface="Baskerville Old Face" pitchFamily="18" charset="0"/>
              </a:rPr>
              <a:t>void </a:t>
            </a:r>
            <a:r>
              <a:rPr lang="en-US" b="0" dirty="0" err="1">
                <a:solidFill>
                  <a:srgbClr val="002060"/>
                </a:solidFill>
                <a:latin typeface="Baskerville Old Face" pitchFamily="18" charset="0"/>
              </a:rPr>
              <a:t>dispChar</a:t>
            </a:r>
            <a:r>
              <a:rPr lang="en-US" b="0" dirty="0">
                <a:solidFill>
                  <a:srgbClr val="002060"/>
                </a:solidFill>
                <a:latin typeface="Baskerville Old Face" pitchFamily="18" charset="0"/>
              </a:rPr>
              <a:t> ( </a:t>
            </a:r>
            <a:r>
              <a:rPr lang="en-US" b="0" dirty="0" err="1">
                <a:solidFill>
                  <a:srgbClr val="002060"/>
                </a:solidFill>
                <a:latin typeface="Baskerville Old Face" pitchFamily="18" charset="0"/>
              </a:rPr>
              <a:t>int</a:t>
            </a:r>
            <a:r>
              <a:rPr lang="en-US" b="0" dirty="0">
                <a:solidFill>
                  <a:srgbClr val="002060"/>
                </a:solidFill>
                <a:latin typeface="Baskerville Old Face" pitchFamily="18" charset="0"/>
              </a:rPr>
              <a:t> , char);</a:t>
            </a:r>
            <a:r>
              <a:rPr lang="en-US" dirty="0">
                <a:solidFill>
                  <a:schemeClr val="bg2"/>
                </a:solidFill>
                <a:latin typeface="Baskerville Old Face" pitchFamily="18" charset="0"/>
              </a:rPr>
              <a:t>//</a:t>
            </a:r>
            <a:r>
              <a:rPr lang="en-US" b="0" dirty="0">
                <a:solidFill>
                  <a:schemeClr val="bg2"/>
                </a:solidFill>
                <a:latin typeface="Baskerville Old Face" pitchFamily="18" charset="0"/>
              </a:rPr>
              <a:t>proto-type</a:t>
            </a:r>
            <a:endParaRPr lang="en-US" b="0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0181D354-62D3-4139-B0FF-23323A2A56EC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27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Functions- </a:t>
            </a:r>
            <a:r>
              <a:rPr lang="en-US" sz="3600" b="1">
                <a:solidFill>
                  <a:srgbClr val="C00000"/>
                </a:solidFill>
                <a:latin typeface="Tempus Sans ITC" pitchFamily="82" charset="0"/>
              </a:rPr>
              <a:t>points to note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520825"/>
            <a:ext cx="8610600" cy="35845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 startAt="4"/>
              <a:defRPr/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If the function has no formal parameters, the list is written as (void).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Tx/>
              <a:buAutoNum type="arabicPeriod" startAt="4"/>
              <a:defRPr/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The return type is optional, when the function returns </a:t>
            </a:r>
            <a:r>
              <a:rPr lang="en-US" sz="2200" dirty="0" err="1">
                <a:solidFill>
                  <a:schemeClr val="tx1"/>
                </a:solidFill>
                <a:latin typeface="+mn-lt"/>
              </a:rPr>
              <a:t>int</a:t>
            </a:r>
            <a:r>
              <a:rPr lang="en-US" sz="2200" b="0" dirty="0">
                <a:solidFill>
                  <a:schemeClr val="tx1"/>
                </a:solidFill>
                <a:latin typeface="+mn-lt"/>
              </a:rPr>
              <a:t> type data.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Tx/>
              <a:buAutoNum type="arabicPeriod" startAt="4"/>
              <a:defRPr/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The return type must be </a:t>
            </a:r>
            <a:r>
              <a:rPr lang="en-US" sz="2200" dirty="0">
                <a:solidFill>
                  <a:schemeClr val="tx1"/>
                </a:solidFill>
                <a:latin typeface="+mn-lt"/>
              </a:rPr>
              <a:t>void</a:t>
            </a:r>
            <a:r>
              <a:rPr lang="en-US" sz="2200" b="0" dirty="0">
                <a:solidFill>
                  <a:schemeClr val="tx1"/>
                </a:solidFill>
                <a:latin typeface="+mn-lt"/>
              </a:rPr>
              <a:t> if no value is returned.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Tx/>
              <a:buAutoNum type="arabicPeriod" startAt="4"/>
              <a:defRPr/>
            </a:pPr>
            <a:r>
              <a:rPr lang="en-US" sz="2200" b="0" dirty="0">
                <a:solidFill>
                  <a:schemeClr val="tx1"/>
                </a:solidFill>
                <a:latin typeface="+mn-lt"/>
              </a:rPr>
              <a:t>When the declared types do not match with the types in the function definition, compiler will produce error. 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85C016A-8252-436B-B18D-85210C688269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28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Functions- </a:t>
            </a:r>
            <a:r>
              <a:rPr lang="en-US" sz="3600" b="1">
                <a:solidFill>
                  <a:srgbClr val="C00000"/>
                </a:solidFill>
                <a:latin typeface="Tempus Sans ITC" pitchFamily="82" charset="0"/>
              </a:rPr>
              <a:t>Categories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608138"/>
            <a:ext cx="8382000" cy="29523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Functions with </a:t>
            </a:r>
            <a:r>
              <a:rPr lang="en-US" dirty="0">
                <a:solidFill>
                  <a:srgbClr val="C00000"/>
                </a:solidFill>
                <a:latin typeface="Tempus Sans ITC" pitchFamily="82" charset="0"/>
              </a:rPr>
              <a:t>no parameters </a:t>
            </a:r>
            <a:r>
              <a:rPr lang="en-US" b="0" dirty="0">
                <a:latin typeface="+mn-lt"/>
              </a:rPr>
              <a:t>and </a:t>
            </a:r>
            <a:r>
              <a:rPr lang="en-US" dirty="0">
                <a:solidFill>
                  <a:srgbClr val="C00000"/>
                </a:solidFill>
                <a:latin typeface="Tempus Sans ITC" pitchFamily="82" charset="0"/>
              </a:rPr>
              <a:t>no return values</a:t>
            </a:r>
            <a:r>
              <a:rPr lang="en-US" b="0" dirty="0">
                <a:latin typeface="+mn-lt"/>
              </a:rPr>
              <a:t>.</a:t>
            </a:r>
          </a:p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US" b="0" dirty="0">
                <a:solidFill>
                  <a:schemeClr val="tx1"/>
                </a:solidFill>
                <a:latin typeface="+mn-lt"/>
              </a:rPr>
              <a:t>Functions with </a:t>
            </a:r>
            <a:r>
              <a:rPr lang="en-US" dirty="0">
                <a:solidFill>
                  <a:srgbClr val="C00000"/>
                </a:solidFill>
                <a:latin typeface="Tempus Sans ITC" pitchFamily="82" charset="0"/>
              </a:rPr>
              <a:t>parameters</a:t>
            </a:r>
            <a:r>
              <a:rPr lang="en-US" b="0" dirty="0">
                <a:latin typeface="+mn-lt"/>
              </a:rPr>
              <a:t> and </a:t>
            </a:r>
            <a:r>
              <a:rPr lang="en-US" dirty="0">
                <a:solidFill>
                  <a:srgbClr val="C00000"/>
                </a:solidFill>
                <a:latin typeface="Tempus Sans ITC" pitchFamily="82" charset="0"/>
              </a:rPr>
              <a:t>no return values</a:t>
            </a:r>
            <a:r>
              <a:rPr lang="en-US" b="0" dirty="0">
                <a:latin typeface="+mn-lt"/>
              </a:rPr>
              <a:t>.</a:t>
            </a:r>
          </a:p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US" b="0" dirty="0">
                <a:solidFill>
                  <a:schemeClr val="tx1"/>
                </a:solidFill>
              </a:rPr>
              <a:t>Functions with </a:t>
            </a:r>
            <a:r>
              <a:rPr lang="en-US" dirty="0">
                <a:solidFill>
                  <a:srgbClr val="C00000"/>
                </a:solidFill>
                <a:latin typeface="Tempus Sans ITC" pitchFamily="82" charset="0"/>
              </a:rPr>
              <a:t>parameters</a:t>
            </a:r>
            <a:r>
              <a:rPr lang="en-US" b="0" dirty="0"/>
              <a:t> and </a:t>
            </a:r>
            <a:r>
              <a:rPr lang="en-US" dirty="0">
                <a:solidFill>
                  <a:srgbClr val="C00000"/>
                </a:solidFill>
                <a:latin typeface="Tempus Sans ITC" pitchFamily="82" charset="0"/>
              </a:rPr>
              <a:t>one return value</a:t>
            </a:r>
            <a:r>
              <a:rPr lang="en-US" b="0" dirty="0"/>
              <a:t>.</a:t>
            </a:r>
          </a:p>
          <a:p>
            <a:pPr marL="457200" indent="-457200" algn="just">
              <a:lnSpc>
                <a:spcPct val="200000"/>
              </a:lnSpc>
              <a:spcBef>
                <a:spcPts val="0"/>
              </a:spcBef>
              <a:buFontTx/>
              <a:buAutoNum type="arabicPeriod"/>
              <a:defRPr/>
            </a:pPr>
            <a:r>
              <a:rPr lang="en-US" b="0" dirty="0">
                <a:solidFill>
                  <a:schemeClr val="tx1"/>
                </a:solidFill>
              </a:rPr>
              <a:t>Functions with </a:t>
            </a:r>
            <a:r>
              <a:rPr lang="en-US" dirty="0">
                <a:solidFill>
                  <a:srgbClr val="C00000"/>
                </a:solidFill>
                <a:latin typeface="Tempus Sans ITC" pitchFamily="82" charset="0"/>
              </a:rPr>
              <a:t>no parameters </a:t>
            </a:r>
            <a:r>
              <a:rPr lang="en-US" b="0" dirty="0"/>
              <a:t>but </a:t>
            </a:r>
            <a:r>
              <a:rPr lang="en-US" dirty="0">
                <a:solidFill>
                  <a:srgbClr val="C00000"/>
                </a:solidFill>
                <a:latin typeface="Tempus Sans ITC" pitchFamily="82" charset="0"/>
              </a:rPr>
              <a:t>return a value</a:t>
            </a:r>
            <a:r>
              <a:rPr lang="en-US" b="0" dirty="0"/>
              <a:t>.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819268" cy="1143000"/>
          </a:xfrm>
        </p:spPr>
        <p:txBody>
          <a:bodyPr/>
          <a:lstStyle/>
          <a:p>
            <a:pPr algn="l" eaLnBrk="1" hangingPunct="1"/>
            <a:r>
              <a:rPr lang="en-US" sz="2800" dirty="0" err="1">
                <a:solidFill>
                  <a:schemeClr val="tx1"/>
                </a:solidFill>
              </a:rPr>
              <a:t>Fn</a:t>
            </a:r>
            <a:r>
              <a:rPr lang="en-US" sz="2800" dirty="0">
                <a:solidFill>
                  <a:schemeClr val="tx1"/>
                </a:solidFill>
              </a:rPr>
              <a:t> with No parameters &amp; No return values</a:t>
            </a:r>
          </a:p>
        </p:txBody>
      </p:sp>
      <p:sp>
        <p:nvSpPr>
          <p:cNvPr id="3584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5FB604F0-6EAB-4AE9-AA47-9E026563C942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29</a:t>
            </a:fld>
            <a:endParaRPr lang="en-US" sz="1400" b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49" y="1453832"/>
            <a:ext cx="8603619" cy="479139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" y="1524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2800" dirty="0" err="1">
                <a:solidFill>
                  <a:schemeClr val="tx1"/>
                </a:solidFill>
              </a:rPr>
              <a:t>Fn</a:t>
            </a:r>
            <a:r>
              <a:rPr lang="en-US" sz="2800" dirty="0">
                <a:solidFill>
                  <a:schemeClr val="tx1"/>
                </a:solidFill>
              </a:rPr>
              <a:t> with parameters &amp; No return values</a:t>
            </a:r>
          </a:p>
        </p:txBody>
      </p:sp>
      <p:sp>
        <p:nvSpPr>
          <p:cNvPr id="3687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22D33778-219A-4653-8978-DE6FD2868869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30</a:t>
            </a:fld>
            <a:endParaRPr lang="en-US" sz="1400" b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295401"/>
            <a:ext cx="8669709" cy="5562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1143000"/>
          </a:xfrm>
        </p:spPr>
        <p:txBody>
          <a:bodyPr/>
          <a:lstStyle/>
          <a:p>
            <a:pPr algn="l" eaLnBrk="1" hangingPunct="1"/>
            <a:r>
              <a:rPr lang="en-US" sz="2800" dirty="0" err="1">
                <a:solidFill>
                  <a:schemeClr val="tx1"/>
                </a:solidFill>
              </a:rPr>
              <a:t>Fn</a:t>
            </a:r>
            <a:r>
              <a:rPr lang="en-US" sz="2800" dirty="0">
                <a:solidFill>
                  <a:schemeClr val="tx1"/>
                </a:solidFill>
              </a:rPr>
              <a:t> with parameters &amp; One return value</a:t>
            </a:r>
          </a:p>
        </p:txBody>
      </p:sp>
      <p:sp>
        <p:nvSpPr>
          <p:cNvPr id="3789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619764CD-F48C-4E9D-B57F-B66D45C1D3E5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31</a:t>
            </a:fld>
            <a:endParaRPr lang="en-US" sz="1400" b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23818"/>
            <a:ext cx="5562600" cy="547831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03314" y="76200"/>
            <a:ext cx="8763000" cy="720725"/>
          </a:xfrm>
        </p:spPr>
        <p:txBody>
          <a:bodyPr/>
          <a:lstStyle/>
          <a:p>
            <a:pPr algn="l" eaLnBrk="1" hangingPunct="1"/>
            <a:r>
              <a:rPr lang="en-US" sz="3200" dirty="0" err="1">
                <a:solidFill>
                  <a:schemeClr val="tx1"/>
                </a:solidFill>
              </a:rPr>
              <a:t>Fn</a:t>
            </a:r>
            <a:r>
              <a:rPr lang="en-US" sz="3200" dirty="0">
                <a:solidFill>
                  <a:schemeClr val="tx1"/>
                </a:solidFill>
              </a:rPr>
              <a:t> with No parameters but A return value</a:t>
            </a:r>
          </a:p>
        </p:txBody>
      </p:sp>
      <p:sp>
        <p:nvSpPr>
          <p:cNvPr id="38919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920A8EE-8A7F-4CB5-9405-8CB382074D8B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32</a:t>
            </a:fld>
            <a:endParaRPr lang="en-US" sz="1400" b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54" y="857885"/>
            <a:ext cx="7401446" cy="58331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To be solved …Functions</a:t>
            </a: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304800" y="1600200"/>
            <a:ext cx="8686800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514350" indent="-5143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971550" indent="-5143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>
              <a:lnSpc>
                <a:spcPct val="114000"/>
              </a:lnSpc>
            </a:pPr>
            <a:r>
              <a:rPr lang="en-US" b="0">
                <a:solidFill>
                  <a:schemeClr val="tx1"/>
                </a:solidFill>
                <a:latin typeface="Baskerville Old Face" pitchFamily="18" charset="0"/>
              </a:rPr>
              <a:t>Write appropriate functions to</a:t>
            </a:r>
          </a:p>
          <a:p>
            <a:pPr lvl="1">
              <a:lnSpc>
                <a:spcPct val="114000"/>
              </a:lnSpc>
              <a:buFontTx/>
              <a:buAutoNum type="arabicPeriod"/>
            </a:pPr>
            <a:r>
              <a:rPr lang="en-US" b="0">
                <a:solidFill>
                  <a:schemeClr val="tx1"/>
                </a:solidFill>
                <a:latin typeface="Baskerville Old Face" pitchFamily="18" charset="0"/>
              </a:rPr>
              <a:t>Find the factorial of a number ‘n’. </a:t>
            </a:r>
          </a:p>
          <a:p>
            <a:pPr lvl="1">
              <a:lnSpc>
                <a:spcPct val="114000"/>
              </a:lnSpc>
              <a:buFontTx/>
              <a:buAutoNum type="arabicPeriod"/>
            </a:pPr>
            <a:r>
              <a:rPr lang="en-US" b="0">
                <a:solidFill>
                  <a:schemeClr val="tx1"/>
                </a:solidFill>
                <a:latin typeface="Baskerville Old Face" pitchFamily="18" charset="0"/>
              </a:rPr>
              <a:t>Reverse a number ‘n’.</a:t>
            </a:r>
          </a:p>
          <a:p>
            <a:pPr lvl="1">
              <a:lnSpc>
                <a:spcPct val="114000"/>
              </a:lnSpc>
              <a:buFontTx/>
              <a:buAutoNum type="arabicPeriod"/>
            </a:pPr>
            <a:r>
              <a:rPr lang="en-US" b="0">
                <a:solidFill>
                  <a:schemeClr val="tx1"/>
                </a:solidFill>
                <a:latin typeface="Baskerville Old Face" pitchFamily="18" charset="0"/>
              </a:rPr>
              <a:t>Check whether the number ‘n’ is a palindrome.</a:t>
            </a:r>
          </a:p>
          <a:p>
            <a:pPr lvl="1">
              <a:lnSpc>
                <a:spcPct val="114000"/>
              </a:lnSpc>
              <a:buFontTx/>
              <a:buAutoNum type="arabicPeriod"/>
            </a:pPr>
            <a:r>
              <a:rPr lang="en-US" b="0">
                <a:solidFill>
                  <a:schemeClr val="tx1"/>
                </a:solidFill>
                <a:latin typeface="Baskerville Old Face" pitchFamily="18" charset="0"/>
              </a:rPr>
              <a:t>Generate the Fibonacci series for given limit ‘n’.</a:t>
            </a:r>
          </a:p>
          <a:p>
            <a:pPr lvl="1">
              <a:lnSpc>
                <a:spcPct val="114000"/>
              </a:lnSpc>
              <a:buFontTx/>
              <a:buAutoNum type="arabicPeriod"/>
            </a:pPr>
            <a:r>
              <a:rPr lang="en-US" b="0">
                <a:solidFill>
                  <a:schemeClr val="tx1"/>
                </a:solidFill>
                <a:latin typeface="Baskerville Old Face" pitchFamily="18" charset="0"/>
              </a:rPr>
              <a:t>Check whether the number ‘n’ is prime.</a:t>
            </a:r>
          </a:p>
          <a:p>
            <a:pPr lvl="1">
              <a:lnSpc>
                <a:spcPct val="114000"/>
              </a:lnSpc>
              <a:buFontTx/>
              <a:buAutoNum type="arabicPeriod"/>
            </a:pPr>
            <a:r>
              <a:rPr lang="en-US" b="0">
                <a:solidFill>
                  <a:schemeClr val="tx1"/>
                </a:solidFill>
                <a:latin typeface="Baskerville Old Face" pitchFamily="18" charset="0"/>
              </a:rPr>
              <a:t>Generate the prime series using the function written for prime check, for a given limit.</a:t>
            </a:r>
          </a:p>
          <a:p>
            <a:pPr lvl="1">
              <a:lnSpc>
                <a:spcPct val="114000"/>
              </a:lnSpc>
              <a:buFontTx/>
              <a:buAutoNum type="arabicPeriod"/>
            </a:pPr>
            <a:endParaRPr lang="en-US" b="0">
              <a:solidFill>
                <a:schemeClr val="tx1"/>
              </a:solidFill>
              <a:latin typeface="Baskerville Old Face" pitchFamily="18" charset="0"/>
            </a:endParaRPr>
          </a:p>
          <a:p>
            <a:pPr lvl="1">
              <a:lnSpc>
                <a:spcPct val="114000"/>
              </a:lnSpc>
              <a:buFontTx/>
              <a:buAutoNum type="arabicPeriod"/>
            </a:pPr>
            <a:endParaRPr lang="en-US" b="0">
              <a:solidFill>
                <a:schemeClr val="tx1"/>
              </a:solidFill>
              <a:latin typeface="Baskerville Old Face" pitchFamily="18" charset="0"/>
            </a:endParaRPr>
          </a:p>
        </p:txBody>
      </p:sp>
      <p:sp>
        <p:nvSpPr>
          <p:cNvPr id="4096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09D94D3C-E912-4C8F-9BDD-36CBA2CD133B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33</a:t>
            </a:fld>
            <a:endParaRPr lang="en-US" sz="1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40D4CE03-F21E-4807-8E9D-2FE0DC30CACA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34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Functions- </a:t>
            </a:r>
            <a:r>
              <a:rPr lang="en-US" sz="3600" b="1">
                <a:solidFill>
                  <a:srgbClr val="C00000"/>
                </a:solidFill>
                <a:latin typeface="Tempus Sans ITC" pitchFamily="82" charset="0"/>
              </a:rPr>
              <a:t>Parameter Passing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1739900"/>
            <a:ext cx="8305800" cy="14779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3200" b="0" dirty="0">
                <a:solidFill>
                  <a:schemeClr val="tx1"/>
                </a:solidFill>
                <a:latin typeface="+mn-lt"/>
              </a:rPr>
              <a:t>Pass by value (call by value)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3200" b="0" dirty="0">
                <a:solidFill>
                  <a:schemeClr val="tx1"/>
                </a:solidFill>
                <a:latin typeface="+mn-lt"/>
              </a:rPr>
              <a:t>Pass by reference (call by reference)</a:t>
            </a:r>
            <a:endParaRPr lang="en-US" sz="32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0042EB-32F4-4A1D-84D1-A3678DF551A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64518"/>
            <a:ext cx="6400800" cy="62338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Question</a:t>
            </a:r>
            <a:r>
              <a:rPr lang="en-IN" dirty="0"/>
              <a:t>..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0042EB-32F4-4A1D-84D1-A3678DF551A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1417638"/>
            <a:ext cx="8763000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Write a function prototype for a function named </a:t>
            </a:r>
            <a:r>
              <a:rPr lang="en-IN" sz="2800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test()</a:t>
            </a:r>
            <a:r>
              <a:rPr lang="en-IN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that takes three arguments (two integer arguments, and a character argument), and returns a float value.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IN" sz="28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IN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Ans: </a:t>
            </a:r>
            <a:r>
              <a:rPr lang="en-IN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float  test( int , int ,  char );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IN" sz="28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IN" sz="28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36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3569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Questions</a:t>
            </a:r>
            <a:r>
              <a:rPr lang="en-IN" dirty="0"/>
              <a:t>..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0042EB-32F4-4A1D-84D1-A3678DF551A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1191329"/>
            <a:ext cx="8915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What is the output of the following code?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IN" sz="28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IN" sz="28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86000"/>
            <a:ext cx="5335905" cy="3828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9852556">
            <a:off x="6576741" y="2930268"/>
            <a:ext cx="1752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Error !</a:t>
            </a:r>
          </a:p>
        </p:txBody>
      </p:sp>
    </p:spTree>
    <p:extLst>
      <p:ext uri="{BB962C8B-B14F-4D97-AF65-F5344CB8AC3E}">
        <p14:creationId xmlns:p14="http://schemas.microsoft.com/office/powerpoint/2010/main" val="179383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-304800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Questions</a:t>
            </a:r>
            <a:r>
              <a:rPr lang="en-IN" dirty="0"/>
              <a:t>..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0042EB-32F4-4A1D-84D1-A3678DF551A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494725"/>
            <a:ext cx="8915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What is the output of the following code?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IN" sz="28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IN" sz="28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73652"/>
            <a:ext cx="6858000" cy="52764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693" y="2021828"/>
            <a:ext cx="2768213" cy="67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3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40D4CE03-F21E-4807-8E9D-2FE0DC30CACA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39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4000" b="1" dirty="0">
                <a:solidFill>
                  <a:schemeClr val="accent2"/>
                </a:solidFill>
              </a:rPr>
              <a:t>Functions- </a:t>
            </a:r>
            <a:r>
              <a:rPr lang="en-US" sz="4000" b="1" dirty="0">
                <a:solidFill>
                  <a:srgbClr val="C00000"/>
                </a:solidFill>
                <a:latin typeface="Tempus Sans ITC" pitchFamily="82" charset="0"/>
              </a:rPr>
              <a:t>Parameter Passing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1828800"/>
            <a:ext cx="83058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3200" b="0" dirty="0">
                <a:solidFill>
                  <a:schemeClr val="tx1"/>
                </a:solidFill>
                <a:latin typeface="+mn-lt"/>
              </a:rPr>
              <a:t>Pass by value (call by value)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sz="3200" dirty="0">
                <a:solidFill>
                  <a:srgbClr val="FF0000"/>
                </a:solidFill>
                <a:latin typeface="+mn-lt"/>
              </a:rPr>
              <a:t>Pass by reference (call by reference)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25211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073150"/>
            <a:ext cx="8991600" cy="54102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A reference variable is an alias, that is, another name for an already existing variable. </a:t>
            </a:r>
          </a:p>
          <a:p>
            <a:pPr algn="just">
              <a:lnSpc>
                <a:spcPct val="150000"/>
              </a:lnSpc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Once a reference is initialized with a variable, either the variable name or the reference name may be used to refer to the variable.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Syntax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b="1" i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Datatype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i="1" dirty="0" err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RefVariable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 =  </a:t>
            </a:r>
            <a:r>
              <a:rPr lang="en-US" sz="24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valVariable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i="1" u="sng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:   </a:t>
            </a:r>
            <a:r>
              <a:rPr lang="en-US" sz="2400" b="1" i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sz="24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sz="24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  =  </a:t>
            </a:r>
            <a:r>
              <a:rPr lang="en-US" sz="2400" b="1" i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b="1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  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sz="2400" b="1" i="1" dirty="0" err="1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 declared earlier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0042EB-32F4-4A1D-84D1-A3678DF551A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-30480" y="76200"/>
            <a:ext cx="8229600" cy="1143000"/>
          </a:xfrm>
        </p:spPr>
        <p:txBody>
          <a:bodyPr/>
          <a:lstStyle/>
          <a:p>
            <a:r>
              <a:rPr lang="en-US" sz="4000" dirty="0"/>
              <a:t>Reference variable</a:t>
            </a:r>
          </a:p>
        </p:txBody>
      </p:sp>
    </p:spTree>
    <p:extLst>
      <p:ext uri="{BB962C8B-B14F-4D97-AF65-F5344CB8AC3E}">
        <p14:creationId xmlns:p14="http://schemas.microsoft.com/office/powerpoint/2010/main" val="30776948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36BDE-6CAF-4B53-A83C-EBBD52A016EA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086600" y="347345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</a:rPr>
              <a:t>OUTPUT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" y="93406"/>
            <a:ext cx="4495800" cy="667118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1219199"/>
            <a:ext cx="1143000" cy="519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9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3653" y="1124585"/>
            <a:ext cx="8839200" cy="5733415"/>
          </a:xfrm>
        </p:spPr>
        <p:txBody>
          <a:bodyPr/>
          <a:lstStyle/>
          <a:p>
            <a:pPr marL="0" indent="0" algn="just">
              <a:buNone/>
            </a:pPr>
            <a:r>
              <a:rPr lang="en-US" sz="2700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Three major differences between references and pointers are:</a:t>
            </a:r>
          </a:p>
          <a:p>
            <a:pPr marL="0" indent="0" algn="just">
              <a:buNone/>
            </a:pPr>
            <a:endParaRPr lang="en-US" sz="27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You cannot have NULL references. You must always be able to assume that a reference is connected to a legitimate piece of storage.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Once a reference is initialized to an object, it cannot be changed to refer to another object. Pointers can be pointed to another object at any time.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A reference must be initialized when it is created. Pointers can be initialized at any time.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Datatype &amp; </a:t>
            </a:r>
            <a:r>
              <a:rPr lang="en-US" sz="24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RefVariable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b="1" i="1" dirty="0" err="1">
                <a:latin typeface="Calibri" panose="020F0502020204030204" pitchFamily="34" charset="0"/>
                <a:cs typeface="Calibri" panose="020F0502020204030204" pitchFamily="34" charset="0"/>
              </a:rPr>
              <a:t>valVariable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36BDE-6CAF-4B53-A83C-EBBD52A016EA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28800" y="228600"/>
            <a:ext cx="53689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C++ References vs Pointers:</a:t>
            </a:r>
          </a:p>
        </p:txBody>
      </p:sp>
    </p:spTree>
    <p:extLst>
      <p:ext uri="{BB962C8B-B14F-4D97-AF65-F5344CB8AC3E}">
        <p14:creationId xmlns:p14="http://schemas.microsoft.com/office/powerpoint/2010/main" val="37847016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0042EB-32F4-4A1D-84D1-A3678DF551A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858000" y="5334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</a:rPr>
              <a:t>OUTPUT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447800"/>
            <a:ext cx="2333625" cy="1666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4D36BE-DAD2-473B-B4ED-21599A98D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33400"/>
            <a:ext cx="5407281" cy="5032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760818" y="426214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</a:rPr>
              <a:t>OUTPUT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205260"/>
            <a:ext cx="6532219" cy="45953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4953000"/>
            <a:ext cx="3574679" cy="69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18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75734"/>
            <a:ext cx="8229600" cy="774389"/>
          </a:xfrm>
        </p:spPr>
        <p:txBody>
          <a:bodyPr/>
          <a:lstStyle/>
          <a:p>
            <a:pPr algn="l" eaLnBrk="1" hangingPunct="1"/>
            <a:r>
              <a:rPr lang="en-US" sz="2800" b="1" dirty="0">
                <a:solidFill>
                  <a:srgbClr val="0070C0"/>
                </a:solidFill>
              </a:rPr>
              <a:t>Passing 1D-Array to a function</a:t>
            </a:r>
          </a:p>
        </p:txBody>
      </p:sp>
      <p:sp>
        <p:nvSpPr>
          <p:cNvPr id="4915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E5900673-5C52-47A8-ADD5-568F30000E85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45</a:t>
            </a:fld>
            <a:endParaRPr lang="en-US" sz="1400" b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09A2FC-713B-4BB2-9416-CFB2EE1BB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48" y="705880"/>
            <a:ext cx="7378172" cy="5562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B9A01A-B7CA-4A39-959E-7BF641CF0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308" y="455840"/>
            <a:ext cx="2160344" cy="50007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6A2EAB-F776-44AC-9EFA-23769AE81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80" y="914400"/>
            <a:ext cx="6988144" cy="495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ECBC02-6A68-41A2-8266-933B61C26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960" y="457200"/>
            <a:ext cx="971550" cy="229008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Passing 1D-Array to Function</a:t>
            </a:r>
          </a:p>
        </p:txBody>
      </p:sp>
      <p:sp>
        <p:nvSpPr>
          <p:cNvPr id="50181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A5570BFF-7416-4FBC-B63B-2E15D758063C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47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28600" y="1684338"/>
            <a:ext cx="8763000" cy="427847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just" eaLnBrk="0" hangingPunct="0">
              <a:lnSpc>
                <a:spcPct val="114000"/>
              </a:lnSpc>
              <a:spcBef>
                <a:spcPts val="0"/>
              </a:spcBef>
              <a:defRPr/>
            </a:pPr>
            <a:r>
              <a:rPr lang="en-US" b="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Rules to pass an array to a function</a:t>
            </a:r>
          </a:p>
          <a:p>
            <a:pPr algn="just" eaLnBrk="0" hangingPunct="0">
              <a:lnSpc>
                <a:spcPct val="114000"/>
              </a:lnSpc>
              <a:spcBef>
                <a:spcPts val="0"/>
              </a:spcBef>
              <a:defRPr/>
            </a:pPr>
            <a:endParaRPr lang="en-US" b="0" i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0" hangingPunct="0">
              <a:lnSpc>
                <a:spcPct val="114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function must be called by passing only the name of the </a:t>
            </a:r>
          </a:p>
          <a:p>
            <a:pPr algn="just" eaLnBrk="0" hangingPunct="0">
              <a:lnSpc>
                <a:spcPct val="114000"/>
              </a:lnSpc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array.</a:t>
            </a:r>
          </a:p>
          <a:p>
            <a:pPr algn="just" eaLnBrk="0" hangingPunct="0">
              <a:lnSpc>
                <a:spcPct val="114000"/>
              </a:lnSpc>
              <a:spcBef>
                <a:spcPts val="0"/>
              </a:spcBef>
              <a:defRPr/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0" hangingPunct="0">
              <a:lnSpc>
                <a:spcPct val="114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the function definition, the formal parameter must be an  </a:t>
            </a:r>
          </a:p>
          <a:p>
            <a:pPr algn="just" eaLnBrk="0" hangingPunct="0">
              <a:lnSpc>
                <a:spcPct val="114000"/>
              </a:lnSpc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array type; the size of the array does not need to be  </a:t>
            </a:r>
          </a:p>
          <a:p>
            <a:pPr algn="just" eaLnBrk="0" hangingPunct="0">
              <a:lnSpc>
                <a:spcPct val="114000"/>
              </a:lnSpc>
              <a:spcBef>
                <a:spcPts val="0"/>
              </a:spcBef>
              <a:defRPr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specified.</a:t>
            </a:r>
          </a:p>
          <a:p>
            <a:pPr algn="just" eaLnBrk="0" hangingPunct="0">
              <a:lnSpc>
                <a:spcPct val="114000"/>
              </a:lnSpc>
              <a:spcBef>
                <a:spcPts val="0"/>
              </a:spcBef>
              <a:defRPr/>
            </a:pP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0" hangingPunct="0">
              <a:lnSpc>
                <a:spcPct val="114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function prototype must show that argument is an array.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5240"/>
            <a:ext cx="8229600" cy="624840"/>
          </a:xfrm>
        </p:spPr>
        <p:txBody>
          <a:bodyPr/>
          <a:lstStyle/>
          <a:p>
            <a:pPr algn="l" eaLnBrk="1" hangingPunct="1"/>
            <a:r>
              <a:rPr lang="en-US" sz="2800" b="1" dirty="0">
                <a:solidFill>
                  <a:srgbClr val="00B0F0"/>
                </a:solidFill>
              </a:rPr>
              <a:t>Passing 2D-Array to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E3E32-E424-4155-B99D-BFECCA44A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" y="640079"/>
            <a:ext cx="8229600" cy="31367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EE59A9-4327-4348-9EFA-21287A59D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99" y="3886200"/>
            <a:ext cx="7620001" cy="266330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3200" b="1" dirty="0">
                <a:solidFill>
                  <a:schemeClr val="accent2"/>
                </a:solidFill>
              </a:rPr>
              <a:t>Passing 2D-Array to Function</a:t>
            </a:r>
          </a:p>
        </p:txBody>
      </p:sp>
      <p:sp>
        <p:nvSpPr>
          <p:cNvPr id="5325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eaLnBrk="1" hangingPunct="1"/>
            <a:fld id="{13CD4B33-D645-4AB2-926A-AC392AA0B4B8}" type="slidenum">
              <a:rPr lang="en-US" sz="1400" b="0" smtClean="0">
                <a:solidFill>
                  <a:schemeClr val="tx1"/>
                </a:solidFill>
              </a:rPr>
              <a:pPr eaLnBrk="1" hangingPunct="1"/>
              <a:t>49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90500" y="1371600"/>
            <a:ext cx="8801100" cy="411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Rules to pass a 2D- array to a function</a:t>
            </a:r>
          </a:p>
          <a:p>
            <a:pPr algn="just" eaLnBrk="0" hangingPunct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function must be called by passing only the array name. </a:t>
            </a:r>
          </a:p>
          <a:p>
            <a:pPr algn="just" eaLnBrk="0" hangingPunct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the function definition, we must indicate that the array has </a:t>
            </a:r>
          </a:p>
          <a:p>
            <a:pPr algn="just" eaLnBrk="0" hangingPunct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two-dimensions by including two set of brackets.</a:t>
            </a:r>
          </a:p>
          <a:p>
            <a:pPr algn="just" eaLnBrk="0" hangingPunct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size of the second dimension must be specified.</a:t>
            </a:r>
          </a:p>
          <a:p>
            <a:pPr algn="just" eaLnBrk="0" hangingPunct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en-US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prototype declaration should be similar to function </a:t>
            </a:r>
          </a:p>
          <a:p>
            <a:pPr algn="just" eaLnBrk="0" hangingPunct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header.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838200"/>
            <a:ext cx="8001000" cy="3733800"/>
          </a:xfrm>
        </p:spPr>
        <p:txBody>
          <a:bodyPr/>
          <a:lstStyle/>
          <a:p>
            <a:pPr eaLnBrk="1" hangingPunct="1"/>
            <a:r>
              <a:rPr lang="en-US" sz="4800" b="1" dirty="0">
                <a:solidFill>
                  <a:schemeClr val="tx1"/>
                </a:solidFill>
              </a:rPr>
              <a:t>Function overloading, default arguments and inline functions</a:t>
            </a:r>
            <a:r>
              <a:rPr lang="en-US" sz="4800" b="1" u="sng" dirty="0">
                <a:solidFill>
                  <a:schemeClr val="tx1"/>
                </a:solidFill>
              </a:rPr>
              <a:t> </a:t>
            </a:r>
            <a:r>
              <a:rPr lang="en-US" sz="4800" b="1" dirty="0">
                <a:solidFill>
                  <a:schemeClr val="tx1"/>
                </a:solidFill>
              </a:rPr>
              <a:t> </a:t>
            </a:r>
            <a:endParaRPr lang="en-US" sz="48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5157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35FB6BB-5212-4C79-BE35-0384B0BA74EF}" type="slidenum">
              <a:rPr lang="en-US" smtClean="0"/>
              <a:pPr eaLnBrk="1" hangingPunct="1"/>
              <a:t>51</a:t>
            </a:fld>
            <a:endParaRPr lang="en-US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z="3600" b="1" dirty="0"/>
              <a:t>Function Overloading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" y="1524000"/>
            <a:ext cx="8915400" cy="452596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Using the concept of function overloading - we can design a family of functions with one function name but with different argument lists.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 The function would </a:t>
            </a:r>
            <a:r>
              <a:rPr lang="en-US" sz="2800" b="1" u="sng" dirty="0">
                <a:solidFill>
                  <a:srgbClr val="EE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 different operations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depending on the argument list in the function call.</a:t>
            </a:r>
          </a:p>
          <a:p>
            <a:pPr algn="just" eaLnBrk="1" hangingPunct="1">
              <a:lnSpc>
                <a:spcPct val="150000"/>
              </a:lnSpc>
            </a:pPr>
            <a:endParaRPr lang="en-US" sz="20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0864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9C4385-CAFA-4E01-82DF-979F60F7D234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152400"/>
            <a:ext cx="8229600" cy="563563"/>
          </a:xfrm>
        </p:spPr>
        <p:txBody>
          <a:bodyPr/>
          <a:lstStyle/>
          <a:p>
            <a:pPr eaLnBrk="1" hangingPunct="1"/>
            <a:r>
              <a:rPr lang="en-US" sz="3600" b="1" dirty="0"/>
              <a:t>Example</a:t>
            </a:r>
            <a:endParaRPr lang="en-US" sz="4000" b="1" dirty="0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52400"/>
            <a:ext cx="4038600" cy="5559425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000" dirty="0"/>
              <a:t>void </a:t>
            </a:r>
            <a:r>
              <a:rPr lang="en-US" sz="2000" dirty="0">
                <a:solidFill>
                  <a:srgbClr val="FF0000"/>
                </a:solidFill>
              </a:rPr>
              <a:t>display</a:t>
            </a:r>
            <a:r>
              <a:rPr lang="en-US" sz="2000" dirty="0"/>
              <a:t> ( </a:t>
            </a:r>
            <a:r>
              <a:rPr lang="en-US" sz="2000" dirty="0" err="1"/>
              <a:t>int</a:t>
            </a:r>
            <a:r>
              <a:rPr lang="en-US" sz="2000" dirty="0"/>
              <a:t> );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000" dirty="0"/>
              <a:t>void </a:t>
            </a:r>
            <a:r>
              <a:rPr lang="en-US" sz="2000" dirty="0">
                <a:solidFill>
                  <a:srgbClr val="FF0000"/>
                </a:solidFill>
              </a:rPr>
              <a:t>display</a:t>
            </a:r>
            <a:r>
              <a:rPr lang="en-US" sz="2000" dirty="0"/>
              <a:t> ( long );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sz="2000" dirty="0"/>
              <a:t>void </a:t>
            </a:r>
            <a:r>
              <a:rPr lang="en-US" sz="2000" dirty="0">
                <a:solidFill>
                  <a:srgbClr val="FF0000"/>
                </a:solidFill>
              </a:rPr>
              <a:t>display</a:t>
            </a:r>
            <a:r>
              <a:rPr lang="en-US" sz="2000" dirty="0"/>
              <a:t> ( char [ ] );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endParaRPr lang="en-US" sz="2000" dirty="0"/>
          </a:p>
        </p:txBody>
      </p:sp>
      <p:sp>
        <p:nvSpPr>
          <p:cNvPr id="5127" name="Rectangle 3"/>
          <p:cNvSpPr txBox="1">
            <a:spLocks noChangeArrowheads="1"/>
          </p:cNvSpPr>
          <p:nvPr/>
        </p:nvSpPr>
        <p:spPr bwMode="auto">
          <a:xfrm>
            <a:off x="518160" y="1905000"/>
            <a:ext cx="4084320" cy="42640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void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display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int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cout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&lt;&lt;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&lt;&lt;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endl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void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display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 long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cout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&lt;&lt;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&lt;&lt;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endl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}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void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display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( char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 ] 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cout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&lt;&lt;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var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&lt;&lt;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endl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1364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36BDE-6CAF-4B53-A83C-EBBD52A016EA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50900"/>
            <a:ext cx="4343400" cy="50165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38200"/>
            <a:ext cx="4450080" cy="404552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474378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2ABC78-21C8-4B50-8DEE-8F172A426159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152400"/>
            <a:ext cx="8229600" cy="533400"/>
          </a:xfrm>
        </p:spPr>
        <p:txBody>
          <a:bodyPr/>
          <a:lstStyle/>
          <a:p>
            <a:r>
              <a:rPr lang="en-US" sz="2800" b="1" dirty="0">
                <a:solidFill>
                  <a:srgbClr val="800080"/>
                </a:solidFill>
              </a:rPr>
              <a:t>Default arguments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90600"/>
            <a:ext cx="8915400" cy="6035674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Default values are given in the function prototype declaration.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Whenever a call is made to a function without specifying an argument, the program will automatically assign values to the parameters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 the </a:t>
            </a:r>
            <a:r>
              <a:rPr lang="en-US" sz="2400" b="1" dirty="0">
                <a:solidFill>
                  <a:srgbClr val="EE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trailing arguments can have default values </a:t>
            </a: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therefore we must </a:t>
            </a:r>
            <a:r>
              <a:rPr lang="en-US" sz="2400" b="1" u="sng" dirty="0">
                <a:solidFill>
                  <a:srgbClr val="EE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defaults from right to left.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cannot provide a default value to a particular argument in the middle of an argument list.</a:t>
            </a:r>
          </a:p>
          <a:p>
            <a:pPr algn="just">
              <a:lnSpc>
                <a:spcPct val="150000"/>
              </a:lnSpc>
              <a:buFontTx/>
              <a:buNone/>
            </a:pPr>
            <a:endParaRPr lang="en-US" sz="24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69731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BF00AA-809C-4B6E-BD95-83D42F270BBB}"/>
              </a:ext>
            </a:extLst>
          </p:cNvPr>
          <p:cNvSpPr txBox="1"/>
          <p:nvPr/>
        </p:nvSpPr>
        <p:spPr>
          <a:xfrm>
            <a:off x="533400" y="152400"/>
            <a:ext cx="723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 with default arguments - 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74F0C-25DD-4960-AE33-BECB25054280}"/>
              </a:ext>
            </a:extLst>
          </p:cNvPr>
          <p:cNvSpPr txBox="1"/>
          <p:nvPr/>
        </p:nvSpPr>
        <p:spPr>
          <a:xfrm>
            <a:off x="6934200" y="24384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5F1C5D-8B1A-4979-94F6-50AA2C6C1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570" y="3208183"/>
            <a:ext cx="2022459" cy="13763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705AF3-4399-4236-B234-32232BFC2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18612"/>
            <a:ext cx="6344786" cy="439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55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7A186-9CAC-4571-A918-DD5A6FAA5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87425"/>
            <a:ext cx="6445045" cy="525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BF00AA-809C-4B6E-BD95-83D42F270BBB}"/>
              </a:ext>
            </a:extLst>
          </p:cNvPr>
          <p:cNvSpPr txBox="1"/>
          <p:nvPr/>
        </p:nvSpPr>
        <p:spPr>
          <a:xfrm>
            <a:off x="533400" y="152400"/>
            <a:ext cx="723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 with default arguments -  Example-1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74F0C-25DD-4960-AE33-BECB25054280}"/>
              </a:ext>
            </a:extLst>
          </p:cNvPr>
          <p:cNvSpPr txBox="1"/>
          <p:nvPr/>
        </p:nvSpPr>
        <p:spPr>
          <a:xfrm>
            <a:off x="6934200" y="24384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5F1C5D-8B1A-4979-94F6-50AA2C6C1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570" y="3208183"/>
            <a:ext cx="2022459" cy="137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5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888428-2FAA-46C9-9EE7-651A7B626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37743"/>
            <a:ext cx="7441762" cy="4696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05749B-3C02-4D3A-BD64-A0E1C9EF8785}"/>
              </a:ext>
            </a:extLst>
          </p:cNvPr>
          <p:cNvSpPr txBox="1"/>
          <p:nvPr/>
        </p:nvSpPr>
        <p:spPr>
          <a:xfrm>
            <a:off x="7315200" y="34290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 dirty="0">
                <a:solidFill>
                  <a:srgbClr val="FF0000"/>
                </a:solidFill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01DCCB-C873-4A34-A98F-BE5E64452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817" y="4114800"/>
            <a:ext cx="700363" cy="18416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CA4929-FFAA-454C-8B81-34C7BDFC430D}"/>
              </a:ext>
            </a:extLst>
          </p:cNvPr>
          <p:cNvSpPr txBox="1"/>
          <p:nvPr/>
        </p:nvSpPr>
        <p:spPr>
          <a:xfrm>
            <a:off x="533400" y="152400"/>
            <a:ext cx="723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Function with default arguments -  Example-2</a:t>
            </a:r>
          </a:p>
        </p:txBody>
      </p:sp>
    </p:spTree>
    <p:extLst>
      <p:ext uri="{BB962C8B-B14F-4D97-AF65-F5344CB8AC3E}">
        <p14:creationId xmlns:p14="http://schemas.microsoft.com/office/powerpoint/2010/main" val="271707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36BDE-6CAF-4B53-A83C-EBBD52A016EA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133600"/>
            <a:ext cx="8890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8696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F5CF3C6-7E39-4811-B8E8-560960EDA943}" type="slidenum">
              <a:rPr lang="en-US" smtClean="0"/>
              <a:pPr eaLnBrk="1" hangingPunct="1"/>
              <a:t>59</a:t>
            </a:fld>
            <a:endParaRPr lang="en-US"/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228600" y="1676400"/>
            <a:ext cx="8534400" cy="390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FF33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inline function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is a function that is expanded in line when it is invoked(or called). </a:t>
            </a:r>
          </a:p>
          <a:p>
            <a:pPr algn="just" eaLnBrk="1" hangingPunct="1">
              <a:lnSpc>
                <a:spcPct val="150000"/>
              </a:lnSpc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compiler replaces the function call with the corresponding function code (similar to the macros expansion).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457200"/>
            <a:ext cx="685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Inline functions</a:t>
            </a:r>
          </a:p>
        </p:txBody>
      </p:sp>
    </p:spTree>
    <p:extLst>
      <p:ext uri="{BB962C8B-B14F-4D97-AF65-F5344CB8AC3E}">
        <p14:creationId xmlns:p14="http://schemas.microsoft.com/office/powerpoint/2010/main" val="18368359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66B105F-FB39-4830-BFD5-FEFDB0665395}" type="slidenum">
              <a:rPr lang="en-US" smtClean="0"/>
              <a:pPr eaLnBrk="1" hangingPunct="1"/>
              <a:t>60</a:t>
            </a:fld>
            <a:endParaRPr lang="en-US"/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152400" y="152400"/>
            <a:ext cx="8915400" cy="587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en-US" sz="2400" dirty="0"/>
              <a:t>The inline functions are defined as follows:</a:t>
            </a:r>
            <a:endParaRPr lang="en-US" sz="2400" b="1" dirty="0"/>
          </a:p>
          <a:p>
            <a:pPr algn="just" eaLnBrk="1" hangingPunct="1"/>
            <a:endParaRPr lang="en-US" sz="2400" b="1" dirty="0"/>
          </a:p>
          <a:p>
            <a:pPr algn="just" eaLnBrk="1" hangingPunct="1"/>
            <a:r>
              <a:rPr lang="en-US" sz="2400" b="1" dirty="0">
                <a:solidFill>
                  <a:srgbClr val="FF0000"/>
                </a:solidFill>
              </a:rPr>
              <a:t>inline</a:t>
            </a:r>
            <a:r>
              <a:rPr lang="en-US" sz="2400" dirty="0"/>
              <a:t> </a:t>
            </a:r>
            <a:r>
              <a:rPr lang="en-US" sz="2400" i="1" dirty="0"/>
              <a:t>function-header</a:t>
            </a:r>
            <a:endParaRPr lang="en-US" sz="2400" dirty="0"/>
          </a:p>
          <a:p>
            <a:pPr algn="just" eaLnBrk="1" hangingPunct="1"/>
            <a:r>
              <a:rPr lang="en-US" sz="2400" dirty="0"/>
              <a:t>{</a:t>
            </a:r>
          </a:p>
          <a:p>
            <a:pPr algn="just" eaLnBrk="1" hangingPunct="1"/>
            <a:r>
              <a:rPr lang="en-US" sz="2400" dirty="0"/>
              <a:t>	Function body</a:t>
            </a:r>
          </a:p>
          <a:p>
            <a:pPr algn="just" eaLnBrk="1" hangingPunct="1"/>
            <a:r>
              <a:rPr lang="en-US" sz="2400" dirty="0"/>
              <a:t>}</a:t>
            </a:r>
          </a:p>
          <a:p>
            <a:pPr algn="just" eaLnBrk="1" hangingPunct="1"/>
            <a:endParaRPr lang="fr-FR" sz="2000" b="1" dirty="0"/>
          </a:p>
          <a:p>
            <a:pPr algn="just" eaLnBrk="1" hangingPunct="1"/>
            <a:r>
              <a:rPr lang="fr-FR" sz="2000" b="1" u="sng" dirty="0" err="1">
                <a:solidFill>
                  <a:srgbClr val="00B0F0"/>
                </a:solidFill>
              </a:rPr>
              <a:t>Example</a:t>
            </a:r>
            <a:r>
              <a:rPr lang="fr-FR" sz="2000" b="1" dirty="0"/>
              <a:t>:</a:t>
            </a:r>
          </a:p>
          <a:p>
            <a:pPr algn="just" eaLnBrk="1" hangingPunct="1"/>
            <a:endParaRPr lang="fr-FR" sz="2000" b="1" dirty="0"/>
          </a:p>
          <a:p>
            <a:pPr algn="just" eaLnBrk="1" hangingPunct="1"/>
            <a:r>
              <a:rPr lang="fr-FR" sz="2000" b="1" dirty="0" err="1">
                <a:solidFill>
                  <a:srgbClr val="FF0000"/>
                </a:solidFill>
              </a:rPr>
              <a:t>inline</a:t>
            </a:r>
            <a:r>
              <a:rPr lang="fr-FR" sz="2000" b="1" dirty="0"/>
              <a:t>  double  cube( double  a )</a:t>
            </a:r>
          </a:p>
          <a:p>
            <a:pPr algn="just" eaLnBrk="1" hangingPunct="1"/>
            <a:r>
              <a:rPr lang="fr-FR" sz="2000" b="1" dirty="0"/>
              <a:t> </a:t>
            </a:r>
            <a:r>
              <a:rPr lang="en-US" sz="2000" b="1" dirty="0"/>
              <a:t>{</a:t>
            </a:r>
          </a:p>
          <a:p>
            <a:pPr algn="just" eaLnBrk="1" hangingPunct="1"/>
            <a:r>
              <a:rPr lang="en-US" sz="2000" b="1" dirty="0"/>
              <a:t>     return  a*a*a;</a:t>
            </a:r>
          </a:p>
          <a:p>
            <a:pPr algn="just" eaLnBrk="1" hangingPunct="1"/>
            <a:r>
              <a:rPr lang="en-US" sz="2000" b="1" dirty="0"/>
              <a:t>}</a:t>
            </a:r>
          </a:p>
          <a:p>
            <a:pPr algn="just" eaLnBrk="1" hangingPunct="1"/>
            <a:endParaRPr lang="en-US" sz="2000" b="1" dirty="0"/>
          </a:p>
          <a:p>
            <a:pPr algn="just" eaLnBrk="1" hangingPunct="1"/>
            <a:r>
              <a:rPr lang="en-US" sz="2400" dirty="0">
                <a:solidFill>
                  <a:srgbClr val="00B050"/>
                </a:solidFill>
              </a:rPr>
              <a:t>The above inline function can be invoked by statements like</a:t>
            </a:r>
          </a:p>
          <a:p>
            <a:pPr algn="just" eaLnBrk="1" hangingPunct="1"/>
            <a:r>
              <a:rPr lang="en-US" sz="2400" b="1" dirty="0"/>
              <a:t>double   c = cube(3.0);</a:t>
            </a:r>
          </a:p>
          <a:p>
            <a:pPr algn="just" eaLnBrk="1" hangingPunct="1"/>
            <a:r>
              <a:rPr lang="en-US" sz="2400" b="1" dirty="0"/>
              <a:t>double   d = cube( 2.5+1.5 );</a:t>
            </a:r>
          </a:p>
        </p:txBody>
      </p:sp>
    </p:spTree>
    <p:extLst>
      <p:ext uri="{BB962C8B-B14F-4D97-AF65-F5344CB8AC3E}">
        <p14:creationId xmlns:p14="http://schemas.microsoft.com/office/powerpoint/2010/main" val="24956959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596C108-3373-4BB7-B833-23FADFE74240}" type="slidenum">
              <a:rPr lang="en-US" smtClean="0"/>
              <a:pPr eaLnBrk="1" hangingPunct="1"/>
              <a:t>61</a:t>
            </a:fld>
            <a:endParaRPr lang="en-US"/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228600" y="923025"/>
            <a:ext cx="8686800" cy="5011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inline functions must be defined before they are called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easy to make a function as inline function. Just prefix the keyword inline  to the function definition. 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inline expansion makes a </a:t>
            </a:r>
            <a:r>
              <a:rPr lang="en-US" dirty="0">
                <a:solidFill>
                  <a:srgbClr val="EE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run faster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overhead of a function call and return is eliminated.</a:t>
            </a:r>
          </a:p>
          <a:p>
            <a:pPr algn="just" eaLnBrk="1" hangingPunct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it makes the program to take up more memory because the statements that define the inline function are reproduced at each point where the function is called.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4959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2EF3211-E6F7-4B9B-9A4F-58ED8868B45A}" type="slidenum">
              <a:rPr lang="en-US" smtClean="0"/>
              <a:pPr eaLnBrk="1" hangingPunct="1"/>
              <a:t>62</a:t>
            </a:fld>
            <a:endParaRPr lang="en-US"/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228600" y="212804"/>
            <a:ext cx="53340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0" dirty="0">
                <a:solidFill>
                  <a:srgbClr val="FF0000"/>
                </a:solidFill>
              </a:rPr>
              <a:t>inline</a:t>
            </a:r>
            <a:r>
              <a:rPr lang="en-US" sz="2000" b="0" dirty="0"/>
              <a:t>   float   </a:t>
            </a:r>
            <a:r>
              <a:rPr lang="en-US" sz="2000" b="0" dirty="0" err="1"/>
              <a:t>mul</a:t>
            </a:r>
            <a:r>
              <a:rPr lang="en-US" sz="2000" b="0" dirty="0"/>
              <a:t> ( float   x, float   y )</a:t>
            </a:r>
          </a:p>
          <a:p>
            <a:pPr eaLnBrk="1" hangingPunct="1"/>
            <a:r>
              <a:rPr lang="en-US" sz="2000" b="0" dirty="0"/>
              <a:t>{</a:t>
            </a:r>
          </a:p>
          <a:p>
            <a:pPr eaLnBrk="1" hangingPunct="1"/>
            <a:r>
              <a:rPr lang="en-US" sz="2000" b="0" dirty="0"/>
              <a:t>	return  x*y;</a:t>
            </a:r>
          </a:p>
          <a:p>
            <a:pPr eaLnBrk="1" hangingPunct="1"/>
            <a:r>
              <a:rPr lang="en-US" sz="2000" b="0" dirty="0"/>
              <a:t>}</a:t>
            </a:r>
            <a:endParaRPr lang="fr-FR" sz="2000" b="0" dirty="0"/>
          </a:p>
          <a:p>
            <a:pPr eaLnBrk="1" hangingPunct="1"/>
            <a:r>
              <a:rPr lang="fr-FR" sz="2000" b="0" dirty="0" err="1">
                <a:solidFill>
                  <a:srgbClr val="FF0000"/>
                </a:solidFill>
              </a:rPr>
              <a:t>inline</a:t>
            </a:r>
            <a:r>
              <a:rPr lang="fr-FR" sz="2000" b="0" dirty="0"/>
              <a:t>   double   </a:t>
            </a:r>
            <a:r>
              <a:rPr lang="fr-FR" sz="2000" b="0" dirty="0" err="1"/>
              <a:t>div</a:t>
            </a:r>
            <a:r>
              <a:rPr lang="fr-FR" sz="2000" b="0" dirty="0"/>
              <a:t> ( double  p, double   q )</a:t>
            </a:r>
          </a:p>
          <a:p>
            <a:pPr eaLnBrk="1" hangingPunct="1"/>
            <a:r>
              <a:rPr lang="en-US" sz="2000" b="0" dirty="0"/>
              <a:t>{</a:t>
            </a:r>
          </a:p>
          <a:p>
            <a:pPr eaLnBrk="1" hangingPunct="1"/>
            <a:r>
              <a:rPr lang="en-US" sz="2000" b="0" dirty="0"/>
              <a:t>	return  p/q;</a:t>
            </a:r>
          </a:p>
          <a:p>
            <a:pPr eaLnBrk="1" hangingPunct="1"/>
            <a:r>
              <a:rPr lang="en-US" sz="2000" b="0" dirty="0"/>
              <a:t>}</a:t>
            </a:r>
          </a:p>
          <a:p>
            <a:pPr eaLnBrk="1" hangingPunct="1"/>
            <a:endParaRPr lang="en-US" sz="2000" b="0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343400" y="2667000"/>
            <a:ext cx="4114800" cy="317009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0" dirty="0" err="1"/>
              <a:t>int</a:t>
            </a:r>
            <a:r>
              <a:rPr lang="en-US" sz="2000" b="0" dirty="0"/>
              <a:t>   main()</a:t>
            </a:r>
          </a:p>
          <a:p>
            <a:pPr eaLnBrk="1" hangingPunct="1"/>
            <a:r>
              <a:rPr lang="en-US" sz="2000" b="0" dirty="0"/>
              <a:t>{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b="0" dirty="0"/>
              <a:t>	float   a = 12.5;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b="0" dirty="0"/>
              <a:t>	float   b = 10;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b="0" dirty="0"/>
              <a:t>	</a:t>
            </a:r>
            <a:r>
              <a:rPr lang="en-US" sz="2000" b="0" dirty="0" err="1"/>
              <a:t>cout</a:t>
            </a:r>
            <a:r>
              <a:rPr lang="en-US" sz="2000" b="0" dirty="0"/>
              <a:t> &lt;&lt; </a:t>
            </a:r>
            <a:r>
              <a:rPr lang="en-US" sz="2000" b="0" dirty="0" err="1"/>
              <a:t>mul</a:t>
            </a:r>
            <a:r>
              <a:rPr lang="en-US" sz="2000" b="0" dirty="0"/>
              <a:t>(</a:t>
            </a:r>
            <a:r>
              <a:rPr lang="en-US" sz="2000" b="0" dirty="0" err="1"/>
              <a:t>a,b</a:t>
            </a:r>
            <a:r>
              <a:rPr lang="en-US" sz="2000" b="0" dirty="0"/>
              <a:t>)&lt;&lt;”\n”;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b="0" dirty="0"/>
              <a:t>	</a:t>
            </a:r>
            <a:r>
              <a:rPr lang="en-US" sz="2000" b="0" dirty="0" err="1"/>
              <a:t>cout</a:t>
            </a:r>
            <a:r>
              <a:rPr lang="en-US" sz="2000" b="0" dirty="0"/>
              <a:t> &lt;&lt; div(</a:t>
            </a:r>
            <a:r>
              <a:rPr lang="en-US" sz="2000" b="0" dirty="0" err="1"/>
              <a:t>a,b</a:t>
            </a:r>
            <a:r>
              <a:rPr lang="en-US" sz="2000" b="0" dirty="0"/>
              <a:t>)&lt;&lt;”\n”;</a:t>
            </a:r>
          </a:p>
          <a:p>
            <a:pPr lvl="1" eaLnBrk="1" hangingPunct="1"/>
            <a:r>
              <a:rPr lang="en-US" sz="2000" b="0" dirty="0"/>
              <a:t>		return 0;</a:t>
            </a:r>
          </a:p>
          <a:p>
            <a:pPr eaLnBrk="1" hangingPunct="1"/>
            <a:r>
              <a:rPr lang="en-US" sz="2000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55118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25BE2A-A889-4500-9828-A56D7C9F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456937-D642-4E0A-B75D-2A8FA67C74BB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9E5541-ED3E-43D2-B518-702D16E4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38200"/>
            <a:ext cx="3285068" cy="1828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8F9DB0-AA43-453E-9A9C-7F6F3B18F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819400"/>
            <a:ext cx="5758210" cy="3886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9A5EEA-29A0-4AF0-81DA-3193030CA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435" y="865353"/>
            <a:ext cx="3891165" cy="2411247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46DDE8-D403-4687-8400-603A9578E324}"/>
              </a:ext>
            </a:extLst>
          </p:cNvPr>
          <p:cNvSpPr txBox="1"/>
          <p:nvPr/>
        </p:nvSpPr>
        <p:spPr>
          <a:xfrm>
            <a:off x="492817" y="152400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Passing structure to a function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5E54B-5F83-48C5-99B1-2D1E51FE5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990" y="3810000"/>
            <a:ext cx="2596050" cy="13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2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A97917-9F96-4B29-BA68-AF3D9033C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2" y="156364"/>
            <a:ext cx="4149593" cy="47204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9CAC4C-448F-41DB-B46F-A9C642BCA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675" y="2971800"/>
            <a:ext cx="5170714" cy="3505200"/>
          </a:xfrm>
          <a:prstGeom prst="rect">
            <a:avLst/>
          </a:prstGeom>
          <a:ln w="15875"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4D01F1-6A87-4017-9FA2-B53A6FE74D7D}"/>
              </a:ext>
            </a:extLst>
          </p:cNvPr>
          <p:cNvSpPr txBox="1"/>
          <p:nvPr/>
        </p:nvSpPr>
        <p:spPr>
          <a:xfrm>
            <a:off x="3411907" y="78432"/>
            <a:ext cx="4817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Passing structure to 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8875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Recursion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68147" y="2057399"/>
            <a:ext cx="8382000" cy="4525963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800" dirty="0"/>
              <a:t>Recursion is the property that when a called function calls themselves. 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800" dirty="0"/>
              <a:t>It is useful for many tasks, like sorting or calculate the factorial of numbers. 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Char char="§"/>
              <a:defRPr/>
            </a:pPr>
            <a:r>
              <a:rPr lang="en-US" sz="2800" dirty="0"/>
              <a:t>For example, to obtain the factorial of a number (n!) the mathematical formula would be: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/>
              <a:t>	n! = n * (n-1) * (n-2) * (n-3) ... * 1</a:t>
            </a:r>
            <a:r>
              <a:rPr lang="en-US" sz="2400" b="1" dirty="0">
                <a:solidFill>
                  <a:schemeClr val="accent4">
                    <a:lumMod val="75000"/>
                    <a:lumOff val="25000"/>
                  </a:schemeClr>
                </a:solidFill>
                <a:latin typeface="Tempus Sans ITC" pitchFamily="82" charset="0"/>
              </a:rPr>
              <a:t>//recurrence formula</a:t>
            </a:r>
            <a:br>
              <a:rPr lang="en-US" sz="2800" dirty="0"/>
            </a:br>
            <a:endParaRPr lang="en-US" sz="2800" dirty="0"/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/>
              <a:t>	more precisely, 5! (factorial of 5) would be: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800" dirty="0"/>
              <a:t>		</a:t>
            </a:r>
            <a:r>
              <a:rPr lang="en-US" sz="2800" b="1" dirty="0">
                <a:latin typeface="Tempus Sans ITC" pitchFamily="82" charset="0"/>
              </a:rPr>
              <a:t>5! = 5 * 4 * 3 * 2 * 1 = 120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711E8-60B8-3AA6-6DFD-16EFE3E52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74638"/>
            <a:ext cx="2895600" cy="1714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BA8B1C-EBE5-B8AC-A39F-C3DE5D192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436" y="609600"/>
            <a:ext cx="2121009" cy="132086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Factorial 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752600" y="1448118"/>
            <a:ext cx="7848600" cy="2209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long int factorial (long a)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   return  1;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56326" name="Rectangle 5"/>
          <p:cNvSpPr>
            <a:spLocks noChangeArrowheads="1"/>
          </p:cNvSpPr>
          <p:nvPr/>
        </p:nvSpPr>
        <p:spPr bwMode="auto">
          <a:xfrm>
            <a:off x="693420" y="4463387"/>
            <a:ext cx="6705600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long fact = factorial (number);</a:t>
            </a:r>
          </a:p>
          <a:p>
            <a:pPr>
              <a:lnSpc>
                <a:spcPct val="80000"/>
              </a:lnSpc>
            </a:pP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 flipV="1">
            <a:off x="6553200" y="3352800"/>
            <a:ext cx="17526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B8D371-142E-421B-B270-1EFEC910E039}"/>
              </a:ext>
            </a:extLst>
          </p:cNvPr>
          <p:cNvSpPr/>
          <p:nvPr/>
        </p:nvSpPr>
        <p:spPr>
          <a:xfrm>
            <a:off x="-22112" y="1176846"/>
            <a:ext cx="9166112" cy="76174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en-US" sz="4500" dirty="0">
                <a:ln w="0"/>
                <a:solidFill>
                  <a:schemeClr val="bg1"/>
                </a:solidFill>
                <a:latin typeface="Franklin Gothic Medium" panose="020B0603020102020204" pitchFamily="34" charset="0"/>
                <a:cs typeface="Segoe UI" panose="020B0502040204020203" pitchFamily="34" charset="0"/>
              </a:rPr>
              <a:t>Factorial</a:t>
            </a:r>
            <a:r>
              <a:rPr lang="en-US" sz="4500" b="0" dirty="0">
                <a:ln w="0"/>
                <a:solidFill>
                  <a:schemeClr val="bg1"/>
                </a:solidFill>
                <a:latin typeface="Franklin Gothic Medium" panose="020B0603020102020204" pitchFamily="34" charset="0"/>
                <a:cs typeface="Segoe UI" panose="020B0502040204020203" pitchFamily="34" charset="0"/>
              </a:rPr>
              <a:t>: </a:t>
            </a:r>
            <a:r>
              <a:rPr lang="en-US" sz="4500" b="0" dirty="0">
                <a:ln w="0"/>
                <a:solidFill>
                  <a:srgbClr val="0774A6"/>
                </a:solidFill>
                <a:latin typeface="Franklin Gothic Medium" panose="020B0603020102020204" pitchFamily="34" charset="0"/>
                <a:cs typeface="Segoe UI" panose="020B0502040204020203" pitchFamily="34" charset="0"/>
              </a:rPr>
              <a:t>Recursive</a:t>
            </a:r>
            <a:r>
              <a:rPr lang="en-US" sz="4500" b="0" dirty="0">
                <a:ln w="0"/>
                <a:solidFill>
                  <a:schemeClr val="bg1"/>
                </a:solidFill>
                <a:latin typeface="Franklin Gothic Medium" panose="020B0603020102020204" pitchFamily="34" charset="0"/>
                <a:cs typeface="Segoe UI" panose="020B0502040204020203" pitchFamily="34" charset="0"/>
              </a:rPr>
              <a:t> Definition.</a:t>
            </a:r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D9FAC9F-7FB8-4F61-A789-4491865A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3</a:t>
            </a:r>
          </a:p>
        </p:txBody>
      </p:sp>
      <p:pic>
        <p:nvPicPr>
          <p:cNvPr id="1030" name="Picture 6" descr="Recursive React Components">
            <a:extLst>
              <a:ext uri="{FF2B5EF4-FFF2-40B4-BE49-F238E27FC236}">
                <a16:creationId xmlns:a16="http://schemas.microsoft.com/office/drawing/2014/main" id="{BE372C2C-33A1-40D2-AC93-1F7BB4B3D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BFCFF"/>
              </a:clrFrom>
              <a:clrTo>
                <a:srgbClr val="FBFC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2339491"/>
            <a:ext cx="4071938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2DC22F-9FF5-45DC-82B5-673B75572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60" y="2479932"/>
            <a:ext cx="8879681" cy="33504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F1C273-7286-4845-8AC9-E46CD70F5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8923" y="1910653"/>
            <a:ext cx="5000625" cy="45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64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1981E862-C9BB-461B-A316-55B47F704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063BE1-7074-43B5-BCE6-C7B1CD67F4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4566" y="905639"/>
            <a:ext cx="6861011" cy="5046723"/>
          </a:xfrm>
          <a:prstGeom prst="rect">
            <a:avLst/>
          </a:prstGeom>
          <a:ln w="38100">
            <a:solidFill>
              <a:srgbClr val="F78545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3145B8-E600-4D17-901C-FA86FB4AE651}"/>
              </a:ext>
            </a:extLst>
          </p:cNvPr>
          <p:cNvSpPr/>
          <p:nvPr/>
        </p:nvSpPr>
        <p:spPr>
          <a:xfrm>
            <a:off x="6386737" y="857250"/>
            <a:ext cx="2652698" cy="1592744"/>
          </a:xfrm>
          <a:prstGeom prst="rect">
            <a:avLst/>
          </a:prstGeom>
          <a:noFill/>
        </p:spPr>
        <p:txBody>
          <a:bodyPr wrap="square" lIns="68580" tIns="34290" rIns="68580" bIns="34290" anchor="ctr">
            <a:spAutoFit/>
          </a:bodyPr>
          <a:lstStyle/>
          <a:p>
            <a:pPr algn="r"/>
            <a:r>
              <a:rPr lang="en-US" sz="3300" b="0" dirty="0">
                <a:ln w="0"/>
                <a:latin typeface="Franklin Gothic Medium" panose="020B0603020102020204" pitchFamily="34" charset="0"/>
                <a:cs typeface="Segoe UI" panose="020B0502040204020203" pitchFamily="34" charset="0"/>
              </a:rPr>
              <a:t>Recursive Solution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59A36-3D04-41B5-8A76-1FCAB31D8238}"/>
              </a:ext>
            </a:extLst>
          </p:cNvPr>
          <p:cNvSpPr txBox="1"/>
          <p:nvPr/>
        </p:nvSpPr>
        <p:spPr>
          <a:xfrm>
            <a:off x="7121233" y="5001978"/>
            <a:ext cx="20227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</a:rPr>
              <a:t>Figure 2-4 traces the recursion and the parameters for each individual call.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88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47207" y="233597"/>
            <a:ext cx="4191001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49885950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47207" y="233597"/>
            <a:ext cx="4191001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33207" y="2667000"/>
            <a:ext cx="6553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5* factorial(4) 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6" name="Group 35"/>
          <p:cNvGrpSpPr/>
          <p:nvPr/>
        </p:nvGrpSpPr>
        <p:grpSpPr>
          <a:xfrm>
            <a:off x="2286000" y="2819400"/>
            <a:ext cx="381000" cy="228600"/>
            <a:chOff x="1219200" y="2286000"/>
            <a:chExt cx="381000" cy="228600"/>
          </a:xfrm>
        </p:grpSpPr>
        <p:cxnSp>
          <p:nvCxnSpPr>
            <p:cNvPr id="37" name="Straight Connector 36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5111425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219231"/>
            <a:ext cx="4191001" cy="1684044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b="1" dirty="0">
                <a:latin typeface="Tempus Sans ITC" pitchFamily="8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99907" y="2713220"/>
            <a:ext cx="6553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5* factorial(4) 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4* factorial(3)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3733800" y="3352800"/>
            <a:ext cx="381000" cy="228600"/>
            <a:chOff x="1219200" y="2286000"/>
            <a:chExt cx="381000" cy="2286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2532401" y="2841647"/>
            <a:ext cx="381000" cy="228600"/>
            <a:chOff x="1219200" y="2286000"/>
            <a:chExt cx="381000" cy="228600"/>
          </a:xfrm>
        </p:grpSpPr>
        <p:cxnSp>
          <p:nvCxnSpPr>
            <p:cNvPr id="13" name="Straight Connector 12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3410915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219231"/>
            <a:ext cx="4191001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b="1" dirty="0">
                <a:latin typeface="Tempus Sans ITC" pitchFamily="8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81300" y="2743200"/>
            <a:ext cx="6553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5* factorial(4) 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4* factorial(3)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3*factorial(2)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2209800" y="2863840"/>
            <a:ext cx="381000" cy="228600"/>
            <a:chOff x="1219200" y="2286000"/>
            <a:chExt cx="381000" cy="2286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505200" y="3440025"/>
            <a:ext cx="381000" cy="206550"/>
            <a:chOff x="1219200" y="2286000"/>
            <a:chExt cx="381000" cy="228600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676307" y="3924300"/>
            <a:ext cx="381000" cy="228600"/>
            <a:chOff x="1219200" y="2286000"/>
            <a:chExt cx="381000" cy="22860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6328191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219231"/>
            <a:ext cx="4191001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Tempus Sans ITC" pitchFamily="8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90800" y="2743200"/>
            <a:ext cx="6553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5* factorial(4) 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4* factorial(3)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3*factorial(2)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2* factorial(1)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3314700" y="3352800"/>
            <a:ext cx="381000" cy="228600"/>
            <a:chOff x="1219200" y="2286000"/>
            <a:chExt cx="381000" cy="2286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4419600" y="3962400"/>
            <a:ext cx="381000" cy="228600"/>
            <a:chOff x="1219200" y="2286000"/>
            <a:chExt cx="381000" cy="228600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5410200" y="4495800"/>
            <a:ext cx="381000" cy="228600"/>
            <a:chOff x="1219200" y="2286000"/>
            <a:chExt cx="381000" cy="22860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2286000" y="2819400"/>
            <a:ext cx="381000" cy="228600"/>
            <a:chOff x="1219200" y="2286000"/>
            <a:chExt cx="381000" cy="228600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8128991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219231"/>
            <a:ext cx="4191001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b="1" dirty="0">
                <a:latin typeface="Tempus Sans ITC" pitchFamily="8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75810" y="2667000"/>
            <a:ext cx="6553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5* factorial(4) 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4* factorial(3)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3*factorial(2)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2* factorial(1)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1*factorial(0)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		1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2194810" y="2793980"/>
            <a:ext cx="381000" cy="228600"/>
            <a:chOff x="1219200" y="2286000"/>
            <a:chExt cx="381000" cy="2286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352800" y="3352800"/>
            <a:ext cx="381000" cy="228600"/>
            <a:chOff x="1219200" y="2286000"/>
            <a:chExt cx="381000" cy="228600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419600" y="3886200"/>
            <a:ext cx="381000" cy="228600"/>
            <a:chOff x="1219200" y="2286000"/>
            <a:chExt cx="381000" cy="22860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334000" y="4419600"/>
            <a:ext cx="381000" cy="228600"/>
            <a:chOff x="1219200" y="2286000"/>
            <a:chExt cx="381000" cy="228600"/>
          </a:xfrm>
        </p:grpSpPr>
        <p:cxnSp>
          <p:nvCxnSpPr>
            <p:cNvPr id="27" name="Straight Connector 26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6324600" y="4953000"/>
            <a:ext cx="381000" cy="228600"/>
            <a:chOff x="1219200" y="2286000"/>
            <a:chExt cx="381000" cy="228600"/>
          </a:xfrm>
        </p:grpSpPr>
        <p:cxnSp>
          <p:nvCxnSpPr>
            <p:cNvPr id="30" name="Straight Connector 29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7543800" y="5486400"/>
            <a:ext cx="381000" cy="228600"/>
            <a:chOff x="1219200" y="2286000"/>
            <a:chExt cx="381000" cy="228600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9890095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219231"/>
            <a:ext cx="4191001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b="1" dirty="0">
                <a:latin typeface="Tempus Sans ITC" pitchFamily="8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75810" y="2667000"/>
            <a:ext cx="6553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5* factorial(4) 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4* factorial(3)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3*factorial(2)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2* factorial(1)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1*factorial(0)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		1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2194810" y="2793980"/>
            <a:ext cx="381000" cy="228600"/>
            <a:chOff x="1219200" y="2286000"/>
            <a:chExt cx="381000" cy="2286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352800" y="3352800"/>
            <a:ext cx="381000" cy="228600"/>
            <a:chOff x="1219200" y="2286000"/>
            <a:chExt cx="381000" cy="228600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419600" y="3886200"/>
            <a:ext cx="381000" cy="228600"/>
            <a:chOff x="1219200" y="2286000"/>
            <a:chExt cx="381000" cy="22860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334000" y="4419600"/>
            <a:ext cx="381000" cy="228600"/>
            <a:chOff x="1219200" y="2286000"/>
            <a:chExt cx="381000" cy="228600"/>
          </a:xfrm>
        </p:grpSpPr>
        <p:cxnSp>
          <p:nvCxnSpPr>
            <p:cNvPr id="27" name="Straight Connector 26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6324600" y="4953000"/>
            <a:ext cx="381000" cy="228600"/>
            <a:chOff x="1219200" y="2286000"/>
            <a:chExt cx="381000" cy="228600"/>
          </a:xfrm>
        </p:grpSpPr>
        <p:cxnSp>
          <p:nvCxnSpPr>
            <p:cNvPr id="30" name="Straight Connector 29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7543800" y="5486400"/>
            <a:ext cx="381000" cy="228600"/>
            <a:chOff x="1219200" y="2286000"/>
            <a:chExt cx="381000" cy="228600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7704320" y="4671934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99862114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219231"/>
            <a:ext cx="4191001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b="1" dirty="0">
                <a:latin typeface="Tempus Sans ITC" pitchFamily="8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75810" y="2667000"/>
            <a:ext cx="6553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5* factorial(4) 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4* factorial(3)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3*factorial(2)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2* factorial(1)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1*factorial(0)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		1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2194810" y="2793980"/>
            <a:ext cx="381000" cy="228600"/>
            <a:chOff x="1219200" y="2286000"/>
            <a:chExt cx="381000" cy="2286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352800" y="3352800"/>
            <a:ext cx="381000" cy="228600"/>
            <a:chOff x="1219200" y="2286000"/>
            <a:chExt cx="381000" cy="228600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419600" y="3886200"/>
            <a:ext cx="381000" cy="228600"/>
            <a:chOff x="1219200" y="2286000"/>
            <a:chExt cx="381000" cy="22860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334000" y="4419600"/>
            <a:ext cx="381000" cy="228600"/>
            <a:chOff x="1219200" y="2286000"/>
            <a:chExt cx="381000" cy="228600"/>
          </a:xfrm>
        </p:grpSpPr>
        <p:cxnSp>
          <p:nvCxnSpPr>
            <p:cNvPr id="27" name="Straight Connector 26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6324600" y="4953000"/>
            <a:ext cx="381000" cy="228600"/>
            <a:chOff x="1219200" y="2286000"/>
            <a:chExt cx="381000" cy="228600"/>
          </a:xfrm>
        </p:grpSpPr>
        <p:cxnSp>
          <p:nvCxnSpPr>
            <p:cNvPr id="30" name="Straight Connector 29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7543800" y="5486400"/>
            <a:ext cx="381000" cy="228600"/>
            <a:chOff x="1219200" y="2286000"/>
            <a:chExt cx="381000" cy="228600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7704320" y="4671934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5581" y="4134069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91446907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219231"/>
            <a:ext cx="4191001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b="1" dirty="0">
                <a:latin typeface="Tempus Sans ITC" pitchFamily="8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75810" y="2667000"/>
            <a:ext cx="6553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5* factorial(4) 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4* factorial(3)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3*factorial(2)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2* factorial(1)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1*factorial(0)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		1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2194810" y="2793980"/>
            <a:ext cx="381000" cy="228600"/>
            <a:chOff x="1219200" y="2286000"/>
            <a:chExt cx="381000" cy="2286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352800" y="3352800"/>
            <a:ext cx="381000" cy="228600"/>
            <a:chOff x="1219200" y="2286000"/>
            <a:chExt cx="381000" cy="228600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419600" y="3886200"/>
            <a:ext cx="381000" cy="228600"/>
            <a:chOff x="1219200" y="2286000"/>
            <a:chExt cx="381000" cy="22860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334000" y="4419600"/>
            <a:ext cx="381000" cy="228600"/>
            <a:chOff x="1219200" y="2286000"/>
            <a:chExt cx="381000" cy="228600"/>
          </a:xfrm>
        </p:grpSpPr>
        <p:cxnSp>
          <p:nvCxnSpPr>
            <p:cNvPr id="27" name="Straight Connector 26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6324600" y="4953000"/>
            <a:ext cx="381000" cy="228600"/>
            <a:chOff x="1219200" y="2286000"/>
            <a:chExt cx="381000" cy="228600"/>
          </a:xfrm>
        </p:grpSpPr>
        <p:cxnSp>
          <p:nvCxnSpPr>
            <p:cNvPr id="30" name="Straight Connector 29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7543800" y="5486400"/>
            <a:ext cx="381000" cy="228600"/>
            <a:chOff x="1219200" y="2286000"/>
            <a:chExt cx="381000" cy="228600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7704320" y="4671934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5581" y="4134069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190" y="3558104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05623695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219231"/>
            <a:ext cx="4191001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b="1" dirty="0">
                <a:latin typeface="Tempus Sans ITC" pitchFamily="8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75810" y="2667000"/>
            <a:ext cx="6553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5* factorial(4) 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4* factorial(3)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3*factorial(2)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2* factorial(1)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1*factorial(0)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		1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2194810" y="2793980"/>
            <a:ext cx="381000" cy="228600"/>
            <a:chOff x="1219200" y="2286000"/>
            <a:chExt cx="381000" cy="2286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352800" y="3352800"/>
            <a:ext cx="381000" cy="228600"/>
            <a:chOff x="1219200" y="2286000"/>
            <a:chExt cx="381000" cy="228600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419600" y="3886200"/>
            <a:ext cx="381000" cy="228600"/>
            <a:chOff x="1219200" y="2286000"/>
            <a:chExt cx="381000" cy="22860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334000" y="4419600"/>
            <a:ext cx="381000" cy="228600"/>
            <a:chOff x="1219200" y="2286000"/>
            <a:chExt cx="381000" cy="228600"/>
          </a:xfrm>
        </p:grpSpPr>
        <p:cxnSp>
          <p:nvCxnSpPr>
            <p:cNvPr id="27" name="Straight Connector 26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6324600" y="4953000"/>
            <a:ext cx="381000" cy="228600"/>
            <a:chOff x="1219200" y="2286000"/>
            <a:chExt cx="381000" cy="228600"/>
          </a:xfrm>
        </p:grpSpPr>
        <p:cxnSp>
          <p:nvCxnSpPr>
            <p:cNvPr id="30" name="Straight Connector 29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7543800" y="5486400"/>
            <a:ext cx="381000" cy="228600"/>
            <a:chOff x="1219200" y="2286000"/>
            <a:chExt cx="381000" cy="228600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7704320" y="4671934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5581" y="4134069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190" y="3558104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3055887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3667127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219231"/>
            <a:ext cx="4191001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b="1" dirty="0">
                <a:latin typeface="Tempus Sans ITC" pitchFamily="8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75810" y="2667000"/>
            <a:ext cx="6553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5* factorial(4) 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4* factorial(3)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3*factorial(2)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2* factorial(1)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1*factorial(0)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		1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2194810" y="2793980"/>
            <a:ext cx="381000" cy="228600"/>
            <a:chOff x="1219200" y="2286000"/>
            <a:chExt cx="381000" cy="2286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352800" y="3352800"/>
            <a:ext cx="381000" cy="228600"/>
            <a:chOff x="1219200" y="2286000"/>
            <a:chExt cx="381000" cy="228600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419600" y="3886200"/>
            <a:ext cx="381000" cy="228600"/>
            <a:chOff x="1219200" y="2286000"/>
            <a:chExt cx="381000" cy="22860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334000" y="4419600"/>
            <a:ext cx="381000" cy="228600"/>
            <a:chOff x="1219200" y="2286000"/>
            <a:chExt cx="381000" cy="228600"/>
          </a:xfrm>
        </p:grpSpPr>
        <p:cxnSp>
          <p:nvCxnSpPr>
            <p:cNvPr id="27" name="Straight Connector 26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6324600" y="4953000"/>
            <a:ext cx="381000" cy="228600"/>
            <a:chOff x="1219200" y="2286000"/>
            <a:chExt cx="381000" cy="228600"/>
          </a:xfrm>
        </p:grpSpPr>
        <p:cxnSp>
          <p:nvCxnSpPr>
            <p:cNvPr id="30" name="Straight Connector 29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7543800" y="5486400"/>
            <a:ext cx="381000" cy="228600"/>
            <a:chOff x="1219200" y="2286000"/>
            <a:chExt cx="381000" cy="228600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7704320" y="4671934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5581" y="4134069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190" y="3558104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3055887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1282" y="2490646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30697610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1000" y="219231"/>
            <a:ext cx="4191001" cy="190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long  </a:t>
            </a:r>
            <a:r>
              <a:rPr lang="en-US" sz="2400" b="1" dirty="0" err="1">
                <a:latin typeface="Tempus Sans ITC" pitchFamily="82" charset="0"/>
              </a:rPr>
              <a:t>int</a:t>
            </a:r>
            <a:r>
              <a:rPr lang="en-US" sz="2400" b="1" dirty="0">
                <a:latin typeface="Tempus Sans ITC" pitchFamily="82" charset="0"/>
              </a:rPr>
              <a:t>  factorial ( long  a 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{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if (a ==0)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	   return (1);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    return (a * factorial (a-1));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b="1" dirty="0">
                <a:latin typeface="Tempus Sans ITC" pitchFamily="82" charset="0"/>
              </a:rPr>
              <a:t> }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sz="2400" b="1" dirty="0">
                <a:latin typeface="Tempus Sans ITC" pitchFamily="82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Tempus Sans ITC" pitchFamily="82" charset="0"/>
              </a:rPr>
              <a:t>long fact = factorial( 5 );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b="1" dirty="0">
              <a:latin typeface="Tempus Sans ITC" pitchFamily="8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75810" y="2667000"/>
            <a:ext cx="6553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5* factorial(4)  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4* factorial(3)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3*factorial(2)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2* factorial(1)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1*factorial(0) </a:t>
            </a: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en-US" dirty="0">
                <a:latin typeface="Tempus Sans ITC" pitchFamily="82" charset="0"/>
              </a:rPr>
              <a:t>                                                      		1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943600" y="1905000"/>
            <a:ext cx="0" cy="457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447800" y="6019800"/>
            <a:ext cx="0" cy="6096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7315200" y="2286000"/>
            <a:ext cx="1447800" cy="762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7162800" y="2514600"/>
            <a:ext cx="1600200" cy="76200"/>
          </a:xfrm>
          <a:prstGeom prst="lin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7" name="Group 16"/>
          <p:cNvGrpSpPr/>
          <p:nvPr/>
        </p:nvGrpSpPr>
        <p:grpSpPr>
          <a:xfrm>
            <a:off x="2194810" y="2793980"/>
            <a:ext cx="381000" cy="228600"/>
            <a:chOff x="1219200" y="2286000"/>
            <a:chExt cx="381000" cy="228600"/>
          </a:xfrm>
        </p:grpSpPr>
        <p:cxnSp>
          <p:nvCxnSpPr>
            <p:cNvPr id="18" name="Straight Connector 17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352800" y="3352800"/>
            <a:ext cx="381000" cy="228600"/>
            <a:chOff x="1219200" y="2286000"/>
            <a:chExt cx="381000" cy="228600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419600" y="3886200"/>
            <a:ext cx="381000" cy="228600"/>
            <a:chOff x="1219200" y="2286000"/>
            <a:chExt cx="381000" cy="228600"/>
          </a:xfrm>
        </p:grpSpPr>
        <p:cxnSp>
          <p:nvCxnSpPr>
            <p:cNvPr id="24" name="Straight Connector 23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5334000" y="4419600"/>
            <a:ext cx="381000" cy="228600"/>
            <a:chOff x="1219200" y="2286000"/>
            <a:chExt cx="381000" cy="228600"/>
          </a:xfrm>
        </p:grpSpPr>
        <p:cxnSp>
          <p:nvCxnSpPr>
            <p:cNvPr id="27" name="Straight Connector 26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6324600" y="4953000"/>
            <a:ext cx="381000" cy="228600"/>
            <a:chOff x="1219200" y="2286000"/>
            <a:chExt cx="381000" cy="228600"/>
          </a:xfrm>
        </p:grpSpPr>
        <p:cxnSp>
          <p:nvCxnSpPr>
            <p:cNvPr id="30" name="Straight Connector 29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7543800" y="5486400"/>
            <a:ext cx="381000" cy="228600"/>
            <a:chOff x="1219200" y="2286000"/>
            <a:chExt cx="381000" cy="228600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1219200" y="2286000"/>
              <a:ext cx="0" cy="228600"/>
            </a:xfrm>
            <a:prstGeom prst="line">
              <a:avLst/>
            </a:prstGeom>
            <a:ln w="254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 bwMode="auto">
            <a:xfrm>
              <a:off x="1219200" y="2514600"/>
              <a:ext cx="381000" cy="0"/>
            </a:xfrm>
            <a:prstGeom prst="straightConnector1">
              <a:avLst/>
            </a:prstGeom>
            <a:ln w="25400"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7704320" y="4671934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5581" y="4134069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190" y="3558104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3055887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1282" y="2490646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76500" y="2052935"/>
            <a:ext cx="1356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784771316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l" eaLnBrk="1" hangingPunct="1"/>
            <a:r>
              <a:rPr lang="en-US" sz="3600"/>
              <a:t>To be solved using recursive fns…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30362"/>
            <a:ext cx="8382000" cy="4538663"/>
          </a:xfrm>
        </p:spPr>
        <p:txBody>
          <a:bodyPr/>
          <a:lstStyle/>
          <a:p>
            <a:pPr algn="just" eaLnBrk="1" hangingPunct="1">
              <a:buFont typeface="Wingdings" pitchFamily="2" charset="2"/>
              <a:buChar char="§"/>
            </a:pPr>
            <a:r>
              <a:rPr lang="en-US" sz="2800" dirty="0"/>
              <a:t>Write a recursive function to generate n</a:t>
            </a:r>
            <a:r>
              <a:rPr lang="en-US" sz="2800" baseline="30000" dirty="0"/>
              <a:t>th</a:t>
            </a:r>
            <a:r>
              <a:rPr lang="en-US" sz="2800" dirty="0"/>
              <a:t>  Fibonacci term. Print first N Fibonacci terms using this function.</a:t>
            </a:r>
          </a:p>
          <a:p>
            <a:pPr algn="just" eaLnBrk="1" hangingPunct="1">
              <a:buFontTx/>
              <a:buNone/>
            </a:pPr>
            <a:r>
              <a:rPr lang="en-US" sz="2400" dirty="0"/>
              <a:t>	[Hint: Fibonacci series is 0, 1, 1, 2, 3, 5, 8 … ]</a:t>
            </a:r>
          </a:p>
          <a:p>
            <a:pPr algn="just" eaLnBrk="1" hangingPunct="1">
              <a:buFont typeface="Wingdings" pitchFamily="2" charset="2"/>
              <a:buChar char="§"/>
            </a:pPr>
            <a:r>
              <a:rPr lang="en-US" sz="2800" dirty="0"/>
              <a:t>Write a recursive function to reverse a number. </a:t>
            </a:r>
          </a:p>
          <a:p>
            <a:pPr algn="just" eaLnBrk="1" hangingPunct="1">
              <a:buFont typeface="Wingdings" pitchFamily="2" charset="2"/>
              <a:buChar char="§"/>
            </a:pPr>
            <a:r>
              <a:rPr lang="en-US" sz="2800" dirty="0"/>
              <a:t>Find GCD of two numbers.</a:t>
            </a:r>
          </a:p>
          <a:p>
            <a:pPr algn="just" eaLnBrk="1" hangingPunct="1">
              <a:buFontTx/>
              <a:buNone/>
            </a:pPr>
            <a:r>
              <a:rPr lang="en-US" sz="2800" dirty="0"/>
              <a:t>		(Ex: GCD of 9,24 is 3)</a:t>
            </a:r>
          </a:p>
          <a:p>
            <a:pPr algn="just" eaLnBrk="1" hangingPunct="1">
              <a:buFont typeface="Wingdings" pitchFamily="2" charset="2"/>
              <a:buChar char="§"/>
            </a:pPr>
            <a:r>
              <a:rPr lang="en-US" sz="2800" dirty="0"/>
              <a:t>Write a function to sort a list of number.</a:t>
            </a:r>
          </a:p>
          <a:p>
            <a:pPr algn="just" eaLnBrk="1" hangingPunct="1">
              <a:buFontTx/>
              <a:buNone/>
            </a:pPr>
            <a:endParaRPr lang="en-US" sz="2800" dirty="0"/>
          </a:p>
          <a:p>
            <a:pPr algn="just" eaLnBrk="1" hangingPunct="1">
              <a:buFont typeface="Wingdings" pitchFamily="2" charset="2"/>
              <a:buChar char="§"/>
            </a:pPr>
            <a:endParaRPr lang="en-US" sz="2800" dirty="0"/>
          </a:p>
        </p:txBody>
      </p:sp>
      <p:sp>
        <p:nvSpPr>
          <p:cNvPr id="57349" name="Slide Number Placeholder 4"/>
          <p:cNvSpPr txBox="1">
            <a:spLocks noGrp="1"/>
          </p:cNvSpPr>
          <p:nvPr/>
        </p:nvSpPr>
        <p:spPr bwMode="auto">
          <a:xfrm>
            <a:off x="7162800" y="6381750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ctr" eaLnBrk="1" hangingPunct="1"/>
            <a:fld id="{DF0053AA-BC16-4B11-AFB8-4B2A21621265}" type="slidenum">
              <a:rPr lang="en-US" sz="1400" b="0">
                <a:solidFill>
                  <a:schemeClr val="tx1"/>
                </a:solidFill>
              </a:rPr>
              <a:pPr algn="ctr" eaLnBrk="1" hangingPunct="1"/>
              <a:t>81</a:t>
            </a:fld>
            <a:endParaRPr lang="en-US" sz="14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358D-8D6E-42E2-AE8D-C50AB60BB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0"/>
            <a:ext cx="7452724" cy="561561"/>
          </a:xfrm>
        </p:spPr>
        <p:txBody>
          <a:bodyPr/>
          <a:lstStyle/>
          <a:p>
            <a:pPr algn="l"/>
            <a:r>
              <a:rPr lang="en-US" sz="3200" b="1" dirty="0"/>
              <a:t>Question: Array sum using recursion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813EAD-30F7-4BC1-B21B-196C388A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0" y="1438353"/>
            <a:ext cx="8143461" cy="19394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D89B4D-04BA-4714-8E12-E961E59A7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0249"/>
            <a:ext cx="8741435" cy="228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97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A1123-75AB-1F32-2536-1220599FD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76BE0B1-C626-45C8-98EA-E403C7C65479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071DB-7C90-1571-643C-2806FECEE6F2}"/>
              </a:ext>
            </a:extLst>
          </p:cNvPr>
          <p:cNvSpPr txBox="1"/>
          <p:nvPr/>
        </p:nvSpPr>
        <p:spPr>
          <a:xfrm>
            <a:off x="228600" y="152400"/>
            <a:ext cx="6629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u="sng" dirty="0">
                <a:solidFill>
                  <a:srgbClr val="EE0000"/>
                </a:solidFill>
              </a:rPr>
              <a:t>recursive calls working</a:t>
            </a:r>
          </a:p>
          <a:p>
            <a:r>
              <a:rPr lang="en-IN" sz="1800" dirty="0" err="1">
                <a:solidFill>
                  <a:schemeClr val="tx1"/>
                </a:solidFill>
              </a:rPr>
              <a:t>Cal_Sum</a:t>
            </a:r>
            <a:r>
              <a:rPr lang="en-IN" sz="1800" dirty="0">
                <a:solidFill>
                  <a:schemeClr val="tx1"/>
                </a:solidFill>
              </a:rPr>
              <a:t>(Arr, 5)</a:t>
            </a:r>
          </a:p>
          <a:p>
            <a:r>
              <a:rPr lang="en-IN" sz="1800" dirty="0">
                <a:solidFill>
                  <a:schemeClr val="tx1"/>
                </a:solidFill>
              </a:rPr>
              <a:t>= Arr[4] + </a:t>
            </a:r>
            <a:r>
              <a:rPr lang="en-IN" sz="1800" dirty="0" err="1">
                <a:solidFill>
                  <a:schemeClr val="tx1"/>
                </a:solidFill>
              </a:rPr>
              <a:t>Cal_Sum</a:t>
            </a:r>
            <a:r>
              <a:rPr lang="en-IN" sz="1800" dirty="0">
                <a:solidFill>
                  <a:schemeClr val="tx1"/>
                </a:solidFill>
              </a:rPr>
              <a:t>(Arr, 4)</a:t>
            </a:r>
          </a:p>
          <a:p>
            <a:r>
              <a:rPr lang="en-IN" sz="1800" dirty="0">
                <a:solidFill>
                  <a:schemeClr val="tx1"/>
                </a:solidFill>
              </a:rPr>
              <a:t>= 50 + </a:t>
            </a:r>
            <a:r>
              <a:rPr lang="en-IN" sz="1800" dirty="0" err="1">
                <a:solidFill>
                  <a:schemeClr val="tx1"/>
                </a:solidFill>
              </a:rPr>
              <a:t>Cal_Sum</a:t>
            </a:r>
            <a:r>
              <a:rPr lang="en-IN" sz="1800" dirty="0">
                <a:solidFill>
                  <a:schemeClr val="tx1"/>
                </a:solidFill>
              </a:rPr>
              <a:t>(Arr, 4)</a:t>
            </a:r>
          </a:p>
          <a:p>
            <a:endParaRPr lang="en-IN" sz="1800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= 50 + 40 + </a:t>
            </a:r>
            <a:r>
              <a:rPr lang="en-IN" sz="1800" dirty="0" err="1">
                <a:solidFill>
                  <a:schemeClr val="tx1"/>
                </a:solidFill>
              </a:rPr>
              <a:t>Cal_Sum</a:t>
            </a:r>
            <a:r>
              <a:rPr lang="en-IN" sz="1800" dirty="0">
                <a:solidFill>
                  <a:schemeClr val="tx1"/>
                </a:solidFill>
              </a:rPr>
              <a:t>(Arr, 3)</a:t>
            </a:r>
          </a:p>
          <a:p>
            <a:endParaRPr lang="en-IN" sz="1800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= 50 + 40 + 30 + </a:t>
            </a:r>
            <a:r>
              <a:rPr lang="en-IN" sz="1800" dirty="0" err="1">
                <a:solidFill>
                  <a:schemeClr val="tx1"/>
                </a:solidFill>
              </a:rPr>
              <a:t>Cal_Sum</a:t>
            </a:r>
            <a:r>
              <a:rPr lang="en-IN" sz="1800" dirty="0">
                <a:solidFill>
                  <a:schemeClr val="tx1"/>
                </a:solidFill>
              </a:rPr>
              <a:t>(Arr, 2)</a:t>
            </a:r>
          </a:p>
          <a:p>
            <a:endParaRPr lang="en-IN" sz="1800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= 50 + 40 + 30 + 20 + </a:t>
            </a:r>
            <a:r>
              <a:rPr lang="en-IN" sz="1800" dirty="0" err="1">
                <a:solidFill>
                  <a:schemeClr val="tx1"/>
                </a:solidFill>
              </a:rPr>
              <a:t>Cal_Sum</a:t>
            </a:r>
            <a:r>
              <a:rPr lang="en-IN" sz="1800" dirty="0">
                <a:solidFill>
                  <a:schemeClr val="tx1"/>
                </a:solidFill>
              </a:rPr>
              <a:t>(Arr, 1)</a:t>
            </a:r>
          </a:p>
          <a:p>
            <a:endParaRPr lang="en-IN" sz="1800" dirty="0">
              <a:solidFill>
                <a:schemeClr val="tx1"/>
              </a:solidFill>
            </a:endParaRPr>
          </a:p>
          <a:p>
            <a:r>
              <a:rPr lang="en-IN" sz="1800" dirty="0">
                <a:solidFill>
                  <a:schemeClr val="tx1"/>
                </a:solidFill>
              </a:rPr>
              <a:t>= 50 + 40 + 30 + 20 + 10 + </a:t>
            </a:r>
            <a:r>
              <a:rPr lang="en-IN" sz="1800" dirty="0" err="1">
                <a:solidFill>
                  <a:schemeClr val="tx1"/>
                </a:solidFill>
              </a:rPr>
              <a:t>Cal_Sum</a:t>
            </a:r>
            <a:r>
              <a:rPr lang="en-IN" sz="1800" dirty="0">
                <a:solidFill>
                  <a:schemeClr val="tx1"/>
                </a:solidFill>
              </a:rPr>
              <a:t>(Arr, 0)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14A72-750E-F0F9-50EB-AA0113190155}"/>
              </a:ext>
            </a:extLst>
          </p:cNvPr>
          <p:cNvSpPr txBox="1"/>
          <p:nvPr/>
        </p:nvSpPr>
        <p:spPr>
          <a:xfrm>
            <a:off x="2133600" y="3581400"/>
            <a:ext cx="6019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u="sng" dirty="0">
                <a:solidFill>
                  <a:srgbClr val="EE0000"/>
                </a:solidFill>
              </a:rPr>
              <a:t>functions return back in reverse order:</a:t>
            </a:r>
          </a:p>
          <a:p>
            <a:r>
              <a:rPr lang="en-IN" dirty="0" err="1"/>
              <a:t>Cal_Sum</a:t>
            </a:r>
            <a:r>
              <a:rPr lang="en-IN" dirty="0"/>
              <a:t>(Arr, 0) → 0</a:t>
            </a:r>
          </a:p>
          <a:p>
            <a:r>
              <a:rPr lang="en-IN" dirty="0" err="1"/>
              <a:t>Cal_Sum</a:t>
            </a:r>
            <a:r>
              <a:rPr lang="en-IN" dirty="0"/>
              <a:t>(Arr, 1) → 10 + 0  = 10</a:t>
            </a:r>
          </a:p>
          <a:p>
            <a:r>
              <a:rPr lang="en-IN" dirty="0" err="1"/>
              <a:t>Cal_Sum</a:t>
            </a:r>
            <a:r>
              <a:rPr lang="en-IN" dirty="0"/>
              <a:t>(Arr, 2) → 20 + 10 = 30</a:t>
            </a:r>
          </a:p>
          <a:p>
            <a:r>
              <a:rPr lang="en-IN" dirty="0" err="1"/>
              <a:t>Cal_Sum</a:t>
            </a:r>
            <a:r>
              <a:rPr lang="en-IN" dirty="0"/>
              <a:t>(Arr, 3) → 30 + 30 = 60</a:t>
            </a:r>
          </a:p>
          <a:p>
            <a:r>
              <a:rPr lang="en-IN" dirty="0" err="1"/>
              <a:t>Cal_Sum</a:t>
            </a:r>
            <a:r>
              <a:rPr lang="en-IN" dirty="0"/>
              <a:t>(Arr, 4) → 40 + 60 = 100</a:t>
            </a:r>
          </a:p>
          <a:p>
            <a:r>
              <a:rPr lang="en-IN" dirty="0" err="1"/>
              <a:t>Cal_Sum</a:t>
            </a:r>
            <a:r>
              <a:rPr lang="en-IN" dirty="0"/>
              <a:t>(Arr, 5) → 50 + 100 = 150</a:t>
            </a:r>
          </a:p>
        </p:txBody>
      </p:sp>
    </p:spTree>
    <p:extLst>
      <p:ext uri="{BB962C8B-B14F-4D97-AF65-F5344CB8AC3E}">
        <p14:creationId xmlns:p14="http://schemas.microsoft.com/office/powerpoint/2010/main" val="15872399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l" eaLnBrk="1" hangingPunct="1"/>
            <a:r>
              <a:rPr lang="en-US" sz="3600">
                <a:solidFill>
                  <a:schemeClr val="accent2"/>
                </a:solidFill>
              </a:rPr>
              <a:t>Reversing a Number: Recursion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pt-BR" b="1" dirty="0">
                <a:latin typeface="Tempus Sans ITC" pitchFamily="82" charset="0"/>
              </a:rPr>
              <a:t>int  rev(int num){</a:t>
            </a:r>
          </a:p>
          <a:p>
            <a:pPr eaLnBrk="1" hangingPunct="1">
              <a:buFontTx/>
              <a:buNone/>
            </a:pPr>
            <a:r>
              <a:rPr lang="pt-BR" b="1" dirty="0">
                <a:latin typeface="Tempus Sans ITC" pitchFamily="82" charset="0"/>
              </a:rPr>
              <a:t>   static int n = 0;</a:t>
            </a:r>
          </a:p>
          <a:p>
            <a:pPr eaLnBrk="1" hangingPunct="1">
              <a:buFontTx/>
              <a:buNone/>
            </a:pPr>
            <a:r>
              <a:rPr lang="pt-BR" b="1" dirty="0">
                <a:latin typeface="Tempus Sans ITC" pitchFamily="82" charset="0"/>
              </a:rPr>
              <a:t>   if(num &gt; 0)</a:t>
            </a:r>
          </a:p>
          <a:p>
            <a:pPr eaLnBrk="1" hangingPunct="1">
              <a:buFontTx/>
              <a:buNone/>
            </a:pPr>
            <a:r>
              <a:rPr lang="pt-BR" b="1" dirty="0">
                <a:latin typeface="Tempus Sans ITC" pitchFamily="82" charset="0"/>
              </a:rPr>
              <a:t>     n = (n* 10) + (num%10) ;</a:t>
            </a:r>
          </a:p>
          <a:p>
            <a:pPr eaLnBrk="1" hangingPunct="1">
              <a:buFontTx/>
              <a:buNone/>
            </a:pPr>
            <a:r>
              <a:rPr lang="pt-BR" b="1" dirty="0">
                <a:latin typeface="Tempus Sans ITC" pitchFamily="82" charset="0"/>
              </a:rPr>
              <a:t>   else</a:t>
            </a:r>
          </a:p>
          <a:p>
            <a:pPr eaLnBrk="1" hangingPunct="1">
              <a:buFontTx/>
              <a:buNone/>
            </a:pPr>
            <a:r>
              <a:rPr lang="pt-BR" b="1" dirty="0">
                <a:latin typeface="Tempus Sans ITC" pitchFamily="82" charset="0"/>
              </a:rPr>
              <a:t>     return n;</a:t>
            </a:r>
          </a:p>
          <a:p>
            <a:pPr eaLnBrk="1" hangingPunct="1">
              <a:buFontTx/>
              <a:buNone/>
            </a:pPr>
            <a:r>
              <a:rPr lang="pt-BR" b="1" dirty="0">
                <a:latin typeface="Tempus Sans ITC" pitchFamily="82" charset="0"/>
              </a:rPr>
              <a:t>   return  rev(num/10);</a:t>
            </a:r>
          </a:p>
          <a:p>
            <a:pPr eaLnBrk="1" hangingPunct="1">
              <a:buFontTx/>
              <a:buNone/>
            </a:pPr>
            <a:r>
              <a:rPr lang="pt-BR" b="1" dirty="0">
                <a:latin typeface="Tempus Sans ITC" pitchFamily="82" charset="0"/>
              </a:rPr>
              <a:t>}</a:t>
            </a:r>
            <a:endParaRPr lang="en-US" b="1" dirty="0">
              <a:latin typeface="Tempus Sans ITC" pitchFamily="82" charset="0"/>
            </a:endParaRPr>
          </a:p>
        </p:txBody>
      </p:sp>
      <p:sp>
        <p:nvSpPr>
          <p:cNvPr id="61445" name="Slide Number Placeholder 5"/>
          <p:cNvSpPr txBox="1">
            <a:spLocks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ctr" eaLnBrk="1" hangingPunct="1"/>
            <a:fld id="{0BACCCF4-E13E-407A-A2EA-9614013C1D8D}" type="slidenum">
              <a:rPr lang="en-US" sz="1400" b="0">
                <a:solidFill>
                  <a:schemeClr val="tx1"/>
                </a:solidFill>
              </a:rPr>
              <a:pPr algn="ctr" eaLnBrk="1" hangingPunct="1"/>
              <a:t>84</a:t>
            </a:fld>
            <a:endParaRPr lang="en-US" sz="1400" b="0">
              <a:solidFill>
                <a:schemeClr val="tx1"/>
              </a:solidFill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715000" y="4435475"/>
            <a:ext cx="3048000" cy="1127125"/>
          </a:xfrm>
          <a:prstGeom prst="rect">
            <a:avLst/>
          </a:prstGeom>
          <a:noFill/>
          <a:ln w="28575" cap="sq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rgbClr val="3333FF"/>
                </a:solidFill>
                <a:latin typeface="Arial" charset="0"/>
              </a:defRPr>
            </a:lvl1pPr>
            <a:lvl2pPr marL="742950" indent="-28575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2pPr>
            <a:lvl3pPr marL="11430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3pPr>
            <a:lvl4pPr marL="16002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4pPr>
            <a:lvl5pPr marL="2057400" indent="-228600" eaLnBrk="0" hangingPunct="0">
              <a:defRPr sz="2400" b="1">
                <a:solidFill>
                  <a:srgbClr val="3333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FF"/>
                </a:solidFill>
                <a:latin typeface="Arial" charset="0"/>
              </a:defRPr>
            </a:lvl9pPr>
          </a:lstStyle>
          <a:p>
            <a:pPr algn="just">
              <a:lnSpc>
                <a:spcPct val="70000"/>
              </a:lnSpc>
              <a:spcBef>
                <a:spcPct val="35000"/>
              </a:spcBef>
            </a:pPr>
            <a:r>
              <a:rPr lang="en-US">
                <a:solidFill>
                  <a:srgbClr val="C00000"/>
                </a:solidFill>
                <a:latin typeface="Tempus Sans ITC" pitchFamily="82" charset="0"/>
              </a:rPr>
              <a:t>Output:</a:t>
            </a:r>
          </a:p>
          <a:p>
            <a:pPr algn="just">
              <a:lnSpc>
                <a:spcPct val="70000"/>
              </a:lnSpc>
              <a:spcBef>
                <a:spcPct val="35000"/>
              </a:spcBef>
            </a:pPr>
            <a:r>
              <a:rPr lang="en-US">
                <a:solidFill>
                  <a:srgbClr val="C00000"/>
                </a:solidFill>
                <a:latin typeface="Tempus Sans ITC" pitchFamily="82" charset="0"/>
              </a:rPr>
              <a:t>     	</a:t>
            </a:r>
            <a:r>
              <a:rPr lang="en-US">
                <a:solidFill>
                  <a:schemeClr val="tx1"/>
                </a:solidFill>
                <a:latin typeface="Tempus Sans ITC" pitchFamily="82" charset="0"/>
              </a:rPr>
              <a:t>n = 234</a:t>
            </a:r>
          </a:p>
          <a:p>
            <a:pPr algn="just">
              <a:lnSpc>
                <a:spcPct val="70000"/>
              </a:lnSpc>
              <a:spcBef>
                <a:spcPct val="35000"/>
              </a:spcBef>
            </a:pPr>
            <a:r>
              <a:rPr lang="en-US">
                <a:solidFill>
                  <a:schemeClr val="tx1"/>
                </a:solidFill>
                <a:latin typeface="Tempus Sans ITC" pitchFamily="82" charset="0"/>
              </a:rPr>
              <a:t>	rev = 432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456937-D642-4E0A-B75D-2A8FA67C74BB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1 Year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3333FF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3333FF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 Year</Template>
  <TotalTime>6773</TotalTime>
  <Words>4110</Words>
  <Application>Microsoft Office PowerPoint</Application>
  <PresentationFormat>On-screen Show (4:3)</PresentationFormat>
  <Paragraphs>789</Paragraphs>
  <Slides>84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84</vt:i4>
      </vt:variant>
    </vt:vector>
  </HeadingPairs>
  <TitlesOfParts>
    <vt:vector size="97" baseType="lpstr">
      <vt:lpstr>MS Mincho</vt:lpstr>
      <vt:lpstr>Arial</vt:lpstr>
      <vt:lpstr>Arial Rounded MT Bold</vt:lpstr>
      <vt:lpstr>Baskerville Old Face</vt:lpstr>
      <vt:lpstr>Calibri</vt:lpstr>
      <vt:lpstr>Cambria</vt:lpstr>
      <vt:lpstr>Franklin Gothic Medium</vt:lpstr>
      <vt:lpstr>Tempus Sans ITC</vt:lpstr>
      <vt:lpstr>Times New Roman</vt:lpstr>
      <vt:lpstr>Wingdings</vt:lpstr>
      <vt:lpstr>1 Year</vt:lpstr>
      <vt:lpstr>Default Design</vt:lpstr>
      <vt:lpstr>1_Default Design</vt:lpstr>
      <vt:lpstr>Modular Programming</vt:lpstr>
      <vt:lpstr>Advantages of modularization</vt:lpstr>
      <vt:lpstr>Functions </vt:lpstr>
      <vt:lpstr>PowerPoint Presentation</vt:lpstr>
      <vt:lpstr>Defining a Function</vt:lpstr>
      <vt:lpstr>The general form of a function definition 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PowerPoint Presentation</vt:lpstr>
      <vt:lpstr>PowerPoint Presentation</vt:lpstr>
      <vt:lpstr>Arguments and parameters</vt:lpstr>
      <vt:lpstr>PowerPoint Presentation</vt:lpstr>
      <vt:lpstr>PowerPoint Presentation</vt:lpstr>
      <vt:lpstr>PowerPoint Presentation</vt:lpstr>
      <vt:lpstr>Functions- points to note</vt:lpstr>
      <vt:lpstr>Functions- points to note</vt:lpstr>
      <vt:lpstr>Functions- Categories</vt:lpstr>
      <vt:lpstr>Fn with No parameters &amp; No return values</vt:lpstr>
      <vt:lpstr>Fn with parameters &amp; No return values</vt:lpstr>
      <vt:lpstr>Fn with parameters &amp; One return value</vt:lpstr>
      <vt:lpstr>Fn with No parameters but A return value</vt:lpstr>
      <vt:lpstr>To be solved …Functions</vt:lpstr>
      <vt:lpstr>Functions- Parameter Passing</vt:lpstr>
      <vt:lpstr>PowerPoint Presentation</vt:lpstr>
      <vt:lpstr>Question..</vt:lpstr>
      <vt:lpstr>Questions..</vt:lpstr>
      <vt:lpstr>Questions..</vt:lpstr>
      <vt:lpstr>Functions- Parameter Passing</vt:lpstr>
      <vt:lpstr>Reference variable</vt:lpstr>
      <vt:lpstr>PowerPoint Presentation</vt:lpstr>
      <vt:lpstr>PowerPoint Presentation</vt:lpstr>
      <vt:lpstr>PowerPoint Presentation</vt:lpstr>
      <vt:lpstr>PowerPoint Presentation</vt:lpstr>
      <vt:lpstr>Passing 1D-Array to a function</vt:lpstr>
      <vt:lpstr>PowerPoint Presentation</vt:lpstr>
      <vt:lpstr>Passing 1D-Array to Function</vt:lpstr>
      <vt:lpstr>Passing 2D-Array to Function</vt:lpstr>
      <vt:lpstr>Passing 2D-Array to Function</vt:lpstr>
      <vt:lpstr>Function overloading, default arguments and inline functions  </vt:lpstr>
      <vt:lpstr>Function Overloading</vt:lpstr>
      <vt:lpstr>Example</vt:lpstr>
      <vt:lpstr>PowerPoint Presentation</vt:lpstr>
      <vt:lpstr>Default arguments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Recursion </vt:lpstr>
      <vt:lpstr>Factorial </vt:lpstr>
      <vt:lpstr>Slide 3</vt:lpstr>
      <vt:lpstr>Slide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 be solved using recursive fns…</vt:lpstr>
      <vt:lpstr>Question: Array sum using recursion</vt:lpstr>
      <vt:lpstr>PowerPoint Presentation</vt:lpstr>
      <vt:lpstr>Reversing a Number: Recursion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Computers</dc:title>
  <dc:creator>USER</dc:creator>
  <cp:lastModifiedBy>Linda Varghese [MAHE-MIT]</cp:lastModifiedBy>
  <cp:revision>253</cp:revision>
  <dcterms:created xsi:type="dcterms:W3CDTF">2006-07-07T08:29:20Z</dcterms:created>
  <dcterms:modified xsi:type="dcterms:W3CDTF">2026-08-22T07:31:32Z</dcterms:modified>
</cp:coreProperties>
</file>