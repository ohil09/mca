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37"/>
  </p:notesMasterIdLst>
  <p:sldIdLst>
    <p:sldId id="257" r:id="rId4"/>
    <p:sldId id="258" r:id="rId5"/>
    <p:sldId id="260" r:id="rId6"/>
    <p:sldId id="261" r:id="rId7"/>
    <p:sldId id="262" r:id="rId8"/>
    <p:sldId id="301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3" r:id="rId17"/>
    <p:sldId id="274" r:id="rId18"/>
    <p:sldId id="277" r:id="rId19"/>
    <p:sldId id="300" r:id="rId20"/>
    <p:sldId id="280" r:id="rId21"/>
    <p:sldId id="281" r:id="rId22"/>
    <p:sldId id="285" r:id="rId23"/>
    <p:sldId id="286" r:id="rId24"/>
    <p:sldId id="289" r:id="rId25"/>
    <p:sldId id="305" r:id="rId26"/>
    <p:sldId id="306" r:id="rId27"/>
    <p:sldId id="293" r:id="rId28"/>
    <p:sldId id="294" r:id="rId29"/>
    <p:sldId id="308" r:id="rId30"/>
    <p:sldId id="296" r:id="rId31"/>
    <p:sldId id="434" r:id="rId32"/>
    <p:sldId id="435" r:id="rId33"/>
    <p:sldId id="302" r:id="rId34"/>
    <p:sldId id="303" r:id="rId35"/>
    <p:sldId id="304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58DF7D7-6225-4FCE-B2D7-8DE414207D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057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349D1E-AEF9-4F10-B7C7-8895DF73715B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39939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F4151BB-095A-47A2-ABFF-8B9E46538B6A}" type="slidenum">
              <a:rPr lang="en-GB" sz="1000" i="1">
                <a:latin typeface="Times New Roman" pitchFamily="18" charset="0"/>
              </a:rPr>
              <a:pPr algn="r"/>
              <a:t>1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 cap="flat"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5BDD24A-85C6-48EE-B285-7255E971009F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40963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D4AA314B-9553-4D70-9EC7-1BBED1117C96}" type="slidenum">
              <a:rPr lang="en-GB" sz="1000" i="1">
                <a:latin typeface="Times New Roman" pitchFamily="18" charset="0"/>
              </a:rPr>
              <a:pPr algn="r"/>
              <a:t>2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459165-E3FA-4F7D-B4C2-81F6CB440697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41987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352C467-148C-4F78-804E-F35FAFD40DAE}" type="slidenum">
              <a:rPr lang="en-GB" sz="1000" i="1">
                <a:latin typeface="Times New Roman" pitchFamily="18" charset="0"/>
              </a:rPr>
              <a:pPr algn="r"/>
              <a:t>3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BAFC00-672C-4FA2-A1A5-2E35633C45BF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3011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FDA9C55D-B093-4C63-92A2-E4D50B2C9C61}" type="slidenum">
              <a:rPr lang="en-GB" sz="1000" i="1">
                <a:latin typeface="Times New Roman" pitchFamily="18" charset="0"/>
              </a:rPr>
              <a:pPr algn="r"/>
              <a:t>4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F191A8-3472-4B7F-876F-F5BFA61FCEFD}" type="slidenum">
              <a:rPr lang="en-US" smtClean="0"/>
              <a:pPr eaLnBrk="1" hangingPunct="1"/>
              <a:t>5</a:t>
            </a:fld>
            <a:endParaRPr lang="en-US"/>
          </a:p>
        </p:txBody>
      </p:sp>
      <p:sp>
        <p:nvSpPr>
          <p:cNvPr id="44035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65738F11-17C8-4B93-85FD-998000E245F1}" type="slidenum">
              <a:rPr lang="en-GB" sz="1000" i="1">
                <a:latin typeface="Times New Roman" pitchFamily="18" charset="0"/>
              </a:rPr>
              <a:pPr algn="r"/>
              <a:t>5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598F3FF-2188-4D69-AB59-42BF950F90D4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45059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5174BFA3-5192-4545-A34E-7F9C3FB158A0}" type="slidenum">
              <a:rPr lang="en-GB" sz="1000" i="1">
                <a:latin typeface="Times New Roman" pitchFamily="18" charset="0"/>
              </a:rPr>
              <a:pPr algn="r"/>
              <a:t>7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50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DDAC7C0-D4A1-43CF-9A1A-67C85F1CE687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46083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2196A84F-3346-4E1D-8D29-A9D0CE0080C1}" type="slidenum">
              <a:rPr lang="en-GB" sz="1000" i="1">
                <a:latin typeface="Times New Roman" pitchFamily="18" charset="0"/>
              </a:rPr>
              <a:pPr algn="r"/>
              <a:t>8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721BE4-9093-436F-9B8E-4EFD8F13F4B2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47107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A2487980-068A-4CB5-A282-50856FA57ACD}" type="slidenum">
              <a:rPr lang="en-GB" sz="1000" i="1">
                <a:latin typeface="Times New Roman" pitchFamily="18" charset="0"/>
              </a:rPr>
              <a:pPr algn="r"/>
              <a:t>9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F1B1C7B-AA1B-4C85-A06D-6FB0DF98575E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48131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C38987FC-DDC9-481B-93B8-C7079B0CFB1D}" type="slidenum">
              <a:rPr lang="en-GB" sz="1000" i="1">
                <a:latin typeface="Times New Roman" pitchFamily="18" charset="0"/>
              </a:rPr>
              <a:pPr algn="r"/>
              <a:t>10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3BA543-DA39-43EE-8C06-73B5F6A6D27A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49155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0B657E59-E2C5-4D9F-A791-07EF59F85B88}" type="slidenum">
              <a:rPr lang="en-GB" sz="1000" i="1">
                <a:latin typeface="Times New Roman" pitchFamily="18" charset="0"/>
              </a:rPr>
              <a:pPr algn="r"/>
              <a:t>11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F01D88E-DE12-4888-A555-8ACE3AE58E1E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50179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443997FD-66DC-4615-ABB2-8EDF01303610}" type="slidenum">
              <a:rPr lang="en-GB" sz="1000" i="1">
                <a:latin typeface="Times New Roman" pitchFamily="18" charset="0"/>
              </a:rPr>
              <a:pPr algn="r"/>
              <a:t>12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53A36E0-42DE-4F4D-9E47-2A71421EDCBB}" type="slidenum">
              <a:rPr lang="en-US" smtClean="0"/>
              <a:pPr eaLnBrk="1" hangingPunct="1"/>
              <a:t>13</a:t>
            </a:fld>
            <a:endParaRPr lang="en-US"/>
          </a:p>
        </p:txBody>
      </p:sp>
      <p:sp>
        <p:nvSpPr>
          <p:cNvPr id="51203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3C45764A-7124-4AAD-81C2-87D0F80C40FD}" type="slidenum">
              <a:rPr lang="en-GB" sz="1000" i="1">
                <a:latin typeface="Times New Roman" pitchFamily="18" charset="0"/>
              </a:rPr>
              <a:pPr algn="r"/>
              <a:t>13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5BA16E5-A0D4-4E76-BF57-219947CF2857}" type="slidenum">
              <a:rPr lang="en-US" smtClean="0"/>
              <a:pPr eaLnBrk="1" hangingPunct="1"/>
              <a:t>14</a:t>
            </a:fld>
            <a:endParaRPr lang="en-US"/>
          </a:p>
        </p:txBody>
      </p:sp>
      <p:sp>
        <p:nvSpPr>
          <p:cNvPr id="53251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17E5AEB6-64B2-454C-8E32-F1254FFCF99B}" type="slidenum">
              <a:rPr lang="en-GB" sz="1000" i="1">
                <a:latin typeface="Times New Roman" pitchFamily="18" charset="0"/>
              </a:rPr>
              <a:pPr algn="r"/>
              <a:t>14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9D2CCFC-A7F0-45D4-AEAD-0681BA21C690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54275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32B8A5DB-D096-4BAE-BCFE-99C53250A30D}" type="slidenum">
              <a:rPr lang="en-GB" sz="1000" i="1">
                <a:latin typeface="Times New Roman" pitchFamily="18" charset="0"/>
              </a:rPr>
              <a:pPr algn="r"/>
              <a:t>15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69258F-08BF-4FA8-9BE8-93A488B1B484}" type="slidenum">
              <a:rPr lang="en-US" smtClean="0"/>
              <a:pPr eaLnBrk="1" hangingPunct="1"/>
              <a:t>16</a:t>
            </a:fld>
            <a:endParaRPr lang="en-US"/>
          </a:p>
        </p:txBody>
      </p:sp>
      <p:sp>
        <p:nvSpPr>
          <p:cNvPr id="56323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CAA0D261-5690-41D3-9E55-768B46807FD3}" type="slidenum">
              <a:rPr lang="en-GB" sz="1000" i="1">
                <a:latin typeface="Times New Roman" pitchFamily="18" charset="0"/>
              </a:rPr>
              <a:pPr algn="r"/>
              <a:t>16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272F30-2E14-451B-813C-B53CEB739F77}" type="slidenum">
              <a:rPr lang="en-US" smtClean="0"/>
              <a:pPr eaLnBrk="1" hangingPunct="1"/>
              <a:t>18</a:t>
            </a:fld>
            <a:endParaRPr lang="en-US"/>
          </a:p>
        </p:txBody>
      </p:sp>
      <p:sp>
        <p:nvSpPr>
          <p:cNvPr id="59395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34E0BFE5-14AD-4264-8899-66D2698C1D3F}" type="slidenum">
              <a:rPr lang="en-GB" sz="1000" i="1">
                <a:latin typeface="Times New Roman" pitchFamily="18" charset="0"/>
              </a:rPr>
              <a:pPr algn="r"/>
              <a:t>18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1267603-F0F1-478F-B6A8-1A15ACA4BF18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60419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797466F9-0E03-4D75-BC85-8580EDEEBA69}" type="slidenum">
              <a:rPr lang="en-GB" sz="1000" i="1">
                <a:latin typeface="Times New Roman" pitchFamily="18" charset="0"/>
              </a:rPr>
              <a:pPr algn="r"/>
              <a:t>19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66DA19C-323E-40DC-B18A-4028DE3E37BF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63491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CC6AE0FE-6D33-469C-8058-131A2E4436AB}" type="slidenum">
              <a:rPr lang="en-GB" sz="1000" i="1">
                <a:latin typeface="Times New Roman" pitchFamily="18" charset="0"/>
              </a:rPr>
              <a:pPr algn="r"/>
              <a:t>20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63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57D482-869C-4117-A41C-09A84ECF48F1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64515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869D89DB-6AEC-4185-AA1E-20ADB40B1DDE}" type="slidenum">
              <a:rPr lang="en-GB" sz="1000" i="1">
                <a:latin typeface="Times New Roman" pitchFamily="18" charset="0"/>
              </a:rPr>
              <a:pPr algn="r"/>
              <a:t>21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64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9C1D32F-BDC3-4BF7-9C4B-12AEF6E8C657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66563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C4AEAF92-FC46-47AB-97AC-9D5BE6A4CA40}" type="slidenum">
              <a:rPr lang="en-GB" sz="1000" i="1">
                <a:latin typeface="Times New Roman" pitchFamily="18" charset="0"/>
              </a:rPr>
              <a:pPr algn="r"/>
              <a:t>22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665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1255F2-A0FA-48A1-85DC-6164BBD705A8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70659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5FE043CF-F3D0-4A6C-B36B-2F36CA1BEE98}" type="slidenum">
              <a:rPr lang="en-GB" sz="1000" i="1">
                <a:latin typeface="Times New Roman" pitchFamily="18" charset="0"/>
              </a:rPr>
              <a:pPr algn="r"/>
              <a:t>25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706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34E8DC-BD59-4AD4-B78D-DFB4BCF43A50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71683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5EA51954-5732-4698-857F-1324E7052E36}" type="slidenum">
              <a:rPr lang="en-GB" sz="1000" i="1">
                <a:latin typeface="Times New Roman" pitchFamily="18" charset="0"/>
              </a:rPr>
              <a:pPr algn="r"/>
              <a:t>26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F0CD8A4-90E8-45A5-8E0F-CFD1F47EC5CF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73731" name="Rectangle 5"/>
          <p:cNvSpPr txBox="1">
            <a:spLocks noGrp="1" noChangeArrowheads="1"/>
          </p:cNvSpPr>
          <p:nvPr/>
        </p:nvSpPr>
        <p:spPr bwMode="auto">
          <a:xfrm>
            <a:off x="3886200" y="8705850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5F44E324-B950-4846-95CB-B0AF1E3F3882}" type="slidenum">
              <a:rPr lang="en-GB" sz="1000" i="1">
                <a:latin typeface="Times New Roman" pitchFamily="18" charset="0"/>
              </a:rPr>
              <a:pPr algn="r"/>
              <a:t>28</a:t>
            </a:fld>
            <a:endParaRPr lang="en-GB" sz="1000" i="1">
              <a:latin typeface="Times New Roman" pitchFamily="18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4237"/>
          </a:xfrm>
          <a:ln/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7688"/>
            <a:ext cx="5029200" cy="413385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8787DA-5FF2-4A95-917B-59B25CD718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48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D0FB17-4946-4655-AAC9-0B70AE1551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17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C215F848-4382-4680-83E8-0DB998D85B25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User-defined type –it provides a way for attaching names to numbers. </a:t>
            </a:r>
            <a:r>
              <a:rPr lang="en-US" dirty="0" err="1"/>
              <a:t>Enum</a:t>
            </a:r>
            <a:r>
              <a:rPr lang="en-US" dirty="0"/>
              <a:t> keyword enumerates a list of words by assigning them values 0,1,2….</a:t>
            </a:r>
            <a:r>
              <a:rPr lang="en-US" dirty="0" err="1"/>
              <a:t>i</a:t>
            </a:r>
            <a:endParaRPr lang="en-US" dirty="0"/>
          </a:p>
          <a:p>
            <a:pPr eaLnBrk="1" hangingPunct="1"/>
            <a:r>
              <a:rPr lang="en-US" dirty="0"/>
              <a:t>Identifier becomes new type names. </a:t>
            </a:r>
          </a:p>
        </p:txBody>
      </p:sp>
    </p:spTree>
    <p:extLst>
      <p:ext uri="{BB962C8B-B14F-4D97-AF65-F5344CB8AC3E}">
        <p14:creationId xmlns:p14="http://schemas.microsoft.com/office/powerpoint/2010/main" val="41157209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50A1E8BE-DD0B-4061-883F-C3E078C7629D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2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EE375-78EB-4E3D-B1B4-BF82AC629354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51C247-293B-401F-9F0E-658A03EEA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B2C99-37C0-4BE6-8394-3D9BB8B3D477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9B762-8030-476F-BA02-662232E67C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0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FA035-738D-4626-9DD0-B233D90615AA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A2963-B2E6-49A6-8E5B-A2FBE4098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6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02282-BE21-48D3-975F-57D237A9B5D7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4003F-A638-47F9-A508-282BB17B1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6C769-5512-4CB6-9C45-610D5F060F90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95E44-0317-451A-9B8C-79C9BE2A09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1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91DC0-89E0-4CC1-99D8-2E31FB3423D4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5A1F2-BFF2-46FE-A0C5-047A82AB2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1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34B3-F7B6-449F-8147-094EAF319A92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E9BA3-6CF8-482F-890A-AFA2A42D76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1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460E9-6667-4D5F-A8B5-09447AEED3A5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52508-44FD-439F-811B-22DEC6DFA2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1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DBE82-6611-4BD6-A171-18CF0F013E42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FD82D-3D86-43A1-A274-C26C60753B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1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DB438-D825-4BDE-94C7-D838B1B02567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C0494-58B4-480A-A2AD-500DBB89C9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8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BFB92-8A3A-46AF-AC11-F1C80BD77F97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237A3-6D28-430C-A2F1-0D417EEE7B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61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69421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2891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6696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520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929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57283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267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3391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158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730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6026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CE3A2-4356-4C01-904A-2DD7CF4F17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54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81889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346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8885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46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426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6510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9072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616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7425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6467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56265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5008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CE3A2-4356-4C01-904A-2DD7CF4F17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81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2619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9E649D31-CCC3-4C56-809A-82DC67B28C0C}" type="datetime1">
              <a:rPr lang="en-US" smtClean="0"/>
              <a:pPr>
                <a:defRPr/>
              </a:pPr>
              <a:t>8/6/2024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FE9991-37C9-4A5D-B310-76984F2F8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A83CE3A2-4356-4C01-904A-2DD7CF4F1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6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A83CE3A2-4356-4C01-904A-2DD7CF4F1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1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2268538"/>
            <a:ext cx="7721600" cy="11604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GB">
                <a:solidFill>
                  <a:srgbClr val="660033"/>
                </a:solidFill>
              </a:rPr>
              <a:t>Structures  &amp; Unions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F698C64-4D59-402D-B704-EA435F57C261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E8F09ACD-14F7-4CB5-8412-2046C6244DDA}" type="slidenum">
              <a:rPr lang="en-US" sz="1400">
                <a:latin typeface="+mn-lt"/>
              </a:rPr>
              <a:pPr algn="r">
                <a:defRPr/>
              </a:pPr>
              <a:t>2</a:t>
            </a:fld>
            <a:endParaRPr lang="en-US" sz="1400">
              <a:latin typeface="+mn-lt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458787"/>
            <a:ext cx="8610600" cy="58658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b="1" i="1" u="sng" dirty="0">
                <a:latin typeface="Calibri" pitchFamily="34" charset="0"/>
              </a:rPr>
              <a:t>Structures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b="1" i="1" dirty="0">
                <a:latin typeface="Calibri" pitchFamily="34" charset="0"/>
              </a:rPr>
              <a:t>W</a:t>
            </a:r>
            <a:r>
              <a:rPr lang="en-US" sz="2400" dirty="0">
                <a:latin typeface="Calibri" pitchFamily="34" charset="0"/>
              </a:rPr>
              <a:t>e’ve seen variables of simple data types, such as float, char, and int.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Variables of such types represent one item of information: a height, an amount, a count, and so on.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 But just as groceries are organized into bags, employees into departments, and words into sentences, it’s often convenient to organize simple variables into more complex entities.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 The C++ construction called the </a:t>
            </a:r>
            <a:r>
              <a:rPr lang="en-US" sz="2400" i="1" dirty="0">
                <a:latin typeface="Calibri" pitchFamily="34" charset="0"/>
              </a:rPr>
              <a:t>structure</a:t>
            </a:r>
            <a:r>
              <a:rPr lang="en-US" sz="2400" dirty="0">
                <a:latin typeface="Calibri" pitchFamily="34" charset="0"/>
              </a:rPr>
              <a:t> is one way to do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A18189B-7E7E-479A-834F-1A757B26964F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E3E33F48-8FC5-49F8-93FF-442453A39C04}" type="slidenum">
              <a:rPr lang="en-US" sz="1400">
                <a:latin typeface="+mn-lt"/>
              </a:rPr>
              <a:pPr algn="r">
                <a:defRPr/>
              </a:pPr>
              <a:t>3</a:t>
            </a:fld>
            <a:endParaRPr lang="en-US" sz="1400">
              <a:latin typeface="+mn-lt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404813"/>
            <a:ext cx="8839200" cy="561498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sz="2800" b="1" i="1" u="sng" dirty="0">
                <a:latin typeface="Calibri" pitchFamily="34" charset="0"/>
              </a:rPr>
              <a:t>Structures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>
                <a:latin typeface="Calibri" pitchFamily="34" charset="0"/>
              </a:rPr>
              <a:t>A structure is a collection of one or more variables, possibly of different types, grouped together under a single name for convenient handling 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Calibri" pitchFamily="34" charset="0"/>
              </a:rPr>
              <a:t>The variables in a structure can be </a:t>
            </a:r>
            <a:r>
              <a:rPr lang="en-US" sz="2400" dirty="0" err="1">
                <a:latin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</a:rPr>
              <a:t>, some can be float, and so on. This is unlike the array, in which all the variables must be the same type. The data items in a structure are called the </a:t>
            </a:r>
            <a:r>
              <a:rPr lang="en-US" sz="2400" b="1" dirty="0">
                <a:latin typeface="Calibri" pitchFamily="34" charset="0"/>
              </a:rPr>
              <a:t>members</a:t>
            </a:r>
            <a:r>
              <a:rPr lang="en-US" sz="2400" dirty="0">
                <a:latin typeface="Calibri" pitchFamily="34" charset="0"/>
              </a:rPr>
              <a:t> of the structure.</a:t>
            </a:r>
            <a:endParaRPr lang="en-AU" sz="2400" dirty="0">
              <a:solidFill>
                <a:srgbClr val="660033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F1DC0F-DEA2-4652-B4ED-9A97B5D71205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183AC4-35A1-40CF-B5F5-62DFCAA8D2FA}" type="slidenum">
              <a:rPr lang="en-US" sz="1400">
                <a:latin typeface="+mn-lt"/>
              </a:rPr>
              <a:pPr algn="r">
                <a:defRPr/>
              </a:pPr>
              <a:t>4</a:t>
            </a:fld>
            <a:endParaRPr lang="en-US" sz="1400">
              <a:latin typeface="+mn-lt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333375"/>
            <a:ext cx="8763000" cy="579278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AU" sz="2400" b="1" dirty="0">
                <a:latin typeface="Calibri" pitchFamily="34" charset="0"/>
              </a:rPr>
              <a:t>Structures  assist program organisation by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AU" sz="2400" dirty="0">
                <a:latin typeface="Calibri" pitchFamily="34" charset="0"/>
              </a:rPr>
              <a:t>Grouping logically related data, and giving this set of variables a higher-level name and more abstract representation.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AU" sz="2400" dirty="0">
                <a:latin typeface="Calibri" pitchFamily="34" charset="0"/>
              </a:rPr>
              <a:t>Enabling related variables to be manipulated as a single unit rather than as separate entities.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AU" sz="2400" dirty="0">
                <a:latin typeface="Calibri" pitchFamily="34" charset="0"/>
              </a:rPr>
              <a:t>Reducing the number of parameters that need to be passed between functions.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AU" sz="2400" dirty="0">
                <a:latin typeface="Calibri" pitchFamily="34" charset="0"/>
              </a:rPr>
              <a:t>Providing another means to return multiple values from a function.</a:t>
            </a:r>
          </a:p>
          <a:p>
            <a:pPr algn="just" eaLnBrk="1" hangingPunct="1">
              <a:lnSpc>
                <a:spcPct val="150000"/>
              </a:lnSpc>
            </a:pPr>
            <a:endParaRPr lang="en-US" dirty="0">
              <a:solidFill>
                <a:srgbClr val="660033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480FF00-512A-4909-ACFB-81228B5FF81D}" type="slidenum">
              <a:rPr lang="en-US" smtClean="0"/>
              <a:pPr eaLnBrk="1" hangingPunct="1"/>
              <a:t>5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EE9F3FDD-F448-4E55-878A-C57A0F30C6D8}" type="slidenum">
              <a:rPr lang="en-US" sz="1400">
                <a:latin typeface="+mn-lt"/>
              </a:rPr>
              <a:pPr algn="r">
                <a:defRPr/>
              </a:pPr>
              <a:t>5</a:t>
            </a:fld>
            <a:endParaRPr lang="en-US" sz="1400">
              <a:latin typeface="+mn-lt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52400"/>
            <a:ext cx="8607425" cy="64452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Calibri" pitchFamily="34" charset="0"/>
              </a:rPr>
              <a:t>The general format of a structure definition is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000" b="1" dirty="0">
              <a:latin typeface="Calibri" pitchFamily="34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400" b="1" dirty="0" err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en-US" sz="2400" b="1" dirty="0">
                <a:latin typeface="Calibri" pitchFamily="34" charset="0"/>
              </a:rPr>
              <a:t>   </a:t>
            </a:r>
            <a:r>
              <a:rPr lang="en-US" sz="2400" b="1" dirty="0" err="1">
                <a:latin typeface="Calibri" pitchFamily="34" charset="0"/>
              </a:rPr>
              <a:t>tag_name</a:t>
            </a:r>
            <a:endParaRPr lang="en-US" sz="2400" b="1" dirty="0">
              <a:latin typeface="Calibri" pitchFamily="34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alibri" pitchFamily="34" charset="0"/>
              </a:rPr>
              <a:t>{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400" b="1" dirty="0" err="1">
                <a:solidFill>
                  <a:srgbClr val="0070C0"/>
                </a:solidFill>
                <a:latin typeface="Calibri" pitchFamily="34" charset="0"/>
              </a:rPr>
              <a:t>Data_type</a:t>
            </a:r>
            <a:r>
              <a:rPr lang="en-US" sz="2400" b="1" dirty="0">
                <a:latin typeface="Calibri" pitchFamily="34" charset="0"/>
              </a:rPr>
              <a:t>  member1;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400" b="1" dirty="0" err="1">
                <a:solidFill>
                  <a:srgbClr val="0070C0"/>
                </a:solidFill>
                <a:latin typeface="Calibri" pitchFamily="34" charset="0"/>
              </a:rPr>
              <a:t>Data_type</a:t>
            </a:r>
            <a:r>
              <a:rPr lang="en-US" sz="2400" b="1" dirty="0">
                <a:latin typeface="Calibri" pitchFamily="34" charset="0"/>
              </a:rPr>
              <a:t>  member2;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alibri" pitchFamily="34" charset="0"/>
              </a:rPr>
              <a:t>----------------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alibri" pitchFamily="34" charset="0"/>
              </a:rPr>
              <a:t>};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200" dirty="0">
              <a:latin typeface="Calibri" pitchFamily="34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200" b="1" u="sng" dirty="0">
                <a:solidFill>
                  <a:srgbClr val="7030A0"/>
                </a:solidFill>
                <a:latin typeface="Calibri" pitchFamily="34" charset="0"/>
              </a:rPr>
              <a:t>Example</a:t>
            </a:r>
            <a:r>
              <a:rPr lang="en-US" sz="2200" u="sng" dirty="0">
                <a:solidFill>
                  <a:srgbClr val="7030A0"/>
                </a:solidFill>
                <a:latin typeface="Calibri" pitchFamily="34" charset="0"/>
              </a:rPr>
              <a:t>:-1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fr-FR" sz="2200" b="1" dirty="0" err="1">
                <a:solidFill>
                  <a:srgbClr val="FF0000"/>
                </a:solidFill>
                <a:latin typeface="Calibri" pitchFamily="34" charset="0"/>
              </a:rPr>
              <a:t>struct</a:t>
            </a:r>
            <a:r>
              <a:rPr lang="fr-FR" sz="2200" b="1" dirty="0">
                <a:latin typeface="Calibri" pitchFamily="34" charset="0"/>
              </a:rPr>
              <a:t>   </a:t>
            </a:r>
            <a:r>
              <a:rPr lang="fr-FR" sz="2200" b="1" dirty="0" err="1">
                <a:latin typeface="Calibri" pitchFamily="34" charset="0"/>
              </a:rPr>
              <a:t>student</a:t>
            </a:r>
            <a:r>
              <a:rPr lang="fr-FR" sz="2200" b="1" dirty="0">
                <a:latin typeface="Calibri" pitchFamily="34" charset="0"/>
              </a:rPr>
              <a:t>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fr-FR" sz="2200" b="1" dirty="0">
                <a:latin typeface="Calibri" pitchFamily="34" charset="0"/>
              </a:rPr>
              <a:t>		{ 	</a:t>
            </a:r>
            <a:r>
              <a:rPr lang="fr-FR" sz="2200" b="1" dirty="0" err="1">
                <a:latin typeface="Calibri" pitchFamily="34" charset="0"/>
              </a:rPr>
              <a:t>int</a:t>
            </a:r>
            <a:r>
              <a:rPr lang="fr-FR" sz="2200" b="1" dirty="0">
                <a:latin typeface="Calibri" pitchFamily="34" charset="0"/>
              </a:rPr>
              <a:t>  </a:t>
            </a:r>
            <a:r>
              <a:rPr lang="fr-FR" sz="2200" b="1" dirty="0" err="1">
                <a:latin typeface="Calibri" pitchFamily="34" charset="0"/>
              </a:rPr>
              <a:t>rollno</a:t>
            </a:r>
            <a:r>
              <a:rPr lang="fr-FR" sz="2200" b="1" dirty="0">
                <a:latin typeface="Calibri" pitchFamily="34" charset="0"/>
              </a:rPr>
              <a:t>;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fr-FR" sz="2200" b="1" dirty="0">
                <a:latin typeface="Calibri" pitchFamily="34" charset="0"/>
              </a:rPr>
              <a:t>		</a:t>
            </a:r>
            <a:r>
              <a:rPr lang="fr-FR" sz="2200" b="1" dirty="0" err="1">
                <a:latin typeface="Calibri" pitchFamily="34" charset="0"/>
              </a:rPr>
              <a:t>int</a:t>
            </a:r>
            <a:r>
              <a:rPr lang="fr-FR" sz="2200" b="1" dirty="0">
                <a:latin typeface="Calibri" pitchFamily="34" charset="0"/>
              </a:rPr>
              <a:t>  </a:t>
            </a:r>
            <a:r>
              <a:rPr lang="fr-FR" sz="2200" b="1" dirty="0" err="1">
                <a:latin typeface="Calibri" pitchFamily="34" charset="0"/>
              </a:rPr>
              <a:t>age</a:t>
            </a:r>
            <a:r>
              <a:rPr lang="fr-FR" sz="2200" b="1" dirty="0">
                <a:latin typeface="Calibri" pitchFamily="34" charset="0"/>
              </a:rPr>
              <a:t>;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fr-FR" sz="2200" b="1" dirty="0">
                <a:latin typeface="Calibri" pitchFamily="34" charset="0"/>
              </a:rPr>
              <a:t>		char  </a:t>
            </a:r>
            <a:r>
              <a:rPr lang="fr-FR" sz="2200" b="1" dirty="0" err="1">
                <a:latin typeface="Calibri" pitchFamily="34" charset="0"/>
              </a:rPr>
              <a:t>name</a:t>
            </a:r>
            <a:r>
              <a:rPr lang="fr-FR" sz="2200" b="1" dirty="0">
                <a:latin typeface="Calibri" pitchFamily="34" charset="0"/>
              </a:rPr>
              <a:t>[10];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fr-FR" sz="2200" b="1" dirty="0">
                <a:latin typeface="Calibri" pitchFamily="34" charset="0"/>
              </a:rPr>
              <a:t>		</a:t>
            </a:r>
            <a:r>
              <a:rPr lang="fr-FR" sz="2200" b="1" dirty="0" err="1">
                <a:latin typeface="Calibri" pitchFamily="34" charset="0"/>
              </a:rPr>
              <a:t>float</a:t>
            </a:r>
            <a:r>
              <a:rPr lang="fr-FR" sz="2200" b="1" dirty="0">
                <a:latin typeface="Calibri" pitchFamily="34" charset="0"/>
              </a:rPr>
              <a:t>  </a:t>
            </a:r>
            <a:r>
              <a:rPr lang="fr-FR" sz="2200" b="1" dirty="0" err="1">
                <a:latin typeface="Calibri" pitchFamily="34" charset="0"/>
              </a:rPr>
              <a:t>height</a:t>
            </a:r>
            <a:r>
              <a:rPr lang="fr-FR" sz="2200" b="1" dirty="0">
                <a:latin typeface="Calibri" pitchFamily="34" charset="0"/>
              </a:rPr>
              <a:t>;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fr-FR" sz="2200" b="1" dirty="0">
                <a:latin typeface="Calibri" pitchFamily="34" charset="0"/>
              </a:rPr>
              <a:t>};</a:t>
            </a:r>
            <a:endParaRPr lang="en-US" sz="2200" b="1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5E9BA3-6CF8-482F-890A-AFA2A42D769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0"/>
            <a:ext cx="8743783" cy="66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9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D0BE4A4-220A-430C-B6BB-8301614A5E12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645AC782-AEE4-46F0-9EA9-350E5032EEA6}" type="slidenum">
              <a:rPr lang="en-US" sz="1400">
                <a:latin typeface="+mn-lt"/>
              </a:rPr>
              <a:pPr algn="r">
                <a:defRPr/>
              </a:pPr>
              <a:t>7</a:t>
            </a:fld>
            <a:endParaRPr lang="en-US" sz="1400">
              <a:latin typeface="+mn-lt"/>
            </a:endParaRPr>
          </a:p>
        </p:txBody>
      </p:sp>
      <p:sp>
        <p:nvSpPr>
          <p:cNvPr id="71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3550" y="381000"/>
            <a:ext cx="8229600" cy="692150"/>
          </a:xfrm>
        </p:spPr>
        <p:txBody>
          <a:bodyPr/>
          <a:lstStyle/>
          <a:p>
            <a:pPr eaLnBrk="1" hangingPunct="1"/>
            <a:r>
              <a:rPr lang="en-US" sz="4000">
                <a:solidFill>
                  <a:schemeClr val="accent2"/>
                </a:solidFill>
              </a:rPr>
              <a:t>Rules for defining structure</a:t>
            </a:r>
          </a:p>
        </p:txBody>
      </p:sp>
      <p:sp>
        <p:nvSpPr>
          <p:cNvPr id="71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295400"/>
            <a:ext cx="8763000" cy="32004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The structure template is terminated with a semicolon.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While the entire declaration is considered as a statement, each member is declared independently for its name and type in a separate statement inside the template.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The tag name such as student  can be used to declare structure variables of its type, later in the program.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62D7395-CE5B-4470-A779-D37EAE65C169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AE59721E-486E-4487-B105-5A2BCE42A38E}" type="slidenum">
              <a:rPr lang="en-US" sz="1400">
                <a:latin typeface="+mn-lt"/>
              </a:rPr>
              <a:pPr algn="r">
                <a:defRPr/>
              </a:pPr>
              <a:t>8</a:t>
            </a:fld>
            <a:endParaRPr lang="en-US" sz="1400">
              <a:latin typeface="+mn-lt"/>
            </a:endParaRPr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413" y="260350"/>
            <a:ext cx="8229600" cy="388938"/>
          </a:xfrm>
        </p:spPr>
        <p:txBody>
          <a:bodyPr/>
          <a:lstStyle/>
          <a:p>
            <a:pPr eaLnBrk="1" hangingPunct="1"/>
            <a:r>
              <a:rPr lang="en-AU" sz="3200">
                <a:solidFill>
                  <a:schemeClr val="accent2"/>
                </a:solidFill>
              </a:rPr>
              <a:t>Declaring Structure Variables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7500" y="1283169"/>
            <a:ext cx="7772400" cy="5300662"/>
          </a:xfrm>
        </p:spPr>
        <p:txBody>
          <a:bodyPr/>
          <a:lstStyle/>
          <a:p>
            <a:pPr marL="533400" indent="-533400" algn="just" eaLnBrk="1" hangingPunct="1">
              <a:lnSpc>
                <a:spcPct val="80000"/>
              </a:lnSpc>
              <a:buNone/>
            </a:pPr>
            <a:endParaRPr lang="en-AU" sz="2400" dirty="0"/>
          </a:p>
          <a:p>
            <a:pPr marL="533400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AU" sz="2400" dirty="0">
                <a:solidFill>
                  <a:srgbClr val="00B0F0"/>
                </a:solidFill>
              </a:rPr>
              <a:t>Declare them at the structure definition.</a:t>
            </a:r>
          </a:p>
          <a:p>
            <a:pPr marL="533400" indent="-533400" algn="just" eaLnBrk="1" hangingPunct="1">
              <a:lnSpc>
                <a:spcPct val="80000"/>
              </a:lnSpc>
              <a:buFontTx/>
              <a:buNone/>
            </a:pPr>
            <a:r>
              <a:rPr lang="fr-FR" sz="2400" b="1" dirty="0">
                <a:latin typeface="Courier New" pitchFamily="49" charset="0"/>
              </a:rPr>
              <a:t>	 </a:t>
            </a:r>
            <a:r>
              <a:rPr lang="fr-FR" sz="2400" b="1" dirty="0" err="1">
                <a:latin typeface="Courier New" pitchFamily="49" charset="0"/>
              </a:rPr>
              <a:t>struct</a:t>
            </a:r>
            <a:r>
              <a:rPr lang="fr-FR" sz="2400" b="1" dirty="0">
                <a:latin typeface="Courier New" pitchFamily="49" charset="0"/>
              </a:rPr>
              <a:t> </a:t>
            </a:r>
            <a:r>
              <a:rPr lang="fr-FR" sz="2400" b="1" dirty="0" err="1">
                <a:latin typeface="Courier New" pitchFamily="49" charset="0"/>
              </a:rPr>
              <a:t>student</a:t>
            </a:r>
            <a:r>
              <a:rPr lang="fr-FR" sz="2400" b="1" dirty="0">
                <a:latin typeface="Courier New" pitchFamily="49" charset="0"/>
              </a:rPr>
              <a:t> </a:t>
            </a:r>
          </a:p>
          <a:p>
            <a:pPr marL="533400" indent="-533400" algn="just" eaLnBrk="1" hangingPunct="1">
              <a:lnSpc>
                <a:spcPct val="80000"/>
              </a:lnSpc>
              <a:buFontTx/>
              <a:buNone/>
            </a:pPr>
            <a:r>
              <a:rPr lang="fr-FR" sz="2400" b="1" dirty="0">
                <a:latin typeface="Courier New" pitchFamily="49" charset="0"/>
              </a:rPr>
              <a:t>		{ 	</a:t>
            </a:r>
            <a:r>
              <a:rPr lang="fr-FR" sz="2400" b="1" dirty="0" err="1">
                <a:latin typeface="Courier New" pitchFamily="49" charset="0"/>
              </a:rPr>
              <a:t>int</a:t>
            </a:r>
            <a:r>
              <a:rPr lang="fr-FR" sz="2400" b="1" dirty="0">
                <a:latin typeface="Courier New" pitchFamily="49" charset="0"/>
              </a:rPr>
              <a:t> </a:t>
            </a:r>
            <a:r>
              <a:rPr lang="fr-FR" sz="2400" b="1" dirty="0" err="1">
                <a:latin typeface="Courier New" pitchFamily="49" charset="0"/>
              </a:rPr>
              <a:t>rollno</a:t>
            </a:r>
            <a:r>
              <a:rPr lang="fr-FR" sz="2400" b="1" dirty="0">
                <a:latin typeface="Courier New" pitchFamily="49" charset="0"/>
              </a:rPr>
              <a:t>;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r>
              <a:rPr lang="fr-FR" b="1" dirty="0">
                <a:latin typeface="Courier New" pitchFamily="49" charset="0"/>
              </a:rPr>
              <a:t>		</a:t>
            </a:r>
            <a:r>
              <a:rPr lang="fr-FR" b="1" dirty="0" err="1">
                <a:latin typeface="Courier New" pitchFamily="49" charset="0"/>
              </a:rPr>
              <a:t>int</a:t>
            </a:r>
            <a:r>
              <a:rPr lang="fr-FR" b="1" dirty="0">
                <a:latin typeface="Courier New" pitchFamily="49" charset="0"/>
              </a:rPr>
              <a:t> </a:t>
            </a:r>
            <a:r>
              <a:rPr lang="fr-FR" b="1" dirty="0" err="1">
                <a:latin typeface="Courier New" pitchFamily="49" charset="0"/>
              </a:rPr>
              <a:t>age</a:t>
            </a:r>
            <a:r>
              <a:rPr lang="fr-FR" b="1" dirty="0">
                <a:latin typeface="Courier New" pitchFamily="49" charset="0"/>
              </a:rPr>
              <a:t>;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r>
              <a:rPr lang="fr-FR" b="1" dirty="0">
                <a:latin typeface="Courier New" pitchFamily="49" charset="0"/>
              </a:rPr>
              <a:t>		char </a:t>
            </a:r>
            <a:r>
              <a:rPr lang="fr-FR" b="1" dirty="0" err="1">
                <a:latin typeface="Courier New" pitchFamily="49" charset="0"/>
              </a:rPr>
              <a:t>name</a:t>
            </a:r>
            <a:r>
              <a:rPr lang="fr-FR" b="1" dirty="0">
                <a:latin typeface="Courier New" pitchFamily="49" charset="0"/>
              </a:rPr>
              <a:t>[10];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r>
              <a:rPr lang="fr-FR" b="1" dirty="0">
                <a:latin typeface="Courier New" pitchFamily="49" charset="0"/>
              </a:rPr>
              <a:t>		</a:t>
            </a:r>
            <a:r>
              <a:rPr lang="fr-FR" b="1" dirty="0" err="1">
                <a:latin typeface="Courier New" pitchFamily="49" charset="0"/>
              </a:rPr>
              <a:t>float</a:t>
            </a:r>
            <a:r>
              <a:rPr lang="fr-FR" b="1" dirty="0">
                <a:latin typeface="Courier New" pitchFamily="49" charset="0"/>
              </a:rPr>
              <a:t> </a:t>
            </a:r>
            <a:r>
              <a:rPr lang="fr-FR" b="1" dirty="0" err="1">
                <a:latin typeface="Courier New" pitchFamily="49" charset="0"/>
              </a:rPr>
              <a:t>height</a:t>
            </a:r>
            <a:r>
              <a:rPr lang="fr-FR" b="1" dirty="0">
                <a:latin typeface="Courier New" pitchFamily="49" charset="0"/>
              </a:rPr>
              <a:t>;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r>
              <a:rPr lang="fr-FR" b="1" dirty="0">
                <a:latin typeface="Courier New" pitchFamily="49" charset="0"/>
              </a:rPr>
              <a:t>}s1, s2, s3;   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endParaRPr lang="fr-FR" b="1" dirty="0">
              <a:latin typeface="Courier New" pitchFamily="49" charset="0"/>
            </a:endParaRP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endParaRPr lang="fr-FR" dirty="0"/>
          </a:p>
          <a:p>
            <a:pPr marL="533400" indent="-533400" algn="just" eaLnBrk="1" hangingPunct="1">
              <a:lnSpc>
                <a:spcPct val="80000"/>
              </a:lnSpc>
              <a:buFontTx/>
              <a:buNone/>
            </a:pPr>
            <a:r>
              <a:rPr lang="fr-FR" sz="2400" b="1" dirty="0">
                <a:latin typeface="Courier New" pitchFamily="49" charset="0"/>
              </a:rPr>
              <a:t>2.	</a:t>
            </a:r>
            <a:r>
              <a:rPr lang="en-AU" sz="2400" dirty="0">
                <a:solidFill>
                  <a:srgbClr val="00B0F0"/>
                </a:solidFill>
              </a:rPr>
              <a:t>Define the variables at some point </a:t>
            </a:r>
            <a:r>
              <a:rPr lang="en-AU" sz="2400" i="1" dirty="0">
                <a:solidFill>
                  <a:srgbClr val="00B0F0"/>
                </a:solidFill>
              </a:rPr>
              <a:t>after</a:t>
            </a:r>
            <a:r>
              <a:rPr lang="en-AU" sz="2400" dirty="0">
                <a:solidFill>
                  <a:srgbClr val="00B0F0"/>
                </a:solidFill>
              </a:rPr>
              <a:t> the structure definition.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r>
              <a:rPr lang="en-AU" b="1" dirty="0">
                <a:latin typeface="Courier New" pitchFamily="49" charset="0"/>
              </a:rPr>
              <a:t> student s1, s2, s3; </a:t>
            </a:r>
          </a:p>
          <a:p>
            <a:pPr marL="1295400" lvl="2" indent="-381000" algn="just" eaLnBrk="1" hangingPunct="1">
              <a:lnSpc>
                <a:spcPct val="80000"/>
              </a:lnSpc>
              <a:buFontTx/>
              <a:buNone/>
            </a:pPr>
            <a:endParaRPr lang="en-AU" b="1" dirty="0">
              <a:latin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97264" y="902169"/>
            <a:ext cx="1447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Example-2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DDF62EB-53D3-411D-A6EE-5B012458C597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85E6B776-F70C-4E62-88AB-43E0E652E602}" type="slidenum">
              <a:rPr lang="en-US" sz="1400">
                <a:latin typeface="+mn-lt"/>
              </a:rPr>
              <a:pPr algn="r">
                <a:defRPr/>
              </a:pPr>
              <a:t>9</a:t>
            </a:fld>
            <a:endParaRPr lang="en-US" sz="1400">
              <a:latin typeface="+mn-lt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333374"/>
            <a:ext cx="8610600" cy="583882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>
                <a:latin typeface="Calibri" pitchFamily="34" charset="0"/>
              </a:rPr>
              <a:t>Note: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Members of a structure themselves are not  variables.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They (members) do not occupy any memory until they are  associated with the structure variables such as 	s1, s2, s3 etc.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Normally, structure definitions appear at the beginning of the program file, before any variables or functions are defined.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They may also appear before main. In such cases, the definition is global and can be used by other functions as well.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endParaRPr lang="en-US" sz="2400" dirty="0">
              <a:latin typeface="Calibri" pitchFamily="34" charset="0"/>
            </a:endParaRPr>
          </a:p>
          <a:p>
            <a:pPr algn="just" eaLnBrk="1" hangingPunct="1">
              <a:lnSpc>
                <a:spcPct val="150000"/>
              </a:lnSpc>
              <a:buFontTx/>
              <a:buNone/>
            </a:pPr>
            <a:endParaRPr lang="en-US" sz="28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B8DE3A-FBD4-45EA-BADE-02AFD064AAF2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AAFC5462-39DC-4FBD-B7F7-12915FAA6B4A}" type="slidenum">
              <a:rPr lang="en-US" sz="1400">
                <a:latin typeface="+mn-lt"/>
              </a:rPr>
              <a:pPr algn="r">
                <a:defRPr/>
              </a:pPr>
              <a:t>10</a:t>
            </a:fld>
            <a:endParaRPr lang="en-US" sz="1400">
              <a:latin typeface="+mn-lt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404813"/>
            <a:ext cx="8610600" cy="572135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The</a:t>
            </a:r>
            <a:r>
              <a:rPr lang="en-US" sz="2400" b="1" dirty="0">
                <a:latin typeface="Calibri" pitchFamily="34" charset="0"/>
              </a:rPr>
              <a:t> </a:t>
            </a:r>
            <a:r>
              <a:rPr lang="en-US" sz="2400" b="1" dirty="0" err="1">
                <a:latin typeface="Calibri" pitchFamily="34" charset="0"/>
              </a:rPr>
              <a:t>sizeof</a:t>
            </a:r>
            <a:r>
              <a:rPr lang="en-US" sz="2400" dirty="0">
                <a:solidFill>
                  <a:srgbClr val="3366CC"/>
                </a:solidFill>
                <a:latin typeface="Calibri" pitchFamily="34" charset="0"/>
              </a:rPr>
              <a:t> </a:t>
            </a:r>
            <a:r>
              <a:rPr lang="en-US" sz="2400" dirty="0">
                <a:latin typeface="Calibri" pitchFamily="34" charset="0"/>
              </a:rPr>
              <a:t>operator is used to find the size of structure.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 err="1">
                <a:latin typeface="Calibri" pitchFamily="34" charset="0"/>
              </a:rPr>
              <a:t>sizeof</a:t>
            </a:r>
            <a:r>
              <a:rPr lang="en-US" sz="2400" b="1" dirty="0">
                <a:latin typeface="Calibri" pitchFamily="34" charset="0"/>
              </a:rPr>
              <a:t>(</a:t>
            </a:r>
            <a:r>
              <a:rPr lang="en-US" sz="2400" b="1" dirty="0" err="1">
                <a:latin typeface="Calibri" pitchFamily="34" charset="0"/>
              </a:rPr>
              <a:t>struct</a:t>
            </a:r>
            <a:r>
              <a:rPr lang="en-US" sz="2400" b="1" dirty="0">
                <a:latin typeface="Calibri" pitchFamily="34" charset="0"/>
              </a:rPr>
              <a:t> x)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 gives the number of bytes required to hold all the members of the structure x.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Calibri" pitchFamily="34" charset="0"/>
              </a:rPr>
              <a:t>If y is a simple structure variable of type </a:t>
            </a:r>
            <a:r>
              <a:rPr lang="en-US" sz="2400" dirty="0" err="1">
                <a:solidFill>
                  <a:srgbClr val="00B0F0"/>
                </a:solidFill>
                <a:latin typeface="Calibri" pitchFamily="34" charset="0"/>
              </a:rPr>
              <a:t>struct</a:t>
            </a:r>
            <a:r>
              <a:rPr lang="en-US" sz="2400" dirty="0">
                <a:solidFill>
                  <a:srgbClr val="00B0F0"/>
                </a:solidFill>
                <a:latin typeface="Calibri" pitchFamily="34" charset="0"/>
              </a:rPr>
              <a:t> x</a:t>
            </a:r>
            <a:r>
              <a:rPr lang="en-US" sz="2400" dirty="0">
                <a:latin typeface="Calibri" pitchFamily="34" charset="0"/>
              </a:rPr>
              <a:t>, then the expression </a:t>
            </a:r>
            <a:r>
              <a:rPr lang="en-US" sz="2400" b="1" dirty="0" err="1">
                <a:latin typeface="Calibri" pitchFamily="34" charset="0"/>
              </a:rPr>
              <a:t>sizeof</a:t>
            </a:r>
            <a:r>
              <a:rPr lang="en-US" sz="2400" b="1" dirty="0">
                <a:latin typeface="Calibri" pitchFamily="34" charset="0"/>
              </a:rPr>
              <a:t>(y)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would also give the same answer. 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6195873-E062-4C5B-BA23-8D84DE05CD3E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3B916AF0-FDB4-47F7-A10D-55535100A156}" type="slidenum">
              <a:rPr lang="en-US" sz="1400">
                <a:latin typeface="+mn-lt"/>
              </a:rPr>
              <a:pPr algn="r">
                <a:defRPr/>
              </a:pPr>
              <a:t>11</a:t>
            </a:fld>
            <a:endParaRPr lang="en-US" sz="1400">
              <a:latin typeface="+mn-lt"/>
            </a:endParaRPr>
          </a:p>
        </p:txBody>
      </p:sp>
      <p:sp>
        <p:nvSpPr>
          <p:cNvPr id="112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en-US" sz="4000">
                <a:solidFill>
                  <a:schemeClr val="accent2"/>
                </a:solidFill>
              </a:rPr>
              <a:t>Giving values to members.</a:t>
            </a:r>
          </a:p>
        </p:txBody>
      </p:sp>
      <p:sp>
        <p:nvSpPr>
          <p:cNvPr id="112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125538"/>
            <a:ext cx="8686800" cy="500062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The link between member and a structure variable  is established using the member </a:t>
            </a:r>
            <a:r>
              <a:rPr lang="en-US" sz="2400" b="1" dirty="0"/>
              <a:t>operator ‘.’</a:t>
            </a:r>
            <a:r>
              <a:rPr lang="en-US" sz="2400" dirty="0"/>
              <a:t> which is also known as </a:t>
            </a:r>
            <a:r>
              <a:rPr lang="en-US" sz="2400" b="1" dirty="0"/>
              <a:t>‘dot operator’ 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For example,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/>
              <a:t>s1. </a:t>
            </a:r>
            <a:r>
              <a:rPr lang="en-US" sz="2400" b="1" dirty="0" err="1"/>
              <a:t>rollno</a:t>
            </a:r>
            <a:r>
              <a:rPr lang="en-US" sz="2400" dirty="0"/>
              <a:t> is the variable representing the </a:t>
            </a:r>
            <a:r>
              <a:rPr lang="en-US" sz="2400" dirty="0" err="1"/>
              <a:t>rollno</a:t>
            </a:r>
            <a:r>
              <a:rPr lang="en-US" sz="2400" dirty="0"/>
              <a:t> of student  s1 and can be treated like any other ordinary variable.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6D4B47-DC31-4A67-A0B8-FB7A1C05F7B2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745E7370-8E1B-4C7F-973B-36D56E1A99A8}" type="slidenum">
              <a:rPr lang="en-US" sz="1400">
                <a:latin typeface="+mn-lt"/>
              </a:rPr>
              <a:pPr algn="r">
                <a:defRPr/>
              </a:pPr>
              <a:t>12</a:t>
            </a:fld>
            <a:endParaRPr lang="en-US" sz="1400">
              <a:latin typeface="+mn-lt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404813"/>
            <a:ext cx="8763000" cy="572135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>
                <a:latin typeface="Calibri" pitchFamily="34" charset="0"/>
              </a:rPr>
              <a:t>Here is how we would assign values to the members of </a:t>
            </a:r>
            <a:r>
              <a:rPr lang="en-US" sz="2400" dirty="0">
                <a:solidFill>
                  <a:srgbClr val="00B0F0"/>
                </a:solidFill>
                <a:latin typeface="Calibri" pitchFamily="34" charset="0"/>
              </a:rPr>
              <a:t>student  s1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 err="1">
                <a:latin typeface="Calibri" pitchFamily="34" charset="0"/>
              </a:rPr>
              <a:t>strcpy</a:t>
            </a:r>
            <a:r>
              <a:rPr lang="en-US" sz="2400" b="1" dirty="0">
                <a:latin typeface="Calibri" pitchFamily="34" charset="0"/>
              </a:rPr>
              <a:t>(s1.name, “Anil”);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>
                <a:latin typeface="Calibri" pitchFamily="34" charset="0"/>
              </a:rPr>
              <a:t>s1.rollno=1335;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>
                <a:latin typeface="Calibri" pitchFamily="34" charset="0"/>
              </a:rPr>
              <a:t>s1.age=18;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>
                <a:latin typeface="Calibri" pitchFamily="34" charset="0"/>
              </a:rPr>
              <a:t>s1.height=5.8;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>
                <a:latin typeface="Calibri" pitchFamily="34" charset="0"/>
              </a:rPr>
              <a:t>We can also use </a:t>
            </a:r>
            <a:r>
              <a:rPr lang="en-US" sz="2400" dirty="0" err="1">
                <a:latin typeface="Calibri" pitchFamily="34" charset="0"/>
              </a:rPr>
              <a:t>cin</a:t>
            </a:r>
            <a:r>
              <a:rPr lang="en-US" sz="2400" dirty="0">
                <a:latin typeface="Calibri" pitchFamily="34" charset="0"/>
              </a:rPr>
              <a:t>  to give the values through the keyboard.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 err="1">
                <a:solidFill>
                  <a:srgbClr val="00B0F0"/>
                </a:solidFill>
                <a:latin typeface="Calibri" pitchFamily="34" charset="0"/>
              </a:rPr>
              <a:t>cin</a:t>
            </a:r>
            <a:r>
              <a:rPr lang="en-US" sz="2400" dirty="0">
                <a:solidFill>
                  <a:srgbClr val="00B0F0"/>
                </a:solidFill>
                <a:latin typeface="Calibri" pitchFamily="34" charset="0"/>
              </a:rPr>
              <a:t>&gt;&gt;s1.name&gt;&gt;s1.age&gt;&gt;s1.rollno&gt;&gt;s1.height; 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endParaRPr lang="en-US" sz="2400" dirty="0">
              <a:solidFill>
                <a:srgbClr val="CC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386AC8-D056-4A36-8568-458D1329ED58}" type="slidenum">
              <a:rPr lang="en-US" smtClean="0"/>
              <a:pPr eaLnBrk="1" hangingPunct="1"/>
              <a:t>13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66E2C99E-630B-45B8-BDB0-E760CBA2954C}" type="slidenum">
              <a:rPr lang="en-US" sz="1400">
                <a:latin typeface="+mn-lt"/>
              </a:rPr>
              <a:pPr algn="r">
                <a:defRPr/>
              </a:pPr>
              <a:t>13</a:t>
            </a:fld>
            <a:endParaRPr lang="en-US" sz="1400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52400"/>
            <a:ext cx="3401833" cy="259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502" y="1939388"/>
            <a:ext cx="5511098" cy="4343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00600" y="2286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Example-3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83B6F83-9885-455A-9E7E-48F28FA55621}" type="slidenum">
              <a:rPr lang="en-US" smtClean="0"/>
              <a:pPr eaLnBrk="1" hangingPunct="1"/>
              <a:t>14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2A19AC83-1884-4704-B18F-563A9AA092FD}" type="slidenum">
              <a:rPr lang="en-US" sz="1400">
                <a:latin typeface="+mn-lt"/>
              </a:rPr>
              <a:pPr algn="r">
                <a:defRPr/>
              </a:pPr>
              <a:t>14</a:t>
            </a:fld>
            <a:endParaRPr lang="en-US" sz="1400">
              <a:latin typeface="+mn-lt"/>
            </a:endParaRPr>
          </a:p>
        </p:txBody>
      </p:sp>
      <p:sp>
        <p:nvSpPr>
          <p:cNvPr id="153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49313" y="0"/>
            <a:ext cx="6513512" cy="549275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tx1"/>
                </a:solidFill>
              </a:rPr>
              <a:t>Structure initialization</a:t>
            </a:r>
          </a:p>
        </p:txBody>
      </p:sp>
      <p:sp>
        <p:nvSpPr>
          <p:cNvPr id="153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765175"/>
            <a:ext cx="8229600" cy="53609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b="1" dirty="0">
                <a:solidFill>
                  <a:srgbClr val="3366CC"/>
                </a:solidFill>
              </a:rPr>
              <a:t> </a:t>
            </a: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struct</a:t>
            </a:r>
            <a:r>
              <a:rPr lang="en-US" sz="2400" b="1" dirty="0">
                <a:solidFill>
                  <a:srgbClr val="FF0000"/>
                </a:solidFill>
              </a:rPr>
              <a:t>  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part</a:t>
            </a:r>
            <a:r>
              <a:rPr lang="en-US" sz="2400" b="1" dirty="0"/>
              <a:t>                  	 	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 {   </a:t>
            </a:r>
            <a:r>
              <a:rPr lang="en-US" sz="2400" b="1" dirty="0" err="1">
                <a:solidFill>
                  <a:srgbClr val="7030A0"/>
                </a:solidFill>
              </a:rPr>
              <a:t>int</a:t>
            </a:r>
            <a:r>
              <a:rPr lang="en-US" sz="2400" b="1" dirty="0"/>
              <a:t>   </a:t>
            </a:r>
            <a:r>
              <a:rPr lang="en-US" sz="2400" b="1" dirty="0" err="1"/>
              <a:t>modelnumber</a:t>
            </a:r>
            <a:r>
              <a:rPr lang="en-US" sz="2400" b="1" dirty="0"/>
              <a:t>;          	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	</a:t>
            </a:r>
            <a:r>
              <a:rPr lang="en-US" sz="2400" b="1" dirty="0" err="1">
                <a:solidFill>
                  <a:srgbClr val="7030A0"/>
                </a:solidFill>
              </a:rPr>
              <a:t>int</a:t>
            </a:r>
            <a:r>
              <a:rPr lang="en-US" sz="2400" b="1" dirty="0"/>
              <a:t>    </a:t>
            </a:r>
            <a:r>
              <a:rPr lang="en-US" sz="2400" b="1" dirty="0" err="1"/>
              <a:t>partnumber</a:t>
            </a:r>
            <a:r>
              <a:rPr lang="en-US" sz="2400" b="1" dirty="0"/>
              <a:t>;            	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 	</a:t>
            </a:r>
            <a:r>
              <a:rPr lang="en-US" sz="2400" b="1" dirty="0">
                <a:solidFill>
                  <a:srgbClr val="7030A0"/>
                </a:solidFill>
              </a:rPr>
              <a:t>float</a:t>
            </a:r>
            <a:r>
              <a:rPr lang="en-US" sz="2400" b="1" dirty="0"/>
              <a:t>  cost; 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};</a:t>
            </a:r>
          </a:p>
          <a:p>
            <a:pPr eaLnBrk="1" hangingPunct="1">
              <a:buFontTx/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 main()   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{   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solidFill>
                  <a:srgbClr val="00B0F0"/>
                </a:solidFill>
              </a:rPr>
              <a:t>part</a:t>
            </a:r>
            <a:r>
              <a:rPr lang="en-US" sz="2400" b="1" dirty="0"/>
              <a:t>   part1  =  {  6244,  373,  217.55  }; 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58035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Example-4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658BFEF-1F31-4F66-AC50-571A129D52AC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3247933F-E297-4968-84E7-6420DED1EE26}" type="slidenum">
              <a:rPr lang="en-US" sz="1400">
                <a:latin typeface="+mn-lt"/>
              </a:rPr>
              <a:pPr algn="r">
                <a:defRPr/>
              </a:pPr>
              <a:t>15</a:t>
            </a:fld>
            <a:endParaRPr lang="en-US" sz="1400">
              <a:latin typeface="+mn-lt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463550"/>
            <a:ext cx="8458200" cy="5937250"/>
          </a:xfrm>
        </p:spPr>
        <p:txBody>
          <a:bodyPr/>
          <a:lstStyle/>
          <a:p>
            <a:pPr marL="533400" indent="-533400"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Calibri" pitchFamily="34" charset="0"/>
              </a:rPr>
              <a:t>The values to be assigned to the structure members  are surrounded by braces and  separated by commas. </a:t>
            </a:r>
          </a:p>
          <a:p>
            <a:pPr marL="533400" indent="-533400"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Calibri" pitchFamily="34" charset="0"/>
              </a:rPr>
              <a:t>The first value in the list is assigned to the first  member, the second to the second member and  so on.</a:t>
            </a:r>
          </a:p>
          <a:p>
            <a:pPr marL="533400" indent="-533400"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latin typeface="Calibri" pitchFamily="34" charset="0"/>
              </a:rPr>
              <a:t> </a:t>
            </a:r>
            <a:r>
              <a:rPr lang="en-AU" sz="2400" dirty="0">
                <a:latin typeface="Calibri" pitchFamily="34" charset="0"/>
              </a:rPr>
              <a:t>The order of values in the initializer list matches the order of declarations in the structure.</a:t>
            </a:r>
            <a:endParaRPr lang="en-AU" sz="2400" b="1" dirty="0">
              <a:latin typeface="Calibri" pitchFamily="34" charset="0"/>
            </a:endParaRPr>
          </a:p>
          <a:p>
            <a:pPr marL="1295400" lvl="2" indent="-381000"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endParaRPr lang="en-AU" sz="1800" b="1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481763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29B4630D-CC1D-4385-A92B-E407AD708EA8}" type="slidenum">
              <a:rPr lang="en-US" sz="1400">
                <a:latin typeface="+mn-lt"/>
              </a:rPr>
              <a:pPr algn="r">
                <a:defRPr/>
              </a:pPr>
              <a:t>16</a:t>
            </a:fld>
            <a:endParaRPr lang="en-US" sz="1400">
              <a:latin typeface="+mn-lt"/>
            </a:endParaRPr>
          </a:p>
        </p:txBody>
      </p:sp>
      <p:sp>
        <p:nvSpPr>
          <p:cNvPr id="184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9338" y="274638"/>
            <a:ext cx="6980237" cy="490537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rgbClr val="3366CC"/>
                </a:solidFill>
              </a:rPr>
              <a:t>Comparison of structure variables</a:t>
            </a:r>
          </a:p>
        </p:txBody>
      </p:sp>
      <p:sp>
        <p:nvSpPr>
          <p:cNvPr id="184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14400"/>
            <a:ext cx="8915400" cy="53340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If person1 and person2 belong to the same structure, then the following operation is valid.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person1 = person2;   // </a:t>
            </a:r>
            <a:r>
              <a:rPr lang="en-US" sz="2400" dirty="0">
                <a:solidFill>
                  <a:srgbClr val="00B050"/>
                </a:solidFill>
              </a:rPr>
              <a:t>Assign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C0000"/>
                </a:solidFill>
              </a:rPr>
              <a:t>person2 </a:t>
            </a:r>
            <a:r>
              <a:rPr lang="en-US" sz="2400" dirty="0"/>
              <a:t>to </a:t>
            </a:r>
            <a:r>
              <a:rPr lang="en-US" sz="2400" dirty="0">
                <a:solidFill>
                  <a:srgbClr val="CC0000"/>
                </a:solidFill>
              </a:rPr>
              <a:t>person1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But    if(person1==person2 )  // </a:t>
            </a:r>
            <a:r>
              <a:rPr lang="en-US" sz="2400" dirty="0">
                <a:solidFill>
                  <a:srgbClr val="7030A0"/>
                </a:solidFill>
              </a:rPr>
              <a:t>illegal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		if(person1!=person2)    //</a:t>
            </a:r>
            <a:r>
              <a:rPr lang="en-US" sz="2400" dirty="0">
                <a:solidFill>
                  <a:srgbClr val="7030A0"/>
                </a:solidFill>
              </a:rPr>
              <a:t>illegal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dirty="0">
                <a:solidFill>
                  <a:srgbClr val="CC0000"/>
                </a:solidFill>
              </a:rPr>
              <a:t>		 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4003F-A638-47F9-A508-282BB17B128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7185"/>
            <a:ext cx="3352800" cy="19626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209800"/>
            <a:ext cx="8915400" cy="45383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48925" y="24718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Example-5</a:t>
            </a:r>
          </a:p>
        </p:txBody>
      </p:sp>
    </p:spTree>
    <p:extLst>
      <p:ext uri="{BB962C8B-B14F-4D97-AF65-F5344CB8AC3E}">
        <p14:creationId xmlns:p14="http://schemas.microsoft.com/office/powerpoint/2010/main" val="1196771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6484F8F-3DC5-4801-A0C5-9862701DF813}" type="slidenum">
              <a:rPr lang="en-US" smtClean="0"/>
              <a:pPr eaLnBrk="1" hangingPunct="1"/>
              <a:t>18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5F5BCD3C-FC70-4433-9533-04FB80EF4FB1}" type="slidenum">
              <a:rPr lang="en-US" sz="1400">
                <a:latin typeface="+mn-lt"/>
              </a:rPr>
              <a:pPr algn="r">
                <a:defRPr/>
              </a:pPr>
              <a:t>18</a:t>
            </a:fld>
            <a:endParaRPr lang="en-US" sz="1400">
              <a:latin typeface="+mn-lt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333375"/>
            <a:ext cx="8229600" cy="57927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3366CC"/>
                </a:solidFill>
              </a:rPr>
              <a:t>Arrays of structures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dirty="0"/>
              <a:t>For example,</a:t>
            </a:r>
          </a:p>
          <a:p>
            <a:pPr eaLnBrk="1" hangingPunct="1">
              <a:buFontTx/>
              <a:buNone/>
            </a:pPr>
            <a:r>
              <a:rPr lang="en-US" sz="2400" dirty="0">
                <a:solidFill>
                  <a:srgbClr val="CC0000"/>
                </a:solidFill>
              </a:rPr>
              <a:t>class1 student[100];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defines an array  called student, that </a:t>
            </a:r>
          </a:p>
          <a:p>
            <a:pPr eaLnBrk="1" hangingPunct="1">
              <a:buFontTx/>
              <a:buNone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consists of 100 elements.</a:t>
            </a:r>
          </a:p>
          <a:p>
            <a:pPr eaLnBrk="1" hangingPunct="1">
              <a:buFontTx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97A6C0-0DFA-490C-90EE-9251E3F1263E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83874A5F-32F4-4610-A714-208958844E8E}" type="slidenum">
              <a:rPr lang="en-US" sz="1400">
                <a:latin typeface="+mn-lt"/>
              </a:rPr>
              <a:pPr algn="r">
                <a:defRPr/>
              </a:pPr>
              <a:t>19</a:t>
            </a:fld>
            <a:endParaRPr lang="en-US" sz="140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05400" y="131901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Example-6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3523499"/>
            <a:ext cx="8839200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Tx/>
              <a:buNone/>
            </a:pPr>
            <a:r>
              <a:rPr lang="en-US" i="1" dirty="0">
                <a:solidFill>
                  <a:srgbClr val="0070C0"/>
                </a:solidFill>
              </a:rPr>
              <a:t>This declares the </a:t>
            </a:r>
            <a:r>
              <a:rPr lang="en-US" i="1" dirty="0">
                <a:solidFill>
                  <a:srgbClr val="C00000"/>
                </a:solidFill>
              </a:rPr>
              <a:t>student</a:t>
            </a:r>
            <a:r>
              <a:rPr lang="en-US" i="1" dirty="0">
                <a:solidFill>
                  <a:srgbClr val="0070C0"/>
                </a:solidFill>
              </a:rPr>
              <a:t> as an array of 3 elements and initializes their members as follows.</a:t>
            </a:r>
          </a:p>
          <a:p>
            <a:pPr eaLnBrk="1" hangingPunct="1">
              <a:buFontTx/>
              <a:buNone/>
            </a:pPr>
            <a:r>
              <a:rPr lang="en-US" dirty="0">
                <a:solidFill>
                  <a:srgbClr val="002060"/>
                </a:solidFill>
              </a:rPr>
              <a:t>student[0].subject1=45; </a:t>
            </a:r>
          </a:p>
          <a:p>
            <a:pPr eaLnBrk="1" hangingPunct="1">
              <a:buFontTx/>
              <a:buNone/>
            </a:pPr>
            <a:r>
              <a:rPr lang="en-US" dirty="0">
                <a:solidFill>
                  <a:srgbClr val="002060"/>
                </a:solidFill>
              </a:rPr>
              <a:t>student[0].subject2=67; </a:t>
            </a:r>
          </a:p>
          <a:p>
            <a:pPr eaLnBrk="1" hangingPunct="1">
              <a:buFontTx/>
              <a:buNone/>
            </a:pPr>
            <a:r>
              <a:rPr lang="en-US" dirty="0">
                <a:solidFill>
                  <a:srgbClr val="002060"/>
                </a:solidFill>
              </a:rPr>
              <a:t>student[0].subject3=78;</a:t>
            </a:r>
          </a:p>
          <a:p>
            <a:pPr eaLnBrk="1" hangingPunct="1">
              <a:buFontTx/>
              <a:buNone/>
            </a:pPr>
            <a:r>
              <a:rPr lang="en-US" dirty="0">
                <a:solidFill>
                  <a:srgbClr val="002060"/>
                </a:solidFill>
              </a:rPr>
              <a:t>………………………….</a:t>
            </a:r>
          </a:p>
          <a:p>
            <a:pPr eaLnBrk="1" hangingPunct="1">
              <a:buFontTx/>
              <a:buNone/>
            </a:pPr>
            <a:r>
              <a:rPr lang="en-US" dirty="0">
                <a:solidFill>
                  <a:srgbClr val="002060"/>
                </a:solidFill>
              </a:rPr>
              <a:t>……………………….</a:t>
            </a:r>
          </a:p>
          <a:p>
            <a:pPr eaLnBrk="1" hangingPunct="1">
              <a:buFontTx/>
              <a:buNone/>
            </a:pPr>
            <a:r>
              <a:rPr lang="en-US" dirty="0">
                <a:solidFill>
                  <a:srgbClr val="002060"/>
                </a:solidFill>
              </a:rPr>
              <a:t>student[2].subject3=90;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5" y="6172200"/>
            <a:ext cx="8713785" cy="4012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533400"/>
            <a:ext cx="8924925" cy="2961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7643C5-9D5D-4399-9612-B20A5562533F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BA0CB1EA-1FC8-44C6-84D0-B1A64F923A01}" type="slidenum">
              <a:rPr lang="en-US" sz="1400">
                <a:latin typeface="+mn-lt"/>
              </a:rPr>
              <a:pPr algn="r">
                <a:defRPr/>
              </a:pPr>
              <a:t>20</a:t>
            </a:fld>
            <a:endParaRPr lang="en-US" sz="1400">
              <a:latin typeface="+mn-lt"/>
            </a:endParaRPr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C00000"/>
                </a:solidFill>
              </a:rPr>
              <a:t>Arrays within structures</a:t>
            </a:r>
          </a:p>
        </p:txBody>
      </p:sp>
      <p:sp>
        <p:nvSpPr>
          <p:cNvPr id="256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223963"/>
            <a:ext cx="8839200" cy="52593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i="1" dirty="0"/>
              <a:t>We can use single or multidimensional arrays inside a structure.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struct</a:t>
            </a:r>
            <a:r>
              <a:rPr lang="en-US" sz="2400" b="1" dirty="0"/>
              <a:t>  </a:t>
            </a:r>
            <a:r>
              <a:rPr lang="en-US" sz="2400" b="1" dirty="0">
                <a:solidFill>
                  <a:srgbClr val="7030A0"/>
                </a:solidFill>
              </a:rPr>
              <a:t>marks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   number;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float   sub[3];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} student[2];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member sub contains 3 elements sub[0], sub[1],sub[2].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These elements can be accessed using appropriate subscripts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A1AB36-911F-41B8-B7B6-DE5BABA81D1C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99908256-50DE-48DE-A90C-AE8D540CE295}" type="slidenum">
              <a:rPr lang="en-US" sz="1400">
                <a:latin typeface="+mn-lt"/>
              </a:rPr>
              <a:pPr algn="r">
                <a:defRPr/>
              </a:pPr>
              <a:t>21</a:t>
            </a:fld>
            <a:endParaRPr lang="en-US" sz="1400">
              <a:latin typeface="+mn-lt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7035" y="4324350"/>
            <a:ext cx="8256043" cy="19208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</a:rPr>
              <a:t>student[1].sub[2]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refers to the  mark in third subject by the second student.</a:t>
            </a:r>
          </a:p>
          <a:p>
            <a:pPr eaLnBrk="1" hangingPunct="1">
              <a:buFontTx/>
              <a:buNone/>
            </a:pPr>
            <a:endParaRPr lang="en-US" sz="2000" b="1" dirty="0"/>
          </a:p>
          <a:p>
            <a:pPr eaLnBrk="1" hangingPunct="1"/>
            <a:endParaRPr lang="en-US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" y="295275"/>
            <a:ext cx="8705822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C688E6A-C2EF-4B07-B2EA-98D17DD12986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7C9D63F5-56F8-4100-B3B3-F309D819D9AA}" type="slidenum">
              <a:rPr lang="en-US" sz="1400">
                <a:latin typeface="+mn-lt"/>
              </a:rPr>
              <a:pPr algn="r">
                <a:defRPr/>
              </a:pPr>
              <a:t>22</a:t>
            </a:fld>
            <a:endParaRPr lang="en-US" sz="1400">
              <a:latin typeface="+mn-lt"/>
            </a:endParaRPr>
          </a:p>
        </p:txBody>
      </p:sp>
      <p:sp>
        <p:nvSpPr>
          <p:cNvPr id="286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55409"/>
            <a:ext cx="8229600" cy="633412"/>
          </a:xfrm>
        </p:spPr>
        <p:txBody>
          <a:bodyPr/>
          <a:lstStyle/>
          <a:p>
            <a:pPr eaLnBrk="1" hangingPunct="1"/>
            <a:r>
              <a:rPr lang="en-US" sz="3200" dirty="0">
                <a:solidFill>
                  <a:srgbClr val="3366CC"/>
                </a:solidFill>
              </a:rPr>
              <a:t>STRUCTURES WITHIN STRUCTURES</a:t>
            </a:r>
          </a:p>
        </p:txBody>
      </p:sp>
      <p:sp>
        <p:nvSpPr>
          <p:cNvPr id="286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08050"/>
            <a:ext cx="9144000" cy="564515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Structure within structure means nesting of structures.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Consider the following structure defined to store information about the salary of employees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sz="2400" b="1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struct</a:t>
            </a:r>
            <a:r>
              <a:rPr lang="en-US" sz="2400" b="1" dirty="0"/>
              <a:t>  salary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{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	char   name[20];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	char   dept[10];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	</a:t>
            </a:r>
            <a:r>
              <a:rPr lang="en-US" sz="2400" b="1" dirty="0" err="1"/>
              <a:t>int</a:t>
            </a:r>
            <a:r>
              <a:rPr lang="en-US" sz="2400" b="1" dirty="0"/>
              <a:t>   </a:t>
            </a:r>
            <a:r>
              <a:rPr lang="en-US" sz="2400" b="1" dirty="0" err="1"/>
              <a:t>basic_pay</a:t>
            </a:r>
            <a:r>
              <a:rPr lang="en-US" sz="2400" b="1" dirty="0"/>
              <a:t>;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00B050"/>
                </a:solidFill>
              </a:rPr>
              <a:t>	</a:t>
            </a:r>
            <a:r>
              <a:rPr lang="en-US" sz="2400" b="1" dirty="0" err="1">
                <a:solidFill>
                  <a:srgbClr val="7030A0"/>
                </a:solidFill>
              </a:rPr>
              <a:t>int</a:t>
            </a:r>
            <a:r>
              <a:rPr lang="en-US" sz="2400" b="1" dirty="0">
                <a:solidFill>
                  <a:srgbClr val="00B050"/>
                </a:solidFill>
              </a:rPr>
              <a:t>   </a:t>
            </a:r>
            <a:r>
              <a:rPr lang="en-US" sz="2400" b="1" dirty="0" err="1">
                <a:solidFill>
                  <a:srgbClr val="00B050"/>
                </a:solidFill>
              </a:rPr>
              <a:t>dearness_allowance</a:t>
            </a:r>
            <a:r>
              <a:rPr lang="en-US" sz="2400" b="1" dirty="0">
                <a:solidFill>
                  <a:srgbClr val="00B050"/>
                </a:solidFill>
              </a:rPr>
              <a:t>;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00B050"/>
                </a:solidFill>
              </a:rPr>
              <a:t>	</a:t>
            </a:r>
            <a:r>
              <a:rPr lang="en-US" sz="2400" b="1" dirty="0" err="1">
                <a:solidFill>
                  <a:srgbClr val="7030A0"/>
                </a:solidFill>
              </a:rPr>
              <a:t>int</a:t>
            </a:r>
            <a:r>
              <a:rPr lang="en-US" sz="2400" b="1" dirty="0">
                <a:solidFill>
                  <a:srgbClr val="00B050"/>
                </a:solidFill>
              </a:rPr>
              <a:t>   </a:t>
            </a:r>
            <a:r>
              <a:rPr lang="en-US" sz="2400" b="1" dirty="0" err="1">
                <a:solidFill>
                  <a:srgbClr val="00B050"/>
                </a:solidFill>
              </a:rPr>
              <a:t>h_allowance</a:t>
            </a:r>
            <a:r>
              <a:rPr lang="en-US" sz="2400" b="1" dirty="0">
                <a:solidFill>
                  <a:srgbClr val="00B050"/>
                </a:solidFill>
              </a:rPr>
              <a:t>;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00B050"/>
                </a:solidFill>
              </a:rPr>
              <a:t>	</a:t>
            </a:r>
            <a:r>
              <a:rPr lang="en-US" sz="2400" b="1" dirty="0" err="1">
                <a:solidFill>
                  <a:srgbClr val="7030A0"/>
                </a:solidFill>
              </a:rPr>
              <a:t>int</a:t>
            </a:r>
            <a:r>
              <a:rPr lang="en-US" sz="2400" b="1" dirty="0">
                <a:solidFill>
                  <a:srgbClr val="00B050"/>
                </a:solidFill>
              </a:rPr>
              <a:t>   </a:t>
            </a:r>
            <a:r>
              <a:rPr lang="en-US" sz="2400" b="1" dirty="0" err="1">
                <a:solidFill>
                  <a:srgbClr val="00B050"/>
                </a:solidFill>
              </a:rPr>
              <a:t>city_allowance</a:t>
            </a:r>
            <a:r>
              <a:rPr lang="en-US" sz="2400" b="1" dirty="0">
                <a:solidFill>
                  <a:srgbClr val="00B050"/>
                </a:solidFill>
              </a:rPr>
              <a:t>;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}employee;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5E9BA3-6CF8-482F-890A-AFA2A42D769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7475541" cy="6569075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35007" y="-152400"/>
            <a:ext cx="5334000" cy="1025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u="sng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STRUCTURES WITHIN STRUCTURES</a:t>
            </a:r>
          </a:p>
        </p:txBody>
      </p:sp>
    </p:spTree>
    <p:extLst>
      <p:ext uri="{BB962C8B-B14F-4D97-AF65-F5344CB8AC3E}">
        <p14:creationId xmlns:p14="http://schemas.microsoft.com/office/powerpoint/2010/main" val="2430578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5E9BA3-6CF8-482F-890A-AFA2A42D769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556"/>
            <a:ext cx="7920527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30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F987FCC-20C2-4A64-ABB4-DD6FD0037A52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5CE119FE-42DD-4E19-B1F3-1D5B1F655BB6}" type="slidenum">
              <a:rPr lang="en-US" sz="1400">
                <a:latin typeface="+mn-lt"/>
              </a:rPr>
              <a:pPr algn="r">
                <a:defRPr/>
              </a:pPr>
              <a:t>25</a:t>
            </a:fld>
            <a:endParaRPr lang="en-US" sz="1400">
              <a:latin typeface="+mn-lt"/>
            </a:endParaRP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0850" y="260349"/>
            <a:ext cx="8388350" cy="64611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also permissible to nest more than one type of structures.</a:t>
            </a:r>
          </a:p>
          <a:p>
            <a:pPr algn="just" eaLnBrk="1" hangingPunct="1">
              <a:lnSpc>
                <a:spcPct val="90000"/>
              </a:lnSpc>
            </a:pPr>
            <a:endParaRPr lang="en-US" sz="2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3366CC"/>
                </a:solidFill>
              </a:rPr>
              <a:t> </a:t>
            </a:r>
            <a:r>
              <a:rPr lang="en-US" dirty="0" err="1">
                <a:solidFill>
                  <a:srgbClr val="3366CC"/>
                </a:solidFill>
              </a:rPr>
              <a:t>personal_record</a:t>
            </a:r>
            <a:endParaRPr lang="en-US" dirty="0">
              <a:solidFill>
                <a:srgbClr val="3366CC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3366CC"/>
                </a:solidFill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3366CC"/>
                </a:solidFill>
              </a:rPr>
              <a:t>   </a:t>
            </a:r>
            <a:r>
              <a:rPr lang="en-US" dirty="0" err="1">
                <a:solidFill>
                  <a:srgbClr val="7030A0"/>
                </a:solidFill>
              </a:rPr>
              <a:t>name_part</a:t>
            </a:r>
            <a:r>
              <a:rPr lang="en-US" dirty="0">
                <a:solidFill>
                  <a:srgbClr val="3366CC"/>
                </a:solidFill>
              </a:rPr>
              <a:t>   </a:t>
            </a:r>
            <a:r>
              <a:rPr lang="en-US" dirty="0"/>
              <a:t>name</a:t>
            </a:r>
            <a:r>
              <a:rPr lang="en-US" dirty="0">
                <a:solidFill>
                  <a:srgbClr val="3366CC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3366CC"/>
                </a:solidFill>
              </a:rPr>
              <a:t>   </a:t>
            </a:r>
            <a:r>
              <a:rPr lang="en-US" dirty="0" err="1">
                <a:solidFill>
                  <a:srgbClr val="7030A0"/>
                </a:solidFill>
              </a:rPr>
              <a:t>addr_part</a:t>
            </a:r>
            <a:r>
              <a:rPr lang="en-US" dirty="0">
                <a:solidFill>
                  <a:srgbClr val="3366CC"/>
                </a:solidFill>
              </a:rPr>
              <a:t>   </a:t>
            </a:r>
            <a:r>
              <a:rPr lang="en-US" dirty="0"/>
              <a:t>address</a:t>
            </a:r>
            <a:r>
              <a:rPr lang="en-US" dirty="0">
                <a:solidFill>
                  <a:srgbClr val="3366CC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3366CC"/>
                </a:solidFill>
              </a:rPr>
              <a:t>   </a:t>
            </a:r>
            <a:r>
              <a:rPr lang="en-US" dirty="0">
                <a:solidFill>
                  <a:srgbClr val="7030A0"/>
                </a:solidFill>
              </a:rPr>
              <a:t>date</a:t>
            </a:r>
            <a:r>
              <a:rPr lang="en-US" dirty="0">
                <a:solidFill>
                  <a:srgbClr val="3366CC"/>
                </a:solidFill>
              </a:rPr>
              <a:t>  </a:t>
            </a:r>
            <a:r>
              <a:rPr lang="en-US" dirty="0" err="1"/>
              <a:t>date_of_birth</a:t>
            </a:r>
            <a:r>
              <a:rPr lang="en-US" dirty="0">
                <a:solidFill>
                  <a:srgbClr val="3366CC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3366CC"/>
                </a:solidFill>
              </a:rPr>
              <a:t>……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3366CC"/>
                </a:solidFill>
              </a:rPr>
              <a:t>….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3366CC"/>
                </a:solidFill>
              </a:rPr>
              <a:t>};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3366CC"/>
                </a:solidFill>
              </a:rPr>
              <a:t> </a:t>
            </a:r>
            <a:r>
              <a:rPr lang="en-US" dirty="0" err="1">
                <a:solidFill>
                  <a:srgbClr val="3366CC"/>
                </a:solidFill>
              </a:rPr>
              <a:t>personal_record</a:t>
            </a:r>
            <a:r>
              <a:rPr lang="en-US" dirty="0">
                <a:solidFill>
                  <a:srgbClr val="3366CC"/>
                </a:solidFill>
              </a:rPr>
              <a:t> </a:t>
            </a:r>
            <a:r>
              <a:rPr lang="en-US" dirty="0"/>
              <a:t>person1</a:t>
            </a:r>
            <a:r>
              <a:rPr lang="en-US" dirty="0">
                <a:solidFill>
                  <a:srgbClr val="3366CC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CC2CFA-E39A-46B3-9D1F-43D81A9F358C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8BE4E5AC-8CB9-4EDD-BF73-60F49C1690CB}" type="slidenum">
              <a:rPr lang="en-US" sz="1400">
                <a:latin typeface="+mn-lt"/>
              </a:rPr>
              <a:pPr algn="r">
                <a:defRPr/>
              </a:pPr>
              <a:t>26</a:t>
            </a:fld>
            <a:endParaRPr lang="en-US" sz="1400">
              <a:latin typeface="+mn-lt"/>
            </a:endParaRPr>
          </a:p>
        </p:txBody>
      </p:sp>
      <p:sp>
        <p:nvSpPr>
          <p:cNvPr id="337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eaLnBrk="1" hangingPunct="1"/>
            <a:r>
              <a:rPr lang="en-AU" sz="4000">
                <a:solidFill>
                  <a:srgbClr val="3366CC"/>
                </a:solidFill>
              </a:rPr>
              <a:t>Unions</a:t>
            </a:r>
          </a:p>
        </p:txBody>
      </p:sp>
      <p:sp>
        <p:nvSpPr>
          <p:cNvPr id="337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14400"/>
            <a:ext cx="8763000" cy="59436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Unions look similar to structures.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They have identical declaration syntax and member access.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 The major difference between them in terms of storage.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 In structures, each member has its own storage location.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Whereas all the members of a union use the same location.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This implies that, although a union may contain many numbers of different types. It can handle only one member at a time</a:t>
            </a:r>
            <a:r>
              <a:rPr lang="en-AU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947A89-4FD2-4049-AC48-115E8D7ED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80999"/>
            <a:ext cx="6536819" cy="5849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5D7B7-5C5D-4D34-AC27-48A77FE1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74703"/>
            <a:ext cx="3048000" cy="2087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B72932-7186-4FD9-83FD-344D86870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2433522"/>
            <a:ext cx="2133599" cy="379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5F6E247-1ACE-4629-A0AB-E04DFE82925A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C58FBA5-CBAF-4EF0-98B6-E4266AFCF0D6}" type="slidenum">
              <a:rPr lang="en-US" sz="1400">
                <a:latin typeface="+mn-lt"/>
              </a:rPr>
              <a:pPr algn="r">
                <a:defRPr/>
              </a:pPr>
              <a:t>28</a:t>
            </a:fld>
            <a:endParaRPr lang="en-US" sz="1400">
              <a:latin typeface="+mn-lt"/>
            </a:endParaRP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228600"/>
            <a:ext cx="8915400" cy="5721350"/>
          </a:xfrm>
        </p:spPr>
        <p:txBody>
          <a:bodyPr/>
          <a:lstStyle/>
          <a:p>
            <a:pPr algn="just" eaLnBrk="1" hangingPunct="1"/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A union holds the value of one-variable at a time.</a:t>
            </a:r>
          </a:p>
          <a:p>
            <a:pPr algn="just" eaLnBrk="1" hangingPunct="1"/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The compiler allocates a piece of storage that is large enough to hold the biggest member of the union.</a:t>
            </a:r>
          </a:p>
          <a:p>
            <a:pPr algn="just" eaLnBrk="1" hangingPunct="1"/>
            <a:r>
              <a:rPr lang="en-AU" sz="2400" i="1" dirty="0">
                <a:latin typeface="Calibri" panose="020F0502020204030204" pitchFamily="34" charset="0"/>
                <a:cs typeface="Calibri" panose="020F0502020204030204" pitchFamily="34" charset="0"/>
              </a:rPr>
              <a:t>In the declaration above, the member d requires 8 bytes which is the largest among the members</a:t>
            </a:r>
          </a:p>
          <a:p>
            <a:pPr lvl="1" eaLnBrk="1" hangingPunct="1">
              <a:buFontTx/>
              <a:buNone/>
            </a:pPr>
            <a:r>
              <a:rPr lang="en-AU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000" dirty="0">
                <a:solidFill>
                  <a:schemeClr val="tx1"/>
                </a:solidFill>
              </a:rPr>
              <a:t>User defined Type declarations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2114551"/>
            <a:ext cx="6172200" cy="276582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Aft>
                <a:spcPts val="450"/>
              </a:spcAft>
              <a:buFont typeface="Wingdings" pitchFamily="2" charset="2"/>
              <a:buChar char="§"/>
              <a:defRPr/>
            </a:pPr>
            <a:r>
              <a:rPr lang="en-US" sz="2100" b="1" i="1" dirty="0" err="1">
                <a:latin typeface="+mj-lt"/>
                <a:cs typeface="Times New Roman" pitchFamily="18" charset="0"/>
              </a:rPr>
              <a:t>typedef</a:t>
            </a:r>
            <a:endParaRPr lang="en-US" sz="2100" b="1" i="1" dirty="0">
              <a:latin typeface="+mj-lt"/>
              <a:cs typeface="Times New Roman" pitchFamily="18" charset="0"/>
            </a:endParaRPr>
          </a:p>
          <a:p>
            <a:pPr lvl="1" algn="just" eaLnBrk="1" hangingPunct="1">
              <a:lnSpc>
                <a:spcPct val="150000"/>
              </a:lnSpc>
              <a:spcAft>
                <a:spcPts val="450"/>
              </a:spcAft>
              <a:buFont typeface="Wingdings" pitchFamily="2" charset="2"/>
              <a:buChar char="§"/>
              <a:defRPr/>
            </a:pPr>
            <a:r>
              <a:rPr lang="en-US" sz="1800" i="1" dirty="0">
                <a:latin typeface="+mj-lt"/>
                <a:cs typeface="Times New Roman" pitchFamily="18" charset="0"/>
              </a:rPr>
              <a:t>Type definition - lets you define your own identifiers.</a:t>
            </a:r>
          </a:p>
          <a:p>
            <a:pPr algn="just" eaLnBrk="1" hangingPunct="1">
              <a:lnSpc>
                <a:spcPct val="150000"/>
              </a:lnSpc>
              <a:spcAft>
                <a:spcPts val="450"/>
              </a:spcAft>
              <a:buFont typeface="Wingdings" pitchFamily="2" charset="2"/>
              <a:buChar char="§"/>
              <a:defRPr/>
            </a:pPr>
            <a:r>
              <a:rPr lang="en-US" sz="2100" b="1" i="1" dirty="0" err="1">
                <a:latin typeface="+mj-lt"/>
                <a:cs typeface="Times New Roman" pitchFamily="18" charset="0"/>
              </a:rPr>
              <a:t>enum</a:t>
            </a:r>
            <a:endParaRPr lang="en-US" sz="2100" b="1" i="1" dirty="0">
              <a:latin typeface="+mj-lt"/>
              <a:cs typeface="Times New Roman" pitchFamily="18" charset="0"/>
            </a:endParaRPr>
          </a:p>
          <a:p>
            <a:pPr lvl="1" algn="just" eaLnBrk="1" hangingPunct="1">
              <a:lnSpc>
                <a:spcPct val="150000"/>
              </a:lnSpc>
              <a:spcAft>
                <a:spcPts val="450"/>
              </a:spcAft>
              <a:buFont typeface="Wingdings" pitchFamily="2" charset="2"/>
              <a:buChar char="§"/>
              <a:defRPr/>
            </a:pPr>
            <a:r>
              <a:rPr lang="en-US" sz="1800" i="1" dirty="0">
                <a:latin typeface="+mj-lt"/>
                <a:cs typeface="Times New Roman" pitchFamily="18" charset="0"/>
              </a:rPr>
              <a:t>Enumerated data type - a type with restricted set of values.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A83CE3A2-4356-4C01-904A-2DD7CF4F17FA}" type="slidenum">
              <a:rPr lang="en-US">
                <a:solidFill>
                  <a:srgbClr val="000000"/>
                </a:solidFill>
              </a:rPr>
              <a:pPr defTabSz="685800">
                <a:defRPr/>
              </a:pPr>
              <a:t>29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77948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>
                <a:solidFill>
                  <a:schemeClr val="tx1"/>
                </a:solidFill>
              </a:rPr>
              <a:t>User defined Type Declaration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10600" cy="452596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2800" b="1" i="1" dirty="0" err="1">
                <a:solidFill>
                  <a:schemeClr val="accent2"/>
                </a:solidFill>
                <a:latin typeface="+mj-lt"/>
                <a:cs typeface="Times New Roman" pitchFamily="18" charset="0"/>
              </a:rPr>
              <a:t>typedef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: </a:t>
            </a:r>
            <a:r>
              <a:rPr lang="en-US" sz="2000" dirty="0">
                <a:latin typeface="+mj-lt"/>
                <a:cs typeface="Times New Roman" pitchFamily="18" charset="0"/>
              </a:rPr>
              <a:t>general declaration format</a:t>
            </a:r>
            <a:endParaRPr lang="en-US" sz="2400" dirty="0"/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   		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type</a:t>
            </a: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</a:t>
            </a:r>
            <a:r>
              <a:rPr lang="en-US" sz="2400" dirty="0">
                <a:latin typeface="Arial Rounded MT Bold" pitchFamily="34" charset="0"/>
              </a:rPr>
              <a:t>identifier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;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	</a:t>
            </a:r>
            <a:r>
              <a:rPr lang="en-US" sz="2400" dirty="0"/>
              <a:t>The “type” refers to an existing data type and “identifier” refers to the new name given to the data type</a:t>
            </a:r>
            <a:r>
              <a:rPr lang="en-US" sz="2400" i="1" dirty="0">
                <a:solidFill>
                  <a:schemeClr val="accent2"/>
                </a:solidFill>
              </a:rPr>
              <a:t>.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	</a:t>
            </a:r>
            <a:r>
              <a:rPr lang="en-US" sz="2000" dirty="0"/>
              <a:t>After the declaration as follows: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 </a:t>
            </a:r>
            <a:r>
              <a:rPr lang="en-US" sz="2400" dirty="0" err="1">
                <a:solidFill>
                  <a:srgbClr val="C00000"/>
                </a:solidFill>
                <a:latin typeface="Arial Rounded MT Bold" pitchFamily="34" charset="0"/>
              </a:rPr>
              <a:t>int</a:t>
            </a: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</a:t>
            </a:r>
            <a:r>
              <a:rPr lang="en-US" sz="2400" dirty="0">
                <a:latin typeface="Arial Rounded MT Bold" pitchFamily="34" charset="0"/>
              </a:rPr>
              <a:t>marks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;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 float</a:t>
            </a:r>
            <a:r>
              <a:rPr lang="en-US" sz="2400" dirty="0">
                <a:solidFill>
                  <a:schemeClr val="accent2"/>
                </a:solidFill>
                <a:latin typeface="Arial Rounded MT Bold" pitchFamily="34" charset="0"/>
              </a:rPr>
              <a:t> </a:t>
            </a:r>
            <a:r>
              <a:rPr lang="en-US" sz="2400" dirty="0">
                <a:latin typeface="Arial Rounded MT Bold" pitchFamily="34" charset="0"/>
              </a:rPr>
              <a:t>units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;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000" dirty="0">
                <a:latin typeface="+mj-lt"/>
              </a:rPr>
              <a:t>	we can use these to declare variables as shown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	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 Rounded MT Bold" pitchFamily="34" charset="0"/>
              </a:rPr>
              <a:t>marks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m1,m2[10]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;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m1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m2[10]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declared as integer variables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400" baseline="-25000" dirty="0">
                <a:solidFill>
                  <a:srgbClr val="C00000"/>
                </a:solidFill>
                <a:latin typeface="Arial Rounded MT Bold" pitchFamily="34" charset="0"/>
              </a:rPr>
              <a:t>	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 Rounded MT Bold" pitchFamily="34" charset="0"/>
              </a:rPr>
              <a:t>units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u1, u2</a:t>
            </a:r>
            <a:r>
              <a:rPr lang="en-US" sz="2400" dirty="0">
                <a:solidFill>
                  <a:srgbClr val="C00000"/>
                </a:solidFill>
                <a:latin typeface="Arial Rounded MT Bold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latin typeface="Arial Rounded MT Bold" pitchFamily="34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u1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&amp;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u2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declared as floating point variables</a:t>
            </a:r>
          </a:p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Tx/>
              <a:buNone/>
              <a:defRPr/>
            </a:pPr>
            <a:r>
              <a:rPr lang="en-US" sz="2000" dirty="0"/>
              <a:t>	The main advantage of </a:t>
            </a:r>
            <a:r>
              <a:rPr lang="en-US" sz="2000" dirty="0" err="1"/>
              <a:t>typedef</a:t>
            </a:r>
            <a:r>
              <a:rPr lang="en-US" sz="2000" dirty="0"/>
              <a:t> is that we can create meaningful data type names for increasing the readability of the program.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3CE3A2-4356-4C01-904A-2DD7CF4F17F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1844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>
                <a:solidFill>
                  <a:schemeClr val="tx1"/>
                </a:solidFill>
              </a:rPr>
              <a:t>User defined Type Declaration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2800" b="1" i="1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400" b="1" dirty="0">
                <a:latin typeface="+mj-lt"/>
              </a:rPr>
              <a:t> data type :</a:t>
            </a:r>
            <a:r>
              <a:rPr lang="en-US" sz="2800" dirty="0">
                <a:latin typeface="+mj-lt"/>
                <a:cs typeface="Times New Roman" pitchFamily="18" charset="0"/>
              </a:rPr>
              <a:t> </a:t>
            </a:r>
            <a:r>
              <a:rPr lang="en-US" sz="2000" dirty="0">
                <a:latin typeface="+mj-lt"/>
                <a:cs typeface="Times New Roman" pitchFamily="18" charset="0"/>
              </a:rPr>
              <a:t>general declaration format</a:t>
            </a:r>
            <a:endParaRPr lang="en-US" sz="2800" b="1" dirty="0">
              <a:latin typeface="+mj-lt"/>
            </a:endParaRP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/>
            </a:pPr>
            <a:r>
              <a:rPr lang="en-US" sz="2800" dirty="0">
                <a:solidFill>
                  <a:schemeClr val="accent2"/>
                </a:solidFill>
                <a:latin typeface="+mj-lt"/>
              </a:rPr>
              <a:t>    </a:t>
            </a:r>
            <a:r>
              <a:rPr lang="en-US" sz="2400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identifier {value1, value2,..,value</a:t>
            </a:r>
            <a:r>
              <a:rPr lang="en-US" sz="2400" baseline="-25000" dirty="0">
                <a:solidFill>
                  <a:srgbClr val="C00000"/>
                </a:solidFill>
                <a:latin typeface="+mj-lt"/>
              </a:rPr>
              <a:t>n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};</a:t>
            </a: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	</a:t>
            </a:r>
            <a:r>
              <a:rPr lang="en-US" sz="2400" dirty="0">
                <a:latin typeface="+mj-lt"/>
              </a:rPr>
              <a:t>The “identifier” is a user defined enumerated data type which can be used to declare variables that can have one of the values known as </a:t>
            </a:r>
            <a:r>
              <a:rPr lang="en-US" sz="2400" i="1" dirty="0">
                <a:solidFill>
                  <a:schemeClr val="accent2"/>
                </a:solidFill>
                <a:latin typeface="+mj-lt"/>
              </a:rPr>
              <a:t>enumeration constants.</a:t>
            </a: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	</a:t>
            </a:r>
            <a:r>
              <a:rPr lang="en-US" sz="2400" dirty="0">
                <a:latin typeface="+mj-lt"/>
              </a:rPr>
              <a:t>After this declaration as follows:</a:t>
            </a: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     </a:t>
            </a:r>
            <a:r>
              <a:rPr lang="en-US" sz="2400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identifier v1,v2,…</a:t>
            </a:r>
            <a:r>
              <a:rPr lang="en-US" sz="2400" dirty="0" err="1">
                <a:solidFill>
                  <a:srgbClr val="C00000"/>
                </a:solidFill>
                <a:latin typeface="+mj-lt"/>
              </a:rPr>
              <a:t>v</a:t>
            </a:r>
            <a:r>
              <a:rPr lang="en-US" sz="2400" baseline="-25000" dirty="0" err="1">
                <a:solidFill>
                  <a:srgbClr val="C00000"/>
                </a:solidFill>
                <a:latin typeface="+mj-lt"/>
              </a:rPr>
              <a:t>n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;</a:t>
            </a: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		</a:t>
            </a:r>
            <a:r>
              <a:rPr lang="en-US" sz="2400" dirty="0">
                <a:latin typeface="+mj-lt"/>
              </a:rPr>
              <a:t>enumerated variables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v1,v2,..,v</a:t>
            </a:r>
            <a:r>
              <a:rPr lang="en-US" sz="2400" baseline="-25000" dirty="0">
                <a:solidFill>
                  <a:srgbClr val="C00000"/>
                </a:solidFill>
                <a:latin typeface="+mj-lt"/>
              </a:rPr>
              <a:t>n</a:t>
            </a:r>
            <a:r>
              <a:rPr lang="en-US" sz="2400" dirty="0">
                <a:latin typeface="+mj-lt"/>
              </a:rPr>
              <a:t> can only have one of the values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value1, value2,…,</a:t>
            </a:r>
            <a:r>
              <a:rPr lang="en-US" sz="2400" dirty="0" err="1">
                <a:solidFill>
                  <a:srgbClr val="C00000"/>
                </a:solidFill>
                <a:latin typeface="+mj-lt"/>
              </a:rPr>
              <a:t>value</a:t>
            </a:r>
            <a:r>
              <a:rPr lang="en-US" sz="2400" baseline="-25000" dirty="0" err="1">
                <a:solidFill>
                  <a:srgbClr val="C00000"/>
                </a:solidFill>
                <a:latin typeface="+mj-lt"/>
              </a:rPr>
              <a:t>n</a:t>
            </a:r>
            <a:endParaRPr lang="en-US" sz="2400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CE3A2-4356-4C01-904A-2DD7CF4F17F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236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4000" dirty="0">
                <a:solidFill>
                  <a:schemeClr val="tx1"/>
                </a:solidFill>
              </a:rPr>
              <a:t>User defined Type Declaration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27113"/>
            <a:ext cx="8458200" cy="5334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>
                <a:latin typeface="+mj-lt"/>
              </a:rPr>
              <a:t>E.g.: 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>
                <a:solidFill>
                  <a:srgbClr val="C00000"/>
                </a:solidFill>
                <a:latin typeface="+mj-lt"/>
              </a:rPr>
              <a:t>	</a:t>
            </a:r>
            <a:r>
              <a:rPr lang="en-US" sz="2400" i="1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400" dirty="0">
                <a:solidFill>
                  <a:schemeClr val="accent2"/>
                </a:solidFill>
                <a:latin typeface="+mj-lt"/>
              </a:rPr>
              <a:t> 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day </a:t>
            </a:r>
            <a:r>
              <a:rPr lang="en-US" sz="2400" dirty="0">
                <a:latin typeface="+mj-lt"/>
              </a:rPr>
              <a:t>{Monday, Tuesday,… ,Sunday} ;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	</a:t>
            </a:r>
            <a:r>
              <a:rPr lang="en-US" sz="2400" i="1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 day </a:t>
            </a:r>
            <a:r>
              <a:rPr lang="en-US" sz="2400" dirty="0" err="1">
                <a:solidFill>
                  <a:srgbClr val="660066"/>
                </a:solidFill>
                <a:latin typeface="+mj-lt"/>
              </a:rPr>
              <a:t>week_st</a:t>
            </a:r>
            <a:r>
              <a:rPr lang="en-US" sz="2400" dirty="0">
                <a:solidFill>
                  <a:srgbClr val="660066"/>
                </a:solidFill>
                <a:latin typeface="+mj-lt"/>
              </a:rPr>
              <a:t>, </a:t>
            </a:r>
            <a:r>
              <a:rPr lang="en-US" sz="2400" dirty="0" err="1">
                <a:solidFill>
                  <a:srgbClr val="660066"/>
                </a:solidFill>
                <a:latin typeface="+mj-lt"/>
              </a:rPr>
              <a:t>week_end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;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		</a:t>
            </a:r>
            <a:r>
              <a:rPr lang="en-US" sz="2400" dirty="0" err="1">
                <a:solidFill>
                  <a:srgbClr val="660066"/>
                </a:solidFill>
                <a:latin typeface="+mj-lt"/>
              </a:rPr>
              <a:t>week_st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= Monday</a:t>
            </a:r>
            <a:r>
              <a:rPr lang="en-US" sz="2400" dirty="0">
                <a:latin typeface="+mj-lt"/>
              </a:rPr>
              <a:t>;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rgbClr val="660066"/>
                </a:solidFill>
                <a:latin typeface="+mj-lt"/>
              </a:rPr>
              <a:t>week_end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= Friday</a:t>
            </a:r>
            <a:r>
              <a:rPr lang="en-US" sz="2400" dirty="0">
                <a:latin typeface="+mj-lt"/>
              </a:rPr>
              <a:t>;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		</a:t>
            </a:r>
            <a:r>
              <a:rPr lang="en-US" sz="2400" dirty="0">
                <a:latin typeface="+mj-lt"/>
              </a:rPr>
              <a:t>if(</a:t>
            </a:r>
            <a:r>
              <a:rPr lang="en-US" sz="2400" dirty="0" err="1">
                <a:solidFill>
                  <a:srgbClr val="660066"/>
                </a:solidFill>
                <a:latin typeface="+mj-lt"/>
              </a:rPr>
              <a:t>week_st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==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Tuesday</a:t>
            </a:r>
            <a:r>
              <a:rPr lang="en-US" sz="2400" dirty="0">
                <a:latin typeface="+mj-lt"/>
              </a:rPr>
              <a:t>)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			</a:t>
            </a:r>
            <a:r>
              <a:rPr lang="en-US" sz="2400" dirty="0" err="1">
                <a:solidFill>
                  <a:srgbClr val="660066"/>
                </a:solidFill>
                <a:latin typeface="+mj-lt"/>
              </a:rPr>
              <a:t>week_end</a:t>
            </a:r>
            <a:r>
              <a:rPr lang="en-US" sz="2400" dirty="0">
                <a:solidFill>
                  <a:srgbClr val="660066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 Saturday</a:t>
            </a:r>
            <a:r>
              <a:rPr lang="en-US" sz="2400" dirty="0">
                <a:latin typeface="+mj-lt"/>
              </a:rPr>
              <a:t>;</a:t>
            </a:r>
          </a:p>
          <a:p>
            <a:pPr marL="0" algn="just" eaLnBrk="1" hangingPunct="1">
              <a:lnSpc>
                <a:spcPct val="80000"/>
              </a:lnSpc>
              <a:buFontTx/>
              <a:buNone/>
              <a:defRPr/>
            </a:pPr>
            <a:endParaRPr lang="en-US" sz="1100" dirty="0">
              <a:latin typeface="+mj-lt"/>
            </a:endParaRPr>
          </a:p>
          <a:p>
            <a:pPr marL="0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latin typeface="+mj-lt"/>
              </a:rPr>
              <a:t>Compiler automatically assigns integer starting with 0 to all enumeration constants. But can be overridden.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>
                <a:latin typeface="+mj-lt"/>
              </a:rPr>
              <a:t>E.g.:  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>
                <a:latin typeface="+mj-lt"/>
              </a:rPr>
              <a:t>	</a:t>
            </a:r>
            <a:r>
              <a:rPr lang="en-US" sz="2800" i="1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800" dirty="0">
                <a:solidFill>
                  <a:srgbClr val="C00000"/>
                </a:solidFill>
                <a:latin typeface="+mj-lt"/>
              </a:rPr>
              <a:t>  day { Monday=1, Tuesday,…, Sunday};</a:t>
            </a:r>
          </a:p>
          <a:p>
            <a:pPr algn="just" eaLnBrk="1" hangingPunct="1">
              <a:lnSpc>
                <a:spcPct val="80000"/>
              </a:lnSpc>
              <a:buFontTx/>
              <a:buNone/>
              <a:defRPr/>
            </a:pPr>
            <a:endParaRPr lang="en-US" sz="1200" dirty="0">
              <a:solidFill>
                <a:srgbClr val="C00000"/>
              </a:solidFill>
              <a:latin typeface="+mj-lt"/>
            </a:endParaRPr>
          </a:p>
          <a:p>
            <a:pPr marL="0" algn="just"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latin typeface="+mj-lt"/>
              </a:rPr>
              <a:t>Monday is assigned 1 &amp; subsequent constants incremented by one.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CE3A2-4356-4C01-904A-2DD7CF4F17F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0314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28600" y="2122488"/>
            <a:ext cx="4572000" cy="427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&lt;&lt;"\n\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nEnter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  n &gt;1 &amp;&lt;7., 0 for Exit:- 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cin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&gt;&gt;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  switch(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  {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Monday: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&lt;&lt;“Monday.";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Tuesday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 Tuesday.";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Wednesday: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 Wednesday.";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Thursday: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 Thursday.";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495800" y="2571750"/>
            <a:ext cx="4572000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Friday: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 Friday.";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Saturday: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&lt;&lt;“\Saturday.";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Sunday: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&lt;&lt;“Sunday.";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case 0: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      exit(0);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default: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&lt;&lt;"\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nInvalid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 Entry. Enter  0-7.";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		break;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       }</a:t>
            </a:r>
          </a:p>
        </p:txBody>
      </p:sp>
      <p:sp>
        <p:nvSpPr>
          <p:cNvPr id="54279" name="Rectangle 8"/>
          <p:cNvSpPr>
            <a:spLocks noChangeArrowheads="1"/>
          </p:cNvSpPr>
          <p:nvPr/>
        </p:nvSpPr>
        <p:spPr bwMode="auto">
          <a:xfrm>
            <a:off x="228600" y="1560513"/>
            <a:ext cx="8686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sz="2000" b="0" dirty="0">
                <a:solidFill>
                  <a:schemeClr val="tx1"/>
                </a:solidFill>
                <a:latin typeface="+mj-lt"/>
              </a:rPr>
              <a:t>If declared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;</a:t>
            </a:r>
            <a:r>
              <a:rPr lang="en-US" sz="2000" i="1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+mj-lt"/>
              </a:rPr>
              <a:t>enum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  day { Monday=1, Tuesday,…, Sunday};</a:t>
            </a:r>
          </a:p>
        </p:txBody>
      </p:sp>
      <p:sp>
        <p:nvSpPr>
          <p:cNvPr id="491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i="1">
                <a:solidFill>
                  <a:schemeClr val="accent2"/>
                </a:solidFill>
              </a:rPr>
              <a:t>enum</a:t>
            </a:r>
            <a:r>
              <a:rPr lang="en-US" sz="4000">
                <a:solidFill>
                  <a:schemeClr val="tx1"/>
                </a:solidFill>
              </a:rPr>
              <a:t> – example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CE3A2-4356-4C01-904A-2DD7CF4F17F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2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heme/theme1.xml><?xml version="1.0" encoding="utf-8"?>
<a:theme xmlns:a="http://schemas.openxmlformats.org/drawingml/2006/main" name="PSUC2010">
  <a:themeElements>
    <a:clrScheme name="PSUC201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SUC201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SUC20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 Yea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3333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3333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1 Yea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3333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3333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PSUC2010</Template>
  <TotalTime>507</TotalTime>
  <Words>1893</Words>
  <Application>Microsoft Office PowerPoint</Application>
  <PresentationFormat>On-screen Show (4:3)</PresentationFormat>
  <Paragraphs>326</Paragraphs>
  <Slides>33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Rounded MT Bold</vt:lpstr>
      <vt:lpstr>Calibri</vt:lpstr>
      <vt:lpstr>Courier New</vt:lpstr>
      <vt:lpstr>Times New Roman</vt:lpstr>
      <vt:lpstr>Wingdings</vt:lpstr>
      <vt:lpstr>PSUC2010</vt:lpstr>
      <vt:lpstr>1 Year</vt:lpstr>
      <vt:lpstr>1_1 Year</vt:lpstr>
      <vt:lpstr>Structures  &amp; Unions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Rules for defining structure</vt:lpstr>
      <vt:lpstr>Declaring Structure Variables</vt:lpstr>
      <vt:lpstr>PowerPoint Presentation</vt:lpstr>
      <vt:lpstr>PowerPoint Presentation</vt:lpstr>
      <vt:lpstr>Giving values to members.</vt:lpstr>
      <vt:lpstr>PowerPoint Presentation</vt:lpstr>
      <vt:lpstr>PowerPoint Presentation</vt:lpstr>
      <vt:lpstr>Structure initialization</vt:lpstr>
      <vt:lpstr>PowerPoint Presentation</vt:lpstr>
      <vt:lpstr>Comparison of structure variables</vt:lpstr>
      <vt:lpstr>PowerPoint Presentation</vt:lpstr>
      <vt:lpstr>PowerPoint Presentation</vt:lpstr>
      <vt:lpstr>PowerPoint Presentation</vt:lpstr>
      <vt:lpstr>Arrays within structures</vt:lpstr>
      <vt:lpstr>PowerPoint Presentation</vt:lpstr>
      <vt:lpstr>STRUCTURES WITHIN STRUCTURES</vt:lpstr>
      <vt:lpstr>PowerPoint Presentation</vt:lpstr>
      <vt:lpstr>PowerPoint Presentation</vt:lpstr>
      <vt:lpstr>PowerPoint Presentation</vt:lpstr>
      <vt:lpstr>Unions</vt:lpstr>
      <vt:lpstr>PowerPoint Presentation</vt:lpstr>
      <vt:lpstr>PowerPoint Presentation</vt:lpstr>
      <vt:lpstr>User defined Type declarations</vt:lpstr>
      <vt:lpstr>User defined Type Declaration</vt:lpstr>
      <vt:lpstr>User defined Type Declaration</vt:lpstr>
      <vt:lpstr>User defined Type Declaration</vt:lpstr>
      <vt:lpstr>enum – 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mahe</dc:creator>
  <cp:lastModifiedBy>Linda Varghese [MAHE-MIT]</cp:lastModifiedBy>
  <cp:revision>62</cp:revision>
  <dcterms:created xsi:type="dcterms:W3CDTF">2010-06-30T16:40:45Z</dcterms:created>
  <dcterms:modified xsi:type="dcterms:W3CDTF">2024-08-06T07:03:05Z</dcterms:modified>
</cp:coreProperties>
</file>