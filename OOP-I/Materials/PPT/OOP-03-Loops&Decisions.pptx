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304" r:id="rId3"/>
    <p:sldId id="305" r:id="rId4"/>
    <p:sldId id="306" r:id="rId5"/>
    <p:sldId id="307" r:id="rId6"/>
    <p:sldId id="326" r:id="rId7"/>
    <p:sldId id="327" r:id="rId8"/>
    <p:sldId id="328" r:id="rId9"/>
    <p:sldId id="308" r:id="rId10"/>
    <p:sldId id="309" r:id="rId11"/>
    <p:sldId id="330" r:id="rId12"/>
    <p:sldId id="331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34" r:id="rId21"/>
    <p:sldId id="317" r:id="rId22"/>
    <p:sldId id="318" r:id="rId23"/>
    <p:sldId id="319" r:id="rId24"/>
    <p:sldId id="329" r:id="rId25"/>
    <p:sldId id="320" r:id="rId26"/>
    <p:sldId id="321" r:id="rId27"/>
    <p:sldId id="322" r:id="rId28"/>
    <p:sldId id="323" r:id="rId29"/>
    <p:sldId id="324" r:id="rId30"/>
    <p:sldId id="325" r:id="rId31"/>
    <p:sldId id="439" r:id="rId32"/>
    <p:sldId id="257" r:id="rId33"/>
    <p:sldId id="258" r:id="rId34"/>
    <p:sldId id="259" r:id="rId35"/>
    <p:sldId id="260" r:id="rId36"/>
    <p:sldId id="261" r:id="rId37"/>
    <p:sldId id="335" r:id="rId38"/>
    <p:sldId id="336" r:id="rId39"/>
    <p:sldId id="337" r:id="rId40"/>
    <p:sldId id="262" r:id="rId41"/>
    <p:sldId id="264" r:id="rId42"/>
    <p:sldId id="265" r:id="rId43"/>
    <p:sldId id="338" r:id="rId44"/>
    <p:sldId id="267" r:id="rId45"/>
    <p:sldId id="266" r:id="rId46"/>
    <p:sldId id="263" r:id="rId47"/>
    <p:sldId id="268" r:id="rId48"/>
    <p:sldId id="339" r:id="rId49"/>
    <p:sldId id="293" r:id="rId50"/>
    <p:sldId id="294" r:id="rId51"/>
    <p:sldId id="295" r:id="rId52"/>
    <p:sldId id="303" r:id="rId53"/>
    <p:sldId id="296" r:id="rId54"/>
    <p:sldId id="297" r:id="rId55"/>
    <p:sldId id="298" r:id="rId56"/>
    <p:sldId id="302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43EFD-D9BC-4040-8D21-170E4040B41A}" type="datetimeFigureOut">
              <a:rPr lang="en-US" smtClean="0"/>
              <a:pPr/>
              <a:t>8/3/2024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36F6D-C0EE-47B0-9589-8621BD0B14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96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7A2FC-517D-49A5-A86B-533F12898C5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0547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59FEF8-EFD7-4DF5-B645-5D524A16859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054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11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brackets are not put, else will be part of closest if stmt. Here else is part of second if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836F6D-C0EE-47B0-9589-8621BD0B14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97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else is a part of first if ,,, here no output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836F6D-C0EE-47B0-9589-8621BD0B14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22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A81EB-264F-44D9-B7A7-8ECF024869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1366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005957-6EFE-482C-9A4C-8396F7AC492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136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39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0EB7A7-01E1-489C-9772-9AA62DD74D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1571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27BDE3-48A0-4DCD-B690-D0933454014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157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00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22F21-3000-4F6F-9DCE-6777DD4194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1776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10634E-2439-429D-B595-E2977F2EB0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177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45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22F21-3000-4F6F-9DCE-6777DD4194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1776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10634E-2439-429D-B595-E2977F2EB07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177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06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DA657A-E6FA-4FF0-87A0-63FA4D6EF0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1981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126EB2-5EFC-4213-BE23-F5C39DE9ED0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198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76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48380-23B6-4855-9A00-0627AD2B15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2185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3A5A03-BAA8-4C3B-BF3B-08602554DA5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218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03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EACF89-5DFB-43C9-BF17-AD15ADC5F4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2288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21C81B-7CA9-481A-8C63-F18CDFC4630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228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50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sentinel controlled loop is the indefinite repetition loop as the number of repetitions is not known before the loop begins executing. A counter controlled loop is the definite repetition loop as the number of repetitions is known before the loop begins executing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836F6D-C0EE-47B0-9589-8621BD0B142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658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F8C3C5C-5EC4-4961-ADB6-4F494FC9076D}" type="slidenum">
              <a:rPr lang="en-US" smtClean="0"/>
              <a:pPr eaLnBrk="1" hangingPunct="1"/>
              <a:t>35</a:t>
            </a:fld>
            <a:endParaRPr lang="en-US"/>
          </a:p>
        </p:txBody>
      </p:sp>
      <p:sp>
        <p:nvSpPr>
          <p:cNvPr id="12697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fld id="{1C396554-B889-4D0A-9A70-A676E4BC1C6C}" type="slidenum">
              <a:rPr lang="en-US" sz="1200"/>
              <a:pPr algn="r" eaLnBrk="1" hangingPunct="1"/>
              <a:t>35</a:t>
            </a:fld>
            <a:endParaRPr lang="en-US" sz="1200"/>
          </a:p>
        </p:txBody>
      </p:sp>
      <p:sp>
        <p:nvSpPr>
          <p:cNvPr id="1269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02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566AE8-A297-4F77-AAB0-D9E690B064F2}" type="slidenum">
              <a:rPr lang="en-US" smtClean="0"/>
              <a:pPr eaLnBrk="1" hangingPunct="1"/>
              <a:t>45</a:t>
            </a:fld>
            <a:endParaRPr lang="en-US"/>
          </a:p>
        </p:txBody>
      </p:sp>
      <p:sp>
        <p:nvSpPr>
          <p:cNvPr id="6656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0C7897C7-8717-4F5B-8E4B-1D351AA329AA}" type="slidenum">
              <a:rPr lang="en-US" sz="1200"/>
              <a:pPr algn="r" eaLnBrk="1" hangingPunct="1"/>
              <a:t>45</a:t>
            </a:fld>
            <a:endParaRPr lang="en-US" sz="1200"/>
          </a:p>
        </p:txBody>
      </p:sp>
      <p:sp>
        <p:nvSpPr>
          <p:cNvPr id="665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58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3417F3E-9FA7-4594-8E34-8D0B6E01702B}" type="slidenum">
              <a:rPr lang="en-US" smtClean="0"/>
              <a:pPr eaLnBrk="1" hangingPunct="1"/>
              <a:t>49</a:t>
            </a:fld>
            <a:endParaRPr lang="en-US"/>
          </a:p>
        </p:txBody>
      </p:sp>
      <p:sp>
        <p:nvSpPr>
          <p:cNvPr id="14643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fld id="{EBFCF625-B289-4F65-890B-260D3C8F093C}" type="slidenum">
              <a:rPr lang="en-US" sz="1200"/>
              <a:pPr algn="r" eaLnBrk="1" hangingPunct="1"/>
              <a:t>49</a:t>
            </a:fld>
            <a:endParaRPr lang="en-US" sz="1200"/>
          </a:p>
        </p:txBody>
      </p:sp>
      <p:sp>
        <p:nvSpPr>
          <p:cNvPr id="146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06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D310DD2-CDF4-4AFB-9A0F-FFF7B0599DFB}" type="slidenum">
              <a:rPr lang="en-US" smtClean="0"/>
              <a:pPr eaLnBrk="1" hangingPunct="1"/>
              <a:t>50</a:t>
            </a:fld>
            <a:endParaRPr lang="en-US"/>
          </a:p>
        </p:txBody>
      </p:sp>
      <p:sp>
        <p:nvSpPr>
          <p:cNvPr id="14745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fld id="{2E64FC16-7108-4433-A63A-A5030D35DCE6}" type="slidenum">
              <a:rPr lang="en-US" sz="1200"/>
              <a:pPr algn="r" eaLnBrk="1" hangingPunct="1"/>
              <a:t>50</a:t>
            </a:fld>
            <a:endParaRPr lang="en-US" sz="1200"/>
          </a:p>
        </p:txBody>
      </p:sp>
      <p:sp>
        <p:nvSpPr>
          <p:cNvPr id="1474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605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E1181AF4-E0DC-453B-A4BE-C59FCD368849}" type="slidenum">
              <a:rPr lang="en-US" smtClean="0"/>
              <a:pPr eaLnBrk="1" hangingPunct="1"/>
              <a:t>51</a:t>
            </a:fld>
            <a:endParaRPr lang="en-US"/>
          </a:p>
        </p:txBody>
      </p:sp>
      <p:sp>
        <p:nvSpPr>
          <p:cNvPr id="14848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fld id="{7E40E8AC-3E65-4C4D-BDC9-188B8FDE5268}" type="slidenum">
              <a:rPr lang="en-US" sz="1200"/>
              <a:pPr algn="r" eaLnBrk="1" hangingPunct="1"/>
              <a:t>51</a:t>
            </a:fld>
            <a:endParaRPr lang="en-US" sz="1200"/>
          </a:p>
        </p:txBody>
      </p:sp>
      <p:sp>
        <p:nvSpPr>
          <p:cNvPr id="148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25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EB994758-AABB-47DC-B8C8-D3A5DBEE2237}" type="slidenum">
              <a:rPr lang="en-US" smtClean="0"/>
              <a:pPr eaLnBrk="1" hangingPunct="1"/>
              <a:t>53</a:t>
            </a:fld>
            <a:endParaRPr lang="en-US"/>
          </a:p>
        </p:txBody>
      </p:sp>
      <p:sp>
        <p:nvSpPr>
          <p:cNvPr id="14950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fld id="{E457DDAE-F2F2-4307-B667-DB9086259C21}" type="slidenum">
              <a:rPr lang="en-US" sz="1200"/>
              <a:pPr algn="r" eaLnBrk="1" hangingPunct="1"/>
              <a:t>53</a:t>
            </a:fld>
            <a:endParaRPr lang="en-US" sz="1200"/>
          </a:p>
        </p:txBody>
      </p:sp>
      <p:sp>
        <p:nvSpPr>
          <p:cNvPr id="1495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38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7EB04EC8-DC6B-45F7-BFC4-DAFFAE4FB257}" type="slidenum">
              <a:rPr lang="en-US" smtClean="0"/>
              <a:pPr eaLnBrk="1" hangingPunct="1"/>
              <a:t>54</a:t>
            </a:fld>
            <a:endParaRPr lang="en-US"/>
          </a:p>
        </p:txBody>
      </p:sp>
      <p:sp>
        <p:nvSpPr>
          <p:cNvPr id="15053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fld id="{F6B09E38-6F91-49F0-98C2-8D41B0A8165C}" type="slidenum">
              <a:rPr lang="en-US" sz="1200"/>
              <a:pPr algn="r" eaLnBrk="1" hangingPunct="1"/>
              <a:t>54</a:t>
            </a:fld>
            <a:endParaRPr lang="en-US" sz="1200"/>
          </a:p>
        </p:txBody>
      </p:sp>
      <p:sp>
        <p:nvSpPr>
          <p:cNvPr id="150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193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2B7397DE-D0E3-4956-AF84-592968748EA2}" type="slidenum">
              <a:rPr lang="en-US" smtClean="0"/>
              <a:pPr eaLnBrk="1" hangingPunct="1"/>
              <a:t>55</a:t>
            </a:fld>
            <a:endParaRPr lang="en-US"/>
          </a:p>
        </p:txBody>
      </p:sp>
      <p:sp>
        <p:nvSpPr>
          <p:cNvPr id="15155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fld id="{5787AF38-7ECF-4FCC-9244-B57859B494E2}" type="slidenum">
              <a:rPr lang="en-US" sz="1200"/>
              <a:pPr algn="r" eaLnBrk="1" hangingPunct="1"/>
              <a:t>55</a:t>
            </a:fld>
            <a:endParaRPr lang="en-US" sz="1200"/>
          </a:p>
        </p:txBody>
      </p:sp>
      <p:sp>
        <p:nvSpPr>
          <p:cNvPr id="1515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49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D04E-1E9E-47BA-9343-C659C00B5EF6}" type="datetimeFigureOut">
              <a:rPr lang="en-US" smtClean="0"/>
              <a:pPr/>
              <a:t>8/3/2024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40B5-D4F4-4103-ACAA-509C30C46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99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D04E-1E9E-47BA-9343-C659C00B5EF6}" type="datetimeFigureOut">
              <a:rPr lang="en-US" smtClean="0"/>
              <a:pPr/>
              <a:t>8/3/2024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40B5-D4F4-4103-ACAA-509C30C46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45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D04E-1E9E-47BA-9343-C659C00B5EF6}" type="datetimeFigureOut">
              <a:rPr lang="en-US" smtClean="0"/>
              <a:pPr/>
              <a:t>8/3/2024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40B5-D4F4-4103-ACAA-509C30C46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2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D04E-1E9E-47BA-9343-C659C00B5EF6}" type="datetimeFigureOut">
              <a:rPr lang="en-US" smtClean="0"/>
              <a:pPr/>
              <a:t>8/3/2024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40B5-D4F4-4103-ACAA-509C30C46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21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D04E-1E9E-47BA-9343-C659C00B5EF6}" type="datetimeFigureOut">
              <a:rPr lang="en-US" smtClean="0"/>
              <a:pPr/>
              <a:t>8/3/2024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40B5-D4F4-4103-ACAA-509C30C46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43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D04E-1E9E-47BA-9343-C659C00B5EF6}" type="datetimeFigureOut">
              <a:rPr lang="en-US" smtClean="0"/>
              <a:pPr/>
              <a:t>8/3/2024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40B5-D4F4-4103-ACAA-509C30C46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2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D04E-1E9E-47BA-9343-C659C00B5EF6}" type="datetimeFigureOut">
              <a:rPr lang="en-US" smtClean="0"/>
              <a:pPr/>
              <a:t>8/3/2024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40B5-D4F4-4103-ACAA-509C30C46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6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D04E-1E9E-47BA-9343-C659C00B5EF6}" type="datetimeFigureOut">
              <a:rPr lang="en-US" smtClean="0"/>
              <a:pPr/>
              <a:t>8/3/2024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40B5-D4F4-4103-ACAA-509C30C46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D04E-1E9E-47BA-9343-C659C00B5EF6}" type="datetimeFigureOut">
              <a:rPr lang="en-US" smtClean="0"/>
              <a:pPr/>
              <a:t>8/3/2024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40B5-D4F4-4103-ACAA-509C30C46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9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D04E-1E9E-47BA-9343-C659C00B5EF6}" type="datetimeFigureOut">
              <a:rPr lang="en-US" smtClean="0"/>
              <a:pPr/>
              <a:t>8/3/2024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40B5-D4F4-4103-ACAA-509C30C46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2D04E-1E9E-47BA-9343-C659C00B5EF6}" type="datetimeFigureOut">
              <a:rPr lang="en-US" smtClean="0"/>
              <a:pPr/>
              <a:t>8/3/2024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40B5-D4F4-4103-ACAA-509C30C46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3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2D04E-1E9E-47BA-9343-C659C00B5EF6}" type="datetimeFigureOut">
              <a:rPr lang="en-US" smtClean="0"/>
              <a:pPr/>
              <a:t>8/3/2024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640B5-D4F4-4103-ACAA-509C30C46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846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Loops </a:t>
            </a:r>
            <a:r>
              <a:rPr lang="en-US" dirty="0"/>
              <a:t>&amp; Decisions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85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“if”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// demonstrates IF statement</a:t>
            </a:r>
          </a:p>
          <a:p>
            <a:pPr marL="0" indent="0">
              <a:buNone/>
            </a:pPr>
            <a:r>
              <a:rPr lang="en-US" sz="2000" dirty="0"/>
              <a:t>#include &lt;</a:t>
            </a:r>
            <a:r>
              <a:rPr lang="en-US" sz="2000" dirty="0" err="1"/>
              <a:t>iostream</a:t>
            </a:r>
            <a:r>
              <a:rPr lang="en-US" sz="2000" dirty="0"/>
              <a:t>&gt;</a:t>
            </a:r>
          </a:p>
          <a:p>
            <a:pPr marL="0" indent="0">
              <a:buNone/>
            </a:pPr>
            <a:r>
              <a:rPr lang="en-US" sz="2000" dirty="0"/>
              <a:t>using namespace </a:t>
            </a:r>
            <a:r>
              <a:rPr lang="en-US" sz="2000" dirty="0" err="1"/>
              <a:t>std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 err="1"/>
              <a:t>int</a:t>
            </a:r>
            <a:r>
              <a:rPr lang="en-US" sz="2000" dirty="0"/>
              <a:t> main()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457200" lvl="1" indent="0">
              <a:buNone/>
            </a:pPr>
            <a:r>
              <a:rPr lang="en-US" sz="2000" dirty="0" err="1"/>
              <a:t>int</a:t>
            </a:r>
            <a:r>
              <a:rPr lang="en-US" sz="2000" dirty="0"/>
              <a:t> x;</a:t>
            </a:r>
          </a:p>
          <a:p>
            <a:pPr marL="457200" lvl="1" indent="0">
              <a:buNone/>
            </a:pPr>
            <a:r>
              <a:rPr lang="en-US" sz="2000" dirty="0" err="1"/>
              <a:t>cout</a:t>
            </a:r>
            <a:r>
              <a:rPr lang="en-US" sz="2000" dirty="0"/>
              <a:t> &lt;&lt; “Enter a number: “;</a:t>
            </a:r>
          </a:p>
          <a:p>
            <a:pPr marL="457200" lvl="1" indent="0">
              <a:buNone/>
            </a:pPr>
            <a:r>
              <a:rPr lang="en-US" sz="2000" dirty="0" err="1"/>
              <a:t>cin</a:t>
            </a:r>
            <a:r>
              <a:rPr lang="en-US" sz="2000" dirty="0"/>
              <a:t> &gt;&gt; x;</a:t>
            </a:r>
          </a:p>
          <a:p>
            <a:pPr marL="457200" lvl="1" indent="0">
              <a:buNone/>
            </a:pPr>
            <a:r>
              <a:rPr lang="en-US" sz="2000" dirty="0"/>
              <a:t>if( x &gt; 100 )</a:t>
            </a:r>
          </a:p>
          <a:p>
            <a:pPr marL="457200" lvl="1" indent="0">
              <a:buNone/>
            </a:pPr>
            <a:r>
              <a:rPr lang="en-US" sz="2000" dirty="0" err="1"/>
              <a:t>cout</a:t>
            </a:r>
            <a:r>
              <a:rPr lang="en-US" sz="2000" dirty="0"/>
              <a:t> &lt;&lt; “That number is greater than 100\n”;</a:t>
            </a:r>
          </a:p>
          <a:p>
            <a:pPr marL="457200" lvl="1" indent="0">
              <a:buNone/>
            </a:pPr>
            <a:r>
              <a:rPr lang="en-US" sz="2000" dirty="0"/>
              <a:t>return 0;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9" y="602854"/>
            <a:ext cx="35287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General format: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if  (test expression)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{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   statement-block;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}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statement-x;</a:t>
            </a:r>
          </a:p>
        </p:txBody>
      </p:sp>
    </p:spTree>
    <p:extLst>
      <p:ext uri="{BB962C8B-B14F-4D97-AF65-F5344CB8AC3E}">
        <p14:creationId xmlns:p14="http://schemas.microsoft.com/office/powerpoint/2010/main" val="389956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10"/>
          <p:cNvSpPr txBox="1">
            <a:spLocks noChangeArrowheads="1"/>
          </p:cNvSpPr>
          <p:nvPr/>
        </p:nvSpPr>
        <p:spPr bwMode="auto">
          <a:xfrm>
            <a:off x="1849934" y="3835923"/>
            <a:ext cx="814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False</a:t>
            </a:r>
          </a:p>
        </p:txBody>
      </p:sp>
      <p:sp>
        <p:nvSpPr>
          <p:cNvPr id="14340" name="Text Box 8"/>
          <p:cNvSpPr txBox="1">
            <a:spLocks noChangeArrowheads="1"/>
          </p:cNvSpPr>
          <p:nvPr/>
        </p:nvSpPr>
        <p:spPr bwMode="auto">
          <a:xfrm>
            <a:off x="1954710" y="1575323"/>
            <a:ext cx="811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Entry</a:t>
            </a:r>
          </a:p>
        </p:txBody>
      </p:sp>
      <p:sp>
        <p:nvSpPr>
          <p:cNvPr id="14341" name="Text Box 9"/>
          <p:cNvSpPr txBox="1">
            <a:spLocks noChangeArrowheads="1"/>
          </p:cNvSpPr>
          <p:nvPr/>
        </p:nvSpPr>
        <p:spPr bwMode="auto">
          <a:xfrm>
            <a:off x="3062785" y="2489723"/>
            <a:ext cx="811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True</a:t>
            </a:r>
          </a:p>
        </p:txBody>
      </p:sp>
      <p:cxnSp>
        <p:nvCxnSpPr>
          <p:cNvPr id="14342" name="AutoShape 13"/>
          <p:cNvCxnSpPr>
            <a:cxnSpLocks noChangeShapeType="1"/>
          </p:cNvCxnSpPr>
          <p:nvPr/>
        </p:nvCxnSpPr>
        <p:spPr bwMode="auto">
          <a:xfrm>
            <a:off x="2986584" y="2946922"/>
            <a:ext cx="1817688" cy="42545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3" name="AutoShape 5"/>
          <p:cNvSpPr>
            <a:spLocks noChangeArrowheads="1"/>
          </p:cNvSpPr>
          <p:nvPr/>
        </p:nvSpPr>
        <p:spPr bwMode="auto">
          <a:xfrm>
            <a:off x="700584" y="2156347"/>
            <a:ext cx="2262188" cy="15494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test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expression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?</a:t>
            </a:r>
          </a:p>
        </p:txBody>
      </p:sp>
      <p:sp>
        <p:nvSpPr>
          <p:cNvPr id="14344" name="Line 6"/>
          <p:cNvSpPr>
            <a:spLocks noChangeShapeType="1"/>
          </p:cNvSpPr>
          <p:nvPr/>
        </p:nvSpPr>
        <p:spPr bwMode="auto">
          <a:xfrm flipH="1">
            <a:off x="1937248" y="1651523"/>
            <a:ext cx="1587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45" name="Line 7"/>
          <p:cNvSpPr>
            <a:spLocks noChangeShapeType="1"/>
          </p:cNvSpPr>
          <p:nvPr/>
        </p:nvSpPr>
        <p:spPr bwMode="auto">
          <a:xfrm>
            <a:off x="1937248" y="3672411"/>
            <a:ext cx="1587" cy="884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46" name="AutoShape 16"/>
          <p:cNvSpPr>
            <a:spLocks noChangeArrowheads="1"/>
          </p:cNvSpPr>
          <p:nvPr/>
        </p:nvSpPr>
        <p:spPr bwMode="auto">
          <a:xfrm>
            <a:off x="3967660" y="3356498"/>
            <a:ext cx="1914525" cy="428625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statement-block</a:t>
            </a:r>
          </a:p>
        </p:txBody>
      </p:sp>
      <p:sp>
        <p:nvSpPr>
          <p:cNvPr id="14347" name="AutoShape 17"/>
          <p:cNvSpPr>
            <a:spLocks noChangeArrowheads="1"/>
          </p:cNvSpPr>
          <p:nvPr/>
        </p:nvSpPr>
        <p:spPr bwMode="auto">
          <a:xfrm>
            <a:off x="1124448" y="4556648"/>
            <a:ext cx="1862137" cy="447675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 -x</a:t>
            </a:r>
          </a:p>
        </p:txBody>
      </p:sp>
      <p:cxnSp>
        <p:nvCxnSpPr>
          <p:cNvPr id="14348" name="AutoShape 18"/>
          <p:cNvCxnSpPr>
            <a:cxnSpLocks noChangeShapeType="1"/>
            <a:stCxn id="14346" idx="2"/>
            <a:endCxn id="14347" idx="3"/>
          </p:cNvCxnSpPr>
          <p:nvPr/>
        </p:nvCxnSpPr>
        <p:spPr bwMode="auto">
          <a:xfrm rot="5400000">
            <a:off x="3458072" y="3313635"/>
            <a:ext cx="995363" cy="193833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9" name="AutoShape 19"/>
          <p:cNvCxnSpPr>
            <a:cxnSpLocks noChangeShapeType="1"/>
          </p:cNvCxnSpPr>
          <p:nvPr/>
        </p:nvCxnSpPr>
        <p:spPr bwMode="auto">
          <a:xfrm>
            <a:off x="1919784" y="5004323"/>
            <a:ext cx="0" cy="315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0" name="Text Box 20"/>
          <p:cNvSpPr txBox="1">
            <a:spLocks noChangeArrowheads="1"/>
          </p:cNvSpPr>
          <p:nvPr/>
        </p:nvSpPr>
        <p:spPr bwMode="auto">
          <a:xfrm>
            <a:off x="2224584" y="5048773"/>
            <a:ext cx="162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4351" name="Rectangle 21"/>
          <p:cNvSpPr>
            <a:spLocks noChangeArrowheads="1"/>
          </p:cNvSpPr>
          <p:nvPr/>
        </p:nvSpPr>
        <p:spPr bwMode="auto">
          <a:xfrm>
            <a:off x="1157784" y="5309122"/>
            <a:ext cx="1905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Next statement</a:t>
            </a: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2438400" y="152401"/>
            <a:ext cx="6705600" cy="4873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kern="0" dirty="0"/>
              <a:t>Flow of Control of Simple if statement</a:t>
            </a:r>
            <a:endParaRPr lang="en-US" dirty="0"/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6833097" y="1903555"/>
            <a:ext cx="5141785" cy="38663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Example: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      	………..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		     	…………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	if (salary &gt;10000)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	{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	    salary= salary + commission;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	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cout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&lt;&lt;salary;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	 }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	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cout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&lt;&lt;“end”;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			……..</a:t>
            </a:r>
          </a:p>
        </p:txBody>
      </p:sp>
    </p:spTree>
    <p:extLst>
      <p:ext uri="{BB962C8B-B14F-4D97-AF65-F5344CB8AC3E}">
        <p14:creationId xmlns:p14="http://schemas.microsoft.com/office/powerpoint/2010/main" val="260449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Variations of if statement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Arial" pitchFamily="34" charset="0"/>
              </a:rPr>
              <a:t>Simple if</a:t>
            </a:r>
          </a:p>
          <a:p>
            <a:endParaRPr lang="en-US" dirty="0">
              <a:cs typeface="Arial" pitchFamily="34" charset="0"/>
            </a:endParaRPr>
          </a:p>
          <a:p>
            <a:r>
              <a:rPr lang="en-US" dirty="0">
                <a:cs typeface="Arial" pitchFamily="34" charset="0"/>
              </a:rPr>
              <a:t>if…else </a:t>
            </a:r>
          </a:p>
          <a:p>
            <a:endParaRPr lang="en-US" dirty="0">
              <a:cs typeface="Arial" pitchFamily="34" charset="0"/>
            </a:endParaRPr>
          </a:p>
          <a:p>
            <a:r>
              <a:rPr lang="en-US" dirty="0">
                <a:cs typeface="Arial" pitchFamily="34" charset="0"/>
              </a:rPr>
              <a:t>Nested if…else</a:t>
            </a:r>
          </a:p>
          <a:p>
            <a:endParaRPr lang="en-US" dirty="0">
              <a:cs typeface="Arial" pitchFamily="34" charset="0"/>
            </a:endParaRPr>
          </a:p>
          <a:p>
            <a:r>
              <a:rPr lang="en-US" dirty="0">
                <a:cs typeface="Arial" pitchFamily="34" charset="0"/>
              </a:rPr>
              <a:t>else if ladder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522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2662825" y="1649260"/>
            <a:ext cx="2262188" cy="15494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test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expression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?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2891425" y="5611660"/>
            <a:ext cx="1905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statement-x</a:t>
            </a: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224425" y="3630460"/>
            <a:ext cx="1905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True-block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</a:t>
            </a: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5101225" y="3554260"/>
            <a:ext cx="1981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False-block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 flipH="1">
            <a:off x="1138823" y="2404633"/>
            <a:ext cx="1524001" cy="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1138825" y="241126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>
            <a:off x="4948825" y="241126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Line 16"/>
          <p:cNvSpPr>
            <a:spLocks noChangeShapeType="1"/>
          </p:cNvSpPr>
          <p:nvPr/>
        </p:nvSpPr>
        <p:spPr bwMode="auto">
          <a:xfrm>
            <a:off x="6168025" y="241126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1138825" y="416386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>
            <a:off x="1138825" y="576406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Line 19"/>
          <p:cNvSpPr>
            <a:spLocks noChangeShapeType="1"/>
          </p:cNvSpPr>
          <p:nvPr/>
        </p:nvSpPr>
        <p:spPr bwMode="auto">
          <a:xfrm>
            <a:off x="6168025" y="408766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 flipH="1">
            <a:off x="4796425" y="576406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 Box 9"/>
          <p:cNvSpPr txBox="1">
            <a:spLocks noChangeArrowheads="1"/>
          </p:cNvSpPr>
          <p:nvPr/>
        </p:nvSpPr>
        <p:spPr bwMode="auto">
          <a:xfrm>
            <a:off x="1519825" y="1801660"/>
            <a:ext cx="811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True</a:t>
            </a: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5329825" y="1801660"/>
            <a:ext cx="811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False</a:t>
            </a:r>
          </a:p>
        </p:txBody>
      </p:sp>
      <p:sp>
        <p:nvSpPr>
          <p:cNvPr id="28" name="Line 23"/>
          <p:cNvSpPr>
            <a:spLocks noChangeShapeType="1"/>
          </p:cNvSpPr>
          <p:nvPr/>
        </p:nvSpPr>
        <p:spPr bwMode="auto">
          <a:xfrm>
            <a:off x="3882025" y="111586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4263025" y="1115860"/>
            <a:ext cx="811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Entry</a:t>
            </a:r>
          </a:p>
        </p:txBody>
      </p:sp>
      <p:sp>
        <p:nvSpPr>
          <p:cNvPr id="30" name="Line 25"/>
          <p:cNvSpPr>
            <a:spLocks noChangeShapeType="1"/>
          </p:cNvSpPr>
          <p:nvPr/>
        </p:nvSpPr>
        <p:spPr bwMode="auto">
          <a:xfrm>
            <a:off x="3805825" y="599266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If – else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7838" y="1589699"/>
            <a:ext cx="472211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General form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(test expression)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True block statement(s);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 False block statement(s);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statement-x</a:t>
            </a:r>
          </a:p>
        </p:txBody>
      </p:sp>
    </p:spTree>
    <p:extLst>
      <p:ext uri="{BB962C8B-B14F-4D97-AF65-F5344CB8AC3E}">
        <p14:creationId xmlns:p14="http://schemas.microsoft.com/office/powerpoint/2010/main" val="628894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97" y="287246"/>
            <a:ext cx="4896412" cy="36577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36377" y="796834"/>
            <a:ext cx="22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OUTPUT</a:t>
            </a:r>
            <a:endParaRPr lang="en-IN" b="1" u="sng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377" y="1394460"/>
            <a:ext cx="1085306" cy="10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6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30" y="558437"/>
            <a:ext cx="5015195" cy="45752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36377" y="796834"/>
            <a:ext cx="22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OUTPUT</a:t>
            </a:r>
            <a:endParaRPr lang="en-IN" b="1" u="sng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9" y="1407523"/>
            <a:ext cx="1240971" cy="93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4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469" y="629329"/>
            <a:ext cx="5213577" cy="51531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24206" y="1724297"/>
            <a:ext cx="359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Syntax error !!</a:t>
            </a:r>
          </a:p>
        </p:txBody>
      </p:sp>
    </p:spTree>
    <p:extLst>
      <p:ext uri="{BB962C8B-B14F-4D97-AF65-F5344CB8AC3E}">
        <p14:creationId xmlns:p14="http://schemas.microsoft.com/office/powerpoint/2010/main" val="2671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914400"/>
            <a:ext cx="3657600" cy="5943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if (test condition-1)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   if (test condition-2)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	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	   statement-1;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	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 else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     statement-2;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else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    statement-3;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 }                    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solidFill>
                  <a:srgbClr val="002060"/>
                </a:solidFill>
                <a:cs typeface="Arial" pitchFamily="34" charset="0"/>
              </a:rPr>
              <a:t>statement-x;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dirty="0">
              <a:cs typeface="Arial" pitchFamily="34" charset="0"/>
            </a:endParaRPr>
          </a:p>
        </p:txBody>
      </p:sp>
      <p:sp>
        <p:nvSpPr>
          <p:cNvPr id="22531" name="Line 4"/>
          <p:cNvSpPr>
            <a:spLocks noChangeShapeType="1"/>
          </p:cNvSpPr>
          <p:nvPr/>
        </p:nvSpPr>
        <p:spPr bwMode="auto">
          <a:xfrm flipH="1">
            <a:off x="1752600" y="1066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32" name="Line 5"/>
          <p:cNvSpPr>
            <a:spLocks noChangeShapeType="1"/>
          </p:cNvSpPr>
          <p:nvPr/>
        </p:nvSpPr>
        <p:spPr bwMode="auto">
          <a:xfrm>
            <a:off x="1752600" y="10668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33" name="Line 6"/>
          <p:cNvSpPr>
            <a:spLocks noChangeShapeType="1"/>
          </p:cNvSpPr>
          <p:nvPr/>
        </p:nvSpPr>
        <p:spPr bwMode="auto">
          <a:xfrm>
            <a:off x="1752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34" name="Line 7"/>
          <p:cNvSpPr>
            <a:spLocks noChangeShapeType="1"/>
          </p:cNvSpPr>
          <p:nvPr/>
        </p:nvSpPr>
        <p:spPr bwMode="auto">
          <a:xfrm flipH="1">
            <a:off x="1905000" y="1752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35" name="Line 8"/>
          <p:cNvSpPr>
            <a:spLocks noChangeShapeType="1"/>
          </p:cNvSpPr>
          <p:nvPr/>
        </p:nvSpPr>
        <p:spPr bwMode="auto">
          <a:xfrm>
            <a:off x="1905000" y="17526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36" name="Line 9"/>
          <p:cNvSpPr>
            <a:spLocks noChangeShapeType="1"/>
          </p:cNvSpPr>
          <p:nvPr/>
        </p:nvSpPr>
        <p:spPr bwMode="auto">
          <a:xfrm>
            <a:off x="1905000" y="3276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37" name="Line 10"/>
          <p:cNvSpPr>
            <a:spLocks noChangeShapeType="1"/>
          </p:cNvSpPr>
          <p:nvPr/>
        </p:nvSpPr>
        <p:spPr bwMode="auto">
          <a:xfrm>
            <a:off x="4419600" y="2590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38" name="Line 11"/>
          <p:cNvSpPr>
            <a:spLocks noChangeShapeType="1"/>
          </p:cNvSpPr>
          <p:nvPr/>
        </p:nvSpPr>
        <p:spPr bwMode="auto">
          <a:xfrm>
            <a:off x="5334000" y="2590800"/>
            <a:ext cx="0" cy="403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39" name="Line 12"/>
          <p:cNvSpPr>
            <a:spLocks noChangeShapeType="1"/>
          </p:cNvSpPr>
          <p:nvPr/>
        </p:nvSpPr>
        <p:spPr bwMode="auto">
          <a:xfrm flipH="1">
            <a:off x="4267200" y="6629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40" name="Line 13"/>
          <p:cNvSpPr>
            <a:spLocks noChangeShapeType="1"/>
          </p:cNvSpPr>
          <p:nvPr/>
        </p:nvSpPr>
        <p:spPr bwMode="auto">
          <a:xfrm>
            <a:off x="4419600" y="4038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41" name="Line 14"/>
          <p:cNvSpPr>
            <a:spLocks noChangeShapeType="1"/>
          </p:cNvSpPr>
          <p:nvPr/>
        </p:nvSpPr>
        <p:spPr bwMode="auto">
          <a:xfrm>
            <a:off x="5029200" y="403860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42" name="Line 15"/>
          <p:cNvSpPr>
            <a:spLocks noChangeShapeType="1"/>
          </p:cNvSpPr>
          <p:nvPr/>
        </p:nvSpPr>
        <p:spPr bwMode="auto">
          <a:xfrm>
            <a:off x="4343400" y="579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43" name="Line 16"/>
          <p:cNvSpPr>
            <a:spLocks noChangeShapeType="1"/>
          </p:cNvSpPr>
          <p:nvPr/>
        </p:nvSpPr>
        <p:spPr bwMode="auto">
          <a:xfrm>
            <a:off x="4800600" y="5791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3200400" y="228600"/>
            <a:ext cx="746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Nesting of if..else statements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6934200" y="807720"/>
            <a:ext cx="6477000" cy="2667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If the test condition-1 is false,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statement-3 will be executed;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otherwise it continues to perform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the second test.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If the test condition-2 is true,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statement-1 will be evaluated;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otherwise statement-2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will be evaluated and then the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control is transferred to statement-x</a:t>
            </a:r>
          </a:p>
        </p:txBody>
      </p:sp>
    </p:spTree>
    <p:extLst>
      <p:ext uri="{BB962C8B-B14F-4D97-AF65-F5344CB8AC3E}">
        <p14:creationId xmlns:p14="http://schemas.microsoft.com/office/powerpoint/2010/main" val="1269706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AutoShape 5"/>
          <p:cNvSpPr>
            <a:spLocks noChangeArrowheads="1"/>
          </p:cNvSpPr>
          <p:nvPr/>
        </p:nvSpPr>
        <p:spPr bwMode="auto">
          <a:xfrm>
            <a:off x="6172200" y="1676400"/>
            <a:ext cx="2209800" cy="9144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condition 2      ?</a:t>
            </a:r>
          </a:p>
        </p:txBody>
      </p:sp>
      <p:sp>
        <p:nvSpPr>
          <p:cNvPr id="23555" name="Rectangle 5"/>
          <p:cNvSpPr>
            <a:spLocks noChangeArrowheads="1"/>
          </p:cNvSpPr>
          <p:nvPr/>
        </p:nvSpPr>
        <p:spPr bwMode="auto">
          <a:xfrm>
            <a:off x="4648200" y="5257800"/>
            <a:ext cx="1905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statement-x</a:t>
            </a:r>
          </a:p>
        </p:txBody>
      </p:sp>
      <p:sp>
        <p:nvSpPr>
          <p:cNvPr id="23556" name="Rectangle 6"/>
          <p:cNvSpPr>
            <a:spLocks noChangeArrowheads="1"/>
          </p:cNvSpPr>
          <p:nvPr/>
        </p:nvSpPr>
        <p:spPr bwMode="auto">
          <a:xfrm>
            <a:off x="1752600" y="3200400"/>
            <a:ext cx="1905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statement-3</a:t>
            </a:r>
          </a:p>
        </p:txBody>
      </p:sp>
      <p:sp>
        <p:nvSpPr>
          <p:cNvPr id="23557" name="Rectangle 7"/>
          <p:cNvSpPr>
            <a:spLocks noChangeArrowheads="1"/>
          </p:cNvSpPr>
          <p:nvPr/>
        </p:nvSpPr>
        <p:spPr bwMode="auto">
          <a:xfrm>
            <a:off x="8077200" y="3200400"/>
            <a:ext cx="1981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statement-1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58" name="Line 8"/>
          <p:cNvSpPr>
            <a:spLocks noChangeShapeType="1"/>
          </p:cNvSpPr>
          <p:nvPr/>
        </p:nvSpPr>
        <p:spPr bwMode="auto">
          <a:xfrm flipH="1">
            <a:off x="2514600" y="137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59" name="Line 9"/>
          <p:cNvSpPr>
            <a:spLocks noChangeShapeType="1"/>
          </p:cNvSpPr>
          <p:nvPr/>
        </p:nvSpPr>
        <p:spPr bwMode="auto">
          <a:xfrm>
            <a:off x="2514600" y="13716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60" name="Line 10"/>
          <p:cNvSpPr>
            <a:spLocks noChangeShapeType="1"/>
          </p:cNvSpPr>
          <p:nvPr/>
        </p:nvSpPr>
        <p:spPr bwMode="auto">
          <a:xfrm>
            <a:off x="5334000" y="2133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61" name="Line 11"/>
          <p:cNvSpPr>
            <a:spLocks noChangeShapeType="1"/>
          </p:cNvSpPr>
          <p:nvPr/>
        </p:nvSpPr>
        <p:spPr bwMode="auto">
          <a:xfrm>
            <a:off x="9220200" y="21336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62" name="Line 12"/>
          <p:cNvSpPr>
            <a:spLocks noChangeShapeType="1"/>
          </p:cNvSpPr>
          <p:nvPr/>
        </p:nvSpPr>
        <p:spPr bwMode="auto">
          <a:xfrm>
            <a:off x="2514600" y="3657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63" name="Line 14"/>
          <p:cNvSpPr>
            <a:spLocks noChangeShapeType="1"/>
          </p:cNvSpPr>
          <p:nvPr/>
        </p:nvSpPr>
        <p:spPr bwMode="auto">
          <a:xfrm>
            <a:off x="9220200" y="3810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64" name="Text Box 9"/>
          <p:cNvSpPr txBox="1">
            <a:spLocks noChangeArrowheads="1"/>
          </p:cNvSpPr>
          <p:nvPr/>
        </p:nvSpPr>
        <p:spPr bwMode="auto">
          <a:xfrm>
            <a:off x="5486401" y="914401"/>
            <a:ext cx="811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True</a:t>
            </a:r>
          </a:p>
        </p:txBody>
      </p:sp>
      <p:sp>
        <p:nvSpPr>
          <p:cNvPr id="23565" name="Text Box 9"/>
          <p:cNvSpPr txBox="1">
            <a:spLocks noChangeArrowheads="1"/>
          </p:cNvSpPr>
          <p:nvPr/>
        </p:nvSpPr>
        <p:spPr bwMode="auto">
          <a:xfrm>
            <a:off x="5486401" y="1676401"/>
            <a:ext cx="811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False</a:t>
            </a:r>
          </a:p>
        </p:txBody>
      </p:sp>
      <p:sp>
        <p:nvSpPr>
          <p:cNvPr id="23566" name="Line 18"/>
          <p:cNvSpPr>
            <a:spLocks noChangeShapeType="1"/>
          </p:cNvSpPr>
          <p:nvPr/>
        </p:nvSpPr>
        <p:spPr bwMode="auto">
          <a:xfrm>
            <a:off x="7239000" y="1371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67" name="Line 19"/>
          <p:cNvSpPr>
            <a:spLocks noChangeShapeType="1"/>
          </p:cNvSpPr>
          <p:nvPr/>
        </p:nvSpPr>
        <p:spPr bwMode="auto">
          <a:xfrm>
            <a:off x="5486400" y="571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68" name="AutoShape 5"/>
          <p:cNvSpPr>
            <a:spLocks noChangeArrowheads="1"/>
          </p:cNvSpPr>
          <p:nvPr/>
        </p:nvSpPr>
        <p:spPr bwMode="auto">
          <a:xfrm>
            <a:off x="3124200" y="914400"/>
            <a:ext cx="2133600" cy="9144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condition-1     ?</a:t>
            </a:r>
          </a:p>
        </p:txBody>
      </p:sp>
      <p:sp>
        <p:nvSpPr>
          <p:cNvPr id="23569" name="Line 22"/>
          <p:cNvSpPr>
            <a:spLocks noChangeShapeType="1"/>
          </p:cNvSpPr>
          <p:nvPr/>
        </p:nvSpPr>
        <p:spPr bwMode="auto">
          <a:xfrm>
            <a:off x="5257800" y="1371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70" name="Line 23"/>
          <p:cNvSpPr>
            <a:spLocks noChangeShapeType="1"/>
          </p:cNvSpPr>
          <p:nvPr/>
        </p:nvSpPr>
        <p:spPr bwMode="auto">
          <a:xfrm>
            <a:off x="5334000" y="21336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71" name="Rectangle 24"/>
          <p:cNvSpPr>
            <a:spLocks noChangeArrowheads="1"/>
          </p:cNvSpPr>
          <p:nvPr/>
        </p:nvSpPr>
        <p:spPr bwMode="auto">
          <a:xfrm>
            <a:off x="4572000" y="3200400"/>
            <a:ext cx="1981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statement-2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72" name="Line 25"/>
          <p:cNvSpPr>
            <a:spLocks noChangeShapeType="1"/>
          </p:cNvSpPr>
          <p:nvPr/>
        </p:nvSpPr>
        <p:spPr bwMode="auto">
          <a:xfrm>
            <a:off x="8382000" y="2133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73" name="Oval 26"/>
          <p:cNvSpPr>
            <a:spLocks noChangeArrowheads="1"/>
          </p:cNvSpPr>
          <p:nvPr/>
        </p:nvSpPr>
        <p:spPr bwMode="auto">
          <a:xfrm>
            <a:off x="5257800" y="44958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74" name="Line 27"/>
          <p:cNvSpPr>
            <a:spLocks noChangeShapeType="1"/>
          </p:cNvSpPr>
          <p:nvPr/>
        </p:nvSpPr>
        <p:spPr bwMode="auto">
          <a:xfrm flipH="1">
            <a:off x="5638800" y="4648200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75" name="Line 28"/>
          <p:cNvSpPr>
            <a:spLocks noChangeShapeType="1"/>
          </p:cNvSpPr>
          <p:nvPr/>
        </p:nvSpPr>
        <p:spPr bwMode="auto">
          <a:xfrm>
            <a:off x="2514600" y="46482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76" name="Line 30"/>
          <p:cNvSpPr>
            <a:spLocks noChangeShapeType="1"/>
          </p:cNvSpPr>
          <p:nvPr/>
        </p:nvSpPr>
        <p:spPr bwMode="auto">
          <a:xfrm>
            <a:off x="5410200" y="3733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77" name="Line 31"/>
          <p:cNvSpPr>
            <a:spLocks noChangeShapeType="1"/>
          </p:cNvSpPr>
          <p:nvPr/>
        </p:nvSpPr>
        <p:spPr bwMode="auto">
          <a:xfrm>
            <a:off x="5486400" y="4876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78" name="Text Box 9"/>
          <p:cNvSpPr txBox="1">
            <a:spLocks noChangeArrowheads="1"/>
          </p:cNvSpPr>
          <p:nvPr/>
        </p:nvSpPr>
        <p:spPr bwMode="auto">
          <a:xfrm>
            <a:off x="8382001" y="1676401"/>
            <a:ext cx="811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True</a:t>
            </a:r>
          </a:p>
        </p:txBody>
      </p:sp>
      <p:sp>
        <p:nvSpPr>
          <p:cNvPr id="23579" name="Text Box 9"/>
          <p:cNvSpPr txBox="1">
            <a:spLocks noChangeArrowheads="1"/>
          </p:cNvSpPr>
          <p:nvPr/>
        </p:nvSpPr>
        <p:spPr bwMode="auto">
          <a:xfrm>
            <a:off x="2362201" y="838201"/>
            <a:ext cx="811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False</a:t>
            </a:r>
          </a:p>
        </p:txBody>
      </p:sp>
      <p:sp>
        <p:nvSpPr>
          <p:cNvPr id="23580" name="Line 34"/>
          <p:cNvSpPr>
            <a:spLocks noChangeShapeType="1"/>
          </p:cNvSpPr>
          <p:nvPr/>
        </p:nvSpPr>
        <p:spPr bwMode="auto">
          <a:xfrm>
            <a:off x="4191000" y="685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81" name="Text Box 9"/>
          <p:cNvSpPr txBox="1">
            <a:spLocks noChangeArrowheads="1"/>
          </p:cNvSpPr>
          <p:nvPr/>
        </p:nvSpPr>
        <p:spPr bwMode="auto">
          <a:xfrm>
            <a:off x="4572001" y="685801"/>
            <a:ext cx="811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Entry</a:t>
            </a:r>
          </a:p>
        </p:txBody>
      </p:sp>
      <p:sp>
        <p:nvSpPr>
          <p:cNvPr id="23582" name="Rectangle 37"/>
          <p:cNvSpPr>
            <a:spLocks noChangeArrowheads="1"/>
          </p:cNvSpPr>
          <p:nvPr/>
        </p:nvSpPr>
        <p:spPr bwMode="auto">
          <a:xfrm>
            <a:off x="4572000" y="6096000"/>
            <a:ext cx="1905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next statement</a:t>
            </a:r>
          </a:p>
        </p:txBody>
      </p:sp>
      <p:sp>
        <p:nvSpPr>
          <p:cNvPr id="34" name="Rectangle 2"/>
          <p:cNvSpPr txBox="1">
            <a:spLocks noChangeArrowheads="1"/>
          </p:cNvSpPr>
          <p:nvPr/>
        </p:nvSpPr>
        <p:spPr bwMode="auto">
          <a:xfrm>
            <a:off x="1524000" y="228600"/>
            <a:ext cx="10450882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Flow chart showing nesting of if..else statements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5069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45" y="4756378"/>
            <a:ext cx="2576146" cy="8345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25649" y="3997818"/>
            <a:ext cx="22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OUTPUT</a:t>
            </a:r>
            <a:endParaRPr lang="en-IN" b="1" u="sng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67" y="130667"/>
            <a:ext cx="7758334" cy="432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2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022" y="927462"/>
            <a:ext cx="7664224" cy="511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940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ChangeArrowheads="1"/>
          </p:cNvSpPr>
          <p:nvPr/>
        </p:nvSpPr>
        <p:spPr bwMode="auto">
          <a:xfrm>
            <a:off x="5257800" y="1447800"/>
            <a:ext cx="914400" cy="304800"/>
          </a:xfrm>
          <a:prstGeom prst="flowChartTerminator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Start</a:t>
            </a:r>
          </a:p>
        </p:txBody>
      </p:sp>
      <p:sp>
        <p:nvSpPr>
          <p:cNvPr id="27651" name="AutoShape 3"/>
          <p:cNvSpPr>
            <a:spLocks noChangeArrowheads="1"/>
          </p:cNvSpPr>
          <p:nvPr/>
        </p:nvSpPr>
        <p:spPr bwMode="auto">
          <a:xfrm>
            <a:off x="4419600" y="2057400"/>
            <a:ext cx="2438400" cy="381000"/>
          </a:xfrm>
          <a:prstGeom prst="flowChartInputOutpu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Read A, B, C</a:t>
            </a:r>
          </a:p>
        </p:txBody>
      </p:sp>
      <p:sp>
        <p:nvSpPr>
          <p:cNvPr id="27652" name="AutoShape 4"/>
          <p:cNvSpPr>
            <a:spLocks noChangeArrowheads="1"/>
          </p:cNvSpPr>
          <p:nvPr/>
        </p:nvSpPr>
        <p:spPr bwMode="auto">
          <a:xfrm>
            <a:off x="5257800" y="2743200"/>
            <a:ext cx="914400" cy="6096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A&gt;B</a:t>
            </a:r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>
            <a:off x="5715000" y="2438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>
            <a:off x="5715000" y="1752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55" name="AutoShape 7"/>
          <p:cNvSpPr>
            <a:spLocks noChangeArrowheads="1"/>
          </p:cNvSpPr>
          <p:nvPr/>
        </p:nvSpPr>
        <p:spPr bwMode="auto">
          <a:xfrm>
            <a:off x="2362200" y="3581400"/>
            <a:ext cx="914400" cy="6096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A&gt;C</a:t>
            </a:r>
          </a:p>
        </p:txBody>
      </p:sp>
      <p:sp>
        <p:nvSpPr>
          <p:cNvPr id="27656" name="AutoShape 8"/>
          <p:cNvSpPr>
            <a:spLocks noChangeArrowheads="1"/>
          </p:cNvSpPr>
          <p:nvPr/>
        </p:nvSpPr>
        <p:spPr bwMode="auto">
          <a:xfrm>
            <a:off x="8534400" y="3581400"/>
            <a:ext cx="914400" cy="6096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B&gt;C</a:t>
            </a:r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 flipH="1">
            <a:off x="2819400" y="30480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58" name="Line 10"/>
          <p:cNvSpPr>
            <a:spLocks noChangeShapeType="1"/>
          </p:cNvSpPr>
          <p:nvPr/>
        </p:nvSpPr>
        <p:spPr bwMode="auto">
          <a:xfrm>
            <a:off x="2819400" y="3048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59" name="Line 11"/>
          <p:cNvSpPr>
            <a:spLocks noChangeShapeType="1"/>
          </p:cNvSpPr>
          <p:nvPr/>
        </p:nvSpPr>
        <p:spPr bwMode="auto">
          <a:xfrm>
            <a:off x="6172200" y="30480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>
            <a:off x="8991600" y="3048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 flipH="1">
            <a:off x="1981200" y="3886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>
            <a:off x="3276600" y="3886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63" name="Line 15"/>
          <p:cNvSpPr>
            <a:spLocks noChangeShapeType="1"/>
          </p:cNvSpPr>
          <p:nvPr/>
        </p:nvSpPr>
        <p:spPr bwMode="auto">
          <a:xfrm>
            <a:off x="1981200" y="3886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64" name="Line 16"/>
          <p:cNvSpPr>
            <a:spLocks noChangeShapeType="1"/>
          </p:cNvSpPr>
          <p:nvPr/>
        </p:nvSpPr>
        <p:spPr bwMode="auto">
          <a:xfrm>
            <a:off x="3810000" y="3886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 flipH="1">
            <a:off x="7924800" y="3886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9448800" y="3886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67" name="Line 19"/>
          <p:cNvSpPr>
            <a:spLocks noChangeShapeType="1"/>
          </p:cNvSpPr>
          <p:nvPr/>
        </p:nvSpPr>
        <p:spPr bwMode="auto">
          <a:xfrm>
            <a:off x="10058400" y="3886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>
            <a:off x="7924800" y="3886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69" name="AutoShape 21"/>
          <p:cNvSpPr>
            <a:spLocks noChangeArrowheads="1"/>
          </p:cNvSpPr>
          <p:nvPr/>
        </p:nvSpPr>
        <p:spPr bwMode="auto">
          <a:xfrm>
            <a:off x="1524000" y="4572000"/>
            <a:ext cx="1219200" cy="304800"/>
          </a:xfrm>
          <a:prstGeom prst="flowChartInputOutpu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Print A</a:t>
            </a:r>
          </a:p>
        </p:txBody>
      </p:sp>
      <p:sp>
        <p:nvSpPr>
          <p:cNvPr id="27670" name="AutoShape 28"/>
          <p:cNvSpPr>
            <a:spLocks noChangeArrowheads="1"/>
          </p:cNvSpPr>
          <p:nvPr/>
        </p:nvSpPr>
        <p:spPr bwMode="auto">
          <a:xfrm>
            <a:off x="3124200" y="4572000"/>
            <a:ext cx="1219200" cy="304800"/>
          </a:xfrm>
          <a:prstGeom prst="flowChartInputOutpu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Print C</a:t>
            </a:r>
          </a:p>
        </p:txBody>
      </p:sp>
      <p:sp>
        <p:nvSpPr>
          <p:cNvPr id="27671" name="AutoShape 29"/>
          <p:cNvSpPr>
            <a:spLocks noChangeArrowheads="1"/>
          </p:cNvSpPr>
          <p:nvPr/>
        </p:nvSpPr>
        <p:spPr bwMode="auto">
          <a:xfrm>
            <a:off x="7239000" y="4419600"/>
            <a:ext cx="1219200" cy="304800"/>
          </a:xfrm>
          <a:prstGeom prst="flowChartInputOutpu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Print B</a:t>
            </a:r>
          </a:p>
        </p:txBody>
      </p:sp>
      <p:sp>
        <p:nvSpPr>
          <p:cNvPr id="27672" name="AutoShape 30"/>
          <p:cNvSpPr>
            <a:spLocks noChangeArrowheads="1"/>
          </p:cNvSpPr>
          <p:nvPr/>
        </p:nvSpPr>
        <p:spPr bwMode="auto">
          <a:xfrm>
            <a:off x="9296400" y="4419600"/>
            <a:ext cx="1219200" cy="304800"/>
          </a:xfrm>
          <a:prstGeom prst="flowChartInputOutpu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Print C</a:t>
            </a:r>
          </a:p>
        </p:txBody>
      </p:sp>
      <p:sp>
        <p:nvSpPr>
          <p:cNvPr id="27673" name="AutoShape 31"/>
          <p:cNvSpPr>
            <a:spLocks noChangeArrowheads="1"/>
          </p:cNvSpPr>
          <p:nvPr/>
        </p:nvSpPr>
        <p:spPr bwMode="auto">
          <a:xfrm>
            <a:off x="5334000" y="6019800"/>
            <a:ext cx="914400" cy="304800"/>
          </a:xfrm>
          <a:prstGeom prst="flowChartTerminator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Stop</a:t>
            </a:r>
          </a:p>
        </p:txBody>
      </p:sp>
      <p:sp>
        <p:nvSpPr>
          <p:cNvPr id="27674" name="Line 32"/>
          <p:cNvSpPr>
            <a:spLocks noChangeShapeType="1"/>
          </p:cNvSpPr>
          <p:nvPr/>
        </p:nvSpPr>
        <p:spPr bwMode="auto">
          <a:xfrm>
            <a:off x="3657600" y="48768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75" name="Line 33"/>
          <p:cNvSpPr>
            <a:spLocks noChangeShapeType="1"/>
          </p:cNvSpPr>
          <p:nvPr/>
        </p:nvSpPr>
        <p:spPr bwMode="auto">
          <a:xfrm>
            <a:off x="3657600" y="61722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76" name="Line 34"/>
          <p:cNvSpPr>
            <a:spLocks noChangeShapeType="1"/>
          </p:cNvSpPr>
          <p:nvPr/>
        </p:nvSpPr>
        <p:spPr bwMode="auto">
          <a:xfrm>
            <a:off x="2057400" y="48768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77" name="Line 35"/>
          <p:cNvSpPr>
            <a:spLocks noChangeShapeType="1"/>
          </p:cNvSpPr>
          <p:nvPr/>
        </p:nvSpPr>
        <p:spPr bwMode="auto">
          <a:xfrm>
            <a:off x="2057400" y="6172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78" name="Line 36"/>
          <p:cNvSpPr>
            <a:spLocks noChangeShapeType="1"/>
          </p:cNvSpPr>
          <p:nvPr/>
        </p:nvSpPr>
        <p:spPr bwMode="auto">
          <a:xfrm>
            <a:off x="7772400" y="47244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79" name="Line 37"/>
          <p:cNvSpPr>
            <a:spLocks noChangeShapeType="1"/>
          </p:cNvSpPr>
          <p:nvPr/>
        </p:nvSpPr>
        <p:spPr bwMode="auto">
          <a:xfrm>
            <a:off x="9829800" y="47244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80" name="Line 38"/>
          <p:cNvSpPr>
            <a:spLocks noChangeShapeType="1"/>
          </p:cNvSpPr>
          <p:nvPr/>
        </p:nvSpPr>
        <p:spPr bwMode="auto">
          <a:xfrm flipH="1">
            <a:off x="6248400" y="6172200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81" name="Line 39"/>
          <p:cNvSpPr>
            <a:spLocks noChangeShapeType="1"/>
          </p:cNvSpPr>
          <p:nvPr/>
        </p:nvSpPr>
        <p:spPr bwMode="auto">
          <a:xfrm>
            <a:off x="7772400" y="5867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682" name="Text Box 41"/>
          <p:cNvSpPr txBox="1">
            <a:spLocks noChangeArrowheads="1"/>
          </p:cNvSpPr>
          <p:nvPr/>
        </p:nvSpPr>
        <p:spPr bwMode="auto">
          <a:xfrm>
            <a:off x="6232525" y="2627313"/>
            <a:ext cx="742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False</a:t>
            </a:r>
          </a:p>
        </p:txBody>
      </p:sp>
      <p:sp>
        <p:nvSpPr>
          <p:cNvPr id="27683" name="Text Box 42"/>
          <p:cNvSpPr txBox="1">
            <a:spLocks noChangeArrowheads="1"/>
          </p:cNvSpPr>
          <p:nvPr/>
        </p:nvSpPr>
        <p:spPr bwMode="auto">
          <a:xfrm>
            <a:off x="3352800" y="3276601"/>
            <a:ext cx="74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False</a:t>
            </a:r>
          </a:p>
        </p:txBody>
      </p:sp>
      <p:sp>
        <p:nvSpPr>
          <p:cNvPr id="27684" name="Text Box 43"/>
          <p:cNvSpPr txBox="1">
            <a:spLocks noChangeArrowheads="1"/>
          </p:cNvSpPr>
          <p:nvPr/>
        </p:nvSpPr>
        <p:spPr bwMode="auto">
          <a:xfrm>
            <a:off x="9220200" y="3200401"/>
            <a:ext cx="74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False</a:t>
            </a:r>
          </a:p>
        </p:txBody>
      </p:sp>
      <p:sp>
        <p:nvSpPr>
          <p:cNvPr id="27685" name="Text Box 45"/>
          <p:cNvSpPr txBox="1">
            <a:spLocks noChangeArrowheads="1"/>
          </p:cNvSpPr>
          <p:nvPr/>
        </p:nvSpPr>
        <p:spPr bwMode="auto">
          <a:xfrm>
            <a:off x="1828800" y="3200401"/>
            <a:ext cx="654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True</a:t>
            </a:r>
          </a:p>
        </p:txBody>
      </p:sp>
      <p:sp>
        <p:nvSpPr>
          <p:cNvPr id="27686" name="Text Box 46"/>
          <p:cNvSpPr txBox="1">
            <a:spLocks noChangeArrowheads="1"/>
          </p:cNvSpPr>
          <p:nvPr/>
        </p:nvSpPr>
        <p:spPr bwMode="auto">
          <a:xfrm>
            <a:off x="4419600" y="2590801"/>
            <a:ext cx="654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True</a:t>
            </a:r>
          </a:p>
        </p:txBody>
      </p:sp>
      <p:sp>
        <p:nvSpPr>
          <p:cNvPr id="27687" name="Text Box 47"/>
          <p:cNvSpPr txBox="1">
            <a:spLocks noChangeArrowheads="1"/>
          </p:cNvSpPr>
          <p:nvPr/>
        </p:nvSpPr>
        <p:spPr bwMode="auto">
          <a:xfrm>
            <a:off x="8077200" y="3200401"/>
            <a:ext cx="654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True</a:t>
            </a:r>
          </a:p>
        </p:txBody>
      </p:sp>
      <p:sp>
        <p:nvSpPr>
          <p:cNvPr id="27688" name="Rectangle 2"/>
          <p:cNvSpPr txBox="1">
            <a:spLocks noChangeArrowheads="1"/>
          </p:cNvSpPr>
          <p:nvPr/>
        </p:nvSpPr>
        <p:spPr bwMode="auto">
          <a:xfrm>
            <a:off x="2514600" y="304800"/>
            <a:ext cx="937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Flow chart to find the largest of three numbers</a:t>
            </a:r>
          </a:p>
        </p:txBody>
      </p:sp>
      <p:sp>
        <p:nvSpPr>
          <p:cNvPr id="27689" name="Date Placeholder 1"/>
          <p:cNvSpPr txBox="1">
            <a:spLocks noGrp="1"/>
          </p:cNvSpPr>
          <p:nvPr/>
        </p:nvSpPr>
        <p:spPr bwMode="auto">
          <a:xfrm>
            <a:off x="18288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645BD1-62AC-4692-98CC-66550B209D8E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8/3/2024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44447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676405" y="990601"/>
            <a:ext cx="11298477" cy="5629274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rgbClr val="00B050"/>
                </a:solidFill>
                <a:cs typeface="Arial" pitchFamily="34" charset="0"/>
              </a:rPr>
              <a:t>if </a:t>
            </a:r>
            <a:r>
              <a:rPr lang="en-US" sz="2400">
                <a:cs typeface="Arial" pitchFamily="34" charset="0"/>
              </a:rPr>
              <a:t>(condition-1)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cs typeface="Arial" pitchFamily="34" charset="0"/>
              </a:rPr>
              <a:t>	statement-1;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rgbClr val="70AC2E"/>
                </a:solidFill>
                <a:cs typeface="Arial" pitchFamily="34" charset="0"/>
              </a:rPr>
              <a:t>else if </a:t>
            </a:r>
            <a:r>
              <a:rPr lang="en-US" sz="2400">
                <a:cs typeface="Arial" pitchFamily="34" charset="0"/>
              </a:rPr>
              <a:t>(condition-2)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cs typeface="Arial" pitchFamily="34" charset="0"/>
              </a:rPr>
              <a:t>	   statement-2;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cs typeface="Arial" pitchFamily="34" charset="0"/>
              </a:rPr>
              <a:t>   </a:t>
            </a:r>
            <a:r>
              <a:rPr lang="en-US" sz="2400">
                <a:solidFill>
                  <a:srgbClr val="10E210"/>
                </a:solidFill>
                <a:cs typeface="Arial" pitchFamily="34" charset="0"/>
              </a:rPr>
              <a:t>else if </a:t>
            </a:r>
            <a:r>
              <a:rPr lang="en-US" sz="2400">
                <a:cs typeface="Arial" pitchFamily="34" charset="0"/>
              </a:rPr>
              <a:t>(condition-3)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cs typeface="Arial" pitchFamily="34" charset="0"/>
              </a:rPr>
              <a:t>	      statement-3;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cs typeface="Arial" pitchFamily="34" charset="0"/>
              </a:rPr>
              <a:t>    </a:t>
            </a:r>
            <a:r>
              <a:rPr lang="en-US" sz="2400">
                <a:solidFill>
                  <a:srgbClr val="2AC444"/>
                </a:solidFill>
                <a:cs typeface="Arial" pitchFamily="34" charset="0"/>
              </a:rPr>
              <a:t>else if </a:t>
            </a:r>
            <a:r>
              <a:rPr lang="en-US" sz="2400">
                <a:cs typeface="Arial" pitchFamily="34" charset="0"/>
              </a:rPr>
              <a:t>(condition-n)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cs typeface="Arial" pitchFamily="34" charset="0"/>
              </a:rPr>
              <a:t>	      statement-n;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cs typeface="Arial" pitchFamily="34" charset="0"/>
              </a:rPr>
              <a:t>       </a:t>
            </a:r>
            <a:r>
              <a:rPr lang="en-US" sz="2400">
                <a:solidFill>
                  <a:srgbClr val="2F9146"/>
                </a:solidFill>
                <a:cs typeface="Arial" pitchFamily="34" charset="0"/>
              </a:rPr>
              <a:t>else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cs typeface="Arial" pitchFamily="34" charset="0"/>
              </a:rPr>
              <a:t>          default-statement;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cs typeface="Arial" pitchFamily="34" charset="0"/>
              </a:rPr>
              <a:t>statement-x</a:t>
            </a:r>
          </a:p>
        </p:txBody>
      </p:sp>
      <p:sp>
        <p:nvSpPr>
          <p:cNvPr id="31747" name="Rectangle 2"/>
          <p:cNvSpPr txBox="1">
            <a:spLocks noChangeArrowheads="1"/>
          </p:cNvSpPr>
          <p:nvPr/>
        </p:nvSpPr>
        <p:spPr bwMode="auto">
          <a:xfrm>
            <a:off x="5715000" y="204591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else- if ladder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715000" y="533401"/>
            <a:ext cx="4953000" cy="49069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The conditions are evaluated from the top of the ladder downwards.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As soon as the true condition is found, statement associated  with it is executed and the control is transferred to the statement-x (skipping the rest of the ladder)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When all the n conditions become false, then the final else containing the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default statement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will be executed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047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5"/>
          <p:cNvSpPr>
            <a:spLocks noChangeArrowheads="1"/>
          </p:cNvSpPr>
          <p:nvPr/>
        </p:nvSpPr>
        <p:spPr bwMode="auto">
          <a:xfrm>
            <a:off x="3733800" y="1143000"/>
            <a:ext cx="1295400" cy="6096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Condition-1</a:t>
            </a:r>
          </a:p>
        </p:txBody>
      </p:sp>
      <p:sp>
        <p:nvSpPr>
          <p:cNvPr id="32771" name="AutoShape 7"/>
          <p:cNvSpPr>
            <a:spLocks noChangeArrowheads="1"/>
          </p:cNvSpPr>
          <p:nvPr/>
        </p:nvSpPr>
        <p:spPr bwMode="auto">
          <a:xfrm>
            <a:off x="5257800" y="1905000"/>
            <a:ext cx="1295400" cy="6096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Condition-2</a:t>
            </a:r>
          </a:p>
        </p:txBody>
      </p:sp>
      <p:sp>
        <p:nvSpPr>
          <p:cNvPr id="32772" name="AutoShape 8"/>
          <p:cNvSpPr>
            <a:spLocks noChangeArrowheads="1"/>
          </p:cNvSpPr>
          <p:nvPr/>
        </p:nvSpPr>
        <p:spPr bwMode="auto">
          <a:xfrm>
            <a:off x="6629400" y="2667000"/>
            <a:ext cx="1295400" cy="6096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Condition-3</a:t>
            </a:r>
          </a:p>
        </p:txBody>
      </p:sp>
      <p:sp>
        <p:nvSpPr>
          <p:cNvPr id="32773" name="AutoShape 9"/>
          <p:cNvSpPr>
            <a:spLocks noChangeArrowheads="1"/>
          </p:cNvSpPr>
          <p:nvPr/>
        </p:nvSpPr>
        <p:spPr bwMode="auto">
          <a:xfrm>
            <a:off x="7924800" y="3505200"/>
            <a:ext cx="1295400" cy="6096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Condition-n</a:t>
            </a:r>
          </a:p>
        </p:txBody>
      </p:sp>
      <p:sp>
        <p:nvSpPr>
          <p:cNvPr id="32774" name="Line 10"/>
          <p:cNvSpPr>
            <a:spLocks noChangeShapeType="1"/>
          </p:cNvSpPr>
          <p:nvPr/>
        </p:nvSpPr>
        <p:spPr bwMode="auto">
          <a:xfrm>
            <a:off x="5029200" y="1447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5" name="Line 11"/>
          <p:cNvSpPr>
            <a:spLocks noChangeShapeType="1"/>
          </p:cNvSpPr>
          <p:nvPr/>
        </p:nvSpPr>
        <p:spPr bwMode="auto">
          <a:xfrm>
            <a:off x="5867400" y="1447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6" name="Line 12"/>
          <p:cNvSpPr>
            <a:spLocks noChangeShapeType="1"/>
          </p:cNvSpPr>
          <p:nvPr/>
        </p:nvSpPr>
        <p:spPr bwMode="auto">
          <a:xfrm>
            <a:off x="6553200" y="2209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7" name="Line 13"/>
          <p:cNvSpPr>
            <a:spLocks noChangeShapeType="1"/>
          </p:cNvSpPr>
          <p:nvPr/>
        </p:nvSpPr>
        <p:spPr bwMode="auto">
          <a:xfrm>
            <a:off x="7239000" y="220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8" name="Line 14"/>
          <p:cNvSpPr>
            <a:spLocks noChangeShapeType="1"/>
          </p:cNvSpPr>
          <p:nvPr/>
        </p:nvSpPr>
        <p:spPr bwMode="auto">
          <a:xfrm>
            <a:off x="7924800" y="2971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79" name="Line 15"/>
          <p:cNvSpPr>
            <a:spLocks noChangeShapeType="1"/>
          </p:cNvSpPr>
          <p:nvPr/>
        </p:nvSpPr>
        <p:spPr bwMode="auto">
          <a:xfrm>
            <a:off x="8534400" y="2971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80" name="Line 20"/>
          <p:cNvSpPr>
            <a:spLocks noChangeShapeType="1"/>
          </p:cNvSpPr>
          <p:nvPr/>
        </p:nvSpPr>
        <p:spPr bwMode="auto">
          <a:xfrm>
            <a:off x="922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81" name="Line 21"/>
          <p:cNvSpPr>
            <a:spLocks noChangeShapeType="1"/>
          </p:cNvSpPr>
          <p:nvPr/>
        </p:nvSpPr>
        <p:spPr bwMode="auto">
          <a:xfrm>
            <a:off x="9677400" y="3810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82" name="Rectangle 22"/>
          <p:cNvSpPr>
            <a:spLocks noChangeArrowheads="1"/>
          </p:cNvSpPr>
          <p:nvPr/>
        </p:nvSpPr>
        <p:spPr bwMode="auto">
          <a:xfrm>
            <a:off x="8305800" y="4572000"/>
            <a:ext cx="21336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default statement</a:t>
            </a:r>
          </a:p>
        </p:txBody>
      </p:sp>
      <p:sp>
        <p:nvSpPr>
          <p:cNvPr id="32783" name="Rectangle 24"/>
          <p:cNvSpPr>
            <a:spLocks noChangeArrowheads="1"/>
          </p:cNvSpPr>
          <p:nvPr/>
        </p:nvSpPr>
        <p:spPr bwMode="auto">
          <a:xfrm>
            <a:off x="6553200" y="4114800"/>
            <a:ext cx="1524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statement-n</a:t>
            </a:r>
          </a:p>
        </p:txBody>
      </p:sp>
      <p:sp>
        <p:nvSpPr>
          <p:cNvPr id="32784" name="Rectangle 25"/>
          <p:cNvSpPr>
            <a:spLocks noChangeArrowheads="1"/>
          </p:cNvSpPr>
          <p:nvPr/>
        </p:nvSpPr>
        <p:spPr bwMode="auto">
          <a:xfrm>
            <a:off x="5334000" y="3429000"/>
            <a:ext cx="1524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statement-3</a:t>
            </a:r>
          </a:p>
        </p:txBody>
      </p:sp>
      <p:sp>
        <p:nvSpPr>
          <p:cNvPr id="32785" name="Rectangle 26"/>
          <p:cNvSpPr>
            <a:spLocks noChangeArrowheads="1"/>
          </p:cNvSpPr>
          <p:nvPr/>
        </p:nvSpPr>
        <p:spPr bwMode="auto">
          <a:xfrm>
            <a:off x="3810000" y="2743200"/>
            <a:ext cx="1524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statement-2</a:t>
            </a:r>
          </a:p>
        </p:txBody>
      </p:sp>
      <p:sp>
        <p:nvSpPr>
          <p:cNvPr id="32786" name="Rectangle 27"/>
          <p:cNvSpPr>
            <a:spLocks noChangeArrowheads="1"/>
          </p:cNvSpPr>
          <p:nvPr/>
        </p:nvSpPr>
        <p:spPr bwMode="auto">
          <a:xfrm>
            <a:off x="2514600" y="1981200"/>
            <a:ext cx="1524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statement-1</a:t>
            </a:r>
          </a:p>
        </p:txBody>
      </p:sp>
      <p:sp>
        <p:nvSpPr>
          <p:cNvPr id="32787" name="Oval 28"/>
          <p:cNvSpPr>
            <a:spLocks noChangeArrowheads="1"/>
          </p:cNvSpPr>
          <p:nvPr/>
        </p:nvSpPr>
        <p:spPr bwMode="auto">
          <a:xfrm>
            <a:off x="2895600" y="50292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88" name="Oval 29"/>
          <p:cNvSpPr>
            <a:spLocks noChangeArrowheads="1"/>
          </p:cNvSpPr>
          <p:nvPr/>
        </p:nvSpPr>
        <p:spPr bwMode="auto">
          <a:xfrm>
            <a:off x="4267200" y="5181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89" name="Oval 30"/>
          <p:cNvSpPr>
            <a:spLocks noChangeArrowheads="1"/>
          </p:cNvSpPr>
          <p:nvPr/>
        </p:nvSpPr>
        <p:spPr bwMode="auto">
          <a:xfrm>
            <a:off x="5715000" y="5181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90" name="Oval 31"/>
          <p:cNvSpPr>
            <a:spLocks noChangeArrowheads="1"/>
          </p:cNvSpPr>
          <p:nvPr/>
        </p:nvSpPr>
        <p:spPr bwMode="auto">
          <a:xfrm>
            <a:off x="7162800" y="5181600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91" name="Line 32"/>
          <p:cNvSpPr>
            <a:spLocks noChangeShapeType="1"/>
          </p:cNvSpPr>
          <p:nvPr/>
        </p:nvSpPr>
        <p:spPr bwMode="auto">
          <a:xfrm>
            <a:off x="9677400" y="4953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92" name="Line 33"/>
          <p:cNvSpPr>
            <a:spLocks noChangeShapeType="1"/>
          </p:cNvSpPr>
          <p:nvPr/>
        </p:nvSpPr>
        <p:spPr bwMode="auto">
          <a:xfrm flipH="1">
            <a:off x="7543800" y="5410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93" name="Line 35"/>
          <p:cNvSpPr>
            <a:spLocks noChangeShapeType="1"/>
          </p:cNvSpPr>
          <p:nvPr/>
        </p:nvSpPr>
        <p:spPr bwMode="auto">
          <a:xfrm flipH="1">
            <a:off x="6096000" y="5334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94" name="Line 36"/>
          <p:cNvSpPr>
            <a:spLocks noChangeShapeType="1"/>
          </p:cNvSpPr>
          <p:nvPr/>
        </p:nvSpPr>
        <p:spPr bwMode="auto">
          <a:xfrm flipH="1">
            <a:off x="4648200" y="5334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95" name="Line 37"/>
          <p:cNvSpPr>
            <a:spLocks noChangeShapeType="1"/>
          </p:cNvSpPr>
          <p:nvPr/>
        </p:nvSpPr>
        <p:spPr bwMode="auto">
          <a:xfrm flipH="1">
            <a:off x="3276600" y="5334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96" name="Line 38"/>
          <p:cNvSpPr>
            <a:spLocks noChangeShapeType="1"/>
          </p:cNvSpPr>
          <p:nvPr/>
        </p:nvSpPr>
        <p:spPr bwMode="auto">
          <a:xfrm flipH="1">
            <a:off x="3124200" y="1447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97" name="Line 39"/>
          <p:cNvSpPr>
            <a:spLocks noChangeShapeType="1"/>
          </p:cNvSpPr>
          <p:nvPr/>
        </p:nvSpPr>
        <p:spPr bwMode="auto">
          <a:xfrm>
            <a:off x="3124200" y="1447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98" name="Line 40"/>
          <p:cNvSpPr>
            <a:spLocks noChangeShapeType="1"/>
          </p:cNvSpPr>
          <p:nvPr/>
        </p:nvSpPr>
        <p:spPr bwMode="auto">
          <a:xfrm>
            <a:off x="3124200" y="23622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799" name="Rectangle 41"/>
          <p:cNvSpPr>
            <a:spLocks noChangeArrowheads="1"/>
          </p:cNvSpPr>
          <p:nvPr/>
        </p:nvSpPr>
        <p:spPr bwMode="auto">
          <a:xfrm>
            <a:off x="2362200" y="5562600"/>
            <a:ext cx="1524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statement-x</a:t>
            </a:r>
          </a:p>
        </p:txBody>
      </p:sp>
      <p:sp>
        <p:nvSpPr>
          <p:cNvPr id="32800" name="Rectangle 42"/>
          <p:cNvSpPr>
            <a:spLocks noChangeArrowheads="1"/>
          </p:cNvSpPr>
          <p:nvPr/>
        </p:nvSpPr>
        <p:spPr bwMode="auto">
          <a:xfrm>
            <a:off x="2286000" y="6096000"/>
            <a:ext cx="1524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next statement</a:t>
            </a:r>
          </a:p>
        </p:txBody>
      </p:sp>
      <p:sp>
        <p:nvSpPr>
          <p:cNvPr id="32801" name="Line 43"/>
          <p:cNvSpPr>
            <a:spLocks noChangeShapeType="1"/>
          </p:cNvSpPr>
          <p:nvPr/>
        </p:nvSpPr>
        <p:spPr bwMode="auto">
          <a:xfrm>
            <a:off x="3124200" y="5410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802" name="Line 45"/>
          <p:cNvSpPr>
            <a:spLocks noChangeShapeType="1"/>
          </p:cNvSpPr>
          <p:nvPr/>
        </p:nvSpPr>
        <p:spPr bwMode="auto">
          <a:xfrm>
            <a:off x="3124200" y="586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803" name="Line 46"/>
          <p:cNvSpPr>
            <a:spLocks noChangeShapeType="1"/>
          </p:cNvSpPr>
          <p:nvPr/>
        </p:nvSpPr>
        <p:spPr bwMode="auto">
          <a:xfrm>
            <a:off x="4495800" y="31242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804" name="Line 47"/>
          <p:cNvSpPr>
            <a:spLocks noChangeShapeType="1"/>
          </p:cNvSpPr>
          <p:nvPr/>
        </p:nvSpPr>
        <p:spPr bwMode="auto">
          <a:xfrm>
            <a:off x="5943600" y="38100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805" name="Line 48"/>
          <p:cNvSpPr>
            <a:spLocks noChangeShapeType="1"/>
          </p:cNvSpPr>
          <p:nvPr/>
        </p:nvSpPr>
        <p:spPr bwMode="auto">
          <a:xfrm>
            <a:off x="7315200" y="4495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806" name="Line 49"/>
          <p:cNvSpPr>
            <a:spLocks noChangeShapeType="1"/>
          </p:cNvSpPr>
          <p:nvPr/>
        </p:nvSpPr>
        <p:spPr bwMode="auto">
          <a:xfrm>
            <a:off x="4343400" y="838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807" name="Text Box 50"/>
          <p:cNvSpPr txBox="1">
            <a:spLocks noChangeArrowheads="1"/>
          </p:cNvSpPr>
          <p:nvPr/>
        </p:nvSpPr>
        <p:spPr bwMode="auto">
          <a:xfrm>
            <a:off x="5105400" y="1017588"/>
            <a:ext cx="6365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False</a:t>
            </a:r>
          </a:p>
        </p:txBody>
      </p:sp>
      <p:sp>
        <p:nvSpPr>
          <p:cNvPr id="32808" name="Text Box 51"/>
          <p:cNvSpPr txBox="1">
            <a:spLocks noChangeArrowheads="1"/>
          </p:cNvSpPr>
          <p:nvPr/>
        </p:nvSpPr>
        <p:spPr bwMode="auto">
          <a:xfrm>
            <a:off x="6400800" y="1828800"/>
            <a:ext cx="6365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False</a:t>
            </a:r>
          </a:p>
        </p:txBody>
      </p:sp>
      <p:sp>
        <p:nvSpPr>
          <p:cNvPr id="32809" name="Text Box 52"/>
          <p:cNvSpPr txBox="1">
            <a:spLocks noChangeArrowheads="1"/>
          </p:cNvSpPr>
          <p:nvPr/>
        </p:nvSpPr>
        <p:spPr bwMode="auto">
          <a:xfrm>
            <a:off x="7772400" y="2438400"/>
            <a:ext cx="6365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False</a:t>
            </a:r>
          </a:p>
        </p:txBody>
      </p:sp>
      <p:sp>
        <p:nvSpPr>
          <p:cNvPr id="32810" name="Text Box 53"/>
          <p:cNvSpPr txBox="1">
            <a:spLocks noChangeArrowheads="1"/>
          </p:cNvSpPr>
          <p:nvPr/>
        </p:nvSpPr>
        <p:spPr bwMode="auto">
          <a:xfrm>
            <a:off x="9144000" y="3276600"/>
            <a:ext cx="6365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False</a:t>
            </a:r>
          </a:p>
        </p:txBody>
      </p:sp>
      <p:sp>
        <p:nvSpPr>
          <p:cNvPr id="32811" name="Text Box 54"/>
          <p:cNvSpPr txBox="1">
            <a:spLocks noChangeArrowheads="1"/>
          </p:cNvSpPr>
          <p:nvPr/>
        </p:nvSpPr>
        <p:spPr bwMode="auto">
          <a:xfrm>
            <a:off x="3124201" y="990600"/>
            <a:ext cx="568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True</a:t>
            </a:r>
          </a:p>
        </p:txBody>
      </p:sp>
      <p:sp>
        <p:nvSpPr>
          <p:cNvPr id="32812" name="Text Box 55"/>
          <p:cNvSpPr txBox="1">
            <a:spLocks noChangeArrowheads="1"/>
          </p:cNvSpPr>
          <p:nvPr/>
        </p:nvSpPr>
        <p:spPr bwMode="auto">
          <a:xfrm>
            <a:off x="4572001" y="1752600"/>
            <a:ext cx="568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True</a:t>
            </a:r>
          </a:p>
        </p:txBody>
      </p:sp>
      <p:sp>
        <p:nvSpPr>
          <p:cNvPr id="32813" name="Text Box 56"/>
          <p:cNvSpPr txBox="1">
            <a:spLocks noChangeArrowheads="1"/>
          </p:cNvSpPr>
          <p:nvPr/>
        </p:nvSpPr>
        <p:spPr bwMode="auto">
          <a:xfrm>
            <a:off x="6172201" y="2514600"/>
            <a:ext cx="568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True</a:t>
            </a:r>
          </a:p>
        </p:txBody>
      </p:sp>
      <p:sp>
        <p:nvSpPr>
          <p:cNvPr id="32814" name="Text Box 57"/>
          <p:cNvSpPr txBox="1">
            <a:spLocks noChangeArrowheads="1"/>
          </p:cNvSpPr>
          <p:nvPr/>
        </p:nvSpPr>
        <p:spPr bwMode="auto">
          <a:xfrm>
            <a:off x="7543801" y="3276600"/>
            <a:ext cx="568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True</a:t>
            </a:r>
          </a:p>
        </p:txBody>
      </p:sp>
      <p:sp>
        <p:nvSpPr>
          <p:cNvPr id="32815" name="Line 58"/>
          <p:cNvSpPr>
            <a:spLocks noChangeShapeType="1"/>
          </p:cNvSpPr>
          <p:nvPr/>
        </p:nvSpPr>
        <p:spPr bwMode="auto">
          <a:xfrm flipH="1">
            <a:off x="4495800" y="2209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816" name="Line 59"/>
          <p:cNvSpPr>
            <a:spLocks noChangeShapeType="1"/>
          </p:cNvSpPr>
          <p:nvPr/>
        </p:nvSpPr>
        <p:spPr bwMode="auto">
          <a:xfrm>
            <a:off x="4495800" y="2209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817" name="Line 61"/>
          <p:cNvSpPr>
            <a:spLocks noChangeShapeType="1"/>
          </p:cNvSpPr>
          <p:nvPr/>
        </p:nvSpPr>
        <p:spPr bwMode="auto">
          <a:xfrm flipH="1">
            <a:off x="5943600" y="2971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818" name="Line 62"/>
          <p:cNvSpPr>
            <a:spLocks noChangeShapeType="1"/>
          </p:cNvSpPr>
          <p:nvPr/>
        </p:nvSpPr>
        <p:spPr bwMode="auto">
          <a:xfrm>
            <a:off x="5943600" y="2971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819" name="Line 63"/>
          <p:cNvSpPr>
            <a:spLocks noChangeShapeType="1"/>
          </p:cNvSpPr>
          <p:nvPr/>
        </p:nvSpPr>
        <p:spPr bwMode="auto">
          <a:xfrm flipH="1">
            <a:off x="7315200" y="3810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820" name="Line 64"/>
          <p:cNvSpPr>
            <a:spLocks noChangeShapeType="1"/>
          </p:cNvSpPr>
          <p:nvPr/>
        </p:nvSpPr>
        <p:spPr bwMode="auto">
          <a:xfrm>
            <a:off x="7315200" y="3810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821" name="Date Placeholder 1"/>
          <p:cNvSpPr txBox="1">
            <a:spLocks noGrp="1"/>
          </p:cNvSpPr>
          <p:nvPr/>
        </p:nvSpPr>
        <p:spPr bwMode="auto">
          <a:xfrm>
            <a:off x="19812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0C893A-630E-4AFF-9791-EF5722DBF610}" type="datetime1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8/3/2024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2822" name="Rectangle 2"/>
          <p:cNvSpPr txBox="1">
            <a:spLocks noChangeArrowheads="1"/>
          </p:cNvSpPr>
          <p:nvPr/>
        </p:nvSpPr>
        <p:spPr bwMode="auto">
          <a:xfrm>
            <a:off x="1524000" y="30480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Flow chart for else- if ladder</a:t>
            </a:r>
          </a:p>
        </p:txBody>
      </p:sp>
    </p:spTree>
    <p:extLst>
      <p:ext uri="{BB962C8B-B14F-4D97-AF65-F5344CB8AC3E}">
        <p14:creationId xmlns:p14="http://schemas.microsoft.com/office/powerpoint/2010/main" val="4134853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ext Box 2"/>
          <p:cNvSpPr txBox="1">
            <a:spLocks noChangeArrowheads="1"/>
          </p:cNvSpPr>
          <p:nvPr/>
        </p:nvSpPr>
        <p:spPr bwMode="auto">
          <a:xfrm>
            <a:off x="1303751" y="685800"/>
            <a:ext cx="87630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</a:t>
            </a:r>
            <a:r>
              <a:rPr kumimoji="0" lang="en-US" sz="2400" b="1" i="0" u="sng" strike="noStrike" kern="1200" cap="none" spc="0" normalizeH="0" baseline="0" noProof="0" dirty="0" err="1">
                <a:ln>
                  <a:noFill/>
                </a:ln>
                <a:solidFill>
                  <a:srgbClr val="C2660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avg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2660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-marks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2660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2660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grade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80-100		  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60-79			   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50-59			  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40-49			   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00-39			   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</a:t>
            </a:r>
          </a:p>
        </p:txBody>
      </p:sp>
      <p:sp>
        <p:nvSpPr>
          <p:cNvPr id="33796" name="Rectangle 2"/>
          <p:cNvSpPr txBox="1">
            <a:spLocks noChangeArrowheads="1"/>
          </p:cNvSpPr>
          <p:nvPr/>
        </p:nvSpPr>
        <p:spPr bwMode="auto">
          <a:xfrm>
            <a:off x="713984" y="228600"/>
            <a:ext cx="10960274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Example: To calculate the grade for the marks entered</a:t>
            </a:r>
          </a:p>
        </p:txBody>
      </p:sp>
    </p:spTree>
    <p:extLst>
      <p:ext uri="{BB962C8B-B14F-4D97-AF65-F5344CB8AC3E}">
        <p14:creationId xmlns:p14="http://schemas.microsoft.com/office/powerpoint/2010/main" val="39650300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 Box 2"/>
          <p:cNvSpPr txBox="1">
            <a:spLocks noChangeArrowheads="1"/>
          </p:cNvSpPr>
          <p:nvPr/>
        </p:nvSpPr>
        <p:spPr bwMode="auto">
          <a:xfrm>
            <a:off x="488515" y="685801"/>
            <a:ext cx="11098060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/* Program WITHOUT indentation */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int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main()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{  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 char grade;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int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marks;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cout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&lt;&lt;"enter marks”;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cin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&gt;&gt;marks;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 if (marks&gt;79)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grade = 'A';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else if (marks&gt;59)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grade = 'B';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else if (marks&gt;49)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grade = 'C';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else if (marks&gt;39)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grade = 'D';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grade = 'F'; 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cout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&lt;&lt;“\n grade= “&lt;&lt;grade;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}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509375" y="115866"/>
            <a:ext cx="8077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Program to calculate the grade for the marks entered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457212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 Box 2"/>
          <p:cNvSpPr txBox="1">
            <a:spLocks noChangeArrowheads="1"/>
          </p:cNvSpPr>
          <p:nvPr/>
        </p:nvSpPr>
        <p:spPr bwMode="auto">
          <a:xfrm>
            <a:off x="626301" y="685800"/>
            <a:ext cx="11185743" cy="59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/* Program WITH indentation */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int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main()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{  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 char grade;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int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marks;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cout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&lt;&lt;"enter marks”;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cin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&gt;&gt;marks;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 if (marks&gt;79)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          grade = 'A';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		else if (marks&gt;59)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	          grade = 'B';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	          else if (marks&gt;49)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		          grade = 'C';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			          else if (marks&gt;39)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				          grade = 'D';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					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					          grade = 'F'; 	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						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cout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&lt;&lt;“\n grade=“&lt;&lt; grade;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}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734844" y="215563"/>
            <a:ext cx="8077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Program to calculate the grade for the marks entered</a:t>
            </a:r>
          </a:p>
        </p:txBody>
      </p:sp>
    </p:spTree>
    <p:extLst>
      <p:ext uri="{BB962C8B-B14F-4D97-AF65-F5344CB8AC3E}">
        <p14:creationId xmlns:p14="http://schemas.microsoft.com/office/powerpoint/2010/main" val="74349385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4"/>
          <p:cNvSpPr>
            <a:spLocks noChangeArrowheads="1"/>
          </p:cNvSpPr>
          <p:nvPr/>
        </p:nvSpPr>
        <p:spPr bwMode="auto">
          <a:xfrm>
            <a:off x="309869" y="90826"/>
            <a:ext cx="45720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General form: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switch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(expression)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	case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 value-1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block-1;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break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case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 value-2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block-2;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break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.............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.............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case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 value-n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block-n;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break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default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default-block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}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statement-x;</a:t>
            </a:r>
          </a:p>
        </p:txBody>
      </p:sp>
      <p:sp>
        <p:nvSpPr>
          <p:cNvPr id="39940" name="Rectangle 2"/>
          <p:cNvSpPr txBox="1">
            <a:spLocks noChangeArrowheads="1"/>
          </p:cNvSpPr>
          <p:nvPr/>
        </p:nvSpPr>
        <p:spPr bwMode="auto">
          <a:xfrm>
            <a:off x="2900134" y="90826"/>
            <a:ext cx="830475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switch</a:t>
            </a:r>
            <a:r>
              <a:rPr kumimoji="0" lang="en-US" sz="28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case statement</a:t>
            </a:r>
            <a:endParaRPr kumimoji="0" lang="en-US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697408" y="548026"/>
            <a:ext cx="7307358" cy="5722145"/>
          </a:xfrm>
          <a:prstGeom prst="rect">
            <a:avLst/>
          </a:prstGeom>
          <a:noFill/>
          <a:ln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When the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switch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is executed, value of the expression is successfully compared against the values value-1, value-2.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If a case is found whose value matches with the value of the expression, then the block of statements that follows the case are executed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   The break statement at the end of each block signals the end of a particular case and causes an exit from the switch statement, transferring the control to statement-x following the switch</a:t>
            </a:r>
          </a:p>
        </p:txBody>
      </p:sp>
    </p:spTree>
    <p:extLst>
      <p:ext uri="{BB962C8B-B14F-4D97-AF65-F5344CB8AC3E}">
        <p14:creationId xmlns:p14="http://schemas.microsoft.com/office/powerpoint/2010/main" val="685902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19" y="93753"/>
            <a:ext cx="8421190" cy="676481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84272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switch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248193" y="1528175"/>
            <a:ext cx="11625943" cy="4648788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dirty="0">
                <a:cs typeface="Arial" pitchFamily="34" charset="0"/>
              </a:rPr>
              <a:t>Case labels must be constants or constant expressions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dirty="0">
                <a:cs typeface="Arial" pitchFamily="34" charset="0"/>
              </a:rPr>
              <a:t>Case labels must be unique. No two labels should have same value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v"/>
            </a:pPr>
            <a:endParaRPr lang="en-US" sz="2400" dirty="0">
              <a:cs typeface="Arial" pitchFamily="34" charset="0"/>
            </a:endParaRP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b="1" dirty="0">
                <a:cs typeface="Arial" pitchFamily="34" charset="0"/>
              </a:rPr>
              <a:t>break</a:t>
            </a:r>
            <a:r>
              <a:rPr lang="en-US" sz="2400" dirty="0">
                <a:cs typeface="Arial" pitchFamily="34" charset="0"/>
              </a:rPr>
              <a:t> statement transfers the control out of the switch statement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b="1" dirty="0">
                <a:cs typeface="Arial" pitchFamily="34" charset="0"/>
              </a:rPr>
              <a:t>break </a:t>
            </a:r>
            <a:r>
              <a:rPr lang="en-US" sz="2400" dirty="0">
                <a:cs typeface="Arial" pitchFamily="34" charset="0"/>
              </a:rPr>
              <a:t>is optional. Two or more case labels may belong to the same statements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b="1" dirty="0">
                <a:cs typeface="Arial" pitchFamily="34" charset="0"/>
              </a:rPr>
              <a:t>default </a:t>
            </a:r>
            <a:r>
              <a:rPr lang="en-US" sz="2400" dirty="0">
                <a:cs typeface="Arial" pitchFamily="34" charset="0"/>
              </a:rPr>
              <a:t>label is optional. If present, it will be executed when the expression does not find a matching case label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v"/>
            </a:pPr>
            <a:endParaRPr lang="en-US" sz="2400" dirty="0">
              <a:cs typeface="Arial" pitchFamily="34" charset="0"/>
            </a:endParaRP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FF0000"/>
                </a:solidFill>
                <a:cs typeface="Arial" pitchFamily="34" charset="0"/>
              </a:rPr>
              <a:t>There can be at most one </a:t>
            </a:r>
            <a:r>
              <a:rPr lang="en-US" sz="2400" b="1" dirty="0">
                <a:solidFill>
                  <a:srgbClr val="FF0000"/>
                </a:solidFill>
                <a:cs typeface="Arial" pitchFamily="34" charset="0"/>
              </a:rPr>
              <a:t>default</a:t>
            </a:r>
            <a:r>
              <a:rPr lang="en-US" sz="2400" dirty="0">
                <a:solidFill>
                  <a:srgbClr val="FF0000"/>
                </a:solidFill>
                <a:cs typeface="Arial" pitchFamily="34" charset="0"/>
              </a:rPr>
              <a:t> label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b="1" dirty="0">
                <a:solidFill>
                  <a:srgbClr val="FF0000"/>
                </a:solidFill>
                <a:cs typeface="Arial" pitchFamily="34" charset="0"/>
              </a:rPr>
              <a:t>default </a:t>
            </a:r>
            <a:r>
              <a:rPr lang="en-US" sz="2400" dirty="0">
                <a:solidFill>
                  <a:srgbClr val="FF0000"/>
                </a:solidFill>
                <a:cs typeface="Arial" pitchFamily="34" charset="0"/>
              </a:rPr>
              <a:t> may be placed anywhere but usually placed at the end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400" dirty="0">
                <a:cs typeface="Arial" pitchFamily="34" charset="0"/>
              </a:rPr>
              <a:t>Nesting of switch is possible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v"/>
            </a:pPr>
            <a:endParaRPr lang="en-US" sz="2400" dirty="0">
              <a:cs typeface="Arial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v"/>
            </a:pPr>
            <a:endParaRPr lang="en-US" sz="2400" dirty="0">
              <a:cs typeface="Arial" pitchFamily="34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v"/>
            </a:pPr>
            <a:endParaRPr lang="en-US" sz="24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327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/>
          <p:cNvCxnSpPr/>
          <p:nvPr/>
        </p:nvCxnSpPr>
        <p:spPr>
          <a:xfrm rot="5400000">
            <a:off x="6021388" y="1217613"/>
            <a:ext cx="303213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Flowchart: Decision 17"/>
          <p:cNvSpPr/>
          <p:nvPr/>
        </p:nvSpPr>
        <p:spPr>
          <a:xfrm>
            <a:off x="5029200" y="1447800"/>
            <a:ext cx="2209800" cy="83820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Switch expression</a:t>
            </a:r>
          </a:p>
        </p:txBody>
      </p:sp>
      <p:cxnSp>
        <p:nvCxnSpPr>
          <p:cNvPr id="20" name="Straight Arrow Connector 19"/>
          <p:cNvCxnSpPr>
            <a:stCxn id="18" idx="2"/>
          </p:cNvCxnSpPr>
          <p:nvPr/>
        </p:nvCxnSpPr>
        <p:spPr>
          <a:xfrm rot="16200000" flipH="1">
            <a:off x="5916613" y="2503488"/>
            <a:ext cx="469900" cy="349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581400" y="2743200"/>
            <a:ext cx="45720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5400000">
            <a:off x="3238501" y="3086101"/>
            <a:ext cx="685800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rot="5400000">
            <a:off x="4306888" y="3084513"/>
            <a:ext cx="684213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33" idx="0"/>
          </p:cNvCxnSpPr>
          <p:nvPr/>
        </p:nvCxnSpPr>
        <p:spPr>
          <a:xfrm rot="5400000">
            <a:off x="7812088" y="3086100"/>
            <a:ext cx="68421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971800" y="3429000"/>
            <a:ext cx="10668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block1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67200" y="3429000"/>
            <a:ext cx="9906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696200" y="3429000"/>
            <a:ext cx="9144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267200" y="3429000"/>
            <a:ext cx="9906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block2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20000" y="3429000"/>
            <a:ext cx="10668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Default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block</a:t>
            </a:r>
          </a:p>
        </p:txBody>
      </p:sp>
      <p:sp>
        <p:nvSpPr>
          <p:cNvPr id="43023" name="TextBox 36"/>
          <p:cNvSpPr txBox="1">
            <a:spLocks noChangeArrowheads="1"/>
          </p:cNvSpPr>
          <p:nvPr/>
        </p:nvSpPr>
        <p:spPr bwMode="auto">
          <a:xfrm>
            <a:off x="3276600" y="289560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43024" name="TextBox 38"/>
          <p:cNvSpPr txBox="1">
            <a:spLocks noChangeArrowheads="1"/>
          </p:cNvSpPr>
          <p:nvPr/>
        </p:nvSpPr>
        <p:spPr bwMode="auto">
          <a:xfrm>
            <a:off x="4038600" y="289560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43025" name="TextBox 39"/>
          <p:cNvSpPr txBox="1">
            <a:spLocks noChangeArrowheads="1"/>
          </p:cNvSpPr>
          <p:nvPr/>
        </p:nvSpPr>
        <p:spPr bwMode="auto">
          <a:xfrm>
            <a:off x="7162801" y="2895601"/>
            <a:ext cx="9509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No match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4724400" y="3124200"/>
            <a:ext cx="2286000" cy="1588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791200" y="5334000"/>
            <a:ext cx="18288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Statement- x</a:t>
            </a:r>
          </a:p>
        </p:txBody>
      </p:sp>
      <p:cxnSp>
        <p:nvCxnSpPr>
          <p:cNvPr id="45" name="Straight Arrow Connector 44"/>
          <p:cNvCxnSpPr>
            <a:stCxn id="30" idx="2"/>
          </p:cNvCxnSpPr>
          <p:nvPr/>
        </p:nvCxnSpPr>
        <p:spPr>
          <a:xfrm rot="5400000">
            <a:off x="3200401" y="4267201"/>
            <a:ext cx="609600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Flowchart: Connector 45"/>
          <p:cNvSpPr/>
          <p:nvPr/>
        </p:nvSpPr>
        <p:spPr>
          <a:xfrm>
            <a:off x="6477000" y="4876800"/>
            <a:ext cx="304800" cy="3048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3505200" y="4572000"/>
            <a:ext cx="3124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46" idx="0"/>
          </p:cNvCxnSpPr>
          <p:nvPr/>
        </p:nvCxnSpPr>
        <p:spPr>
          <a:xfrm rot="5400000">
            <a:off x="6477001" y="4724401"/>
            <a:ext cx="304800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032" name="Straight Arrow Connector 57"/>
          <p:cNvCxnSpPr>
            <a:cxnSpLocks noChangeShapeType="1"/>
          </p:cNvCxnSpPr>
          <p:nvPr/>
        </p:nvCxnSpPr>
        <p:spPr bwMode="auto">
          <a:xfrm flipH="1">
            <a:off x="4648200" y="3962400"/>
            <a:ext cx="38100" cy="6096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Straight Arrow Connector 59"/>
          <p:cNvCxnSpPr>
            <a:stCxn id="36" idx="2"/>
          </p:cNvCxnSpPr>
          <p:nvPr/>
        </p:nvCxnSpPr>
        <p:spPr>
          <a:xfrm rot="5400000">
            <a:off x="7848601" y="4267201"/>
            <a:ext cx="609600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rot="10800000">
            <a:off x="6629400" y="4572000"/>
            <a:ext cx="152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035" name="Text Box 31"/>
          <p:cNvSpPr txBox="1">
            <a:spLocks noChangeArrowheads="1"/>
          </p:cNvSpPr>
          <p:nvPr/>
        </p:nvSpPr>
        <p:spPr bwMode="auto">
          <a:xfrm>
            <a:off x="6324600" y="1066801"/>
            <a:ext cx="76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Entry</a:t>
            </a:r>
          </a:p>
        </p:txBody>
      </p:sp>
      <p:sp>
        <p:nvSpPr>
          <p:cNvPr id="43036" name="Line 32"/>
          <p:cNvSpPr>
            <a:spLocks noChangeShapeType="1"/>
          </p:cNvSpPr>
          <p:nvPr/>
        </p:nvSpPr>
        <p:spPr bwMode="auto">
          <a:xfrm>
            <a:off x="6629400" y="5181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037" name="Rectangle 2"/>
          <p:cNvSpPr txBox="1">
            <a:spLocks noChangeArrowheads="1"/>
          </p:cNvSpPr>
          <p:nvPr/>
        </p:nvSpPr>
        <p:spPr bwMode="auto">
          <a:xfrm>
            <a:off x="3962400" y="304800"/>
            <a:ext cx="525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Flow chart for switch statement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7713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828800" y="637903"/>
            <a:ext cx="7162800" cy="591661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US" sz="2000" b="1" dirty="0">
              <a:cs typeface="Arial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index=mark/10;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switch (index)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{     case 10: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case  9: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case  8:   grade=‘A’;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		    break;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case  7: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case  6: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		  grade=‘B’;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		  break;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case  5: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		  grade=‘C’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		  break;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case 4: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		  grade=‘D’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		  break;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default:  grade=‘F’;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		   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cs typeface="Arial" pitchFamily="34" charset="0"/>
              </a:rPr>
              <a:t>	} </a:t>
            </a:r>
            <a:r>
              <a:rPr lang="en-US" sz="2000" b="1" dirty="0" err="1">
                <a:cs typeface="Arial" pitchFamily="34" charset="0"/>
              </a:rPr>
              <a:t>cout</a:t>
            </a:r>
            <a:r>
              <a:rPr lang="en-US" sz="2000" b="1" dirty="0">
                <a:cs typeface="Arial" pitchFamily="34" charset="0"/>
              </a:rPr>
              <a:t>&lt;&lt;grade;	</a:t>
            </a:r>
            <a:r>
              <a:rPr lang="en-US" sz="2000" dirty="0">
                <a:cs typeface="Arial" pitchFamily="34" charset="0"/>
              </a:rPr>
              <a:t>	</a:t>
            </a:r>
          </a:p>
        </p:txBody>
      </p:sp>
      <p:sp>
        <p:nvSpPr>
          <p:cNvPr id="44035" name="Rectangle 2"/>
          <p:cNvSpPr txBox="1">
            <a:spLocks noChangeArrowheads="1"/>
          </p:cNvSpPr>
          <p:nvPr/>
        </p:nvSpPr>
        <p:spPr bwMode="auto">
          <a:xfrm>
            <a:off x="1600200" y="228600"/>
            <a:ext cx="10086584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Calculation of grade using switch case</a:t>
            </a:r>
          </a:p>
        </p:txBody>
      </p:sp>
    </p:spTree>
    <p:extLst>
      <p:ext uri="{BB962C8B-B14F-4D97-AF65-F5344CB8AC3E}">
        <p14:creationId xmlns:p14="http://schemas.microsoft.com/office/powerpoint/2010/main" val="3169435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80" y="39189"/>
            <a:ext cx="4286114" cy="66465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50778" y="1293223"/>
            <a:ext cx="2390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err="1">
                <a:solidFill>
                  <a:srgbClr val="0070C0"/>
                </a:solidFill>
              </a:rPr>
              <a:t>Ans</a:t>
            </a:r>
            <a:r>
              <a:rPr lang="en-IN" sz="3600" dirty="0">
                <a:solidFill>
                  <a:srgbClr val="0070C0"/>
                </a:solidFill>
              </a:rPr>
              <a:t>: x = 25</a:t>
            </a:r>
          </a:p>
        </p:txBody>
      </p:sp>
    </p:spTree>
    <p:extLst>
      <p:ext uri="{BB962C8B-B14F-4D97-AF65-F5344CB8AC3E}">
        <p14:creationId xmlns:p14="http://schemas.microsoft.com/office/powerpoint/2010/main" val="148711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05000" y="1295400"/>
            <a:ext cx="4724400" cy="4953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 err="1">
                <a:cs typeface="Arial" pitchFamily="34" charset="0"/>
              </a:rPr>
              <a:t>int</a:t>
            </a:r>
            <a:r>
              <a:rPr lang="en-US" sz="2400" b="1" dirty="0">
                <a:cs typeface="Arial" pitchFamily="34" charset="0"/>
              </a:rPr>
              <a:t> </a:t>
            </a:r>
            <a:r>
              <a:rPr lang="en-US" sz="2400" b="1" dirty="0" err="1">
                <a:cs typeface="Arial" pitchFamily="34" charset="0"/>
              </a:rPr>
              <a:t>iNum</a:t>
            </a:r>
            <a:r>
              <a:rPr lang="en-US" sz="2400" b="1" dirty="0">
                <a:cs typeface="Arial" pitchFamily="34" charset="0"/>
              </a:rPr>
              <a:t> = 2;</a:t>
            </a:r>
            <a:r>
              <a:rPr lang="en-US" sz="2400" dirty="0">
                <a:cs typeface="Arial" pitchFamily="34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switch(</a:t>
            </a:r>
            <a:r>
              <a:rPr lang="en-US" sz="2400" b="1" dirty="0" err="1">
                <a:cs typeface="Arial" pitchFamily="34" charset="0"/>
              </a:rPr>
              <a:t>iNum</a:t>
            </a:r>
            <a:r>
              <a:rPr lang="en-US" sz="2400" b="1" dirty="0">
                <a:cs typeface="Arial" pitchFamily="34" charset="0"/>
              </a:rPr>
              <a:t>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case 1:</a:t>
            </a:r>
            <a:r>
              <a:rPr lang="en-US" sz="2400" dirty="0">
                <a:cs typeface="Arial" pitchFamily="34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cs typeface="Arial" pitchFamily="34" charset="0"/>
              </a:rPr>
              <a:t>		</a:t>
            </a:r>
            <a:r>
              <a:rPr lang="en-US" sz="2400" b="1" dirty="0">
                <a:cs typeface="Arial" pitchFamily="34" charset="0"/>
              </a:rPr>
              <a:t>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ONE”;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            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case 2: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	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TWO”;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	 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case 3: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	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THREE”;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	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default: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	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&lt;&lt;“INVALID”);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}</a:t>
            </a:r>
            <a:r>
              <a:rPr lang="en-US" sz="2400" dirty="0">
                <a:cs typeface="Arial" pitchFamily="34" charset="0"/>
              </a:rPr>
              <a:t> </a:t>
            </a:r>
          </a:p>
        </p:txBody>
      </p:sp>
      <p:sp>
        <p:nvSpPr>
          <p:cNvPr id="47108" name="Slide Number Placeholder 5"/>
          <p:cNvSpPr txBox="1">
            <a:spLocks noGrp="1"/>
          </p:cNvSpPr>
          <p:nvPr/>
        </p:nvSpPr>
        <p:spPr bwMode="auto">
          <a:xfrm>
            <a:off x="8534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3674CA-5A36-408A-A439-8657A4905774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362201"/>
            <a:ext cx="3657600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Rectangle 2"/>
          <p:cNvSpPr txBox="1">
            <a:spLocks noChangeArrowheads="1"/>
          </p:cNvSpPr>
          <p:nvPr/>
        </p:nvSpPr>
        <p:spPr bwMode="auto">
          <a:xfrm>
            <a:off x="4367213" y="350838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Predict the output -1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003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143000"/>
            <a:ext cx="4267200" cy="4876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 err="1">
                <a:cs typeface="Arial" pitchFamily="34" charset="0"/>
              </a:rPr>
              <a:t>iNum</a:t>
            </a:r>
            <a:r>
              <a:rPr lang="en-US" sz="2400" b="1" dirty="0">
                <a:cs typeface="Arial" pitchFamily="34" charset="0"/>
              </a:rPr>
              <a:t> = 2;</a:t>
            </a:r>
            <a:r>
              <a:rPr lang="en-US" sz="2400" dirty="0">
                <a:cs typeface="Arial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switch(</a:t>
            </a:r>
            <a:r>
              <a:rPr lang="en-US" sz="2400" b="1" dirty="0" err="1">
                <a:cs typeface="Arial" pitchFamily="34" charset="0"/>
              </a:rPr>
              <a:t>iNum</a:t>
            </a:r>
            <a:r>
              <a:rPr lang="en-US" sz="2400" b="1" dirty="0">
                <a:cs typeface="Arial" pitchFamily="34" charset="0"/>
              </a:rPr>
              <a:t>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default: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	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INVALID”);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case 1: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	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ONE”);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case 2: 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	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TWO”);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	break;</a:t>
            </a:r>
            <a:r>
              <a:rPr lang="en-US" sz="2400" dirty="0">
                <a:cs typeface="Arial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case 3: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	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THREE”);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}</a:t>
            </a:r>
            <a:r>
              <a:rPr lang="en-US" sz="2400" dirty="0">
                <a:cs typeface="Arial" pitchFamily="34" charset="0"/>
              </a:rPr>
              <a:t> </a:t>
            </a:r>
          </a:p>
        </p:txBody>
      </p:sp>
      <p:sp>
        <p:nvSpPr>
          <p:cNvPr id="48132" name="Slide Number Placeholder 5"/>
          <p:cNvSpPr txBox="1">
            <a:spLocks noGrp="1"/>
          </p:cNvSpPr>
          <p:nvPr/>
        </p:nvSpPr>
        <p:spPr bwMode="auto">
          <a:xfrm>
            <a:off x="80772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4379D0-BE3D-484D-9116-F206D8889671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819400"/>
            <a:ext cx="3505200" cy="267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4" name="Rectangle 2"/>
          <p:cNvSpPr txBox="1">
            <a:spLocks noChangeArrowheads="1"/>
          </p:cNvSpPr>
          <p:nvPr/>
        </p:nvSpPr>
        <p:spPr bwMode="auto">
          <a:xfrm>
            <a:off x="4648200" y="381000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Predict the output -2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039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52600" y="1371601"/>
            <a:ext cx="4419600" cy="452596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 err="1">
                <a:cs typeface="Arial" pitchFamily="34" charset="0"/>
              </a:rPr>
              <a:t>int</a:t>
            </a:r>
            <a:r>
              <a:rPr lang="en-US" sz="2400" b="1" dirty="0">
                <a:cs typeface="Arial" pitchFamily="34" charset="0"/>
              </a:rPr>
              <a:t> </a:t>
            </a:r>
            <a:r>
              <a:rPr lang="en-US" sz="2400" b="1" dirty="0" err="1">
                <a:cs typeface="Arial" pitchFamily="34" charset="0"/>
              </a:rPr>
              <a:t>iNum</a:t>
            </a:r>
            <a:r>
              <a:rPr lang="en-US" sz="2400" b="1" dirty="0">
                <a:cs typeface="Arial" pitchFamily="34" charset="0"/>
              </a:rPr>
              <a:t> = 2;</a:t>
            </a:r>
            <a:r>
              <a:rPr lang="en-US" sz="2400" dirty="0">
                <a:cs typeface="Arial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switch(</a:t>
            </a:r>
            <a:r>
              <a:rPr lang="en-US" sz="2400" b="1" dirty="0" err="1">
                <a:cs typeface="Arial" pitchFamily="34" charset="0"/>
              </a:rPr>
              <a:t>iNum</a:t>
            </a:r>
            <a:r>
              <a:rPr lang="en-US" sz="2400" b="1" dirty="0">
                <a:cs typeface="Arial" pitchFamily="34" charset="0"/>
              </a:rPr>
              <a:t>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case 1.5:</a:t>
            </a:r>
            <a:r>
              <a:rPr lang="en-US" sz="2400" dirty="0">
                <a:cs typeface="Arial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ONE AND HALF”;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break;</a:t>
            </a:r>
            <a:r>
              <a:rPr lang="en-US" sz="2400" dirty="0">
                <a:cs typeface="Arial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case 2: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&lt;&lt;““TWO”;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b="1" dirty="0">
              <a:cs typeface="Arial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case ‘A’ 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A character”;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}</a:t>
            </a:r>
            <a:r>
              <a:rPr lang="en-US" sz="2400" dirty="0">
                <a:cs typeface="Arial" pitchFamily="34" charset="0"/>
              </a:rPr>
              <a:t> </a:t>
            </a:r>
          </a:p>
        </p:txBody>
      </p:sp>
      <p:sp>
        <p:nvSpPr>
          <p:cNvPr id="49156" name="Slide Number Placeholder 5"/>
          <p:cNvSpPr txBox="1">
            <a:spLocks noGrp="1"/>
          </p:cNvSpPr>
          <p:nvPr/>
        </p:nvSpPr>
        <p:spPr bwMode="auto">
          <a:xfrm>
            <a:off x="8153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D10DC8-F6BA-426E-99E9-FD25BC46312A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057401"/>
            <a:ext cx="4191000" cy="293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Rectangle 2"/>
          <p:cNvSpPr txBox="1">
            <a:spLocks noChangeArrowheads="1"/>
          </p:cNvSpPr>
          <p:nvPr/>
        </p:nvSpPr>
        <p:spPr bwMode="auto">
          <a:xfrm>
            <a:off x="4648200" y="457200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Predict the output -3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087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52600" y="1600201"/>
            <a:ext cx="5257800" cy="452596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const unsigned   </a:t>
            </a:r>
            <a:r>
              <a:rPr lang="en-US" sz="2400" b="1" dirty="0" err="1">
                <a:cs typeface="Arial" pitchFamily="34" charset="0"/>
              </a:rPr>
              <a:t>int</a:t>
            </a:r>
            <a:r>
              <a:rPr lang="en-US" sz="2400" b="1" dirty="0">
                <a:cs typeface="Arial" pitchFamily="34" charset="0"/>
              </a:rPr>
              <a:t>   </a:t>
            </a:r>
            <a:r>
              <a:rPr lang="en-US" sz="2400" b="1" dirty="0" err="1">
                <a:cs typeface="Arial" pitchFamily="34" charset="0"/>
              </a:rPr>
              <a:t>iCountOfItems</a:t>
            </a:r>
            <a:r>
              <a:rPr lang="en-US" sz="2400" b="1" dirty="0">
                <a:cs typeface="Arial" pitchFamily="34" charset="0"/>
              </a:rPr>
              <a:t> = 5;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b="1" dirty="0">
              <a:cs typeface="Arial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switch ( </a:t>
            </a:r>
            <a:r>
              <a:rPr lang="en-US" sz="2400" b="1" dirty="0" err="1">
                <a:cs typeface="Arial" pitchFamily="34" charset="0"/>
              </a:rPr>
              <a:t>iCountOfItems</a:t>
            </a:r>
            <a:r>
              <a:rPr lang="en-US" sz="2400" b="1" dirty="0">
                <a:cs typeface="Arial" pitchFamily="34" charset="0"/>
              </a:rPr>
              <a:t> ) {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b="1" dirty="0">
              <a:cs typeface="Arial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case   </a:t>
            </a:r>
            <a:r>
              <a:rPr lang="en-US" sz="2400" b="1" dirty="0" err="1">
                <a:cs typeface="Arial" pitchFamily="34" charset="0"/>
              </a:rPr>
              <a:t>iCountOfItems</a:t>
            </a:r>
            <a:r>
              <a:rPr lang="en-US" sz="2400" b="1" dirty="0">
                <a:cs typeface="Arial" pitchFamily="34" charset="0"/>
              </a:rPr>
              <a:t> &gt;=10 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Enough Stock”;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     break;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default 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	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Not enough stock”;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      break;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cs typeface="Arial" pitchFamily="34" charset="0"/>
              </a:rPr>
              <a:t>}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b="1" dirty="0">
              <a:cs typeface="Arial" pitchFamily="34" charset="0"/>
            </a:endParaRPr>
          </a:p>
        </p:txBody>
      </p:sp>
      <p:sp>
        <p:nvSpPr>
          <p:cNvPr id="50180" name="Slide Number Placeholder 5"/>
          <p:cNvSpPr txBox="1">
            <a:spLocks noGrp="1"/>
          </p:cNvSpPr>
          <p:nvPr/>
        </p:nvSpPr>
        <p:spPr bwMode="auto">
          <a:xfrm>
            <a:off x="80772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24898B-895B-4C0E-A5AF-6746EA537880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5604" name="AutoShape 4"/>
          <p:cNvSpPr>
            <a:spLocks noChangeArrowheads="1"/>
          </p:cNvSpPr>
          <p:nvPr/>
        </p:nvSpPr>
        <p:spPr bwMode="auto">
          <a:xfrm>
            <a:off x="7010400" y="2514600"/>
            <a:ext cx="2819400" cy="2590800"/>
          </a:xfrm>
          <a:prstGeom prst="verticalScroll">
            <a:avLst>
              <a:gd name="adj" fmla="val 12500"/>
            </a:avLst>
          </a:prstGeom>
          <a:solidFill>
            <a:srgbClr val="FF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Error: Relational Expressions cannot be used in switch statement</a:t>
            </a:r>
          </a:p>
        </p:txBody>
      </p:sp>
      <p:sp>
        <p:nvSpPr>
          <p:cNvPr id="50182" name="Rectangle 2"/>
          <p:cNvSpPr txBox="1">
            <a:spLocks noChangeArrowheads="1"/>
          </p:cNvSpPr>
          <p:nvPr/>
        </p:nvSpPr>
        <p:spPr bwMode="auto">
          <a:xfrm>
            <a:off x="4267200" y="381000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Predict the output -4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904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524001"/>
            <a:ext cx="45720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b="1" dirty="0">
                <a:cs typeface="Arial" pitchFamily="34" charset="0"/>
              </a:rPr>
              <a:t>switch (</a:t>
            </a:r>
            <a:r>
              <a:rPr lang="en-US" sz="2400" b="1" dirty="0" err="1">
                <a:cs typeface="Arial" pitchFamily="34" charset="0"/>
              </a:rPr>
              <a:t>iDepartmentCode</a:t>
            </a:r>
            <a:r>
              <a:rPr lang="en-US" sz="2400" b="1" dirty="0">
                <a:cs typeface="Arial" pitchFamily="34" charset="0"/>
              </a:rPr>
              <a:t>){ 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cs typeface="Arial" pitchFamily="34" charset="0"/>
              </a:rPr>
              <a:t>	case 110 :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&lt;&lt;“HRD”; 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cs typeface="Arial" pitchFamily="34" charset="0"/>
              </a:rPr>
              <a:t>	case 115 :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&lt;&lt;“IVS”; 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cs typeface="Arial" pitchFamily="34" charset="0"/>
              </a:rPr>
              <a:t>	case 125 :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E&amp;R”; 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cs typeface="Arial" pitchFamily="34" charset="0"/>
              </a:rPr>
              <a:t>	case 135 :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CCD”; 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cs typeface="Arial" pitchFamily="34" charset="0"/>
              </a:rPr>
              <a:t>}</a:t>
            </a:r>
          </a:p>
          <a:p>
            <a:pPr eaLnBrk="1" hangingPunct="1">
              <a:buFontTx/>
              <a:buNone/>
            </a:pPr>
            <a:endParaRPr lang="en-US" sz="2400" b="1" dirty="0">
              <a:cs typeface="Arial" pitchFamily="34" charset="0"/>
            </a:endParaRPr>
          </a:p>
          <a:p>
            <a:pPr eaLnBrk="1" hangingPunct="1">
              <a:buFontTx/>
              <a:buNone/>
            </a:pPr>
            <a:r>
              <a:rPr lang="en-US" sz="2400" b="1" dirty="0">
                <a:cs typeface="Arial" pitchFamily="34" charset="0"/>
              </a:rPr>
              <a:t>• Assume </a:t>
            </a:r>
            <a:r>
              <a:rPr lang="en-US" sz="2400" b="1" dirty="0" err="1">
                <a:cs typeface="Arial" pitchFamily="34" charset="0"/>
              </a:rPr>
              <a:t>iDepartmentCode</a:t>
            </a:r>
            <a:r>
              <a:rPr lang="en-US" sz="2400" b="1" dirty="0">
                <a:cs typeface="Arial" pitchFamily="34" charset="0"/>
              </a:rPr>
              <a:t> is 115 and find the output </a:t>
            </a:r>
          </a:p>
        </p:txBody>
      </p:sp>
      <p:sp>
        <p:nvSpPr>
          <p:cNvPr id="51204" name="Slide Number Placeholder 5"/>
          <p:cNvSpPr txBox="1">
            <a:spLocks noGrp="1"/>
          </p:cNvSpPr>
          <p:nvPr/>
        </p:nvSpPr>
        <p:spPr bwMode="auto">
          <a:xfrm>
            <a:off x="80772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5BA338-BD8B-4016-9B0A-93271210EC7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4580" name="AutoShape 4"/>
          <p:cNvSpPr>
            <a:spLocks noChangeArrowheads="1"/>
          </p:cNvSpPr>
          <p:nvPr/>
        </p:nvSpPr>
        <p:spPr bwMode="auto">
          <a:xfrm>
            <a:off x="7086600" y="2514600"/>
            <a:ext cx="2667000" cy="2590800"/>
          </a:xfrm>
          <a:prstGeom prst="verticalScroll">
            <a:avLst>
              <a:gd name="adj" fmla="val 12500"/>
            </a:avLst>
          </a:prstGeom>
          <a:solidFill>
            <a:srgbClr val="FF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IVSE&amp;RCCD</a:t>
            </a:r>
          </a:p>
        </p:txBody>
      </p:sp>
      <p:sp>
        <p:nvSpPr>
          <p:cNvPr id="51206" name="Rectangle 2"/>
          <p:cNvSpPr txBox="1">
            <a:spLocks noChangeArrowheads="1"/>
          </p:cNvSpPr>
          <p:nvPr/>
        </p:nvSpPr>
        <p:spPr bwMode="auto">
          <a:xfrm>
            <a:off x="4876800" y="4572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Predict the output -5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61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990600"/>
            <a:ext cx="4343400" cy="5410200"/>
          </a:xfrm>
          <a:ln>
            <a:solidFill>
              <a:schemeClr val="tx1"/>
            </a:solidFill>
          </a:ln>
        </p:spPr>
        <p:txBody>
          <a:bodyPr rtlCol="0">
            <a:normAutofit lnSpcReduction="10000"/>
          </a:bodyPr>
          <a:lstStyle/>
          <a:p>
            <a:pPr>
              <a:lnSpc>
                <a:spcPct val="80000"/>
              </a:lnSpc>
              <a:buNone/>
              <a:defRPr/>
            </a:pPr>
            <a:r>
              <a:rPr lang="en-US" sz="2400" b="1" dirty="0">
                <a:cs typeface="Arial" pitchFamily="34" charset="0"/>
              </a:rPr>
              <a:t>char </a:t>
            </a:r>
            <a:r>
              <a:rPr lang="en-US" sz="2400" b="1" dirty="0" err="1">
                <a:cs typeface="Arial" pitchFamily="34" charset="0"/>
              </a:rPr>
              <a:t>ch</a:t>
            </a:r>
            <a:r>
              <a:rPr lang="en-US" sz="2400" b="1" dirty="0">
                <a:cs typeface="Arial" pitchFamily="34" charset="0"/>
              </a:rPr>
              <a:t>=‘a’; 	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sz="2400" b="1" dirty="0">
                <a:cs typeface="Arial" pitchFamily="34" charset="0"/>
              </a:rPr>
              <a:t>switch(</a:t>
            </a:r>
            <a:r>
              <a:rPr lang="en-US" sz="2400" b="1" dirty="0" err="1">
                <a:cs typeface="Arial" pitchFamily="34" charset="0"/>
              </a:rPr>
              <a:t>ch</a:t>
            </a:r>
            <a:r>
              <a:rPr lang="en-US" sz="2400" b="1" dirty="0">
                <a:cs typeface="Arial" pitchFamily="34" charset="0"/>
              </a:rPr>
              <a:t>)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sz="2400" b="1" dirty="0">
                <a:cs typeface="Arial" pitchFamily="34" charset="0"/>
              </a:rPr>
              <a:t>{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sz="2400" b="1" dirty="0">
                <a:cs typeface="Arial" pitchFamily="34" charset="0"/>
              </a:rPr>
              <a:t>	case ‘a’ :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Vowel”; 		        break;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sz="2400" b="1" dirty="0">
                <a:cs typeface="Arial" pitchFamily="34" charset="0"/>
              </a:rPr>
              <a:t>	case ‘e’ :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Vowel”; 		        break;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sz="2400" b="1" dirty="0">
                <a:cs typeface="Arial" pitchFamily="34" charset="0"/>
              </a:rPr>
              <a:t>	case ‘i’ : 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&lt;&lt;“ Vowel”; 		       break;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sz="2400" b="1" dirty="0">
                <a:cs typeface="Arial" pitchFamily="34" charset="0"/>
              </a:rPr>
              <a:t>	</a:t>
            </a:r>
            <a:r>
              <a:rPr lang="en-US" sz="2000" b="1" dirty="0">
                <a:cs typeface="Arial" pitchFamily="34" charset="0"/>
              </a:rPr>
              <a:t>case ‘o’ : </a:t>
            </a:r>
            <a:r>
              <a:rPr lang="en-US" sz="2000" b="1" dirty="0" err="1">
                <a:cs typeface="Arial" pitchFamily="34" charset="0"/>
              </a:rPr>
              <a:t>cout</a:t>
            </a:r>
            <a:r>
              <a:rPr lang="en-US" sz="2000" b="1" dirty="0">
                <a:cs typeface="Arial" pitchFamily="34" charset="0"/>
              </a:rPr>
              <a:t>&lt;&lt;“ Vowel”;   </a:t>
            </a:r>
            <a:r>
              <a:rPr lang="en-US" sz="2400" b="1" dirty="0">
                <a:cs typeface="Arial" pitchFamily="34" charset="0"/>
              </a:rPr>
              <a:t>		        break;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sz="2400" b="1" dirty="0">
                <a:cs typeface="Arial" pitchFamily="34" charset="0"/>
              </a:rPr>
              <a:t>	</a:t>
            </a:r>
            <a:r>
              <a:rPr lang="en-US" sz="2000" b="1" dirty="0">
                <a:cs typeface="Arial" pitchFamily="34" charset="0"/>
              </a:rPr>
              <a:t>case ‘u’ : </a:t>
            </a:r>
            <a:r>
              <a:rPr lang="en-US" sz="2000" b="1" dirty="0" err="1">
                <a:cs typeface="Arial" pitchFamily="34" charset="0"/>
              </a:rPr>
              <a:t>cout</a:t>
            </a:r>
            <a:r>
              <a:rPr lang="en-US" sz="2000" b="1" dirty="0">
                <a:cs typeface="Arial" pitchFamily="34" charset="0"/>
              </a:rPr>
              <a:t>&lt;&lt;“ Vowel”;  </a:t>
            </a:r>
            <a:r>
              <a:rPr lang="en-US" sz="2400" b="1" dirty="0">
                <a:cs typeface="Arial" pitchFamily="34" charset="0"/>
              </a:rPr>
              <a:t>	  	        break;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sz="2400" b="1" dirty="0">
                <a:cs typeface="Arial" pitchFamily="34" charset="0"/>
              </a:rPr>
              <a:t>	</a:t>
            </a:r>
            <a:r>
              <a:rPr lang="en-US" sz="2000" b="1" dirty="0">
                <a:cs typeface="Arial" pitchFamily="34" charset="0"/>
              </a:rPr>
              <a:t>default: </a:t>
            </a:r>
            <a:r>
              <a:rPr lang="en-US" sz="2000" b="1" dirty="0" err="1">
                <a:cs typeface="Arial" pitchFamily="34" charset="0"/>
              </a:rPr>
              <a:t>cout</a:t>
            </a:r>
            <a:r>
              <a:rPr lang="en-US" sz="2000" b="1" dirty="0">
                <a:cs typeface="Arial" pitchFamily="34" charset="0"/>
              </a:rPr>
              <a:t>&lt;&lt;“ Not a Vowel”;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sz="2400" b="1" dirty="0">
                <a:cs typeface="Arial" pitchFamily="34" charset="0"/>
              </a:rPr>
              <a:t>} </a:t>
            </a:r>
          </a:p>
        </p:txBody>
      </p:sp>
      <p:sp>
        <p:nvSpPr>
          <p:cNvPr id="52228" name="Slide Number Placeholder 5"/>
          <p:cNvSpPr txBox="1">
            <a:spLocks noGrp="1"/>
          </p:cNvSpPr>
          <p:nvPr/>
        </p:nvSpPr>
        <p:spPr bwMode="auto">
          <a:xfrm>
            <a:off x="80772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85DC7A-3BA8-46DF-8370-6BDC4D97C021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6096000" y="990600"/>
            <a:ext cx="4419600" cy="541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char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=‘a’; 			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switch(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case ‘a’ : 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case ‘e’ :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case ‘i’ :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case ‘o’ :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case ‘u’ :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cout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&lt;&lt;“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Vowel”; 	break;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default : 	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cout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t>&lt;&lt;“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a vowel”;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 </a:t>
            </a:r>
          </a:p>
        </p:txBody>
      </p:sp>
      <p:sp>
        <p:nvSpPr>
          <p:cNvPr id="52230" name="Rectangle 10"/>
          <p:cNvSpPr>
            <a:spLocks noChangeArrowheads="1"/>
          </p:cNvSpPr>
          <p:nvPr/>
        </p:nvSpPr>
        <p:spPr bwMode="auto">
          <a:xfrm>
            <a:off x="5445126" y="3040063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2231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886200"/>
            <a:ext cx="673100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2" name="Rectangle 2"/>
          <p:cNvSpPr txBox="1">
            <a:spLocks noChangeArrowheads="1"/>
          </p:cNvSpPr>
          <p:nvPr/>
        </p:nvSpPr>
        <p:spPr bwMode="auto">
          <a:xfrm>
            <a:off x="3886200" y="304801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An example for switch case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2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642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&amp;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Flow of control </a:t>
            </a:r>
          </a:p>
          <a:p>
            <a:r>
              <a:rPr lang="en-US" b="1" i="1" dirty="0"/>
              <a:t>Control statements – statements that cause jump</a:t>
            </a:r>
          </a:p>
        </p:txBody>
      </p:sp>
    </p:spTree>
    <p:extLst>
      <p:ext uri="{BB962C8B-B14F-4D97-AF65-F5344CB8AC3E}">
        <p14:creationId xmlns:p14="http://schemas.microsoft.com/office/powerpoint/2010/main" val="24370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534" y="1923919"/>
            <a:ext cx="4705350" cy="21621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8200" y="5597100"/>
            <a:ext cx="10735101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i="0" u="none" strike="noStrike" baseline="0" dirty="0">
                <a:latin typeface="Times-Roman"/>
              </a:rPr>
              <a:t>C++ generates a 1 to indicate true, it assumes that any value other than 0 (such as –7 or 44) is true;     </a:t>
            </a:r>
          </a:p>
          <a:p>
            <a:r>
              <a:rPr lang="en-US" dirty="0">
                <a:latin typeface="Times-Roman"/>
              </a:rPr>
              <a:t>                                                             </a:t>
            </a:r>
            <a:r>
              <a:rPr lang="en-US" b="1" i="0" u="none" strike="noStrike" baseline="0" dirty="0">
                <a:latin typeface="Times-Roman"/>
              </a:rPr>
              <a:t>only 0 is false</a:t>
            </a:r>
            <a:endParaRPr lang="en-US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002" y="811061"/>
            <a:ext cx="4391025" cy="3276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413" y="4193022"/>
            <a:ext cx="895350" cy="609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9011" y="4254534"/>
            <a:ext cx="2552700" cy="381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413839" y="363069"/>
            <a:ext cx="2939143" cy="4428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2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Cause a section of your program to be repeated a certain number of times.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 repetition continues while a condition is true. When the condition becomes false, the loop ends and control passes to the statements following the loop.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Depending on nature of control variable: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>
                <a:solidFill>
                  <a:srgbClr val="C00000"/>
                </a:solidFill>
                <a:cs typeface="Arial" pitchFamily="34" charset="0"/>
              </a:rPr>
              <a:t>Counter-controlled loops (definite repetition loop, exact times)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>
                <a:solidFill>
                  <a:srgbClr val="C00000"/>
                </a:solidFill>
                <a:cs typeface="Arial" pitchFamily="34" charset="0"/>
              </a:rPr>
              <a:t>Sentinel-controlled loops (indefinite repetition loop, -1 or 99 or y)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8532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Slide Number Placeholder 4"/>
          <p:cNvSpPr txBox="1">
            <a:spLocks noGrp="1"/>
          </p:cNvSpPr>
          <p:nvPr/>
        </p:nvSpPr>
        <p:spPr bwMode="auto">
          <a:xfrm>
            <a:off x="8153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fld id="{432FF756-4606-4E18-81E4-694B436284A8}" type="slidenum">
              <a:rPr lang="en-US" sz="1400"/>
              <a:pPr algn="r" eaLnBrk="1" hangingPunct="1"/>
              <a:t>35</a:t>
            </a:fld>
            <a:endParaRPr lang="en-US" sz="1400"/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3962400" y="3886201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b="1"/>
              <a:t>True</a:t>
            </a:r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3962400" y="1143001"/>
            <a:ext cx="76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b="1"/>
              <a:t>Entry</a:t>
            </a:r>
          </a:p>
        </p:txBody>
      </p:sp>
      <p:sp>
        <p:nvSpPr>
          <p:cNvPr id="57350" name="AutoShape 7"/>
          <p:cNvSpPr>
            <a:spLocks noChangeArrowheads="1"/>
          </p:cNvSpPr>
          <p:nvPr/>
        </p:nvSpPr>
        <p:spPr bwMode="auto">
          <a:xfrm>
            <a:off x="3733800" y="1676400"/>
            <a:ext cx="457200" cy="4572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/>
            <a:endParaRPr lang="en-US"/>
          </a:p>
        </p:txBody>
      </p:sp>
      <p:sp>
        <p:nvSpPr>
          <p:cNvPr id="57351" name="AutoShape 8"/>
          <p:cNvSpPr>
            <a:spLocks noChangeArrowheads="1"/>
          </p:cNvSpPr>
          <p:nvPr/>
        </p:nvSpPr>
        <p:spPr bwMode="auto">
          <a:xfrm>
            <a:off x="3200400" y="2819400"/>
            <a:ext cx="1524000" cy="8382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b="1"/>
              <a:t>Test </a:t>
            </a:r>
          </a:p>
          <a:p>
            <a:pPr eaLnBrk="0" hangingPunct="0"/>
            <a:r>
              <a:rPr lang="en-US" b="1"/>
              <a:t>Condition</a:t>
            </a:r>
          </a:p>
        </p:txBody>
      </p:sp>
      <p:sp>
        <p:nvSpPr>
          <p:cNvPr id="57352" name="AutoShape 9"/>
          <p:cNvSpPr>
            <a:spLocks noChangeArrowheads="1"/>
          </p:cNvSpPr>
          <p:nvPr/>
        </p:nvSpPr>
        <p:spPr bwMode="auto">
          <a:xfrm>
            <a:off x="3505200" y="4572000"/>
            <a:ext cx="914400" cy="76200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b="1"/>
              <a:t>Body of</a:t>
            </a:r>
          </a:p>
          <a:p>
            <a:pPr eaLnBrk="0" hangingPunct="0"/>
            <a:r>
              <a:rPr lang="en-US" b="1"/>
              <a:t>The loop</a:t>
            </a:r>
          </a:p>
        </p:txBody>
      </p:sp>
      <p:sp>
        <p:nvSpPr>
          <p:cNvPr id="57353" name="Line 10"/>
          <p:cNvSpPr>
            <a:spLocks noChangeShapeType="1"/>
          </p:cNvSpPr>
          <p:nvPr/>
        </p:nvSpPr>
        <p:spPr bwMode="auto">
          <a:xfrm>
            <a:off x="3962400" y="2133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4" name="Line 11"/>
          <p:cNvSpPr>
            <a:spLocks noChangeShapeType="1"/>
          </p:cNvSpPr>
          <p:nvPr/>
        </p:nvSpPr>
        <p:spPr bwMode="auto">
          <a:xfrm>
            <a:off x="3962400" y="3657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7355" name="Group 32"/>
          <p:cNvGrpSpPr>
            <a:grpSpLocks/>
          </p:cNvGrpSpPr>
          <p:nvPr/>
        </p:nvGrpSpPr>
        <p:grpSpPr bwMode="auto">
          <a:xfrm>
            <a:off x="4191000" y="3238500"/>
            <a:ext cx="1752600" cy="3238500"/>
            <a:chOff x="1680" y="2040"/>
            <a:chExt cx="1104" cy="2040"/>
          </a:xfrm>
        </p:grpSpPr>
        <p:sp>
          <p:nvSpPr>
            <p:cNvPr id="57375" name="Line 3"/>
            <p:cNvSpPr>
              <a:spLocks noChangeShapeType="1"/>
            </p:cNvSpPr>
            <p:nvPr/>
          </p:nvSpPr>
          <p:spPr bwMode="auto">
            <a:xfrm>
              <a:off x="1680" y="38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57376" name="AutoShape 12"/>
            <p:cNvCxnSpPr>
              <a:cxnSpLocks noChangeShapeType="1"/>
              <a:stCxn id="57351" idx="3"/>
            </p:cNvCxnSpPr>
            <p:nvPr/>
          </p:nvCxnSpPr>
          <p:spPr bwMode="auto">
            <a:xfrm>
              <a:off x="2016" y="2040"/>
              <a:ext cx="768" cy="180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77" name="AutoShape 13"/>
            <p:cNvCxnSpPr>
              <a:cxnSpLocks noChangeShapeType="1"/>
            </p:cNvCxnSpPr>
            <p:nvPr/>
          </p:nvCxnSpPr>
          <p:spPr bwMode="auto">
            <a:xfrm flipH="1">
              <a:off x="1680" y="3840"/>
              <a:ext cx="110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7356" name="Text Box 14"/>
          <p:cNvSpPr txBox="1">
            <a:spLocks noChangeArrowheads="1"/>
          </p:cNvSpPr>
          <p:nvPr/>
        </p:nvSpPr>
        <p:spPr bwMode="auto">
          <a:xfrm>
            <a:off x="4876800" y="2895601"/>
            <a:ext cx="76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b="1"/>
              <a:t>False</a:t>
            </a:r>
          </a:p>
        </p:txBody>
      </p:sp>
      <p:sp>
        <p:nvSpPr>
          <p:cNvPr id="57357" name="Line 15"/>
          <p:cNvSpPr>
            <a:spLocks noChangeShapeType="1"/>
          </p:cNvSpPr>
          <p:nvPr/>
        </p:nvSpPr>
        <p:spPr bwMode="auto">
          <a:xfrm>
            <a:off x="3962400" y="1371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8" name="Line 16"/>
          <p:cNvSpPr>
            <a:spLocks noChangeShapeType="1"/>
          </p:cNvSpPr>
          <p:nvPr/>
        </p:nvSpPr>
        <p:spPr bwMode="auto">
          <a:xfrm>
            <a:off x="8458200" y="114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9" name="AutoShape 17"/>
          <p:cNvSpPr>
            <a:spLocks noChangeArrowheads="1"/>
          </p:cNvSpPr>
          <p:nvPr/>
        </p:nvSpPr>
        <p:spPr bwMode="auto">
          <a:xfrm>
            <a:off x="7620000" y="4419600"/>
            <a:ext cx="1524000" cy="8382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b="1"/>
              <a:t>Test </a:t>
            </a:r>
          </a:p>
          <a:p>
            <a:pPr eaLnBrk="0" hangingPunct="0"/>
            <a:r>
              <a:rPr lang="en-US" b="1"/>
              <a:t>Condition</a:t>
            </a:r>
          </a:p>
        </p:txBody>
      </p:sp>
      <p:cxnSp>
        <p:nvCxnSpPr>
          <p:cNvPr id="57360" name="AutoShape 18"/>
          <p:cNvCxnSpPr>
            <a:cxnSpLocks noChangeShapeType="1"/>
            <a:stCxn id="57359" idx="3"/>
          </p:cNvCxnSpPr>
          <p:nvPr/>
        </p:nvCxnSpPr>
        <p:spPr bwMode="auto">
          <a:xfrm flipV="1">
            <a:off x="9144000" y="1752600"/>
            <a:ext cx="762000" cy="30861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361" name="Line 19"/>
          <p:cNvSpPr>
            <a:spLocks noChangeShapeType="1"/>
          </p:cNvSpPr>
          <p:nvPr/>
        </p:nvSpPr>
        <p:spPr bwMode="auto">
          <a:xfrm>
            <a:off x="8382000" y="525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62" name="Text Box 20"/>
          <p:cNvSpPr txBox="1">
            <a:spLocks noChangeArrowheads="1"/>
          </p:cNvSpPr>
          <p:nvPr/>
        </p:nvSpPr>
        <p:spPr bwMode="auto">
          <a:xfrm>
            <a:off x="9067800" y="4419601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b="1"/>
              <a:t>True</a:t>
            </a:r>
          </a:p>
        </p:txBody>
      </p:sp>
      <p:sp>
        <p:nvSpPr>
          <p:cNvPr id="57363" name="AutoShape 22"/>
          <p:cNvSpPr>
            <a:spLocks noChangeArrowheads="1"/>
          </p:cNvSpPr>
          <p:nvPr/>
        </p:nvSpPr>
        <p:spPr bwMode="auto">
          <a:xfrm>
            <a:off x="8229600" y="1524000"/>
            <a:ext cx="457200" cy="4572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/>
            <a:endParaRPr lang="en-US"/>
          </a:p>
        </p:txBody>
      </p:sp>
      <p:sp>
        <p:nvSpPr>
          <p:cNvPr id="57364" name="Line 23"/>
          <p:cNvSpPr>
            <a:spLocks noChangeShapeType="1"/>
          </p:cNvSpPr>
          <p:nvPr/>
        </p:nvSpPr>
        <p:spPr bwMode="auto">
          <a:xfrm>
            <a:off x="8458200" y="1981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65" name="Line 24"/>
          <p:cNvSpPr>
            <a:spLocks noChangeShapeType="1"/>
          </p:cNvSpPr>
          <p:nvPr/>
        </p:nvSpPr>
        <p:spPr bwMode="auto">
          <a:xfrm>
            <a:off x="8458200" y="3352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66" name="AutoShape 25"/>
          <p:cNvSpPr>
            <a:spLocks noChangeArrowheads="1"/>
          </p:cNvSpPr>
          <p:nvPr/>
        </p:nvSpPr>
        <p:spPr bwMode="auto">
          <a:xfrm>
            <a:off x="8001000" y="2667000"/>
            <a:ext cx="914400" cy="76200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b="1"/>
              <a:t>Body of</a:t>
            </a:r>
          </a:p>
          <a:p>
            <a:pPr eaLnBrk="0" hangingPunct="0"/>
            <a:r>
              <a:rPr lang="en-US" b="1"/>
              <a:t>The loop</a:t>
            </a:r>
          </a:p>
        </p:txBody>
      </p:sp>
      <p:sp>
        <p:nvSpPr>
          <p:cNvPr id="57367" name="Line 26"/>
          <p:cNvSpPr>
            <a:spLocks noChangeShapeType="1"/>
          </p:cNvSpPr>
          <p:nvPr/>
        </p:nvSpPr>
        <p:spPr bwMode="auto">
          <a:xfrm flipH="1">
            <a:off x="8686800" y="1752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68" name="Text Box 27"/>
          <p:cNvSpPr txBox="1">
            <a:spLocks noChangeArrowheads="1"/>
          </p:cNvSpPr>
          <p:nvPr/>
        </p:nvSpPr>
        <p:spPr bwMode="auto">
          <a:xfrm>
            <a:off x="8458200" y="5410201"/>
            <a:ext cx="76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b="1"/>
              <a:t>False</a:t>
            </a:r>
          </a:p>
        </p:txBody>
      </p:sp>
      <p:sp>
        <p:nvSpPr>
          <p:cNvPr id="57369" name="Text Box 28"/>
          <p:cNvSpPr txBox="1">
            <a:spLocks noChangeArrowheads="1"/>
          </p:cNvSpPr>
          <p:nvPr/>
        </p:nvSpPr>
        <p:spPr bwMode="auto">
          <a:xfrm>
            <a:off x="8458200" y="9906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sz="1600" b="1"/>
              <a:t>Entry</a:t>
            </a:r>
          </a:p>
        </p:txBody>
      </p:sp>
      <p:sp>
        <p:nvSpPr>
          <p:cNvPr id="57370" name="Line 29"/>
          <p:cNvSpPr>
            <a:spLocks noChangeShapeType="1"/>
          </p:cNvSpPr>
          <p:nvPr/>
        </p:nvSpPr>
        <p:spPr bwMode="auto">
          <a:xfrm flipH="1">
            <a:off x="2057400" y="57150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71" name="Line 30"/>
          <p:cNvSpPr>
            <a:spLocks noChangeShapeType="1"/>
          </p:cNvSpPr>
          <p:nvPr/>
        </p:nvSpPr>
        <p:spPr bwMode="auto">
          <a:xfrm flipV="1">
            <a:off x="2057400" y="19050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72" name="Line 31"/>
          <p:cNvSpPr>
            <a:spLocks noChangeShapeType="1"/>
          </p:cNvSpPr>
          <p:nvPr/>
        </p:nvSpPr>
        <p:spPr bwMode="auto">
          <a:xfrm>
            <a:off x="2057400" y="1905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73" name="Line 36"/>
          <p:cNvSpPr>
            <a:spLocks noChangeShapeType="1"/>
          </p:cNvSpPr>
          <p:nvPr/>
        </p:nvSpPr>
        <p:spPr bwMode="auto">
          <a:xfrm>
            <a:off x="3962400" y="5334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7225"/>
          </a:xfrm>
          <a:solidFill>
            <a:srgbClr val="FFFF00"/>
          </a:solidFill>
        </p:spPr>
        <p:txBody>
          <a:bodyPr anchor="t">
            <a:normAutofit fontScale="90000"/>
          </a:bodyPr>
          <a:lstStyle/>
          <a:p>
            <a:r>
              <a:rPr lang="en-US" dirty="0"/>
              <a:t>Entry and exit controlled loop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80718" y="3436874"/>
            <a:ext cx="1529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Increment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199" y="5866030"/>
            <a:ext cx="1071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while, for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9311" y="5807389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do-while</a:t>
            </a:r>
          </a:p>
        </p:txBody>
      </p:sp>
    </p:spTree>
    <p:extLst>
      <p:ext uri="{BB962C8B-B14F-4D97-AF65-F5344CB8AC3E}">
        <p14:creationId xmlns:p14="http://schemas.microsoft.com/office/powerpoint/2010/main" val="106298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for</a:t>
            </a:r>
            <a:r>
              <a:rPr lang="en-US" dirty="0"/>
              <a:t>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dirty="0"/>
              <a:t>Fixed number of times</a:t>
            </a:r>
          </a:p>
          <a:p>
            <a:pPr lvl="1"/>
            <a:r>
              <a:rPr lang="en-US" sz="2800" dirty="0"/>
              <a:t>The general form:</a:t>
            </a:r>
          </a:p>
          <a:p>
            <a:pPr>
              <a:buNone/>
            </a:pPr>
            <a:r>
              <a:rPr lang="en-US" dirty="0"/>
              <a:t>			for (initialization; test condition; increment)</a:t>
            </a:r>
          </a:p>
          <a:p>
            <a:pPr lvl="4">
              <a:buNone/>
            </a:pPr>
            <a:r>
              <a:rPr lang="en-US" sz="2800" dirty="0"/>
              <a:t>  {</a:t>
            </a:r>
          </a:p>
          <a:p>
            <a:pPr lvl="4">
              <a:buNone/>
            </a:pPr>
            <a:r>
              <a:rPr lang="en-US" sz="2800" dirty="0"/>
              <a:t>               statements</a:t>
            </a:r>
          </a:p>
          <a:p>
            <a:pPr lvl="4">
              <a:buNone/>
            </a:pPr>
            <a:r>
              <a:rPr lang="en-US" sz="2800" dirty="0"/>
              <a:t>   }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393247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221" y="216845"/>
            <a:ext cx="6921843" cy="265070"/>
          </a:xfrm>
        </p:spPr>
        <p:txBody>
          <a:bodyPr>
            <a:noAutofit/>
          </a:bodyPr>
          <a:lstStyle/>
          <a:p>
            <a:r>
              <a:rPr lang="en-IN" sz="3600" b="1" u="sng" dirty="0">
                <a:solidFill>
                  <a:srgbClr val="7030A0"/>
                </a:solidFill>
              </a:rPr>
              <a:t>Example -1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76" y="917102"/>
            <a:ext cx="8264687" cy="43098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481" y="5071314"/>
            <a:ext cx="6774048" cy="10176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75188" y="4209211"/>
            <a:ext cx="2965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4174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46221" y="216845"/>
            <a:ext cx="6921843" cy="2650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u="sng" dirty="0">
                <a:solidFill>
                  <a:srgbClr val="7030A0"/>
                </a:solidFill>
              </a:rPr>
              <a:t>Example -2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1" y="956617"/>
            <a:ext cx="6686819" cy="29851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2972" y="3195957"/>
            <a:ext cx="2965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OUTPUT: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38" y="3866338"/>
            <a:ext cx="973224" cy="92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6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46221" y="216845"/>
            <a:ext cx="6921843" cy="2650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u="sng" dirty="0">
                <a:solidFill>
                  <a:srgbClr val="7030A0"/>
                </a:solidFill>
              </a:rPr>
              <a:t>Example -3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0" y="845150"/>
            <a:ext cx="7922255" cy="38257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002372" y="468936"/>
            <a:ext cx="2965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OUTPUT: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190" y="1115267"/>
            <a:ext cx="1545185" cy="513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38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while</a:t>
            </a:r>
            <a:r>
              <a:rPr lang="en-US" dirty="0"/>
              <a:t>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lnSpc>
                <a:spcPct val="80000"/>
              </a:lnSpc>
              <a:buNone/>
            </a:pPr>
            <a:r>
              <a:rPr lang="en-US" dirty="0">
                <a:cs typeface="Arial" pitchFamily="34" charset="0"/>
              </a:rPr>
              <a:t>General format:</a:t>
            </a:r>
            <a:endParaRPr lang="en-US" dirty="0">
              <a:solidFill>
                <a:srgbClr val="FF0000"/>
              </a:solidFill>
              <a:cs typeface="Arial" pitchFamily="34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dirty="0">
                <a:cs typeface="Arial" pitchFamily="34" charset="0"/>
              </a:rPr>
              <a:t>                      while (test condition)</a:t>
            </a:r>
          </a:p>
          <a:p>
            <a:pPr>
              <a:lnSpc>
                <a:spcPct val="80000"/>
              </a:lnSpc>
              <a:buNone/>
            </a:pPr>
            <a:r>
              <a:rPr lang="en-US" dirty="0">
                <a:cs typeface="Arial" pitchFamily="34" charset="0"/>
              </a:rPr>
              <a:t>                              {</a:t>
            </a:r>
          </a:p>
          <a:p>
            <a:pPr>
              <a:lnSpc>
                <a:spcPct val="80000"/>
              </a:lnSpc>
              <a:buNone/>
            </a:pPr>
            <a:r>
              <a:rPr lang="en-US" dirty="0">
                <a:cs typeface="Arial" pitchFamily="34" charset="0"/>
              </a:rPr>
              <a:t>                                  body of the loop</a:t>
            </a:r>
          </a:p>
          <a:p>
            <a:pPr>
              <a:lnSpc>
                <a:spcPct val="80000"/>
              </a:lnSpc>
              <a:buNone/>
            </a:pPr>
            <a:r>
              <a:rPr lang="en-US" dirty="0">
                <a:cs typeface="Arial" pitchFamily="34" charset="0"/>
              </a:rPr>
              <a:t>                               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6458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Predict the output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28549"/>
            <a:ext cx="10515600" cy="4648414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b="1" dirty="0">
                <a:cs typeface="Arial" pitchFamily="34" charset="0"/>
              </a:rPr>
              <a:t>unsigned </a:t>
            </a:r>
            <a:r>
              <a:rPr lang="en-US" sz="2400" b="1" dirty="0" err="1">
                <a:cs typeface="Arial" pitchFamily="34" charset="0"/>
              </a:rPr>
              <a:t>int</a:t>
            </a:r>
            <a:r>
              <a:rPr lang="en-US" sz="2400" b="1" dirty="0">
                <a:cs typeface="Arial" pitchFamily="34" charset="0"/>
              </a:rPr>
              <a:t> </a:t>
            </a:r>
            <a:r>
              <a:rPr lang="en-US" sz="2400" b="1" dirty="0" err="1">
                <a:cs typeface="Arial" pitchFamily="34" charset="0"/>
              </a:rPr>
              <a:t>iCount</a:t>
            </a:r>
            <a:r>
              <a:rPr lang="en-US" sz="2400" b="1" dirty="0">
                <a:cs typeface="Arial" pitchFamily="34" charset="0"/>
              </a:rPr>
              <a:t> = 1;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cs typeface="Arial" pitchFamily="34" charset="0"/>
              </a:rPr>
              <a:t>while (</a:t>
            </a:r>
            <a:r>
              <a:rPr lang="en-US" sz="2400" b="1" dirty="0" err="1">
                <a:cs typeface="Arial" pitchFamily="34" charset="0"/>
              </a:rPr>
              <a:t>iCount</a:t>
            </a:r>
            <a:r>
              <a:rPr lang="en-US" sz="2400" b="1" dirty="0">
                <a:cs typeface="Arial" pitchFamily="34" charset="0"/>
              </a:rPr>
              <a:t>&lt;10);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cs typeface="Arial" pitchFamily="34" charset="0"/>
              </a:rPr>
              <a:t>{	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cs typeface="Arial" pitchFamily="34" charset="0"/>
              </a:rPr>
              <a:t>	</a:t>
            </a:r>
            <a:r>
              <a:rPr lang="en-US" sz="2400" b="1" dirty="0" err="1">
                <a:cs typeface="Arial" pitchFamily="34" charset="0"/>
              </a:rPr>
              <a:t>cout</a:t>
            </a:r>
            <a:r>
              <a:rPr lang="en-US" sz="2400" b="1" dirty="0">
                <a:cs typeface="Arial" pitchFamily="34" charset="0"/>
              </a:rPr>
              <a:t>&lt;&lt;</a:t>
            </a:r>
            <a:r>
              <a:rPr lang="en-US" sz="2400" b="1" dirty="0" err="1">
                <a:cs typeface="Arial" pitchFamily="34" charset="0"/>
              </a:rPr>
              <a:t>iCount</a:t>
            </a:r>
            <a:r>
              <a:rPr lang="en-US" sz="2400" b="1" dirty="0">
                <a:cs typeface="Arial" pitchFamily="34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cs typeface="Arial" pitchFamily="34" charset="0"/>
              </a:rPr>
              <a:t>}</a:t>
            </a:r>
          </a:p>
          <a:p>
            <a:pPr eaLnBrk="1" hangingPunct="1">
              <a:buFontTx/>
              <a:buNone/>
            </a:pPr>
            <a:endParaRPr lang="en-US" sz="2400" b="1" dirty="0">
              <a:cs typeface="Arial" pitchFamily="34" charset="0"/>
            </a:endParaRPr>
          </a:p>
        </p:txBody>
      </p:sp>
      <p:pic>
        <p:nvPicPr>
          <p:cNvPr id="4813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996446"/>
            <a:ext cx="44196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525" y="4831495"/>
            <a:ext cx="60198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6" name="AutoShape 8"/>
          <p:cNvSpPr>
            <a:spLocks noChangeArrowheads="1"/>
          </p:cNvSpPr>
          <p:nvPr/>
        </p:nvSpPr>
        <p:spPr bwMode="auto">
          <a:xfrm>
            <a:off x="5863419" y="2786192"/>
            <a:ext cx="3962400" cy="532263"/>
          </a:xfrm>
          <a:prstGeom prst="wedgeRectCallout">
            <a:avLst>
              <a:gd name="adj1" fmla="val -112087"/>
              <a:gd name="adj2" fmla="val -171543"/>
            </a:avLst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400" b="1"/>
              <a:t>Because of this;</a:t>
            </a:r>
          </a:p>
          <a:p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80942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Problems to be tried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486508" y="1409335"/>
            <a:ext cx="11471030" cy="4351338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dirty="0">
                <a:cs typeface="Arial" pitchFamily="34" charset="0"/>
              </a:rPr>
              <a:t>Find the sum of the digits of a number.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endParaRPr lang="en-US" dirty="0">
              <a:cs typeface="Arial" pitchFamily="34" charset="0"/>
            </a:endParaRP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dirty="0">
                <a:cs typeface="Arial" pitchFamily="34" charset="0"/>
              </a:rPr>
              <a:t>To count how many 1’s are present in the input binary number.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endParaRPr lang="en-US" dirty="0">
              <a:cs typeface="Arial" pitchFamily="34" charset="0"/>
            </a:endParaRPr>
          </a:p>
          <a:p>
            <a:pPr algn="just" eaLnBrk="1" hangingPunct="1">
              <a:buFont typeface="Wingdings" panose="05000000000000000000" pitchFamily="2" charset="2"/>
              <a:buChar char="Ø"/>
            </a:pPr>
            <a:endParaRPr lang="en-US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5648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69" y="481915"/>
            <a:ext cx="7373672" cy="6139889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239920" y="216845"/>
            <a:ext cx="6921843" cy="2650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u="sng" dirty="0">
                <a:solidFill>
                  <a:srgbClr val="7030A0"/>
                </a:solidFill>
              </a:rPr>
              <a:t>Example -4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030" y="4923692"/>
            <a:ext cx="6156655" cy="12098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65680" y="4112237"/>
            <a:ext cx="2965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9924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our 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while( next &lt; limit / 2 )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  //body of loop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want the division to be performed before the comparison?</a:t>
            </a:r>
          </a:p>
          <a:p>
            <a:r>
              <a:rPr lang="en-US" b="1" i="1" dirty="0"/>
              <a:t>Operator precedence -------&gt;  Arithmetic higher than Relational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7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 txBox="1">
            <a:spLocks noGrp="1"/>
          </p:cNvSpPr>
          <p:nvPr/>
        </p:nvSpPr>
        <p:spPr bwMode="auto">
          <a:xfrm>
            <a:off x="8153400" y="66198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8E0EFAA1-46CC-4B77-BC88-F55D2374BCE1}" type="slidenum">
              <a:rPr lang="en-US" sz="1400"/>
              <a:pPr algn="r" eaLnBrk="1" hangingPunct="1"/>
              <a:t>45</a:t>
            </a:fld>
            <a:endParaRPr lang="en-US" sz="1400"/>
          </a:p>
        </p:txBody>
      </p:sp>
      <p:sp>
        <p:nvSpPr>
          <p:cNvPr id="174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>
                <a:solidFill>
                  <a:srgbClr val="CC6600"/>
                </a:solidFill>
              </a:rPr>
              <a:t>Arithmetic Operators</a:t>
            </a:r>
            <a:endParaRPr lang="en-US"/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  </a:t>
            </a:r>
            <a:r>
              <a:rPr lang="en-US" sz="2400" b="1" u="sng" dirty="0">
                <a:solidFill>
                  <a:srgbClr val="BD5329"/>
                </a:solidFill>
              </a:rPr>
              <a:t>Operator</a:t>
            </a:r>
            <a:r>
              <a:rPr lang="en-US" sz="2400" i="1" u="sng" dirty="0">
                <a:solidFill>
                  <a:srgbClr val="BD5329"/>
                </a:solidFill>
              </a:rPr>
              <a:t> </a:t>
            </a:r>
            <a:r>
              <a:rPr lang="en-US" sz="2400" i="1" dirty="0">
                <a:solidFill>
                  <a:srgbClr val="006600"/>
                </a:solidFill>
              </a:rPr>
              <a:t>              	 </a:t>
            </a:r>
            <a:r>
              <a:rPr lang="en-US" sz="2400" b="1" u="sng" dirty="0">
                <a:solidFill>
                  <a:srgbClr val="BD5329"/>
                </a:solidFill>
              </a:rPr>
              <a:t>Meaning</a:t>
            </a:r>
          </a:p>
          <a:p>
            <a:pPr eaLnBrk="1" hangingPunct="1">
              <a:buFontTx/>
              <a:buNone/>
            </a:pPr>
            <a:r>
              <a:rPr lang="en-US" dirty="0"/>
              <a:t> 	</a:t>
            </a:r>
            <a:r>
              <a:rPr lang="en-US" sz="2400" dirty="0">
                <a:solidFill>
                  <a:srgbClr val="000066"/>
                </a:solidFill>
              </a:rPr>
              <a:t>+ </a:t>
            </a:r>
            <a:r>
              <a:rPr lang="en-US" sz="2400" dirty="0"/>
              <a:t>                                     Addition</a:t>
            </a:r>
          </a:p>
          <a:p>
            <a:pPr eaLnBrk="1" hangingPunct="1">
              <a:buFontTx/>
              <a:buNone/>
            </a:pPr>
            <a:r>
              <a:rPr lang="en-US" sz="2400" dirty="0"/>
              <a:t> 	 </a:t>
            </a:r>
            <a:r>
              <a:rPr lang="en-US" sz="2400" dirty="0">
                <a:solidFill>
                  <a:srgbClr val="000066"/>
                </a:solidFill>
              </a:rPr>
              <a:t>-</a:t>
            </a:r>
            <a:r>
              <a:rPr lang="en-US" sz="2400" dirty="0"/>
              <a:t>                                      Subtraction or  unary minus  </a:t>
            </a:r>
          </a:p>
          <a:p>
            <a:pPr eaLnBrk="1" hangingPunct="1">
              <a:buFontTx/>
              <a:buNone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000066"/>
                </a:solidFill>
              </a:rPr>
              <a:t> 	*</a:t>
            </a:r>
            <a:r>
              <a:rPr lang="en-US" sz="2400" dirty="0"/>
              <a:t>                                       Multiplication</a:t>
            </a:r>
          </a:p>
          <a:p>
            <a:pPr eaLnBrk="1" hangingPunct="1">
              <a:buFontTx/>
              <a:buNone/>
            </a:pPr>
            <a:r>
              <a:rPr lang="en-US" sz="2400" dirty="0"/>
              <a:t> 	 </a:t>
            </a:r>
            <a:r>
              <a:rPr lang="en-US" sz="2400" dirty="0">
                <a:solidFill>
                  <a:srgbClr val="000066"/>
                </a:solidFill>
              </a:rPr>
              <a:t>/  </a:t>
            </a:r>
            <a:r>
              <a:rPr lang="en-US" sz="2400" dirty="0"/>
              <a:t>                                    Division</a:t>
            </a:r>
          </a:p>
          <a:p>
            <a:pPr eaLnBrk="1" hangingPunct="1">
              <a:buFontTx/>
              <a:buNone/>
            </a:pPr>
            <a:r>
              <a:rPr lang="en-US" sz="2400" dirty="0"/>
              <a:t> 	</a:t>
            </a:r>
            <a:r>
              <a:rPr lang="en-US" sz="2400" dirty="0">
                <a:solidFill>
                  <a:srgbClr val="000066"/>
                </a:solidFill>
              </a:rPr>
              <a:t>%  </a:t>
            </a:r>
            <a:r>
              <a:rPr lang="en-US" sz="2400" dirty="0"/>
              <a:t>                                   Modulo division</a:t>
            </a:r>
          </a:p>
          <a:p>
            <a:pPr eaLnBrk="1" hangingPunct="1">
              <a:buFontTx/>
              <a:buNone/>
            </a:pPr>
            <a:endParaRPr lang="en-US" sz="2400" dirty="0"/>
          </a:p>
          <a:p>
            <a:pPr eaLnBrk="1" hangingPunct="1">
              <a:buFontTx/>
              <a:buNone/>
            </a:pPr>
            <a:r>
              <a:rPr lang="en-US" sz="2400" dirty="0"/>
              <a:t>Integer division truncates any fractional part</a:t>
            </a:r>
          </a:p>
          <a:p>
            <a:pPr eaLnBrk="1" hangingPunct="1">
              <a:buFontTx/>
              <a:buNone/>
            </a:pPr>
            <a:r>
              <a:rPr lang="en-US" sz="2400" dirty="0"/>
              <a:t>Modulo division produces the remainder of an integer division</a:t>
            </a:r>
          </a:p>
        </p:txBody>
      </p:sp>
    </p:spTree>
    <p:extLst>
      <p:ext uri="{BB962C8B-B14F-4D97-AF65-F5344CB8AC3E}">
        <p14:creationId xmlns:p14="http://schemas.microsoft.com/office/powerpoint/2010/main" val="15070822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do</a:t>
            </a:r>
            <a:r>
              <a:rPr lang="en-US" dirty="0"/>
              <a:t>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Guarantee that the loop body </a:t>
            </a:r>
            <a:r>
              <a:rPr lang="en-US" b="1" dirty="0"/>
              <a:t>is executed at least once, </a:t>
            </a:r>
            <a:r>
              <a:rPr lang="en-US" dirty="0"/>
              <a:t>no matter what the initial state of the test expression</a:t>
            </a:r>
          </a:p>
          <a:p>
            <a:pPr>
              <a:buNone/>
              <a:defRPr/>
            </a:pPr>
            <a:r>
              <a:rPr lang="en-US" dirty="0">
                <a:cs typeface="Arial" pitchFamily="34" charset="0"/>
              </a:rPr>
              <a:t>General form:</a:t>
            </a:r>
          </a:p>
          <a:p>
            <a:pPr>
              <a:buNone/>
              <a:defRPr/>
            </a:pPr>
            <a:r>
              <a:rPr lang="en-US" dirty="0">
                <a:cs typeface="Arial" pitchFamily="34" charset="0"/>
              </a:rPr>
              <a:t>                      do</a:t>
            </a:r>
          </a:p>
          <a:p>
            <a:pPr>
              <a:buNone/>
              <a:defRPr/>
            </a:pPr>
            <a:r>
              <a:rPr lang="en-US" dirty="0">
                <a:cs typeface="Arial" pitchFamily="34" charset="0"/>
              </a:rPr>
              <a:t>                        {</a:t>
            </a:r>
          </a:p>
          <a:p>
            <a:pPr>
              <a:buNone/>
              <a:defRPr/>
            </a:pPr>
            <a:r>
              <a:rPr lang="en-US" dirty="0">
                <a:cs typeface="Arial" pitchFamily="34" charset="0"/>
              </a:rPr>
              <a:t>                                body of the loop</a:t>
            </a:r>
          </a:p>
          <a:p>
            <a:pPr>
              <a:buNone/>
              <a:defRPr/>
            </a:pPr>
            <a:r>
              <a:rPr lang="en-US" dirty="0">
                <a:cs typeface="Arial" pitchFamily="34" charset="0"/>
              </a:rPr>
              <a:t>                        }</a:t>
            </a:r>
          </a:p>
          <a:p>
            <a:pPr>
              <a:buNone/>
              <a:defRPr/>
            </a:pPr>
            <a:r>
              <a:rPr lang="en-US" dirty="0">
                <a:cs typeface="Arial" pitchFamily="34" charset="0"/>
              </a:rPr>
              <a:t>                        while (test condition);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0090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086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Nesting of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897" y="1325563"/>
            <a:ext cx="10626969" cy="460138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cs typeface="Arial" pitchFamily="34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dirty="0">
                <a:cs typeface="Arial" pitchFamily="34" charset="0"/>
              </a:rPr>
              <a:t>    for ( </a:t>
            </a:r>
            <a:r>
              <a:rPr lang="en-US" dirty="0" err="1">
                <a:cs typeface="Arial" pitchFamily="34" charset="0"/>
              </a:rPr>
              <a:t>i</a:t>
            </a:r>
            <a:r>
              <a:rPr lang="en-US" dirty="0">
                <a:cs typeface="Arial" pitchFamily="34" charset="0"/>
              </a:rPr>
              <a:t> = 0;  </a:t>
            </a:r>
            <a:r>
              <a:rPr lang="en-US" dirty="0" err="1">
                <a:cs typeface="Arial" pitchFamily="34" charset="0"/>
              </a:rPr>
              <a:t>i</a:t>
            </a:r>
            <a:r>
              <a:rPr lang="en-US" dirty="0">
                <a:cs typeface="Arial" pitchFamily="34" charset="0"/>
              </a:rPr>
              <a:t>  &lt;  5;  </a:t>
            </a:r>
            <a:r>
              <a:rPr lang="en-US" dirty="0" err="1">
                <a:cs typeface="Arial" pitchFamily="34" charset="0"/>
              </a:rPr>
              <a:t>i</a:t>
            </a:r>
            <a:r>
              <a:rPr lang="en-US" dirty="0">
                <a:cs typeface="Arial" pitchFamily="34" charset="0"/>
              </a:rPr>
              <a:t> ++ )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cs typeface="Arial" pitchFamily="34" charset="0"/>
              </a:rPr>
              <a:t>    {  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rgbClr val="00B050"/>
                </a:solidFill>
                <a:cs typeface="Arial" pitchFamily="34" charset="0"/>
              </a:rPr>
              <a:t>		statement-1; 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cs typeface="Arial" pitchFamily="34" charset="0"/>
              </a:rPr>
              <a:t>            for ( j = 1 ;  j  &lt;  3 ; </a:t>
            </a:r>
            <a:r>
              <a:rPr lang="en-US" dirty="0" err="1">
                <a:cs typeface="Arial" pitchFamily="34" charset="0"/>
              </a:rPr>
              <a:t>j++</a:t>
            </a:r>
            <a:r>
              <a:rPr lang="en-US" dirty="0">
                <a:cs typeface="Arial" pitchFamily="34" charset="0"/>
              </a:rPr>
              <a:t> )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cs typeface="Arial" pitchFamily="34" charset="0"/>
              </a:rPr>
              <a:t>             {          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cs typeface="Arial" pitchFamily="34" charset="0"/>
              </a:rPr>
              <a:t>		  	</a:t>
            </a:r>
            <a:r>
              <a:rPr lang="en-US" b="1" dirty="0">
                <a:solidFill>
                  <a:srgbClr val="7030A0"/>
                </a:solidFill>
                <a:cs typeface="Arial" pitchFamily="34" charset="0"/>
              </a:rPr>
              <a:t>statement-2;</a:t>
            </a:r>
            <a:r>
              <a:rPr lang="en-US" dirty="0">
                <a:cs typeface="Arial" pitchFamily="34" charset="0"/>
              </a:rPr>
              <a:t>       	  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cs typeface="Arial" pitchFamily="34" charset="0"/>
              </a:rPr>
              <a:t>		  }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cs typeface="Arial" pitchFamily="34" charset="0"/>
              </a:rPr>
              <a:t>     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8A98A4-23B8-4359-A76F-9BFBAFB08737}"/>
              </a:ext>
            </a:extLst>
          </p:cNvPr>
          <p:cNvSpPr txBox="1"/>
          <p:nvPr/>
        </p:nvSpPr>
        <p:spPr>
          <a:xfrm>
            <a:off x="3482788" y="2420293"/>
            <a:ext cx="2850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// Executed 5 times</a:t>
            </a:r>
            <a:endParaRPr lang="en-IN" sz="2400" b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5FDA0-7D03-40D9-8426-3902D55B9885}"/>
              </a:ext>
            </a:extLst>
          </p:cNvPr>
          <p:cNvSpPr txBox="1"/>
          <p:nvPr/>
        </p:nvSpPr>
        <p:spPr>
          <a:xfrm>
            <a:off x="4370295" y="3711953"/>
            <a:ext cx="2850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// Executed 10 times</a:t>
            </a:r>
            <a:endParaRPr lang="en-IN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98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708443" y="2679424"/>
            <a:ext cx="2965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OUTPUT: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F3381F-264F-4B80-87CC-9EA496566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72" y="373189"/>
            <a:ext cx="7571559" cy="42137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00A8FE-ADC6-4066-A383-64A6F8065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462" y="3429000"/>
            <a:ext cx="4581866" cy="277359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E249AF2-F241-41CE-92E3-9EE6DC7E25F2}"/>
              </a:ext>
            </a:extLst>
          </p:cNvPr>
          <p:cNvSpPr txBox="1">
            <a:spLocks/>
          </p:cNvSpPr>
          <p:nvPr/>
        </p:nvSpPr>
        <p:spPr>
          <a:xfrm>
            <a:off x="3969452" y="191218"/>
            <a:ext cx="3717428" cy="3639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u="sng" dirty="0">
                <a:solidFill>
                  <a:srgbClr val="7030A0"/>
                </a:solidFill>
              </a:rPr>
              <a:t>Example -5</a:t>
            </a:r>
          </a:p>
        </p:txBody>
      </p:sp>
    </p:spTree>
    <p:extLst>
      <p:ext uri="{BB962C8B-B14F-4D97-AF65-F5344CB8AC3E}">
        <p14:creationId xmlns:p14="http://schemas.microsoft.com/office/powerpoint/2010/main" val="395534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9006" y="800100"/>
            <a:ext cx="11769634" cy="5268035"/>
          </a:xfrm>
        </p:spPr>
        <p:txBody>
          <a:bodyPr/>
          <a:lstStyle/>
          <a:p>
            <a:pPr algn="just" eaLnBrk="1" hangingPunct="1"/>
            <a:r>
              <a:rPr lang="en-US" sz="2400" i="1" dirty="0">
                <a:cs typeface="Arial" pitchFamily="34" charset="0"/>
              </a:rPr>
              <a:t>An early exit from a loop can be accomplished by using the </a:t>
            </a:r>
            <a:r>
              <a:rPr lang="en-US" sz="2400" i="1" dirty="0">
                <a:solidFill>
                  <a:srgbClr val="FF0000"/>
                </a:solidFill>
                <a:cs typeface="Arial" pitchFamily="34" charset="0"/>
              </a:rPr>
              <a:t>break</a:t>
            </a:r>
            <a:r>
              <a:rPr lang="en-US" sz="2400" i="1" dirty="0">
                <a:cs typeface="Arial" pitchFamily="34" charset="0"/>
              </a:rPr>
              <a:t> statement.</a:t>
            </a:r>
          </a:p>
          <a:p>
            <a:pPr algn="just" eaLnBrk="1" hangingPunct="1"/>
            <a:r>
              <a:rPr lang="en-US" sz="2400" i="1" dirty="0">
                <a:cs typeface="Arial" pitchFamily="34" charset="0"/>
              </a:rPr>
              <a:t>When the break statement is encountered inside a loop, the loop is immediately exited  and the program continues  with the statement immediately following the loop.</a:t>
            </a:r>
          </a:p>
          <a:p>
            <a:pPr algn="just" eaLnBrk="1" hangingPunct="1"/>
            <a:r>
              <a:rPr lang="en-US" sz="2400" i="1" dirty="0">
                <a:cs typeface="Arial" pitchFamily="34" charset="0"/>
              </a:rPr>
              <a:t>When the loops are nested , the </a:t>
            </a:r>
            <a:r>
              <a:rPr lang="en-US" sz="2400" i="1" dirty="0">
                <a:solidFill>
                  <a:srgbClr val="FF0000"/>
                </a:solidFill>
                <a:cs typeface="Arial" pitchFamily="34" charset="0"/>
              </a:rPr>
              <a:t>break</a:t>
            </a:r>
            <a:r>
              <a:rPr lang="en-US" sz="2400" i="1" dirty="0">
                <a:cs typeface="Arial" pitchFamily="34" charset="0"/>
              </a:rPr>
              <a:t> would only exit from the loop containing it. i.e. , the break will exit only a single loop.</a:t>
            </a:r>
          </a:p>
        </p:txBody>
      </p:sp>
      <p:sp>
        <p:nvSpPr>
          <p:cNvPr id="83973" name="Rectangle 2"/>
          <p:cNvSpPr txBox="1">
            <a:spLocks noChangeArrowheads="1"/>
          </p:cNvSpPr>
          <p:nvPr/>
        </p:nvSpPr>
        <p:spPr bwMode="auto">
          <a:xfrm>
            <a:off x="2043332" y="134523"/>
            <a:ext cx="8610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 b="1" i="1" dirty="0">
                <a:solidFill>
                  <a:srgbClr val="CC6600"/>
                </a:solidFill>
              </a:rPr>
              <a:t>Jumping out of for loop</a:t>
            </a:r>
            <a:endParaRPr lang="en-US" sz="2400" dirty="0">
              <a:solidFill>
                <a:schemeClr val="accent2"/>
              </a:solidFill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0371" y="3024554"/>
            <a:ext cx="8341512" cy="3502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840215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617301" y="1063134"/>
            <a:ext cx="26670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sz="2400" b="1" dirty="0"/>
              <a:t>while (……….)</a:t>
            </a:r>
          </a:p>
          <a:p>
            <a:pPr algn="l"/>
            <a:r>
              <a:rPr lang="en-US" sz="2400" b="1" dirty="0"/>
              <a:t>{…….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…………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if (condition)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   </a:t>
            </a:r>
            <a:r>
              <a:rPr lang="en-US" sz="2400" b="1" dirty="0">
                <a:solidFill>
                  <a:srgbClr val="FF0000"/>
                </a:solidFill>
              </a:rPr>
              <a:t>break</a:t>
            </a:r>
            <a:r>
              <a:rPr lang="en-US" sz="2400" b="1" dirty="0"/>
              <a:t>;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………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……….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}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…………..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56097" y="3357156"/>
            <a:ext cx="1753265" cy="2211389"/>
            <a:chOff x="1904335" y="3581400"/>
            <a:chExt cx="1753265" cy="2211389"/>
          </a:xfrm>
        </p:grpSpPr>
        <p:cxnSp>
          <p:nvCxnSpPr>
            <p:cNvPr id="84997" name="AutoShape 4"/>
            <p:cNvCxnSpPr>
              <a:cxnSpLocks noChangeShapeType="1"/>
            </p:cNvCxnSpPr>
            <p:nvPr/>
          </p:nvCxnSpPr>
          <p:spPr bwMode="auto">
            <a:xfrm flipH="1">
              <a:off x="2895600" y="3581400"/>
              <a:ext cx="762000" cy="0"/>
            </a:xfrm>
            <a:prstGeom prst="straightConnector1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998" name="AutoShape 5"/>
            <p:cNvCxnSpPr>
              <a:cxnSpLocks noChangeShapeType="1"/>
            </p:cNvCxnSpPr>
            <p:nvPr/>
          </p:nvCxnSpPr>
          <p:spPr bwMode="auto">
            <a:xfrm rot="5400000">
              <a:off x="1790701" y="4686301"/>
              <a:ext cx="2209800" cy="3175"/>
            </a:xfrm>
            <a:prstGeom prst="straightConnector1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4999" name="Line 6"/>
            <p:cNvSpPr>
              <a:spLocks noChangeShapeType="1"/>
            </p:cNvSpPr>
            <p:nvPr/>
          </p:nvSpPr>
          <p:spPr bwMode="auto">
            <a:xfrm>
              <a:off x="2895600" y="5791200"/>
              <a:ext cx="609600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00" name="Text Box 7"/>
            <p:cNvSpPr txBox="1">
              <a:spLocks noChangeArrowheads="1"/>
            </p:cNvSpPr>
            <p:nvPr/>
          </p:nvSpPr>
          <p:spPr bwMode="auto">
            <a:xfrm>
              <a:off x="1904335" y="4251836"/>
              <a:ext cx="954088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/>
              <a:r>
                <a:rPr lang="en-US" sz="2400" b="1" dirty="0">
                  <a:solidFill>
                    <a:srgbClr val="00B0F0"/>
                  </a:solidFill>
                </a:rPr>
                <a:t>Exit</a:t>
              </a:r>
            </a:p>
            <a:p>
              <a:pPr algn="l"/>
              <a:r>
                <a:rPr lang="en-US" sz="2400" b="1" dirty="0">
                  <a:solidFill>
                    <a:srgbClr val="00B0F0"/>
                  </a:solidFill>
                </a:rPr>
                <a:t>From</a:t>
              </a:r>
            </a:p>
            <a:p>
              <a:pPr algn="l"/>
              <a:r>
                <a:rPr lang="en-US" sz="2400" b="1" dirty="0">
                  <a:solidFill>
                    <a:srgbClr val="00B0F0"/>
                  </a:solidFill>
                </a:rPr>
                <a:t>loop</a:t>
              </a:r>
            </a:p>
          </p:txBody>
        </p:sp>
      </p:grpSp>
      <p:sp>
        <p:nvSpPr>
          <p:cNvPr id="85001" name="Text Box 8"/>
          <p:cNvSpPr txBox="1">
            <a:spLocks noChangeArrowheads="1"/>
          </p:cNvSpPr>
          <p:nvPr/>
        </p:nvSpPr>
        <p:spPr bwMode="auto">
          <a:xfrm>
            <a:off x="8120787" y="910024"/>
            <a:ext cx="26670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sz="2400" b="1" dirty="0"/>
              <a:t>do</a:t>
            </a:r>
          </a:p>
          <a:p>
            <a:pPr algn="l"/>
            <a:r>
              <a:rPr lang="en-US" sz="2400" b="1" dirty="0"/>
              <a:t>{…….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…………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if (condition)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   </a:t>
            </a:r>
            <a:r>
              <a:rPr lang="en-US" sz="2400" b="1" dirty="0">
                <a:solidFill>
                  <a:srgbClr val="FF0000"/>
                </a:solidFill>
              </a:rPr>
              <a:t>break</a:t>
            </a:r>
            <a:r>
              <a:rPr lang="en-US" sz="2400" b="1" dirty="0"/>
              <a:t>;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………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……….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} while(…);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…………..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436179" y="3153506"/>
            <a:ext cx="1541329" cy="2286000"/>
            <a:chOff x="5850071" y="3506789"/>
            <a:chExt cx="1541329" cy="2286000"/>
          </a:xfrm>
        </p:grpSpPr>
        <p:sp>
          <p:nvSpPr>
            <p:cNvPr id="85004" name="Line 11"/>
            <p:cNvSpPr>
              <a:spLocks noChangeShapeType="1"/>
            </p:cNvSpPr>
            <p:nvPr/>
          </p:nvSpPr>
          <p:spPr bwMode="auto">
            <a:xfrm>
              <a:off x="6781800" y="5791200"/>
              <a:ext cx="609600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5850071" y="3506789"/>
              <a:ext cx="1483385" cy="2286000"/>
              <a:chOff x="5850071" y="3506789"/>
              <a:chExt cx="1483385" cy="2286000"/>
            </a:xfrm>
          </p:grpSpPr>
          <p:cxnSp>
            <p:nvCxnSpPr>
              <p:cNvPr id="85002" name="AutoShape 9"/>
              <p:cNvCxnSpPr>
                <a:cxnSpLocks noChangeShapeType="1"/>
              </p:cNvCxnSpPr>
              <p:nvPr/>
            </p:nvCxnSpPr>
            <p:spPr bwMode="auto">
              <a:xfrm flipH="1">
                <a:off x="6800056" y="3509133"/>
                <a:ext cx="533400" cy="0"/>
              </a:xfrm>
              <a:prstGeom prst="straightConnector1">
                <a:avLst/>
              </a:prstGeom>
              <a:noFill/>
              <a:ln w="9525">
                <a:solidFill>
                  <a:srgbClr val="007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003" name="AutoShape 10"/>
              <p:cNvCxnSpPr>
                <a:cxnSpLocks noChangeShapeType="1"/>
              </p:cNvCxnSpPr>
              <p:nvPr/>
            </p:nvCxnSpPr>
            <p:spPr bwMode="auto">
              <a:xfrm rot="5400000">
                <a:off x="5638801" y="4648201"/>
                <a:ext cx="2286000" cy="3175"/>
              </a:xfrm>
              <a:prstGeom prst="straightConnector1">
                <a:avLst/>
              </a:prstGeom>
              <a:noFill/>
              <a:ln w="9525">
                <a:solidFill>
                  <a:srgbClr val="00206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5005" name="Text Box 12"/>
              <p:cNvSpPr txBox="1">
                <a:spLocks noChangeArrowheads="1"/>
              </p:cNvSpPr>
              <p:nvPr/>
            </p:nvSpPr>
            <p:spPr bwMode="auto">
              <a:xfrm>
                <a:off x="5850071" y="4253425"/>
                <a:ext cx="954088" cy="1200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/>
                <a:r>
                  <a:rPr lang="en-US" sz="2400" b="1" dirty="0">
                    <a:solidFill>
                      <a:srgbClr val="00B0F0"/>
                    </a:solidFill>
                  </a:rPr>
                  <a:t>Exit</a:t>
                </a:r>
              </a:p>
              <a:p>
                <a:pPr algn="l"/>
                <a:r>
                  <a:rPr lang="en-US" sz="2400" b="1" dirty="0">
                    <a:solidFill>
                      <a:srgbClr val="00B0F0"/>
                    </a:solidFill>
                  </a:rPr>
                  <a:t>From</a:t>
                </a:r>
              </a:p>
              <a:p>
                <a:pPr algn="l"/>
                <a:r>
                  <a:rPr lang="en-US" sz="2400" b="1" dirty="0">
                    <a:solidFill>
                      <a:srgbClr val="00B0F0"/>
                    </a:solidFill>
                  </a:rPr>
                  <a:t>loop</a:t>
                </a:r>
              </a:p>
            </p:txBody>
          </p:sp>
        </p:grpSp>
      </p:grpSp>
      <p:sp>
        <p:nvSpPr>
          <p:cNvPr id="85006" name="Rectangle 2"/>
          <p:cNvSpPr txBox="1">
            <a:spLocks noChangeArrowheads="1"/>
          </p:cNvSpPr>
          <p:nvPr/>
        </p:nvSpPr>
        <p:spPr bwMode="auto">
          <a:xfrm>
            <a:off x="756097" y="172329"/>
            <a:ext cx="8610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 b="1" i="1" dirty="0">
                <a:solidFill>
                  <a:srgbClr val="CC6600"/>
                </a:solidFill>
              </a:rPr>
              <a:t>Exiting a loop with break statement</a:t>
            </a:r>
            <a:endParaRPr 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849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Text Box 2"/>
          <p:cNvSpPr txBox="1">
            <a:spLocks noChangeArrowheads="1"/>
          </p:cNvSpPr>
          <p:nvPr/>
        </p:nvSpPr>
        <p:spPr bwMode="auto">
          <a:xfrm>
            <a:off x="2650499" y="1063053"/>
            <a:ext cx="26670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sz="2400" b="1" dirty="0"/>
              <a:t>for</a:t>
            </a:r>
          </a:p>
          <a:p>
            <a:pPr algn="l"/>
            <a:r>
              <a:rPr lang="en-US" sz="2400" b="1" dirty="0"/>
              <a:t>{…….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…………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 if (condition)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    </a:t>
            </a:r>
            <a:r>
              <a:rPr lang="en-US" sz="2400" b="1" dirty="0">
                <a:solidFill>
                  <a:srgbClr val="FF0000"/>
                </a:solidFill>
              </a:rPr>
              <a:t>break</a:t>
            </a:r>
            <a:r>
              <a:rPr lang="en-US" sz="2400" b="1" dirty="0"/>
              <a:t>;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………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……….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}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…………..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884938" y="3233294"/>
            <a:ext cx="1752600" cy="2363789"/>
            <a:chOff x="1905000" y="3429000"/>
            <a:chExt cx="1752600" cy="2363789"/>
          </a:xfrm>
        </p:grpSpPr>
        <p:cxnSp>
          <p:nvCxnSpPr>
            <p:cNvPr id="86021" name="AutoShape 3"/>
            <p:cNvCxnSpPr>
              <a:cxnSpLocks noChangeShapeType="1"/>
            </p:cNvCxnSpPr>
            <p:nvPr/>
          </p:nvCxnSpPr>
          <p:spPr bwMode="auto">
            <a:xfrm rot="10800000">
              <a:off x="3048000" y="3429000"/>
              <a:ext cx="609600" cy="1588"/>
            </a:xfrm>
            <a:prstGeom prst="straightConnector1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022" name="AutoShape 4"/>
            <p:cNvCxnSpPr>
              <a:cxnSpLocks noChangeShapeType="1"/>
            </p:cNvCxnSpPr>
            <p:nvPr/>
          </p:nvCxnSpPr>
          <p:spPr bwMode="auto">
            <a:xfrm rot="5400000">
              <a:off x="1866901" y="4610101"/>
              <a:ext cx="2362200" cy="3175"/>
            </a:xfrm>
            <a:prstGeom prst="straightConnector1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6023" name="Line 5"/>
            <p:cNvSpPr>
              <a:spLocks noChangeShapeType="1"/>
            </p:cNvSpPr>
            <p:nvPr/>
          </p:nvSpPr>
          <p:spPr bwMode="auto">
            <a:xfrm>
              <a:off x="3048000" y="5791200"/>
              <a:ext cx="457200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4" name="Text Box 6"/>
            <p:cNvSpPr txBox="1">
              <a:spLocks noChangeArrowheads="1"/>
            </p:cNvSpPr>
            <p:nvPr/>
          </p:nvSpPr>
          <p:spPr bwMode="auto">
            <a:xfrm>
              <a:off x="1905000" y="3962400"/>
              <a:ext cx="954088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l"/>
              <a:r>
                <a:rPr lang="en-US" sz="2400" b="1" dirty="0">
                  <a:solidFill>
                    <a:srgbClr val="00B0F0"/>
                  </a:solidFill>
                </a:rPr>
                <a:t>Exit</a:t>
              </a:r>
            </a:p>
            <a:p>
              <a:pPr algn="l"/>
              <a:r>
                <a:rPr lang="en-US" sz="2400" b="1" dirty="0">
                  <a:solidFill>
                    <a:srgbClr val="00B0F0"/>
                  </a:solidFill>
                </a:rPr>
                <a:t>From</a:t>
              </a:r>
            </a:p>
            <a:p>
              <a:pPr algn="l"/>
              <a:r>
                <a:rPr lang="en-US" sz="2400" b="1" dirty="0">
                  <a:solidFill>
                    <a:srgbClr val="00B0F0"/>
                  </a:solidFill>
                </a:rPr>
                <a:t>loop</a:t>
              </a:r>
            </a:p>
          </p:txBody>
        </p:sp>
      </p:grpSp>
      <p:sp>
        <p:nvSpPr>
          <p:cNvPr id="86025" name="Text Box 7"/>
          <p:cNvSpPr txBox="1">
            <a:spLocks noChangeArrowheads="1"/>
          </p:cNvSpPr>
          <p:nvPr/>
        </p:nvSpPr>
        <p:spPr bwMode="auto">
          <a:xfrm>
            <a:off x="7847865" y="993021"/>
            <a:ext cx="3226526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sz="2400" b="1" dirty="0"/>
              <a:t>for (……….)</a:t>
            </a:r>
          </a:p>
          <a:p>
            <a:pPr algn="l"/>
            <a:r>
              <a:rPr lang="en-US" sz="2400" b="1" dirty="0"/>
              <a:t> {  …….</a:t>
            </a:r>
          </a:p>
          <a:p>
            <a:pPr algn="l"/>
            <a:r>
              <a:rPr lang="en-US" sz="2400" b="1" dirty="0"/>
              <a:t>      for(……..)</a:t>
            </a:r>
          </a:p>
          <a:p>
            <a:pPr algn="l"/>
            <a:r>
              <a:rPr lang="en-US" sz="2400" b="1" dirty="0"/>
              <a:t>       </a:t>
            </a:r>
            <a:r>
              <a:rPr lang="en-US" sz="2400" b="1" dirty="0">
                <a:solidFill>
                  <a:srgbClr val="FF0000"/>
                </a:solidFill>
              </a:rPr>
              <a:t>{  </a:t>
            </a:r>
            <a:r>
              <a:rPr lang="en-US" sz="2400" b="1" dirty="0"/>
              <a:t>………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        if (condition)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           </a:t>
            </a:r>
            <a:r>
              <a:rPr lang="en-US" sz="2400" b="1" dirty="0">
                <a:solidFill>
                  <a:srgbClr val="FF0000"/>
                </a:solidFill>
              </a:rPr>
              <a:t>break</a:t>
            </a:r>
            <a:r>
              <a:rPr lang="en-US" sz="2400" b="1" dirty="0"/>
              <a:t>;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           ………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     </a:t>
            </a:r>
            <a:r>
              <a:rPr lang="en-US" sz="2400" b="1" dirty="0">
                <a:solidFill>
                  <a:srgbClr val="FF0000"/>
                </a:solidFill>
              </a:rPr>
              <a:t>}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 ……..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}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704087" y="3439844"/>
            <a:ext cx="1524000" cy="1676400"/>
            <a:chOff x="6019800" y="4191000"/>
            <a:chExt cx="1524000" cy="1676400"/>
          </a:xfrm>
        </p:grpSpPr>
        <p:grpSp>
          <p:nvGrpSpPr>
            <p:cNvPr id="3" name="Group 2"/>
            <p:cNvGrpSpPr/>
            <p:nvPr/>
          </p:nvGrpSpPr>
          <p:grpSpPr>
            <a:xfrm>
              <a:off x="6019800" y="4191000"/>
              <a:ext cx="1524000" cy="1676400"/>
              <a:chOff x="6019800" y="4191000"/>
              <a:chExt cx="1524000" cy="1676400"/>
            </a:xfrm>
          </p:grpSpPr>
          <p:cxnSp>
            <p:nvCxnSpPr>
              <p:cNvPr id="86026" name="AutoShape 8"/>
              <p:cNvCxnSpPr>
                <a:cxnSpLocks noChangeShapeType="1"/>
              </p:cNvCxnSpPr>
              <p:nvPr/>
            </p:nvCxnSpPr>
            <p:spPr bwMode="auto">
              <a:xfrm flipH="1">
                <a:off x="7010400" y="4191000"/>
                <a:ext cx="533400" cy="0"/>
              </a:xfrm>
              <a:prstGeom prst="straightConnector1">
                <a:avLst/>
              </a:prstGeom>
              <a:noFill/>
              <a:ln w="9525">
                <a:solidFill>
                  <a:srgbClr val="007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6027" name="Line 9"/>
              <p:cNvSpPr>
                <a:spLocks noChangeShapeType="1"/>
              </p:cNvSpPr>
              <p:nvPr/>
            </p:nvSpPr>
            <p:spPr bwMode="auto">
              <a:xfrm flipV="1">
                <a:off x="7010400" y="5867400"/>
                <a:ext cx="381000" cy="0"/>
              </a:xfrm>
              <a:prstGeom prst="line">
                <a:avLst/>
              </a:prstGeom>
              <a:noFill/>
              <a:ln w="9525">
                <a:solidFill>
                  <a:srgbClr val="0070C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28" name="Text Box 10"/>
              <p:cNvSpPr txBox="1">
                <a:spLocks noChangeArrowheads="1"/>
              </p:cNvSpPr>
              <p:nvPr/>
            </p:nvSpPr>
            <p:spPr bwMode="auto">
              <a:xfrm>
                <a:off x="6019800" y="4267200"/>
                <a:ext cx="954088" cy="15700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l"/>
                <a:r>
                  <a:rPr lang="en-US" sz="2400" b="1" dirty="0">
                    <a:solidFill>
                      <a:srgbClr val="00B0F0"/>
                    </a:solidFill>
                  </a:rPr>
                  <a:t>Exit</a:t>
                </a:r>
              </a:p>
              <a:p>
                <a:pPr algn="l"/>
                <a:r>
                  <a:rPr lang="en-US" sz="2400" b="1" dirty="0">
                    <a:solidFill>
                      <a:srgbClr val="00B0F0"/>
                    </a:solidFill>
                  </a:rPr>
                  <a:t>From</a:t>
                </a:r>
              </a:p>
              <a:p>
                <a:pPr algn="l"/>
                <a:r>
                  <a:rPr lang="en-US" sz="2400" b="1" dirty="0">
                    <a:solidFill>
                      <a:srgbClr val="00B0F0"/>
                    </a:solidFill>
                  </a:rPr>
                  <a:t>inner</a:t>
                </a:r>
              </a:p>
              <a:p>
                <a:pPr algn="l"/>
                <a:r>
                  <a:rPr lang="en-US" sz="2400" b="1" dirty="0">
                    <a:solidFill>
                      <a:srgbClr val="00B0F0"/>
                    </a:solidFill>
                  </a:rPr>
                  <a:t>loop</a:t>
                </a:r>
              </a:p>
            </p:txBody>
          </p:sp>
        </p:grpSp>
        <p:sp>
          <p:nvSpPr>
            <p:cNvPr id="86029" name="Line 11"/>
            <p:cNvSpPr>
              <a:spLocks noChangeShapeType="1"/>
            </p:cNvSpPr>
            <p:nvPr/>
          </p:nvSpPr>
          <p:spPr bwMode="auto">
            <a:xfrm>
              <a:off x="7010400" y="4191000"/>
              <a:ext cx="0" cy="16764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6030" name="Rectangle 2"/>
          <p:cNvSpPr txBox="1">
            <a:spLocks noChangeArrowheads="1"/>
          </p:cNvSpPr>
          <p:nvPr/>
        </p:nvSpPr>
        <p:spPr bwMode="auto">
          <a:xfrm>
            <a:off x="770890" y="114301"/>
            <a:ext cx="8610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 b="1" i="1">
                <a:solidFill>
                  <a:srgbClr val="CC6600"/>
                </a:solidFill>
              </a:rPr>
              <a:t>Exiting a loop with break statements</a:t>
            </a:r>
            <a:endParaRPr lang="en-US" sz="2400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694958" y="685801"/>
            <a:ext cx="44660" cy="6172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5831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619748" y="236367"/>
            <a:ext cx="6921843" cy="2650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u="sng" dirty="0">
                <a:solidFill>
                  <a:srgbClr val="7030A0"/>
                </a:solidFill>
              </a:rPr>
              <a:t>Example -6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65" y="745588"/>
            <a:ext cx="6983658" cy="57677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480" y="1254808"/>
            <a:ext cx="2693780" cy="46786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22480" y="422422"/>
            <a:ext cx="2965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OUTPUT: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Text Box 11"/>
          <p:cNvSpPr txBox="1">
            <a:spLocks noChangeArrowheads="1"/>
          </p:cNvSpPr>
          <p:nvPr/>
        </p:nvSpPr>
        <p:spPr bwMode="auto">
          <a:xfrm>
            <a:off x="235130" y="1439091"/>
            <a:ext cx="11769634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400" dirty="0">
                <a:latin typeface="+mn-lt"/>
              </a:rPr>
              <a:t>Skip a part of the body of the loop under certain conditions using continue statement. 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400" dirty="0">
                <a:latin typeface="+mn-lt"/>
              </a:rPr>
              <a:t>As the name implies, causes the loop to be continued with next iteration, after skipping rest of the body of the loop.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400" dirty="0">
                <a:latin typeface="+mn-lt"/>
              </a:rPr>
              <a:t>In while and do loops, continue causes the control to go directly to the test-condition and then to continue the iteration process.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400" dirty="0">
                <a:latin typeface="+mn-lt"/>
              </a:rPr>
              <a:t>In for loop, the increment section of the loop is executed before the test condition is evaluated</a:t>
            </a:r>
          </a:p>
          <a:p>
            <a:pPr algn="just">
              <a:spcBef>
                <a:spcPct val="50000"/>
              </a:spcBef>
            </a:pPr>
            <a:endParaRPr lang="en-US" sz="2400" dirty="0">
              <a:latin typeface="+mn-lt"/>
            </a:endParaRPr>
          </a:p>
        </p:txBody>
      </p:sp>
      <p:sp>
        <p:nvSpPr>
          <p:cNvPr id="87045" name="Rectangle 2"/>
          <p:cNvSpPr txBox="1">
            <a:spLocks noChangeArrowheads="1"/>
          </p:cNvSpPr>
          <p:nvPr/>
        </p:nvSpPr>
        <p:spPr bwMode="auto">
          <a:xfrm>
            <a:off x="1621301" y="356548"/>
            <a:ext cx="8610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 b="1" i="1" dirty="0">
                <a:solidFill>
                  <a:srgbClr val="CC6600"/>
                </a:solidFill>
              </a:rPr>
              <a:t>Skipping a part of the loop</a:t>
            </a:r>
            <a:endParaRPr 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5865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Text Box 3"/>
          <p:cNvSpPr txBox="1">
            <a:spLocks noChangeArrowheads="1"/>
          </p:cNvSpPr>
          <p:nvPr/>
        </p:nvSpPr>
        <p:spPr bwMode="auto">
          <a:xfrm>
            <a:off x="2046379" y="1458483"/>
            <a:ext cx="5486400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sz="2400" b="1" dirty="0"/>
              <a:t>while (……….)</a:t>
            </a:r>
          </a:p>
          <a:p>
            <a:pPr algn="l"/>
            <a:r>
              <a:rPr lang="en-US" sz="2400" b="1" dirty="0"/>
              <a:t>{   …….</a:t>
            </a:r>
          </a:p>
          <a:p>
            <a:pPr lvl="1" algn="l">
              <a:spcBef>
                <a:spcPct val="50000"/>
              </a:spcBef>
            </a:pPr>
            <a:r>
              <a:rPr lang="en-US" sz="2400" b="1" dirty="0"/>
              <a:t>if (condition)</a:t>
            </a:r>
          </a:p>
          <a:p>
            <a:pPr lvl="1" algn="l">
              <a:spcBef>
                <a:spcPct val="50000"/>
              </a:spcBef>
            </a:pPr>
            <a:r>
              <a:rPr lang="en-US" sz="2400" b="1" dirty="0"/>
              <a:t>    continue;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      </a:t>
            </a:r>
            <a:r>
              <a:rPr lang="en-US" sz="2400" b="1" dirty="0">
                <a:solidFill>
                  <a:srgbClr val="FF0000"/>
                </a:solidFill>
              </a:rPr>
              <a:t>……….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}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…………..</a:t>
            </a:r>
          </a:p>
        </p:txBody>
      </p:sp>
      <p:sp>
        <p:nvSpPr>
          <p:cNvPr id="88070" name="Text Box 5"/>
          <p:cNvSpPr txBox="1">
            <a:spLocks noChangeArrowheads="1"/>
          </p:cNvSpPr>
          <p:nvPr/>
        </p:nvSpPr>
        <p:spPr bwMode="auto">
          <a:xfrm>
            <a:off x="8739554" y="1399736"/>
            <a:ext cx="2667000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sz="2400" b="1" dirty="0"/>
              <a:t>do</a:t>
            </a:r>
          </a:p>
          <a:p>
            <a:pPr algn="l"/>
            <a:r>
              <a:rPr lang="en-US" sz="2400" b="1" dirty="0"/>
              <a:t>{…….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if (condition)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   continue;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</a:t>
            </a:r>
            <a:r>
              <a:rPr lang="en-US" sz="2400" b="1" dirty="0">
                <a:solidFill>
                  <a:srgbClr val="FF0000"/>
                </a:solidFill>
              </a:rPr>
              <a:t>……….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} while(…);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…………..</a:t>
            </a:r>
          </a:p>
        </p:txBody>
      </p:sp>
      <p:cxnSp>
        <p:nvCxnSpPr>
          <p:cNvPr id="88071" name="AutoShape 6"/>
          <p:cNvCxnSpPr>
            <a:cxnSpLocks noChangeShapeType="1"/>
          </p:cNvCxnSpPr>
          <p:nvPr/>
        </p:nvCxnSpPr>
        <p:spPr bwMode="auto">
          <a:xfrm rot="10800000">
            <a:off x="10755649" y="3151709"/>
            <a:ext cx="6096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72" name="AutoShape 7"/>
          <p:cNvCxnSpPr>
            <a:cxnSpLocks noChangeShapeType="1"/>
          </p:cNvCxnSpPr>
          <p:nvPr/>
        </p:nvCxnSpPr>
        <p:spPr bwMode="auto">
          <a:xfrm rot="5400000">
            <a:off x="10830261" y="3690093"/>
            <a:ext cx="106838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073" name="Line 8"/>
          <p:cNvSpPr>
            <a:spLocks noChangeShapeType="1"/>
          </p:cNvSpPr>
          <p:nvPr/>
        </p:nvSpPr>
        <p:spPr bwMode="auto">
          <a:xfrm flipH="1">
            <a:off x="10696136" y="4239149"/>
            <a:ext cx="682282" cy="149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857841" y="1658776"/>
            <a:ext cx="914400" cy="1601788"/>
            <a:chOff x="1828800" y="1600200"/>
            <a:chExt cx="914400" cy="1601788"/>
          </a:xfrm>
        </p:grpSpPr>
        <p:cxnSp>
          <p:nvCxnSpPr>
            <p:cNvPr id="88069" name="AutoShape 4"/>
            <p:cNvCxnSpPr>
              <a:cxnSpLocks noChangeShapeType="1"/>
            </p:cNvCxnSpPr>
            <p:nvPr/>
          </p:nvCxnSpPr>
          <p:spPr bwMode="auto">
            <a:xfrm rot="10800000">
              <a:off x="1828800" y="3200400"/>
              <a:ext cx="8382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074" name="AutoShape 9"/>
            <p:cNvCxnSpPr>
              <a:cxnSpLocks noChangeShapeType="1"/>
            </p:cNvCxnSpPr>
            <p:nvPr/>
          </p:nvCxnSpPr>
          <p:spPr bwMode="auto">
            <a:xfrm rot="5400000" flipH="1" flipV="1">
              <a:off x="1030288" y="2398713"/>
              <a:ext cx="1600200" cy="3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8075" name="Line 10"/>
            <p:cNvSpPr>
              <a:spLocks noChangeShapeType="1"/>
            </p:cNvSpPr>
            <p:nvPr/>
          </p:nvSpPr>
          <p:spPr bwMode="auto">
            <a:xfrm>
              <a:off x="1828800" y="16002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8076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8610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 b="1" i="1">
                <a:solidFill>
                  <a:srgbClr val="CC6600"/>
                </a:solidFill>
              </a:rPr>
              <a:t>Skipping a part of the loop(contd.)</a:t>
            </a:r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88077" name="Left-Right Arrow 17"/>
          <p:cNvSpPr>
            <a:spLocks noChangeArrowheads="1"/>
          </p:cNvSpPr>
          <p:nvPr/>
        </p:nvSpPr>
        <p:spPr bwMode="auto">
          <a:xfrm>
            <a:off x="7458911" y="3577388"/>
            <a:ext cx="1224137" cy="347594"/>
          </a:xfrm>
          <a:prstGeom prst="leftRightArrow">
            <a:avLst>
              <a:gd name="adj1" fmla="val 50000"/>
              <a:gd name="adj2" fmla="val 4999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l"/>
            <a:r>
              <a:rPr lang="en-US" b="1" dirty="0">
                <a:latin typeface="Times New Roman" pitchFamily="18" charset="0"/>
              </a:rPr>
              <a:t>  </a:t>
            </a:r>
          </a:p>
        </p:txBody>
      </p:sp>
      <p:sp>
        <p:nvSpPr>
          <p:cNvPr id="15" name="Left-Right Arrow 17"/>
          <p:cNvSpPr>
            <a:spLocks noChangeArrowheads="1"/>
          </p:cNvSpPr>
          <p:nvPr/>
        </p:nvSpPr>
        <p:spPr bwMode="auto">
          <a:xfrm>
            <a:off x="3959979" y="3568209"/>
            <a:ext cx="1224137" cy="347594"/>
          </a:xfrm>
          <a:prstGeom prst="leftRightArrow">
            <a:avLst>
              <a:gd name="adj1" fmla="val 50000"/>
              <a:gd name="adj2" fmla="val 4999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l"/>
            <a:endParaRPr lang="en-US" b="1">
              <a:latin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69249" y="3480396"/>
            <a:ext cx="2087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Skipped part</a:t>
            </a:r>
          </a:p>
        </p:txBody>
      </p:sp>
    </p:spTree>
    <p:extLst>
      <p:ext uri="{BB962C8B-B14F-4D97-AF65-F5344CB8AC3E}">
        <p14:creationId xmlns:p14="http://schemas.microsoft.com/office/powerpoint/2010/main" val="41838799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2" name="Text Box 3"/>
          <p:cNvSpPr txBox="1">
            <a:spLocks noChangeArrowheads="1"/>
          </p:cNvSpPr>
          <p:nvPr/>
        </p:nvSpPr>
        <p:spPr bwMode="auto">
          <a:xfrm>
            <a:off x="4795838" y="1447801"/>
            <a:ext cx="6973796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sz="2400" b="1" dirty="0"/>
              <a:t>for ( initialization; </a:t>
            </a:r>
            <a:r>
              <a:rPr lang="en-US" sz="2400" b="1" dirty="0" err="1"/>
              <a:t>test_condition</a:t>
            </a:r>
            <a:r>
              <a:rPr lang="en-US" sz="2400" b="1" dirty="0"/>
              <a:t>; increment )</a:t>
            </a:r>
          </a:p>
          <a:p>
            <a:pPr algn="l"/>
            <a:r>
              <a:rPr lang="en-US" sz="2400" b="1" dirty="0"/>
              <a:t>{…….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…………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if (condition)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       continue;</a:t>
            </a:r>
          </a:p>
          <a:p>
            <a:pPr algn="l">
              <a:spcBef>
                <a:spcPct val="50000"/>
              </a:spcBef>
            </a:pPr>
            <a:r>
              <a:rPr lang="en-US" sz="2400" b="1" dirty="0">
                <a:solidFill>
                  <a:srgbClr val="FF0000"/>
                </a:solidFill>
              </a:rPr>
              <a:t>  ………  // Skipped part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}</a:t>
            </a:r>
          </a:p>
          <a:p>
            <a:pPr algn="l">
              <a:spcBef>
                <a:spcPct val="50000"/>
              </a:spcBef>
            </a:pPr>
            <a:r>
              <a:rPr lang="en-US" sz="2400" b="1" dirty="0"/>
              <a:t>…………..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873324" y="1656472"/>
            <a:ext cx="1830388" cy="2668588"/>
            <a:chOff x="2971800" y="1600200"/>
            <a:chExt cx="1830388" cy="2668588"/>
          </a:xfrm>
        </p:grpSpPr>
        <p:cxnSp>
          <p:nvCxnSpPr>
            <p:cNvPr id="89093" name="AutoShape 4"/>
            <p:cNvCxnSpPr>
              <a:cxnSpLocks noChangeShapeType="1"/>
            </p:cNvCxnSpPr>
            <p:nvPr/>
          </p:nvCxnSpPr>
          <p:spPr bwMode="auto">
            <a:xfrm rot="10800000">
              <a:off x="2971800" y="4267200"/>
              <a:ext cx="1677988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9094" name="Line 6"/>
            <p:cNvSpPr>
              <a:spLocks noChangeShapeType="1"/>
            </p:cNvSpPr>
            <p:nvPr/>
          </p:nvSpPr>
          <p:spPr bwMode="auto">
            <a:xfrm>
              <a:off x="2971800" y="1600200"/>
              <a:ext cx="1830388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095" name="Line 9"/>
            <p:cNvSpPr>
              <a:spLocks noChangeShapeType="1"/>
            </p:cNvSpPr>
            <p:nvPr/>
          </p:nvSpPr>
          <p:spPr bwMode="auto">
            <a:xfrm>
              <a:off x="2971800" y="1600200"/>
              <a:ext cx="0" cy="266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9096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8610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400" b="1" i="1">
                <a:solidFill>
                  <a:srgbClr val="CC6600"/>
                </a:solidFill>
              </a:rPr>
              <a:t>Skipping a part of the loop(contd.)</a:t>
            </a:r>
            <a:endParaRPr lang="en-US" sz="24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8752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7" y="543644"/>
            <a:ext cx="8648529" cy="49171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3733484" y="123826"/>
            <a:ext cx="6921843" cy="2650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u="sng" dirty="0">
                <a:solidFill>
                  <a:srgbClr val="7030A0"/>
                </a:solidFill>
              </a:rPr>
              <a:t>Example -7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26378" y="2636859"/>
            <a:ext cx="2965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OUTPUT: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742" y="3488396"/>
            <a:ext cx="1319653" cy="24926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2612</Words>
  <Application>Microsoft Office PowerPoint</Application>
  <PresentationFormat>Widescreen</PresentationFormat>
  <Paragraphs>616</Paragraphs>
  <Slides>56</Slides>
  <Notes>19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Arial</vt:lpstr>
      <vt:lpstr>Calibri</vt:lpstr>
      <vt:lpstr>Calibri Light</vt:lpstr>
      <vt:lpstr>Times New Roman</vt:lpstr>
      <vt:lpstr>Times-Roman</vt:lpstr>
      <vt:lpstr>Wingdings</vt:lpstr>
      <vt:lpstr>Office Theme</vt:lpstr>
      <vt:lpstr>Loops &amp; Decisions</vt:lpstr>
      <vt:lpstr>The “if” condition</vt:lpstr>
      <vt:lpstr>Flow of Control of Simple if statement</vt:lpstr>
      <vt:lpstr>Variations of if statement</vt:lpstr>
      <vt:lpstr>If – else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Rules for switch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Loops &amp; Decisions</vt:lpstr>
      <vt:lpstr>Relational Operators</vt:lpstr>
      <vt:lpstr>Loops</vt:lpstr>
      <vt:lpstr>Entry and exit controlled loop</vt:lpstr>
      <vt:lpstr>The for loop</vt:lpstr>
      <vt:lpstr>Example -1</vt:lpstr>
      <vt:lpstr>PowerPoint Presentation</vt:lpstr>
      <vt:lpstr>PowerPoint Presentation</vt:lpstr>
      <vt:lpstr>The while loop</vt:lpstr>
      <vt:lpstr>Predict the output</vt:lpstr>
      <vt:lpstr>Problems to be tried</vt:lpstr>
      <vt:lpstr>PowerPoint Presentation</vt:lpstr>
      <vt:lpstr>Test our while loop</vt:lpstr>
      <vt:lpstr>Arithmetic Operators</vt:lpstr>
      <vt:lpstr>The do loop</vt:lpstr>
      <vt:lpstr>Nesting of loops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 &amp; Decisons</dc:title>
  <dc:creator>Mahe</dc:creator>
  <cp:lastModifiedBy>Linda Varghese [MAHE-MIT]</cp:lastModifiedBy>
  <cp:revision>88</cp:revision>
  <dcterms:created xsi:type="dcterms:W3CDTF">2017-08-02T23:59:06Z</dcterms:created>
  <dcterms:modified xsi:type="dcterms:W3CDTF">2024-08-03T04:49:05Z</dcterms:modified>
</cp:coreProperties>
</file>