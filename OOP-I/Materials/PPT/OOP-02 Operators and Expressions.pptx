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51"/>
  </p:notesMasterIdLst>
  <p:handoutMasterIdLst>
    <p:handoutMasterId r:id="rId52"/>
  </p:handoutMasterIdLst>
  <p:sldIdLst>
    <p:sldId id="308" r:id="rId2"/>
    <p:sldId id="293" r:id="rId3"/>
    <p:sldId id="257" r:id="rId4"/>
    <p:sldId id="258" r:id="rId5"/>
    <p:sldId id="259" r:id="rId6"/>
    <p:sldId id="260" r:id="rId7"/>
    <p:sldId id="261" r:id="rId8"/>
    <p:sldId id="262" r:id="rId9"/>
    <p:sldId id="263" r:id="rId10"/>
    <p:sldId id="264" r:id="rId11"/>
    <p:sldId id="312" r:id="rId12"/>
    <p:sldId id="311" r:id="rId13"/>
    <p:sldId id="268" r:id="rId14"/>
    <p:sldId id="271" r:id="rId15"/>
    <p:sldId id="313" r:id="rId16"/>
    <p:sldId id="314" r:id="rId17"/>
    <p:sldId id="315" r:id="rId18"/>
    <p:sldId id="272" r:id="rId19"/>
    <p:sldId id="273" r:id="rId20"/>
    <p:sldId id="274" r:id="rId21"/>
    <p:sldId id="275" r:id="rId22"/>
    <p:sldId id="276" r:id="rId23"/>
    <p:sldId id="277" r:id="rId24"/>
    <p:sldId id="278" r:id="rId25"/>
    <p:sldId id="279" r:id="rId26"/>
    <p:sldId id="280" r:id="rId27"/>
    <p:sldId id="295" r:id="rId28"/>
    <p:sldId id="281" r:id="rId29"/>
    <p:sldId id="298" r:id="rId30"/>
    <p:sldId id="299" r:id="rId31"/>
    <p:sldId id="300" r:id="rId32"/>
    <p:sldId id="301" r:id="rId33"/>
    <p:sldId id="310" r:id="rId34"/>
    <p:sldId id="316" r:id="rId35"/>
    <p:sldId id="302" r:id="rId36"/>
    <p:sldId id="303" r:id="rId37"/>
    <p:sldId id="282" r:id="rId38"/>
    <p:sldId id="297" r:id="rId39"/>
    <p:sldId id="309" r:id="rId40"/>
    <p:sldId id="283" r:id="rId41"/>
    <p:sldId id="305" r:id="rId42"/>
    <p:sldId id="288" r:id="rId43"/>
    <p:sldId id="284" r:id="rId44"/>
    <p:sldId id="285" r:id="rId45"/>
    <p:sldId id="304" r:id="rId46"/>
    <p:sldId id="287" r:id="rId47"/>
    <p:sldId id="289" r:id="rId48"/>
    <p:sldId id="306" r:id="rId49"/>
    <p:sldId id="290"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5329"/>
    <a:srgbClr val="29AF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804" y="5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778"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7CDD144-DD60-497E-B699-E9DC47214CFE}" type="datetimeFigureOut">
              <a:rPr lang="en-US"/>
              <a:pPr>
                <a:defRPr/>
              </a:pPr>
              <a:t>8/10/2023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249C8A0C-B221-40C9-8755-E748849DCB6D}" type="slidenum">
              <a:rPr lang="en-US"/>
              <a:pPr>
                <a:defRPr/>
              </a:pPr>
              <a:t>‹#›</a:t>
            </a:fld>
            <a:endParaRPr lang="en-US"/>
          </a:p>
        </p:txBody>
      </p:sp>
    </p:spTree>
    <p:extLst>
      <p:ext uri="{BB962C8B-B14F-4D97-AF65-F5344CB8AC3E}">
        <p14:creationId xmlns:p14="http://schemas.microsoft.com/office/powerpoint/2010/main" val="8013081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charset="0"/>
              </a:defRPr>
            </a:lvl1pPr>
          </a:lstStyle>
          <a:p>
            <a:pPr>
              <a:defRPr/>
            </a:pPr>
            <a:endParaRPr lang="en-US"/>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6246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charset="0"/>
              </a:defRPr>
            </a:lvl1pPr>
          </a:lstStyle>
          <a:p>
            <a:pPr>
              <a:defRPr/>
            </a:pPr>
            <a:endParaRPr lang="en-US"/>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BDCF49E2-6E43-4F54-BCDD-555906D6783D}" type="slidenum">
              <a:rPr lang="en-US"/>
              <a:pPr>
                <a:defRPr/>
              </a:pPr>
              <a:t>‹#›</a:t>
            </a:fld>
            <a:endParaRPr lang="en-US" dirty="0"/>
          </a:p>
        </p:txBody>
      </p:sp>
    </p:spTree>
    <p:extLst>
      <p:ext uri="{BB962C8B-B14F-4D97-AF65-F5344CB8AC3E}">
        <p14:creationId xmlns:p14="http://schemas.microsoft.com/office/powerpoint/2010/main" val="2408496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D24895EE-05CD-4B5B-B7CE-31C7FF5EE1B6}" type="slidenum">
              <a:rPr lang="en-US" smtClean="0"/>
              <a:pPr eaLnBrk="1" hangingPunct="1"/>
              <a:t>2</a:t>
            </a:fld>
            <a:endParaRPr lang="en-US"/>
          </a:p>
        </p:txBody>
      </p:sp>
      <p:sp>
        <p:nvSpPr>
          <p:cNvPr id="63491"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106571FA-DB1A-4046-96D2-04A7C2E401C9}" type="slidenum">
              <a:rPr lang="en-US" sz="1200"/>
              <a:pPr algn="r" eaLnBrk="1" hangingPunct="1"/>
              <a:t>2</a:t>
            </a:fld>
            <a:endParaRPr lang="en-US" sz="1200"/>
          </a:p>
        </p:txBody>
      </p:sp>
      <p:sp>
        <p:nvSpPr>
          <p:cNvPr id="63492" name="Rectangle 2"/>
          <p:cNvSpPr>
            <a:spLocks noGrp="1" noRot="1" noChangeAspect="1" noChangeArrowheads="1" noTextEdit="1"/>
          </p:cNvSpPr>
          <p:nvPr>
            <p:ph type="sldImg"/>
          </p:nvPr>
        </p:nvSpPr>
        <p:spPr>
          <a:xfrm>
            <a:off x="381000" y="685800"/>
            <a:ext cx="6096000" cy="3429000"/>
          </a:xfrm>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4BC14909-C07B-42BF-B903-FC4F6BCB8A6F}" type="slidenum">
              <a:rPr lang="en-US" smtClean="0"/>
              <a:pPr eaLnBrk="1" hangingPunct="1"/>
              <a:t>3</a:t>
            </a:fld>
            <a:endParaRPr lang="en-US"/>
          </a:p>
        </p:txBody>
      </p:sp>
      <p:sp>
        <p:nvSpPr>
          <p:cNvPr id="64515"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F5DC58E5-6F88-4368-8A28-8C047FEC5CA8}" type="slidenum">
              <a:rPr lang="en-US" sz="1200"/>
              <a:pPr algn="r" eaLnBrk="1" hangingPunct="1"/>
              <a:t>3</a:t>
            </a:fld>
            <a:endParaRPr lang="en-US" sz="1200"/>
          </a:p>
        </p:txBody>
      </p:sp>
      <p:sp>
        <p:nvSpPr>
          <p:cNvPr id="64516" name="Rectangle 2"/>
          <p:cNvSpPr>
            <a:spLocks noGrp="1" noRot="1" noChangeAspect="1" noChangeArrowheads="1" noTextEdit="1"/>
          </p:cNvSpPr>
          <p:nvPr>
            <p:ph type="sldImg"/>
          </p:nvPr>
        </p:nvSpPr>
        <p:spPr>
          <a:xfrm>
            <a:off x="381000" y="685800"/>
            <a:ext cx="6096000" cy="3429000"/>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5F0DB3ED-3AB9-4209-BF7E-93A160BE4F71}" type="slidenum">
              <a:rPr lang="en-US" smtClean="0"/>
              <a:pPr eaLnBrk="1" hangingPunct="1"/>
              <a:t>4</a:t>
            </a:fld>
            <a:endParaRPr lang="en-US"/>
          </a:p>
        </p:txBody>
      </p:sp>
      <p:sp>
        <p:nvSpPr>
          <p:cNvPr id="6553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AD75A2DE-B808-4A0B-ADB9-21109275A807}" type="slidenum">
              <a:rPr lang="en-US" sz="1200"/>
              <a:pPr algn="r" eaLnBrk="1" hangingPunct="1"/>
              <a:t>4</a:t>
            </a:fld>
            <a:endParaRPr lang="en-US" sz="1200"/>
          </a:p>
        </p:txBody>
      </p:sp>
      <p:sp>
        <p:nvSpPr>
          <p:cNvPr id="65540" name="Rectangle 2"/>
          <p:cNvSpPr>
            <a:spLocks noGrp="1" noRot="1" noChangeAspect="1" noChangeArrowheads="1" noTextEdit="1"/>
          </p:cNvSpPr>
          <p:nvPr>
            <p:ph type="sldImg"/>
          </p:nvPr>
        </p:nvSpPr>
        <p:spPr>
          <a:xfrm>
            <a:off x="381000" y="685800"/>
            <a:ext cx="6096000" cy="3429000"/>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C4566AE8-A297-4F77-AAB0-D9E690B064F2}" type="slidenum">
              <a:rPr lang="en-US" smtClean="0"/>
              <a:pPr eaLnBrk="1" hangingPunct="1"/>
              <a:t>5</a:t>
            </a:fld>
            <a:endParaRPr lang="en-US"/>
          </a:p>
        </p:txBody>
      </p:sp>
      <p:sp>
        <p:nvSpPr>
          <p:cNvPr id="66563"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0C7897C7-8717-4F5B-8E4B-1D351AA329AA}" type="slidenum">
              <a:rPr lang="en-US" sz="1200"/>
              <a:pPr algn="r" eaLnBrk="1" hangingPunct="1"/>
              <a:t>5</a:t>
            </a:fld>
            <a:endParaRPr lang="en-US" sz="1200"/>
          </a:p>
        </p:txBody>
      </p:sp>
      <p:sp>
        <p:nvSpPr>
          <p:cNvPr id="66564" name="Rectangle 2"/>
          <p:cNvSpPr>
            <a:spLocks noGrp="1" noRot="1" noChangeAspect="1" noChangeArrowheads="1" noTextEdit="1"/>
          </p:cNvSpPr>
          <p:nvPr>
            <p:ph type="sldImg"/>
          </p:nvPr>
        </p:nvSpPr>
        <p:spPr>
          <a:xfrm>
            <a:off x="381000" y="685800"/>
            <a:ext cx="6096000" cy="3429000"/>
          </a:xfrm>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5A6EFC61-FD22-481A-8546-0ED75E260220}" type="slidenum">
              <a:rPr lang="en-US" smtClean="0"/>
              <a:pPr eaLnBrk="1" hangingPunct="1"/>
              <a:t>6</a:t>
            </a:fld>
            <a:endParaRPr lang="en-US"/>
          </a:p>
        </p:txBody>
      </p:sp>
      <p:sp>
        <p:nvSpPr>
          <p:cNvPr id="67587"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518EFCF7-464E-4101-819E-D21CB8FC6CD3}" type="slidenum">
              <a:rPr lang="en-US" sz="1200"/>
              <a:pPr algn="r" eaLnBrk="1" hangingPunct="1"/>
              <a:t>6</a:t>
            </a:fld>
            <a:endParaRPr lang="en-US" sz="1200"/>
          </a:p>
        </p:txBody>
      </p:sp>
      <p:sp>
        <p:nvSpPr>
          <p:cNvPr id="67588" name="Rectangle 2"/>
          <p:cNvSpPr>
            <a:spLocks noGrp="1" noRot="1" noChangeAspect="1" noChangeArrowheads="1" noTextEdit="1"/>
          </p:cNvSpPr>
          <p:nvPr>
            <p:ph type="sldImg"/>
          </p:nvPr>
        </p:nvSpPr>
        <p:spPr>
          <a:xfrm>
            <a:off x="381000" y="685800"/>
            <a:ext cx="6096000" cy="3429000"/>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8FBF6A43-B52A-431A-B5C6-4EEAEE68E6C2}" type="slidenum">
              <a:rPr lang="en-US" smtClean="0"/>
              <a:pPr eaLnBrk="1" hangingPunct="1"/>
              <a:t>7</a:t>
            </a:fld>
            <a:endParaRPr lang="en-US"/>
          </a:p>
        </p:txBody>
      </p:sp>
      <p:sp>
        <p:nvSpPr>
          <p:cNvPr id="68611"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098AAFDA-9DAB-40FC-B13F-FE462ADEC425}" type="slidenum">
              <a:rPr lang="en-US" sz="1200"/>
              <a:pPr algn="r" eaLnBrk="1" hangingPunct="1"/>
              <a:t>7</a:t>
            </a:fld>
            <a:endParaRPr lang="en-US" sz="1200"/>
          </a:p>
        </p:txBody>
      </p:sp>
      <p:sp>
        <p:nvSpPr>
          <p:cNvPr id="68612" name="Rectangle 2"/>
          <p:cNvSpPr>
            <a:spLocks noGrp="1" noRot="1" noChangeAspect="1" noChangeArrowheads="1" noTextEdit="1"/>
          </p:cNvSpPr>
          <p:nvPr>
            <p:ph type="sldImg"/>
          </p:nvPr>
        </p:nvSpPr>
        <p:spPr>
          <a:xfrm>
            <a:off x="381000" y="685800"/>
            <a:ext cx="6096000" cy="3429000"/>
          </a:xfrm>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6BC682D2-BDED-4642-B5D0-5CE70336E06D}" type="slidenum">
              <a:rPr lang="en-US" smtClean="0"/>
              <a:pPr eaLnBrk="1" hangingPunct="1"/>
              <a:t>8</a:t>
            </a:fld>
            <a:endParaRPr lang="en-US"/>
          </a:p>
        </p:txBody>
      </p:sp>
      <p:sp>
        <p:nvSpPr>
          <p:cNvPr id="69635"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88C4AAF5-AB6F-4025-A094-3111AFF47BC8}" type="slidenum">
              <a:rPr lang="en-US" sz="1200"/>
              <a:pPr algn="r" eaLnBrk="1" hangingPunct="1"/>
              <a:t>8</a:t>
            </a:fld>
            <a:endParaRPr lang="en-US" sz="1200"/>
          </a:p>
        </p:txBody>
      </p:sp>
      <p:sp>
        <p:nvSpPr>
          <p:cNvPr id="69636" name="Rectangle 2"/>
          <p:cNvSpPr>
            <a:spLocks noGrp="1" noRot="1" noChangeAspect="1" noChangeArrowheads="1" noTextEdit="1"/>
          </p:cNvSpPr>
          <p:nvPr>
            <p:ph type="sldImg"/>
          </p:nvPr>
        </p:nvSpPr>
        <p:spPr>
          <a:xfrm>
            <a:off x="381000" y="685800"/>
            <a:ext cx="6096000" cy="3429000"/>
          </a:xfrm>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207F17B9-8D7E-4931-A90E-8CBD3531E5BA}" type="slidenum">
              <a:rPr lang="en-US" smtClean="0"/>
              <a:pPr eaLnBrk="1" hangingPunct="1"/>
              <a:t>9</a:t>
            </a:fld>
            <a:endParaRPr lang="en-US"/>
          </a:p>
        </p:txBody>
      </p:sp>
      <p:sp>
        <p:nvSpPr>
          <p:cNvPr id="7065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448DB42C-DA4C-4631-BEEF-1D961D6D82F5}" type="slidenum">
              <a:rPr lang="en-US" sz="1200"/>
              <a:pPr algn="r" eaLnBrk="1" hangingPunct="1"/>
              <a:t>9</a:t>
            </a:fld>
            <a:endParaRPr lang="en-US" sz="1200"/>
          </a:p>
        </p:txBody>
      </p:sp>
      <p:sp>
        <p:nvSpPr>
          <p:cNvPr id="70660" name="Rectangle 2"/>
          <p:cNvSpPr>
            <a:spLocks noGrp="1" noRot="1" noChangeAspect="1" noChangeArrowheads="1" noTextEdit="1"/>
          </p:cNvSpPr>
          <p:nvPr>
            <p:ph type="sldImg"/>
          </p:nvPr>
        </p:nvSpPr>
        <p:spPr>
          <a:xfrm>
            <a:off x="381000" y="685800"/>
            <a:ext cx="6096000" cy="3429000"/>
          </a:xfrm>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00499261-3166-4913-937C-CD651C2FA1AD}" type="slidenum">
              <a:rPr lang="en-US" smtClean="0"/>
              <a:pPr eaLnBrk="1" hangingPunct="1"/>
              <a:t>10</a:t>
            </a:fld>
            <a:endParaRPr lang="en-US"/>
          </a:p>
        </p:txBody>
      </p:sp>
      <p:sp>
        <p:nvSpPr>
          <p:cNvPr id="71683"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1F3B5FA8-4E16-41B3-B6B8-9D93FB7E452F}" type="slidenum">
              <a:rPr lang="en-US" sz="1200"/>
              <a:pPr algn="r" eaLnBrk="1" hangingPunct="1"/>
              <a:t>10</a:t>
            </a:fld>
            <a:endParaRPr lang="en-US" sz="1200"/>
          </a:p>
        </p:txBody>
      </p:sp>
      <p:sp>
        <p:nvSpPr>
          <p:cNvPr id="71684" name="Rectangle 2"/>
          <p:cNvSpPr>
            <a:spLocks noGrp="1" noRot="1" noChangeAspect="1" noChangeArrowheads="1" noTextEdit="1"/>
          </p:cNvSpPr>
          <p:nvPr>
            <p:ph type="sldImg"/>
          </p:nvPr>
        </p:nvSpPr>
        <p:spPr>
          <a:xfrm>
            <a:off x="381000" y="685800"/>
            <a:ext cx="6096000" cy="3429000"/>
          </a:xfrm>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1A2F7290-F0FF-49AA-B382-B12B78AF4568}" type="slidenum">
              <a:rPr lang="en-US" smtClean="0"/>
              <a:pPr eaLnBrk="1" hangingPunct="1"/>
              <a:t>13</a:t>
            </a:fld>
            <a:endParaRPr lang="en-US"/>
          </a:p>
        </p:txBody>
      </p:sp>
      <p:sp>
        <p:nvSpPr>
          <p:cNvPr id="74755"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F0255823-9E4B-4CD6-B6B9-95B2281DDE5D}" type="slidenum">
              <a:rPr lang="en-US" sz="1200"/>
              <a:pPr algn="r" eaLnBrk="1" hangingPunct="1"/>
              <a:t>13</a:t>
            </a:fld>
            <a:endParaRPr lang="en-US" sz="1200"/>
          </a:p>
        </p:txBody>
      </p:sp>
      <p:sp>
        <p:nvSpPr>
          <p:cNvPr id="74756" name="Rectangle 2"/>
          <p:cNvSpPr>
            <a:spLocks noGrp="1" noRot="1" noChangeAspect="1" noChangeArrowheads="1" noTextEdit="1"/>
          </p:cNvSpPr>
          <p:nvPr>
            <p:ph type="sldImg"/>
          </p:nvPr>
        </p:nvSpPr>
        <p:spPr>
          <a:xfrm>
            <a:off x="381000" y="685800"/>
            <a:ext cx="6096000" cy="3429000"/>
          </a:xfrm>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E212092A-F2D7-4555-89E6-987FDC019952}" type="slidenum">
              <a:rPr lang="en-US" smtClean="0"/>
              <a:pPr eaLnBrk="1" hangingPunct="1"/>
              <a:t>14</a:t>
            </a:fld>
            <a:endParaRPr lang="en-US"/>
          </a:p>
        </p:txBody>
      </p:sp>
      <p:sp>
        <p:nvSpPr>
          <p:cNvPr id="7577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ED545A02-BC57-486C-9C6D-1CA83D5CF075}" type="slidenum">
              <a:rPr lang="en-US" sz="1200"/>
              <a:pPr algn="r" eaLnBrk="1" hangingPunct="1"/>
              <a:t>14</a:t>
            </a:fld>
            <a:endParaRPr lang="en-US" sz="1200"/>
          </a:p>
        </p:txBody>
      </p:sp>
      <p:sp>
        <p:nvSpPr>
          <p:cNvPr id="75780" name="Rectangle 2"/>
          <p:cNvSpPr>
            <a:spLocks noGrp="1" noRot="1" noChangeAspect="1" noChangeArrowheads="1" noTextEdit="1"/>
          </p:cNvSpPr>
          <p:nvPr>
            <p:ph type="sldImg"/>
          </p:nvPr>
        </p:nvSpPr>
        <p:spPr>
          <a:xfrm>
            <a:off x="381000" y="685800"/>
            <a:ext cx="6096000" cy="3429000"/>
          </a:xfrm>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56861C87-048B-4C6D-93D8-B1587A3A251D}" type="slidenum">
              <a:rPr lang="en-US" smtClean="0"/>
              <a:pPr eaLnBrk="1" hangingPunct="1"/>
              <a:t>18</a:t>
            </a:fld>
            <a:endParaRPr lang="en-US"/>
          </a:p>
        </p:txBody>
      </p:sp>
      <p:sp>
        <p:nvSpPr>
          <p:cNvPr id="79875"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542A7374-F36D-4DF8-B7F3-C034FA85B0E9}" type="slidenum">
              <a:rPr lang="en-US" sz="1200"/>
              <a:pPr algn="r" eaLnBrk="1" hangingPunct="1"/>
              <a:t>18</a:t>
            </a:fld>
            <a:endParaRPr lang="en-US" sz="1200"/>
          </a:p>
        </p:txBody>
      </p:sp>
      <p:sp>
        <p:nvSpPr>
          <p:cNvPr id="79876" name="Rectangle 2"/>
          <p:cNvSpPr>
            <a:spLocks noGrp="1" noRot="1" noChangeAspect="1" noChangeArrowheads="1" noTextEdit="1"/>
          </p:cNvSpPr>
          <p:nvPr>
            <p:ph type="sldImg"/>
          </p:nvPr>
        </p:nvSpPr>
        <p:spPr>
          <a:xfrm>
            <a:off x="381000" y="685800"/>
            <a:ext cx="6096000" cy="3429000"/>
          </a:xfrm>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E6EE3B4B-6857-47AE-A760-D60BA7C4672A}" type="slidenum">
              <a:rPr lang="en-US" smtClean="0"/>
              <a:pPr eaLnBrk="1" hangingPunct="1"/>
              <a:t>19</a:t>
            </a:fld>
            <a:endParaRPr lang="en-US"/>
          </a:p>
        </p:txBody>
      </p:sp>
      <p:sp>
        <p:nvSpPr>
          <p:cNvPr id="8089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788D9A29-39DB-4555-91A7-2531098B2E6E}" type="slidenum">
              <a:rPr lang="en-US" sz="1200"/>
              <a:pPr algn="r" eaLnBrk="1" hangingPunct="1"/>
              <a:t>19</a:t>
            </a:fld>
            <a:endParaRPr lang="en-US" sz="1200"/>
          </a:p>
        </p:txBody>
      </p:sp>
      <p:sp>
        <p:nvSpPr>
          <p:cNvPr id="80900" name="Rectangle 2"/>
          <p:cNvSpPr>
            <a:spLocks noGrp="1" noRot="1" noChangeAspect="1" noChangeArrowheads="1" noTextEdit="1"/>
          </p:cNvSpPr>
          <p:nvPr>
            <p:ph type="sldImg"/>
          </p:nvPr>
        </p:nvSpPr>
        <p:spPr>
          <a:xfrm>
            <a:off x="381000" y="685800"/>
            <a:ext cx="6096000" cy="3429000"/>
          </a:xfrm>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D9AF51F3-0D71-4685-B4A3-B31690E716BF}" type="slidenum">
              <a:rPr lang="en-US" smtClean="0"/>
              <a:pPr eaLnBrk="1" hangingPunct="1"/>
              <a:t>20</a:t>
            </a:fld>
            <a:endParaRPr lang="en-US"/>
          </a:p>
        </p:txBody>
      </p:sp>
      <p:sp>
        <p:nvSpPr>
          <p:cNvPr id="81923"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38EF7970-4453-4AC3-87B0-F59AFF0F74FC}" type="slidenum">
              <a:rPr lang="en-US" sz="1200"/>
              <a:pPr algn="r" eaLnBrk="1" hangingPunct="1"/>
              <a:t>20</a:t>
            </a:fld>
            <a:endParaRPr lang="en-US" sz="1200"/>
          </a:p>
        </p:txBody>
      </p:sp>
      <p:sp>
        <p:nvSpPr>
          <p:cNvPr id="81924" name="Rectangle 2"/>
          <p:cNvSpPr>
            <a:spLocks noGrp="1" noRot="1" noChangeAspect="1" noChangeArrowheads="1" noTextEdit="1"/>
          </p:cNvSpPr>
          <p:nvPr>
            <p:ph type="sldImg"/>
          </p:nvPr>
        </p:nvSpPr>
        <p:spPr>
          <a:xfrm>
            <a:off x="381000" y="685800"/>
            <a:ext cx="6096000" cy="3429000"/>
          </a:xfrm>
          <a:ln/>
        </p:spPr>
      </p:sp>
      <p:sp>
        <p:nvSpPr>
          <p:cNvPr id="819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6178D5BC-DD31-4738-9F07-112F794E73D7}" type="slidenum">
              <a:rPr lang="en-US" smtClean="0"/>
              <a:pPr eaLnBrk="1" hangingPunct="1"/>
              <a:t>21</a:t>
            </a:fld>
            <a:endParaRPr lang="en-US"/>
          </a:p>
        </p:txBody>
      </p:sp>
      <p:sp>
        <p:nvSpPr>
          <p:cNvPr id="82947"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5F22EAAD-56C2-43C6-997C-071C19AFD288}" type="slidenum">
              <a:rPr lang="en-US" sz="1200"/>
              <a:pPr algn="r" eaLnBrk="1" hangingPunct="1"/>
              <a:t>21</a:t>
            </a:fld>
            <a:endParaRPr lang="en-US" sz="1200"/>
          </a:p>
        </p:txBody>
      </p:sp>
      <p:sp>
        <p:nvSpPr>
          <p:cNvPr id="82948" name="Rectangle 2"/>
          <p:cNvSpPr>
            <a:spLocks noGrp="1" noRot="1" noChangeAspect="1" noChangeArrowheads="1" noTextEdit="1"/>
          </p:cNvSpPr>
          <p:nvPr>
            <p:ph type="sldImg"/>
          </p:nvPr>
        </p:nvSpPr>
        <p:spPr>
          <a:xfrm>
            <a:off x="381000" y="685800"/>
            <a:ext cx="6096000" cy="3429000"/>
          </a:xfrm>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B934F34F-175B-4C74-AABB-8821AFC5FFF3}" type="slidenum">
              <a:rPr lang="en-US" smtClean="0"/>
              <a:pPr eaLnBrk="1" hangingPunct="1"/>
              <a:t>22</a:t>
            </a:fld>
            <a:endParaRPr lang="en-US"/>
          </a:p>
        </p:txBody>
      </p:sp>
      <p:sp>
        <p:nvSpPr>
          <p:cNvPr id="83971"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6BB6BE1B-0D3F-4751-9A45-DEF7933D992C}" type="slidenum">
              <a:rPr lang="en-US" sz="1200"/>
              <a:pPr algn="r" eaLnBrk="1" hangingPunct="1"/>
              <a:t>22</a:t>
            </a:fld>
            <a:endParaRPr lang="en-US" sz="1200"/>
          </a:p>
        </p:txBody>
      </p:sp>
      <p:sp>
        <p:nvSpPr>
          <p:cNvPr id="83972" name="Rectangle 2"/>
          <p:cNvSpPr>
            <a:spLocks noGrp="1" noRot="1" noChangeAspect="1" noChangeArrowheads="1" noTextEdit="1"/>
          </p:cNvSpPr>
          <p:nvPr>
            <p:ph type="sldImg"/>
          </p:nvPr>
        </p:nvSpPr>
        <p:spPr>
          <a:xfrm>
            <a:off x="381000" y="685800"/>
            <a:ext cx="6096000" cy="3429000"/>
          </a:xfrm>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30F57C6E-B2D8-47B4-9FAE-3FC848718C4D}" type="slidenum">
              <a:rPr lang="en-US" smtClean="0"/>
              <a:pPr eaLnBrk="1" hangingPunct="1"/>
              <a:t>23</a:t>
            </a:fld>
            <a:endParaRPr lang="en-US"/>
          </a:p>
        </p:txBody>
      </p:sp>
      <p:sp>
        <p:nvSpPr>
          <p:cNvPr id="84995"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D6BA2ADA-DE48-4C8F-A684-D679DCA95391}" type="slidenum">
              <a:rPr lang="en-US" sz="1200"/>
              <a:pPr algn="r" eaLnBrk="1" hangingPunct="1"/>
              <a:t>23</a:t>
            </a:fld>
            <a:endParaRPr lang="en-US" sz="1200"/>
          </a:p>
        </p:txBody>
      </p:sp>
      <p:sp>
        <p:nvSpPr>
          <p:cNvPr id="84996" name="Rectangle 2"/>
          <p:cNvSpPr>
            <a:spLocks noGrp="1" noRot="1" noChangeAspect="1" noChangeArrowheads="1" noTextEdit="1"/>
          </p:cNvSpPr>
          <p:nvPr>
            <p:ph type="sldImg"/>
          </p:nvPr>
        </p:nvSpPr>
        <p:spPr>
          <a:xfrm>
            <a:off x="381000" y="685800"/>
            <a:ext cx="6096000" cy="3429000"/>
          </a:xfrm>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0D836971-9D0F-4981-ADDA-31DB554D69F6}" type="slidenum">
              <a:rPr lang="en-US" smtClean="0"/>
              <a:pPr eaLnBrk="1" hangingPunct="1"/>
              <a:t>24</a:t>
            </a:fld>
            <a:endParaRPr lang="en-US"/>
          </a:p>
        </p:txBody>
      </p:sp>
      <p:sp>
        <p:nvSpPr>
          <p:cNvPr id="8601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53C8380E-4AA6-420A-A6BC-2C9059BF45CA}" type="slidenum">
              <a:rPr lang="en-US" sz="1200"/>
              <a:pPr algn="r" eaLnBrk="1" hangingPunct="1"/>
              <a:t>24</a:t>
            </a:fld>
            <a:endParaRPr lang="en-US" sz="1200"/>
          </a:p>
        </p:txBody>
      </p:sp>
      <p:sp>
        <p:nvSpPr>
          <p:cNvPr id="86020" name="Rectangle 2"/>
          <p:cNvSpPr>
            <a:spLocks noGrp="1" noRot="1" noChangeAspect="1" noChangeArrowheads="1" noTextEdit="1"/>
          </p:cNvSpPr>
          <p:nvPr>
            <p:ph type="sldImg"/>
          </p:nvPr>
        </p:nvSpPr>
        <p:spPr>
          <a:xfrm>
            <a:off x="381000" y="685800"/>
            <a:ext cx="6096000" cy="3429000"/>
          </a:xfrm>
          <a:ln/>
        </p:spPr>
      </p:sp>
      <p:sp>
        <p:nvSpPr>
          <p:cNvPr id="860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F22B3099-6021-4E29-A7B6-07CCFDF741FF}" type="slidenum">
              <a:rPr lang="en-US" smtClean="0"/>
              <a:pPr eaLnBrk="1" hangingPunct="1"/>
              <a:t>25</a:t>
            </a:fld>
            <a:endParaRPr lang="en-US"/>
          </a:p>
        </p:txBody>
      </p:sp>
      <p:sp>
        <p:nvSpPr>
          <p:cNvPr id="87043"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BBFA7FF8-4E04-4DDE-9AC5-6B301B35BD6E}" type="slidenum">
              <a:rPr lang="en-US" sz="1200"/>
              <a:pPr algn="r" eaLnBrk="1" hangingPunct="1"/>
              <a:t>25</a:t>
            </a:fld>
            <a:endParaRPr lang="en-US" sz="1200"/>
          </a:p>
        </p:txBody>
      </p:sp>
      <p:sp>
        <p:nvSpPr>
          <p:cNvPr id="87044" name="Rectangle 2"/>
          <p:cNvSpPr>
            <a:spLocks noGrp="1" noRot="1" noChangeAspect="1" noChangeArrowheads="1" noTextEdit="1"/>
          </p:cNvSpPr>
          <p:nvPr>
            <p:ph type="sldImg"/>
          </p:nvPr>
        </p:nvSpPr>
        <p:spPr>
          <a:xfrm>
            <a:off x="381000" y="685800"/>
            <a:ext cx="6096000" cy="3429000"/>
          </a:xfrm>
          <a:ln/>
        </p:spPr>
      </p:sp>
      <p:sp>
        <p:nvSpPr>
          <p:cNvPr id="870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D55A4D7E-238C-40F8-B3D3-61F8E70D4A4B}" type="slidenum">
              <a:rPr lang="en-US" smtClean="0"/>
              <a:pPr eaLnBrk="1" hangingPunct="1"/>
              <a:t>26</a:t>
            </a:fld>
            <a:endParaRPr lang="en-US"/>
          </a:p>
        </p:txBody>
      </p:sp>
      <p:sp>
        <p:nvSpPr>
          <p:cNvPr id="88067"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953E96A2-115A-4F20-B53C-140BDF12107A}" type="slidenum">
              <a:rPr lang="en-US" sz="1200"/>
              <a:pPr algn="r" eaLnBrk="1" hangingPunct="1"/>
              <a:t>26</a:t>
            </a:fld>
            <a:endParaRPr lang="en-US" sz="1200"/>
          </a:p>
        </p:txBody>
      </p:sp>
      <p:sp>
        <p:nvSpPr>
          <p:cNvPr id="88068" name="Rectangle 2"/>
          <p:cNvSpPr>
            <a:spLocks noGrp="1" noRot="1" noChangeAspect="1" noChangeArrowheads="1" noTextEdit="1"/>
          </p:cNvSpPr>
          <p:nvPr>
            <p:ph type="sldImg"/>
          </p:nvPr>
        </p:nvSpPr>
        <p:spPr>
          <a:xfrm>
            <a:off x="381000" y="685800"/>
            <a:ext cx="6096000" cy="3429000"/>
          </a:xfrm>
          <a:ln/>
        </p:spPr>
      </p:sp>
      <p:sp>
        <p:nvSpPr>
          <p:cNvPr id="880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B0A51B3C-C3E7-4826-89FD-F0F330E11204}" type="slidenum">
              <a:rPr lang="en-US" smtClean="0"/>
              <a:pPr eaLnBrk="1" hangingPunct="1"/>
              <a:t>27</a:t>
            </a:fld>
            <a:endParaRPr lang="en-US"/>
          </a:p>
        </p:txBody>
      </p:sp>
      <p:sp>
        <p:nvSpPr>
          <p:cNvPr id="89091"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07415CC7-3CD1-4496-9A3E-293F2BF2EE6A}" type="slidenum">
              <a:rPr lang="en-US" sz="1200"/>
              <a:pPr algn="r" eaLnBrk="1" hangingPunct="1"/>
              <a:t>27</a:t>
            </a:fld>
            <a:endParaRPr lang="en-US" sz="1200"/>
          </a:p>
        </p:txBody>
      </p:sp>
      <p:sp>
        <p:nvSpPr>
          <p:cNvPr id="89092" name="Rectangle 2"/>
          <p:cNvSpPr>
            <a:spLocks noGrp="1" noRot="1" noChangeAspect="1" noChangeArrowheads="1" noTextEdit="1"/>
          </p:cNvSpPr>
          <p:nvPr>
            <p:ph type="sldImg"/>
          </p:nvPr>
        </p:nvSpPr>
        <p:spPr>
          <a:xfrm>
            <a:off x="381000" y="685800"/>
            <a:ext cx="6096000" cy="3429000"/>
          </a:xfrm>
          <a:ln/>
        </p:spPr>
      </p:sp>
      <p:sp>
        <p:nvSpPr>
          <p:cNvPr id="890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F268181C-D263-4ACA-A128-5774A0FBD12E}" type="slidenum">
              <a:rPr lang="en-US" smtClean="0"/>
              <a:pPr eaLnBrk="1" hangingPunct="1"/>
              <a:t>28</a:t>
            </a:fld>
            <a:endParaRPr lang="en-US"/>
          </a:p>
        </p:txBody>
      </p:sp>
      <p:sp>
        <p:nvSpPr>
          <p:cNvPr id="90115"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D8453C8A-52AB-46B8-9B69-DE88CA3A4A47}" type="slidenum">
              <a:rPr lang="en-US" sz="1200"/>
              <a:pPr algn="r" eaLnBrk="1" hangingPunct="1"/>
              <a:t>28</a:t>
            </a:fld>
            <a:endParaRPr lang="en-US" sz="1200"/>
          </a:p>
        </p:txBody>
      </p:sp>
      <p:sp>
        <p:nvSpPr>
          <p:cNvPr id="90116" name="Rectangle 2"/>
          <p:cNvSpPr>
            <a:spLocks noGrp="1" noRot="1" noChangeAspect="1" noChangeArrowheads="1" noTextEdit="1"/>
          </p:cNvSpPr>
          <p:nvPr>
            <p:ph type="sldImg"/>
          </p:nvPr>
        </p:nvSpPr>
        <p:spPr>
          <a:xfrm>
            <a:off x="381000" y="685800"/>
            <a:ext cx="6096000" cy="3429000"/>
          </a:xfrm>
          <a:ln/>
        </p:spPr>
      </p:sp>
      <p:sp>
        <p:nvSpPr>
          <p:cNvPr id="901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DAF78626-95DA-4882-8D6B-CE9381386ED2}" type="slidenum">
              <a:rPr lang="en-US" smtClean="0"/>
              <a:pPr eaLnBrk="1" hangingPunct="1"/>
              <a:t>37</a:t>
            </a:fld>
            <a:endParaRPr lang="en-US"/>
          </a:p>
        </p:txBody>
      </p:sp>
      <p:sp>
        <p:nvSpPr>
          <p:cNvPr id="9113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7F922D00-5134-4127-9A2D-5054F133D6A1}" type="slidenum">
              <a:rPr lang="en-US" sz="1200"/>
              <a:pPr algn="r" eaLnBrk="1" hangingPunct="1"/>
              <a:t>37</a:t>
            </a:fld>
            <a:endParaRPr lang="en-US" sz="1200"/>
          </a:p>
        </p:txBody>
      </p:sp>
      <p:sp>
        <p:nvSpPr>
          <p:cNvPr id="91140" name="Rectangle 2"/>
          <p:cNvSpPr>
            <a:spLocks noGrp="1" noRot="1" noChangeAspect="1" noChangeArrowheads="1" noTextEdit="1"/>
          </p:cNvSpPr>
          <p:nvPr>
            <p:ph type="sldImg"/>
          </p:nvPr>
        </p:nvSpPr>
        <p:spPr>
          <a:xfrm>
            <a:off x="381000" y="685800"/>
            <a:ext cx="6096000" cy="3429000"/>
          </a:xfrm>
          <a:ln/>
        </p:spPr>
      </p:sp>
      <p:sp>
        <p:nvSpPr>
          <p:cNvPr id="911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CD399CAE-DB58-4EDD-AA64-5643A7DF5620}" type="slidenum">
              <a:rPr lang="en-US" smtClean="0"/>
              <a:pPr eaLnBrk="1" hangingPunct="1"/>
              <a:t>38</a:t>
            </a:fld>
            <a:endParaRPr lang="en-US"/>
          </a:p>
        </p:txBody>
      </p:sp>
      <p:sp>
        <p:nvSpPr>
          <p:cNvPr id="92163"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201FF2D8-C6B6-4F47-B18E-E93FBB6C939B}" type="slidenum">
              <a:rPr lang="en-US" sz="1200"/>
              <a:pPr algn="r" eaLnBrk="1" hangingPunct="1"/>
              <a:t>38</a:t>
            </a:fld>
            <a:endParaRPr lang="en-US" sz="1200"/>
          </a:p>
        </p:txBody>
      </p:sp>
      <p:sp>
        <p:nvSpPr>
          <p:cNvPr id="92164" name="Rectangle 2"/>
          <p:cNvSpPr>
            <a:spLocks noGrp="1" noRot="1" noChangeAspect="1" noChangeArrowheads="1" noTextEdit="1"/>
          </p:cNvSpPr>
          <p:nvPr>
            <p:ph type="sldImg"/>
          </p:nvPr>
        </p:nvSpPr>
        <p:spPr>
          <a:xfrm>
            <a:off x="381000" y="685800"/>
            <a:ext cx="6096000" cy="3429000"/>
          </a:xfrm>
          <a:ln/>
        </p:spPr>
      </p:sp>
      <p:sp>
        <p:nvSpPr>
          <p:cNvPr id="921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6B1FECFB-B118-4DBE-96D3-583742F92CAD}" type="slidenum">
              <a:rPr lang="en-US" smtClean="0"/>
              <a:pPr eaLnBrk="1" hangingPunct="1"/>
              <a:t>39</a:t>
            </a:fld>
            <a:endParaRPr lang="en-US"/>
          </a:p>
        </p:txBody>
      </p:sp>
      <p:sp>
        <p:nvSpPr>
          <p:cNvPr id="99331"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40C3D802-4532-41BC-9532-C9E94208E007}" type="slidenum">
              <a:rPr lang="en-US" sz="1200"/>
              <a:pPr algn="r" eaLnBrk="1" hangingPunct="1"/>
              <a:t>39</a:t>
            </a:fld>
            <a:endParaRPr lang="en-US" sz="1200"/>
          </a:p>
        </p:txBody>
      </p:sp>
      <p:sp>
        <p:nvSpPr>
          <p:cNvPr id="99332" name="Rectangle 2"/>
          <p:cNvSpPr>
            <a:spLocks noGrp="1" noRot="1" noChangeAspect="1" noChangeArrowheads="1" noTextEdit="1"/>
          </p:cNvSpPr>
          <p:nvPr>
            <p:ph type="sldImg"/>
          </p:nvPr>
        </p:nvSpPr>
        <p:spPr>
          <a:xfrm>
            <a:off x="381000" y="685800"/>
            <a:ext cx="6096000" cy="3429000"/>
          </a:xfrm>
          <a:ln/>
        </p:spPr>
      </p:sp>
      <p:sp>
        <p:nvSpPr>
          <p:cNvPr id="993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1A8E2B40-8862-4FE9-A1C3-F11E7D5B0636}" type="slidenum">
              <a:rPr lang="en-US" smtClean="0"/>
              <a:pPr eaLnBrk="1" hangingPunct="1"/>
              <a:t>40</a:t>
            </a:fld>
            <a:endParaRPr lang="en-US"/>
          </a:p>
        </p:txBody>
      </p:sp>
      <p:sp>
        <p:nvSpPr>
          <p:cNvPr id="94211"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190D2727-B394-4B1E-9AEB-5DDBFA2B7EAB}" type="slidenum">
              <a:rPr lang="en-US" sz="1200"/>
              <a:pPr algn="r" eaLnBrk="1" hangingPunct="1"/>
              <a:t>40</a:t>
            </a:fld>
            <a:endParaRPr lang="en-US" sz="1200"/>
          </a:p>
        </p:txBody>
      </p:sp>
      <p:sp>
        <p:nvSpPr>
          <p:cNvPr id="94212" name="Rectangle 2"/>
          <p:cNvSpPr>
            <a:spLocks noGrp="1" noRot="1" noChangeAspect="1" noChangeArrowheads="1" noTextEdit="1"/>
          </p:cNvSpPr>
          <p:nvPr>
            <p:ph type="sldImg"/>
          </p:nvPr>
        </p:nvSpPr>
        <p:spPr>
          <a:xfrm>
            <a:off x="381000" y="685800"/>
            <a:ext cx="6096000" cy="3429000"/>
          </a:xfrm>
          <a:ln/>
        </p:spPr>
      </p:sp>
      <p:sp>
        <p:nvSpPr>
          <p:cNvPr id="942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4246A483-3E79-41D5-A7D7-57B27BFEB69C}" type="slidenum">
              <a:rPr lang="en-US" smtClean="0"/>
              <a:pPr eaLnBrk="1" hangingPunct="1"/>
              <a:t>41</a:t>
            </a:fld>
            <a:endParaRPr lang="en-US"/>
          </a:p>
        </p:txBody>
      </p:sp>
      <p:sp>
        <p:nvSpPr>
          <p:cNvPr id="95235"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66948690-604B-4A05-BB71-A0E490B3111B}" type="slidenum">
              <a:rPr lang="en-US" sz="1200"/>
              <a:pPr algn="r" eaLnBrk="1" hangingPunct="1"/>
              <a:t>41</a:t>
            </a:fld>
            <a:endParaRPr lang="en-US" sz="1200"/>
          </a:p>
        </p:txBody>
      </p:sp>
      <p:sp>
        <p:nvSpPr>
          <p:cNvPr id="95236" name="Rectangle 2"/>
          <p:cNvSpPr>
            <a:spLocks noGrp="1" noRot="1" noChangeAspect="1" noChangeArrowheads="1" noTextEdit="1"/>
          </p:cNvSpPr>
          <p:nvPr>
            <p:ph type="sldImg"/>
          </p:nvPr>
        </p:nvSpPr>
        <p:spPr>
          <a:xfrm>
            <a:off x="381000" y="685800"/>
            <a:ext cx="6096000" cy="3429000"/>
          </a:xfrm>
          <a:ln/>
        </p:spPr>
      </p:sp>
      <p:sp>
        <p:nvSpPr>
          <p:cNvPr id="952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185CD66B-84D7-46B3-B304-5605AFBB8CCB}" type="slidenum">
              <a:rPr lang="en-US" smtClean="0"/>
              <a:pPr eaLnBrk="1" hangingPunct="1"/>
              <a:t>42</a:t>
            </a:fld>
            <a:endParaRPr lang="en-US"/>
          </a:p>
        </p:txBody>
      </p:sp>
      <p:sp>
        <p:nvSpPr>
          <p:cNvPr id="93187"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2D3D8A2E-E6BE-460B-B27D-6535C92E5F5D}" type="slidenum">
              <a:rPr lang="en-US" sz="1200"/>
              <a:pPr algn="r" eaLnBrk="1" hangingPunct="1"/>
              <a:t>42</a:t>
            </a:fld>
            <a:endParaRPr lang="en-US" sz="1200"/>
          </a:p>
        </p:txBody>
      </p:sp>
      <p:sp>
        <p:nvSpPr>
          <p:cNvPr id="93188" name="Rectangle 2"/>
          <p:cNvSpPr>
            <a:spLocks noGrp="1" noRot="1" noChangeAspect="1" noChangeArrowheads="1" noTextEdit="1"/>
          </p:cNvSpPr>
          <p:nvPr>
            <p:ph type="sldImg"/>
          </p:nvPr>
        </p:nvSpPr>
        <p:spPr>
          <a:xfrm>
            <a:off x="381000" y="685800"/>
            <a:ext cx="6096000" cy="3429000"/>
          </a:xfrm>
          <a:ln/>
        </p:spPr>
      </p:sp>
      <p:sp>
        <p:nvSpPr>
          <p:cNvPr id="931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35E2180F-4F1A-40FB-A13C-4E344B49C68E}" type="slidenum">
              <a:rPr lang="en-US" smtClean="0"/>
              <a:pPr eaLnBrk="1" hangingPunct="1"/>
              <a:t>43</a:t>
            </a:fld>
            <a:endParaRPr lang="en-US"/>
          </a:p>
        </p:txBody>
      </p:sp>
      <p:sp>
        <p:nvSpPr>
          <p:cNvPr id="9625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C3BF0773-2165-46E3-A122-E169F7D8E670}" type="slidenum">
              <a:rPr lang="en-US" sz="1200"/>
              <a:pPr algn="r" eaLnBrk="1" hangingPunct="1"/>
              <a:t>43</a:t>
            </a:fld>
            <a:endParaRPr lang="en-US" sz="1200"/>
          </a:p>
        </p:txBody>
      </p:sp>
      <p:sp>
        <p:nvSpPr>
          <p:cNvPr id="96260" name="Rectangle 2"/>
          <p:cNvSpPr>
            <a:spLocks noGrp="1" noRot="1" noChangeAspect="1" noChangeArrowheads="1" noTextEdit="1"/>
          </p:cNvSpPr>
          <p:nvPr>
            <p:ph type="sldImg"/>
          </p:nvPr>
        </p:nvSpPr>
        <p:spPr>
          <a:xfrm>
            <a:off x="381000" y="685800"/>
            <a:ext cx="6096000" cy="3429000"/>
          </a:xfrm>
          <a:ln/>
        </p:spPr>
      </p:sp>
      <p:sp>
        <p:nvSpPr>
          <p:cNvPr id="962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6C691710-2BFB-4385-9BA6-31006A5DD8E6}" type="slidenum">
              <a:rPr lang="en-US" smtClean="0"/>
              <a:pPr eaLnBrk="1" hangingPunct="1"/>
              <a:t>44</a:t>
            </a:fld>
            <a:endParaRPr lang="en-US"/>
          </a:p>
        </p:txBody>
      </p:sp>
      <p:sp>
        <p:nvSpPr>
          <p:cNvPr id="97283"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8E23C58D-8D13-4CC8-8CA2-6E236D9D8913}" type="slidenum">
              <a:rPr lang="en-US" sz="1200"/>
              <a:pPr algn="r" eaLnBrk="1" hangingPunct="1"/>
              <a:t>44</a:t>
            </a:fld>
            <a:endParaRPr lang="en-US" sz="1200"/>
          </a:p>
        </p:txBody>
      </p:sp>
      <p:sp>
        <p:nvSpPr>
          <p:cNvPr id="97284" name="Rectangle 2"/>
          <p:cNvSpPr>
            <a:spLocks noGrp="1" noRot="1" noChangeAspect="1" noChangeArrowheads="1" noTextEdit="1"/>
          </p:cNvSpPr>
          <p:nvPr>
            <p:ph type="sldImg"/>
          </p:nvPr>
        </p:nvSpPr>
        <p:spPr>
          <a:xfrm>
            <a:off x="381000" y="685800"/>
            <a:ext cx="6096000" cy="3429000"/>
          </a:xfrm>
          <a:ln/>
        </p:spPr>
      </p:sp>
      <p:sp>
        <p:nvSpPr>
          <p:cNvPr id="972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6AB9C000-DDF4-45FE-B903-90AD94662B39}" type="slidenum">
              <a:rPr lang="en-US" smtClean="0"/>
              <a:pPr eaLnBrk="1" hangingPunct="1"/>
              <a:t>45</a:t>
            </a:fld>
            <a:endParaRPr lang="en-US"/>
          </a:p>
        </p:txBody>
      </p:sp>
      <p:sp>
        <p:nvSpPr>
          <p:cNvPr id="98307"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34A46F3A-0C8C-461A-AADD-72519E9D37A7}" type="slidenum">
              <a:rPr lang="en-US" sz="1200"/>
              <a:pPr algn="r" eaLnBrk="1" hangingPunct="1"/>
              <a:t>45</a:t>
            </a:fld>
            <a:endParaRPr lang="en-US" sz="1200"/>
          </a:p>
        </p:txBody>
      </p:sp>
      <p:sp>
        <p:nvSpPr>
          <p:cNvPr id="98308" name="Rectangle 2"/>
          <p:cNvSpPr>
            <a:spLocks noGrp="1" noRot="1" noChangeAspect="1" noChangeArrowheads="1" noTextEdit="1"/>
          </p:cNvSpPr>
          <p:nvPr>
            <p:ph type="sldImg"/>
          </p:nvPr>
        </p:nvSpPr>
        <p:spPr>
          <a:xfrm>
            <a:off x="381000" y="685800"/>
            <a:ext cx="6096000" cy="3429000"/>
          </a:xfrm>
          <a:ln/>
        </p:spPr>
      </p:sp>
      <p:sp>
        <p:nvSpPr>
          <p:cNvPr id="983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FB8DBD5B-532C-4DDA-A1F4-CC683895518C}" type="slidenum">
              <a:rPr lang="en-US" smtClean="0"/>
              <a:pPr eaLnBrk="1" hangingPunct="1"/>
              <a:t>46</a:t>
            </a:fld>
            <a:endParaRPr lang="en-US"/>
          </a:p>
        </p:txBody>
      </p:sp>
      <p:sp>
        <p:nvSpPr>
          <p:cNvPr id="100355"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11FEFF0E-4C80-41F8-8DE5-509B30491C1C}" type="slidenum">
              <a:rPr lang="en-US" sz="1200"/>
              <a:pPr algn="r" eaLnBrk="1" hangingPunct="1"/>
              <a:t>46</a:t>
            </a:fld>
            <a:endParaRPr lang="en-US" sz="1200"/>
          </a:p>
        </p:txBody>
      </p:sp>
      <p:sp>
        <p:nvSpPr>
          <p:cNvPr id="100356" name="Rectangle 2"/>
          <p:cNvSpPr>
            <a:spLocks noGrp="1" noRot="1" noChangeAspect="1" noChangeArrowheads="1" noTextEdit="1"/>
          </p:cNvSpPr>
          <p:nvPr>
            <p:ph type="sldImg"/>
          </p:nvPr>
        </p:nvSpPr>
        <p:spPr>
          <a:xfrm>
            <a:off x="381000" y="685800"/>
            <a:ext cx="6096000" cy="3429000"/>
          </a:xfrm>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48C37A14-2974-4357-8C25-5D1A9F7F62FF}" type="slidenum">
              <a:rPr lang="en-US" smtClean="0"/>
              <a:pPr eaLnBrk="1" hangingPunct="1"/>
              <a:t>47</a:t>
            </a:fld>
            <a:endParaRPr lang="en-US"/>
          </a:p>
        </p:txBody>
      </p:sp>
      <p:sp>
        <p:nvSpPr>
          <p:cNvPr id="10137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86DDF9F2-2CA3-483B-A64C-646B5D12834A}" type="slidenum">
              <a:rPr lang="en-US" sz="1200"/>
              <a:pPr algn="r" eaLnBrk="1" hangingPunct="1"/>
              <a:t>47</a:t>
            </a:fld>
            <a:endParaRPr lang="en-US" sz="1200"/>
          </a:p>
        </p:txBody>
      </p:sp>
      <p:sp>
        <p:nvSpPr>
          <p:cNvPr id="101380" name="Rectangle 2"/>
          <p:cNvSpPr>
            <a:spLocks noGrp="1" noRot="1" noChangeAspect="1" noChangeArrowheads="1" noTextEdit="1"/>
          </p:cNvSpPr>
          <p:nvPr>
            <p:ph type="sldImg"/>
          </p:nvPr>
        </p:nvSpPr>
        <p:spPr>
          <a:xfrm>
            <a:off x="381000" y="685800"/>
            <a:ext cx="6096000" cy="3429000"/>
          </a:xfrm>
          <a:ln/>
        </p:spPr>
      </p:sp>
      <p:sp>
        <p:nvSpPr>
          <p:cNvPr id="1013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C60F9638-3D8F-47AC-AFC9-81154870DCB7}" type="slidenum">
              <a:rPr lang="en-US" smtClean="0"/>
              <a:pPr eaLnBrk="1" hangingPunct="1"/>
              <a:t>48</a:t>
            </a:fld>
            <a:endParaRPr lang="en-US"/>
          </a:p>
        </p:txBody>
      </p:sp>
      <p:sp>
        <p:nvSpPr>
          <p:cNvPr id="102403"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D9490E24-CA0F-44A8-A8F3-D6BBB77B8A58}" type="slidenum">
              <a:rPr lang="en-US" sz="1200"/>
              <a:pPr algn="r" eaLnBrk="1" hangingPunct="1"/>
              <a:t>48</a:t>
            </a:fld>
            <a:endParaRPr lang="en-US" sz="1200"/>
          </a:p>
        </p:txBody>
      </p:sp>
      <p:sp>
        <p:nvSpPr>
          <p:cNvPr id="102404" name="Rectangle 2"/>
          <p:cNvSpPr>
            <a:spLocks noGrp="1" noRot="1" noChangeAspect="1" noChangeArrowheads="1" noTextEdit="1"/>
          </p:cNvSpPr>
          <p:nvPr>
            <p:ph type="sldImg"/>
          </p:nvPr>
        </p:nvSpPr>
        <p:spPr>
          <a:xfrm>
            <a:off x="381000" y="685800"/>
            <a:ext cx="6096000" cy="3429000"/>
          </a:xfrm>
          <a:ln/>
        </p:spPr>
      </p:sp>
      <p:sp>
        <p:nvSpPr>
          <p:cNvPr id="1024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45BE1BB0-CC8F-4B05-B537-FE28E2DC1893}" type="slidenum">
              <a:rPr lang="en-US" smtClean="0"/>
              <a:pPr eaLnBrk="1" hangingPunct="1"/>
              <a:t>49</a:t>
            </a:fld>
            <a:endParaRPr lang="en-US"/>
          </a:p>
        </p:txBody>
      </p:sp>
      <p:sp>
        <p:nvSpPr>
          <p:cNvPr id="103427"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B3193574-C7D3-4685-9520-8CF8A9A511EF}" type="slidenum">
              <a:rPr lang="en-US" sz="1200"/>
              <a:pPr algn="r" eaLnBrk="1" hangingPunct="1"/>
              <a:t>49</a:t>
            </a:fld>
            <a:endParaRPr lang="en-US" sz="1200"/>
          </a:p>
        </p:txBody>
      </p:sp>
      <p:sp>
        <p:nvSpPr>
          <p:cNvPr id="103428" name="Rectangle 2"/>
          <p:cNvSpPr>
            <a:spLocks noGrp="1" noRot="1" noChangeAspect="1" noChangeArrowheads="1" noTextEdit="1"/>
          </p:cNvSpPr>
          <p:nvPr>
            <p:ph type="sldImg"/>
          </p:nvPr>
        </p:nvSpPr>
        <p:spPr>
          <a:xfrm>
            <a:off x="381000" y="685800"/>
            <a:ext cx="6096000" cy="3429000"/>
          </a:xfrm>
          <a:ln/>
        </p:spPr>
      </p:sp>
      <p:sp>
        <p:nvSpPr>
          <p:cNvPr id="1034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B1425646-ECD7-4CCE-963D-FC5AF7D38442}" type="datetimeFigureOut">
              <a:rPr lang="en-US" smtClean="0"/>
              <a:pPr>
                <a:defRPr/>
              </a:pPr>
              <a:t>8/10/2023</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E280D4F-A4C4-4E15-A68D-66325FF57BB7}" type="slidenum">
              <a:rPr lang="en-US" smtClean="0"/>
              <a:pPr>
                <a:defRPr/>
              </a:pPr>
              <a:t>‹#›</a:t>
            </a:fld>
            <a:endParaRPr lang="en-US"/>
          </a:p>
        </p:txBody>
      </p:sp>
    </p:spTree>
    <p:extLst>
      <p:ext uri="{BB962C8B-B14F-4D97-AF65-F5344CB8AC3E}">
        <p14:creationId xmlns:p14="http://schemas.microsoft.com/office/powerpoint/2010/main" val="1507562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78C3BD1C-2E0D-4804-872B-A5E880AA84A7}" type="datetimeFigureOut">
              <a:rPr lang="en-US" smtClean="0"/>
              <a:pPr>
                <a:defRPr/>
              </a:pPr>
              <a:t>8/10/2023</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0EF505B-5E07-40F0-AB81-179DAAC1E819}" type="slidenum">
              <a:rPr lang="en-US" smtClean="0"/>
              <a:pPr>
                <a:defRPr/>
              </a:pPr>
              <a:t>‹#›</a:t>
            </a:fld>
            <a:endParaRPr lang="en-US"/>
          </a:p>
        </p:txBody>
      </p:sp>
    </p:spTree>
    <p:extLst>
      <p:ext uri="{BB962C8B-B14F-4D97-AF65-F5344CB8AC3E}">
        <p14:creationId xmlns:p14="http://schemas.microsoft.com/office/powerpoint/2010/main" val="3715176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B93D775-BE9F-4366-9FDB-925DC0067576}" type="datetimeFigureOut">
              <a:rPr lang="en-US" smtClean="0"/>
              <a:pPr>
                <a:defRPr/>
              </a:pPr>
              <a:t>8/10/2023</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37A4C3D-E03C-4518-BAF6-DA99B86A38FB}" type="slidenum">
              <a:rPr lang="en-US" smtClean="0"/>
              <a:pPr>
                <a:defRPr/>
              </a:pPr>
              <a:t>‹#›</a:t>
            </a:fld>
            <a:endParaRPr lang="en-US"/>
          </a:p>
        </p:txBody>
      </p:sp>
    </p:spTree>
    <p:extLst>
      <p:ext uri="{BB962C8B-B14F-4D97-AF65-F5344CB8AC3E}">
        <p14:creationId xmlns:p14="http://schemas.microsoft.com/office/powerpoint/2010/main" val="3454263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B5112AD1-5AC8-456E-A735-6887F0563882}" type="datetimeFigureOut">
              <a:rPr lang="en-US" smtClean="0"/>
              <a:pPr>
                <a:defRPr/>
              </a:pPr>
              <a:t>8/10/2023</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4E25C6F-6745-409C-9C86-1526D274A0E0}" type="slidenum">
              <a:rPr lang="en-US" smtClean="0"/>
              <a:pPr>
                <a:defRPr/>
              </a:pPr>
              <a:t>‹#›</a:t>
            </a:fld>
            <a:endParaRPr lang="en-US"/>
          </a:p>
        </p:txBody>
      </p:sp>
    </p:spTree>
    <p:extLst>
      <p:ext uri="{BB962C8B-B14F-4D97-AF65-F5344CB8AC3E}">
        <p14:creationId xmlns:p14="http://schemas.microsoft.com/office/powerpoint/2010/main" val="1888485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D034CFA2-683B-4B24-AA8C-C17B5A55E465}" type="datetimeFigureOut">
              <a:rPr lang="en-US" smtClean="0"/>
              <a:pPr>
                <a:defRPr/>
              </a:pPr>
              <a:t>8/10/2023</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5182D5D2-9749-49F8-9858-6B82B17B95C2}" type="slidenum">
              <a:rPr lang="en-US" smtClean="0"/>
              <a:pPr>
                <a:defRPr/>
              </a:pPr>
              <a:t>‹#›</a:t>
            </a:fld>
            <a:endParaRPr lang="en-US"/>
          </a:p>
        </p:txBody>
      </p:sp>
    </p:spTree>
    <p:extLst>
      <p:ext uri="{BB962C8B-B14F-4D97-AF65-F5344CB8AC3E}">
        <p14:creationId xmlns:p14="http://schemas.microsoft.com/office/powerpoint/2010/main" val="1115374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246B3248-2D64-460E-A879-BF83A26AF813}" type="datetimeFigureOut">
              <a:rPr lang="en-US" smtClean="0"/>
              <a:pPr>
                <a:defRPr/>
              </a:pPr>
              <a:t>8/10/2023</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922EE3A9-7B00-483E-B5EE-3C534F174E3C}" type="slidenum">
              <a:rPr lang="en-US" smtClean="0"/>
              <a:pPr>
                <a:defRPr/>
              </a:pPr>
              <a:t>‹#›</a:t>
            </a:fld>
            <a:endParaRPr lang="en-US"/>
          </a:p>
        </p:txBody>
      </p:sp>
    </p:spTree>
    <p:extLst>
      <p:ext uri="{BB962C8B-B14F-4D97-AF65-F5344CB8AC3E}">
        <p14:creationId xmlns:p14="http://schemas.microsoft.com/office/powerpoint/2010/main" val="1646192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3E50DEBA-5C03-4CE6-B14C-49DC62CBF435}" type="datetimeFigureOut">
              <a:rPr lang="en-US" smtClean="0"/>
              <a:pPr>
                <a:defRPr/>
              </a:pPr>
              <a:t>8/10/2023</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0AC9F2FA-179E-422B-A2D3-EC18E33A50E2}" type="slidenum">
              <a:rPr lang="en-US" smtClean="0"/>
              <a:pPr>
                <a:defRPr/>
              </a:pPr>
              <a:t>‹#›</a:t>
            </a:fld>
            <a:endParaRPr lang="en-US"/>
          </a:p>
        </p:txBody>
      </p:sp>
    </p:spTree>
    <p:extLst>
      <p:ext uri="{BB962C8B-B14F-4D97-AF65-F5344CB8AC3E}">
        <p14:creationId xmlns:p14="http://schemas.microsoft.com/office/powerpoint/2010/main" val="282190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AD5B9A9-8A02-4588-B13B-E03590D79DDB}" type="datetimeFigureOut">
              <a:rPr lang="en-US" smtClean="0"/>
              <a:pPr>
                <a:defRPr/>
              </a:pPr>
              <a:t>8/10/2023</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31D349C-38C8-4595-9DF5-E11C375E3D40}" type="slidenum">
              <a:rPr lang="en-US" smtClean="0"/>
              <a:pPr>
                <a:defRPr/>
              </a:pPr>
              <a:t>‹#›</a:t>
            </a:fld>
            <a:endParaRPr lang="en-US"/>
          </a:p>
        </p:txBody>
      </p:sp>
    </p:spTree>
    <p:extLst>
      <p:ext uri="{BB962C8B-B14F-4D97-AF65-F5344CB8AC3E}">
        <p14:creationId xmlns:p14="http://schemas.microsoft.com/office/powerpoint/2010/main" val="3934465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B5B7406-068A-4782-8E01-0D5FB1A290FF}" type="datetimeFigureOut">
              <a:rPr lang="en-US" smtClean="0"/>
              <a:pPr>
                <a:defRPr/>
              </a:pPr>
              <a:t>8/10/2023</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D3EFEFF-F6BB-4736-B765-D00402D5D173}" type="slidenum">
              <a:rPr lang="en-US" smtClean="0"/>
              <a:pPr>
                <a:defRPr/>
              </a:pPr>
              <a:t>‹#›</a:t>
            </a:fld>
            <a:endParaRPr lang="en-US"/>
          </a:p>
        </p:txBody>
      </p:sp>
    </p:spTree>
    <p:extLst>
      <p:ext uri="{BB962C8B-B14F-4D97-AF65-F5344CB8AC3E}">
        <p14:creationId xmlns:p14="http://schemas.microsoft.com/office/powerpoint/2010/main" val="1661885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203CF411-97F6-42B8-AF23-0AC0ECC7D079}" type="datetimeFigureOut">
              <a:rPr lang="en-US" smtClean="0"/>
              <a:pPr>
                <a:defRPr/>
              </a:pPr>
              <a:t>8/10/2023</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E1D6AD4-E163-4EBC-9A6A-E6AC53DB7559}" type="slidenum">
              <a:rPr lang="en-US" smtClean="0"/>
              <a:pPr>
                <a:defRPr/>
              </a:pPr>
              <a:t>‹#›</a:t>
            </a:fld>
            <a:endParaRPr lang="en-US"/>
          </a:p>
        </p:txBody>
      </p:sp>
    </p:spTree>
    <p:extLst>
      <p:ext uri="{BB962C8B-B14F-4D97-AF65-F5344CB8AC3E}">
        <p14:creationId xmlns:p14="http://schemas.microsoft.com/office/powerpoint/2010/main" val="1918923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1D93BB-2CD5-4619-A6DA-5FB2382DF0A2}" type="datetimeFigureOut">
              <a:rPr lang="en-US" smtClean="0"/>
              <a:t>8/10/2023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DF9C7B-5509-4B8F-925F-8D6F9478F83D}" type="slidenum">
              <a:rPr lang="en-US" smtClean="0"/>
              <a:t>‹#›</a:t>
            </a:fld>
            <a:endParaRPr lang="en-US"/>
          </a:p>
        </p:txBody>
      </p:sp>
    </p:spTree>
    <p:extLst>
      <p:ext uri="{BB962C8B-B14F-4D97-AF65-F5344CB8AC3E}">
        <p14:creationId xmlns:p14="http://schemas.microsoft.com/office/powerpoint/2010/main" val="1985031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08511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EAABDD8-9354-46B1-9469-3A0EB46E4C65}" type="datetimeFigureOut">
              <a:rPr lang="en-US" smtClean="0"/>
              <a:pPr>
                <a:defRPr/>
              </a:pPr>
              <a:t>8/10/2023</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F68819D-A717-42E9-AFE5-6FB6852D10D6}" type="slidenum">
              <a:rPr lang="en-US" smtClean="0"/>
              <a:pPr>
                <a:defRPr/>
              </a:pPr>
              <a:t>‹#›</a:t>
            </a:fld>
            <a:endParaRPr lang="en-US"/>
          </a:p>
        </p:txBody>
      </p:sp>
    </p:spTree>
    <p:extLst>
      <p:ext uri="{BB962C8B-B14F-4D97-AF65-F5344CB8AC3E}">
        <p14:creationId xmlns:p14="http://schemas.microsoft.com/office/powerpoint/2010/main" val="915865738"/>
      </p:ext>
    </p:extLst>
  </p:cSld>
  <p:clrMap bg1="dk1" tx1="lt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69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23.xml"/><Relationship Id="rId7" Type="http://schemas.openxmlformats.org/officeDocument/2006/relationships/image" Target="../media/image12.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1.wmf"/><Relationship Id="rId4" Type="http://schemas.openxmlformats.org/officeDocument/2006/relationships/oleObject" Target="../embeddings/oleObject1.bin"/><Relationship Id="rId9" Type="http://schemas.openxmlformats.org/officeDocument/2006/relationships/image" Target="../media/image13.w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29.xml"/><Relationship Id="rId7" Type="http://schemas.openxmlformats.org/officeDocument/2006/relationships/image" Target="../media/image15.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14.wmf"/><Relationship Id="rId4" Type="http://schemas.openxmlformats.org/officeDocument/2006/relationships/oleObject" Target="../embeddings/oleObject4.bin"/><Relationship Id="rId9" Type="http://schemas.openxmlformats.org/officeDocument/2006/relationships/image" Target="../media/image16.w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17.wmf"/><Relationship Id="rId4" Type="http://schemas.openxmlformats.org/officeDocument/2006/relationships/oleObject" Target="../embeddings/oleObject7.bin"/></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7905BA41-EE6E-4F80-8636-447F22DD72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14" name="Title 1"/>
          <p:cNvSpPr>
            <a:spLocks noGrp="1"/>
          </p:cNvSpPr>
          <p:nvPr>
            <p:ph type="ctrTitle" idx="4294967295"/>
          </p:nvPr>
        </p:nvSpPr>
        <p:spPr>
          <a:xfrm>
            <a:off x="1848465" y="3298722"/>
            <a:ext cx="8495070" cy="1784402"/>
          </a:xfrm>
        </p:spPr>
        <p:txBody>
          <a:bodyPr vert="horz" lIns="91440" tIns="45720" rIns="91440" bIns="45720" rtlCol="0" anchor="b">
            <a:normAutofit/>
          </a:bodyPr>
          <a:lstStyle/>
          <a:p>
            <a:pPr algn="ctr"/>
            <a:r>
              <a:rPr lang="en-US" sz="6000" b="1" kern="1200">
                <a:solidFill>
                  <a:srgbClr val="FFFFFF"/>
                </a:solidFill>
                <a:latin typeface="+mj-lt"/>
                <a:ea typeface="+mj-ea"/>
                <a:cs typeface="+mj-cs"/>
              </a:rPr>
              <a:t>Operators and Expressions</a:t>
            </a:r>
          </a:p>
        </p:txBody>
      </p:sp>
      <p:sp>
        <p:nvSpPr>
          <p:cNvPr id="75" name="Oval 74">
            <a:extLst>
              <a:ext uri="{FF2B5EF4-FFF2-40B4-BE49-F238E27FC236}">
                <a16:creationId xmlns:a16="http://schemas.microsoft.com/office/drawing/2014/main" id="{CD7549B2-EE05-4558-8C64-AC46755F2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5914" y="889251"/>
            <a:ext cx="2140172" cy="2140172"/>
          </a:xfrm>
          <a:prstGeom prst="ellipse">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0" name="Graphic 69" descr="Checkmark">
            <a:extLst>
              <a:ext uri="{FF2B5EF4-FFF2-40B4-BE49-F238E27FC236}">
                <a16:creationId xmlns:a16="http://schemas.microsoft.com/office/drawing/2014/main" id="{23F22A93-5659-4CCD-98FA-BE54BE03F01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08264" y="1371601"/>
            <a:ext cx="1175474" cy="1175474"/>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3"/>
          <p:cNvSpPr>
            <a:spLocks noGrp="1"/>
          </p:cNvSpPr>
          <p:nvPr>
            <p:ph type="title"/>
          </p:nvPr>
        </p:nvSpPr>
        <p:spPr>
          <a:xfrm>
            <a:off x="1981200" y="0"/>
            <a:ext cx="8229600" cy="1143000"/>
          </a:xfrm>
        </p:spPr>
        <p:txBody>
          <a:bodyPr/>
          <a:lstStyle/>
          <a:p>
            <a:r>
              <a:rPr lang="en-US" b="1" i="1">
                <a:solidFill>
                  <a:srgbClr val="CC6600"/>
                </a:solidFill>
              </a:rPr>
              <a:t>Operators and Expressions</a:t>
            </a:r>
            <a:endParaRPr lang="en-US"/>
          </a:p>
        </p:txBody>
      </p:sp>
      <p:sp>
        <p:nvSpPr>
          <p:cNvPr id="3" name="Freeform: Shape 2">
            <a:extLst>
              <a:ext uri="{FF2B5EF4-FFF2-40B4-BE49-F238E27FC236}">
                <a16:creationId xmlns:a16="http://schemas.microsoft.com/office/drawing/2014/main" id="{9A9534CC-6470-4C9A-81FF-F76AC24918EC}"/>
              </a:ext>
            </a:extLst>
          </p:cNvPr>
          <p:cNvSpPr/>
          <p:nvPr/>
        </p:nvSpPr>
        <p:spPr>
          <a:xfrm>
            <a:off x="1983611" y="1493243"/>
            <a:ext cx="1912739" cy="1147643"/>
          </a:xfrm>
          <a:custGeom>
            <a:avLst/>
            <a:gdLst>
              <a:gd name="connsiteX0" fmla="*/ 0 w 1912739"/>
              <a:gd name="connsiteY0" fmla="*/ 0 h 1147643"/>
              <a:gd name="connsiteX1" fmla="*/ 1912739 w 1912739"/>
              <a:gd name="connsiteY1" fmla="*/ 0 h 1147643"/>
              <a:gd name="connsiteX2" fmla="*/ 1912739 w 1912739"/>
              <a:gd name="connsiteY2" fmla="*/ 1147643 h 1147643"/>
              <a:gd name="connsiteX3" fmla="*/ 0 w 1912739"/>
              <a:gd name="connsiteY3" fmla="*/ 1147643 h 1147643"/>
              <a:gd name="connsiteX4" fmla="*/ 0 w 1912739"/>
              <a:gd name="connsiteY4" fmla="*/ 0 h 1147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39" h="1147643">
                <a:moveTo>
                  <a:pt x="0" y="0"/>
                </a:moveTo>
                <a:lnTo>
                  <a:pt x="1912739" y="0"/>
                </a:lnTo>
                <a:lnTo>
                  <a:pt x="1912739" y="1147643"/>
                </a:lnTo>
                <a:lnTo>
                  <a:pt x="0" y="114764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Arithmetic operators</a:t>
            </a:r>
            <a:endParaRPr lang="en-US" sz="1900" kern="1200"/>
          </a:p>
        </p:txBody>
      </p:sp>
      <p:sp>
        <p:nvSpPr>
          <p:cNvPr id="4" name="Freeform: Shape 3">
            <a:extLst>
              <a:ext uri="{FF2B5EF4-FFF2-40B4-BE49-F238E27FC236}">
                <a16:creationId xmlns:a16="http://schemas.microsoft.com/office/drawing/2014/main" id="{9E1F535E-91BA-44EA-ACFA-B903A07AAE2A}"/>
              </a:ext>
            </a:extLst>
          </p:cNvPr>
          <p:cNvSpPr/>
          <p:nvPr/>
        </p:nvSpPr>
        <p:spPr>
          <a:xfrm>
            <a:off x="4087623" y="1493243"/>
            <a:ext cx="1912739" cy="1147643"/>
          </a:xfrm>
          <a:custGeom>
            <a:avLst/>
            <a:gdLst>
              <a:gd name="connsiteX0" fmla="*/ 0 w 1912739"/>
              <a:gd name="connsiteY0" fmla="*/ 0 h 1147643"/>
              <a:gd name="connsiteX1" fmla="*/ 1912739 w 1912739"/>
              <a:gd name="connsiteY1" fmla="*/ 0 h 1147643"/>
              <a:gd name="connsiteX2" fmla="*/ 1912739 w 1912739"/>
              <a:gd name="connsiteY2" fmla="*/ 1147643 h 1147643"/>
              <a:gd name="connsiteX3" fmla="*/ 0 w 1912739"/>
              <a:gd name="connsiteY3" fmla="*/ 1147643 h 1147643"/>
              <a:gd name="connsiteX4" fmla="*/ 0 w 1912739"/>
              <a:gd name="connsiteY4" fmla="*/ 0 h 1147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39" h="1147643">
                <a:moveTo>
                  <a:pt x="0" y="0"/>
                </a:moveTo>
                <a:lnTo>
                  <a:pt x="1912739" y="0"/>
                </a:lnTo>
                <a:lnTo>
                  <a:pt x="1912739" y="1147643"/>
                </a:lnTo>
                <a:lnTo>
                  <a:pt x="0" y="114764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Relational operators</a:t>
            </a:r>
            <a:endParaRPr lang="en-US" sz="1900" kern="1200" dirty="0"/>
          </a:p>
        </p:txBody>
      </p:sp>
      <p:sp>
        <p:nvSpPr>
          <p:cNvPr id="5" name="Freeform: Shape 4">
            <a:extLst>
              <a:ext uri="{FF2B5EF4-FFF2-40B4-BE49-F238E27FC236}">
                <a16:creationId xmlns:a16="http://schemas.microsoft.com/office/drawing/2014/main" id="{D4470990-3B66-48EB-AEBF-1D0D99540CAD}"/>
              </a:ext>
            </a:extLst>
          </p:cNvPr>
          <p:cNvSpPr/>
          <p:nvPr/>
        </p:nvSpPr>
        <p:spPr>
          <a:xfrm>
            <a:off x="6191636" y="1493243"/>
            <a:ext cx="1912739" cy="1147643"/>
          </a:xfrm>
          <a:custGeom>
            <a:avLst/>
            <a:gdLst>
              <a:gd name="connsiteX0" fmla="*/ 0 w 1912739"/>
              <a:gd name="connsiteY0" fmla="*/ 0 h 1147643"/>
              <a:gd name="connsiteX1" fmla="*/ 1912739 w 1912739"/>
              <a:gd name="connsiteY1" fmla="*/ 0 h 1147643"/>
              <a:gd name="connsiteX2" fmla="*/ 1912739 w 1912739"/>
              <a:gd name="connsiteY2" fmla="*/ 1147643 h 1147643"/>
              <a:gd name="connsiteX3" fmla="*/ 0 w 1912739"/>
              <a:gd name="connsiteY3" fmla="*/ 1147643 h 1147643"/>
              <a:gd name="connsiteX4" fmla="*/ 0 w 1912739"/>
              <a:gd name="connsiteY4" fmla="*/ 0 h 1147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39" h="1147643">
                <a:moveTo>
                  <a:pt x="0" y="0"/>
                </a:moveTo>
                <a:lnTo>
                  <a:pt x="1912739" y="0"/>
                </a:lnTo>
                <a:lnTo>
                  <a:pt x="1912739" y="1147643"/>
                </a:lnTo>
                <a:lnTo>
                  <a:pt x="0" y="114764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Logical operators</a:t>
            </a:r>
            <a:endParaRPr lang="en-US" sz="1900" kern="1200"/>
          </a:p>
        </p:txBody>
      </p:sp>
      <p:sp>
        <p:nvSpPr>
          <p:cNvPr id="6" name="Freeform: Shape 5">
            <a:extLst>
              <a:ext uri="{FF2B5EF4-FFF2-40B4-BE49-F238E27FC236}">
                <a16:creationId xmlns:a16="http://schemas.microsoft.com/office/drawing/2014/main" id="{59C1A2EB-F35D-436E-BAAC-E895EFEF8F7A}"/>
              </a:ext>
            </a:extLst>
          </p:cNvPr>
          <p:cNvSpPr/>
          <p:nvPr/>
        </p:nvSpPr>
        <p:spPr>
          <a:xfrm>
            <a:off x="8295649" y="1493243"/>
            <a:ext cx="1912739" cy="1147643"/>
          </a:xfrm>
          <a:custGeom>
            <a:avLst/>
            <a:gdLst>
              <a:gd name="connsiteX0" fmla="*/ 0 w 1912739"/>
              <a:gd name="connsiteY0" fmla="*/ 0 h 1147643"/>
              <a:gd name="connsiteX1" fmla="*/ 1912739 w 1912739"/>
              <a:gd name="connsiteY1" fmla="*/ 0 h 1147643"/>
              <a:gd name="connsiteX2" fmla="*/ 1912739 w 1912739"/>
              <a:gd name="connsiteY2" fmla="*/ 1147643 h 1147643"/>
              <a:gd name="connsiteX3" fmla="*/ 0 w 1912739"/>
              <a:gd name="connsiteY3" fmla="*/ 1147643 h 1147643"/>
              <a:gd name="connsiteX4" fmla="*/ 0 w 1912739"/>
              <a:gd name="connsiteY4" fmla="*/ 0 h 1147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39" h="1147643">
                <a:moveTo>
                  <a:pt x="0" y="0"/>
                </a:moveTo>
                <a:lnTo>
                  <a:pt x="1912739" y="0"/>
                </a:lnTo>
                <a:lnTo>
                  <a:pt x="1912739" y="1147643"/>
                </a:lnTo>
                <a:lnTo>
                  <a:pt x="0" y="114764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Assignment operators</a:t>
            </a:r>
            <a:endParaRPr lang="en-US" sz="1900" kern="1200"/>
          </a:p>
        </p:txBody>
      </p:sp>
      <p:sp>
        <p:nvSpPr>
          <p:cNvPr id="7" name="Freeform: Shape 6">
            <a:extLst>
              <a:ext uri="{FF2B5EF4-FFF2-40B4-BE49-F238E27FC236}">
                <a16:creationId xmlns:a16="http://schemas.microsoft.com/office/drawing/2014/main" id="{60497485-1856-4A6E-8872-F067CC75B281}"/>
              </a:ext>
            </a:extLst>
          </p:cNvPr>
          <p:cNvSpPr/>
          <p:nvPr/>
        </p:nvSpPr>
        <p:spPr>
          <a:xfrm>
            <a:off x="1983611" y="2832160"/>
            <a:ext cx="1912739" cy="1147643"/>
          </a:xfrm>
          <a:custGeom>
            <a:avLst/>
            <a:gdLst>
              <a:gd name="connsiteX0" fmla="*/ 0 w 1912739"/>
              <a:gd name="connsiteY0" fmla="*/ 0 h 1147643"/>
              <a:gd name="connsiteX1" fmla="*/ 1912739 w 1912739"/>
              <a:gd name="connsiteY1" fmla="*/ 0 h 1147643"/>
              <a:gd name="connsiteX2" fmla="*/ 1912739 w 1912739"/>
              <a:gd name="connsiteY2" fmla="*/ 1147643 h 1147643"/>
              <a:gd name="connsiteX3" fmla="*/ 0 w 1912739"/>
              <a:gd name="connsiteY3" fmla="*/ 1147643 h 1147643"/>
              <a:gd name="connsiteX4" fmla="*/ 0 w 1912739"/>
              <a:gd name="connsiteY4" fmla="*/ 0 h 1147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39" h="1147643">
                <a:moveTo>
                  <a:pt x="0" y="0"/>
                </a:moveTo>
                <a:lnTo>
                  <a:pt x="1912739" y="0"/>
                </a:lnTo>
                <a:lnTo>
                  <a:pt x="1912739" y="1147643"/>
                </a:lnTo>
                <a:lnTo>
                  <a:pt x="0" y="114764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Increment and decrement operators</a:t>
            </a:r>
            <a:endParaRPr lang="en-US" sz="1900" kern="1200"/>
          </a:p>
        </p:txBody>
      </p:sp>
      <p:sp>
        <p:nvSpPr>
          <p:cNvPr id="8" name="Freeform: Shape 7">
            <a:extLst>
              <a:ext uri="{FF2B5EF4-FFF2-40B4-BE49-F238E27FC236}">
                <a16:creationId xmlns:a16="http://schemas.microsoft.com/office/drawing/2014/main" id="{2AB8B6C9-E5DF-4565-9E2E-C31C6DC34115}"/>
              </a:ext>
            </a:extLst>
          </p:cNvPr>
          <p:cNvSpPr/>
          <p:nvPr/>
        </p:nvSpPr>
        <p:spPr>
          <a:xfrm>
            <a:off x="4087623" y="2832160"/>
            <a:ext cx="1912739" cy="1147643"/>
          </a:xfrm>
          <a:custGeom>
            <a:avLst/>
            <a:gdLst>
              <a:gd name="connsiteX0" fmla="*/ 0 w 1912739"/>
              <a:gd name="connsiteY0" fmla="*/ 0 h 1147643"/>
              <a:gd name="connsiteX1" fmla="*/ 1912739 w 1912739"/>
              <a:gd name="connsiteY1" fmla="*/ 0 h 1147643"/>
              <a:gd name="connsiteX2" fmla="*/ 1912739 w 1912739"/>
              <a:gd name="connsiteY2" fmla="*/ 1147643 h 1147643"/>
              <a:gd name="connsiteX3" fmla="*/ 0 w 1912739"/>
              <a:gd name="connsiteY3" fmla="*/ 1147643 h 1147643"/>
              <a:gd name="connsiteX4" fmla="*/ 0 w 1912739"/>
              <a:gd name="connsiteY4" fmla="*/ 0 h 1147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39" h="1147643">
                <a:moveTo>
                  <a:pt x="0" y="0"/>
                </a:moveTo>
                <a:lnTo>
                  <a:pt x="1912739" y="0"/>
                </a:lnTo>
                <a:lnTo>
                  <a:pt x="1912739" y="1147643"/>
                </a:lnTo>
                <a:lnTo>
                  <a:pt x="0" y="114764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Conditional operators</a:t>
            </a:r>
            <a:endParaRPr lang="en-US" sz="1900" kern="1200"/>
          </a:p>
        </p:txBody>
      </p:sp>
      <p:sp>
        <p:nvSpPr>
          <p:cNvPr id="9" name="Freeform: Shape 8">
            <a:extLst>
              <a:ext uri="{FF2B5EF4-FFF2-40B4-BE49-F238E27FC236}">
                <a16:creationId xmlns:a16="http://schemas.microsoft.com/office/drawing/2014/main" id="{9743B14D-C052-43C2-A8F9-2CCCA27802DB}"/>
              </a:ext>
            </a:extLst>
          </p:cNvPr>
          <p:cNvSpPr/>
          <p:nvPr/>
        </p:nvSpPr>
        <p:spPr>
          <a:xfrm>
            <a:off x="6191636" y="2832160"/>
            <a:ext cx="1912739" cy="1147643"/>
          </a:xfrm>
          <a:custGeom>
            <a:avLst/>
            <a:gdLst>
              <a:gd name="connsiteX0" fmla="*/ 0 w 1912739"/>
              <a:gd name="connsiteY0" fmla="*/ 0 h 1147643"/>
              <a:gd name="connsiteX1" fmla="*/ 1912739 w 1912739"/>
              <a:gd name="connsiteY1" fmla="*/ 0 h 1147643"/>
              <a:gd name="connsiteX2" fmla="*/ 1912739 w 1912739"/>
              <a:gd name="connsiteY2" fmla="*/ 1147643 h 1147643"/>
              <a:gd name="connsiteX3" fmla="*/ 0 w 1912739"/>
              <a:gd name="connsiteY3" fmla="*/ 1147643 h 1147643"/>
              <a:gd name="connsiteX4" fmla="*/ 0 w 1912739"/>
              <a:gd name="connsiteY4" fmla="*/ 0 h 1147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39" h="1147643">
                <a:moveTo>
                  <a:pt x="0" y="0"/>
                </a:moveTo>
                <a:lnTo>
                  <a:pt x="1912739" y="0"/>
                </a:lnTo>
                <a:lnTo>
                  <a:pt x="1912739" y="1147643"/>
                </a:lnTo>
                <a:lnTo>
                  <a:pt x="0" y="114764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Bitwise operators</a:t>
            </a:r>
            <a:endParaRPr lang="en-US" sz="1900" kern="1200"/>
          </a:p>
        </p:txBody>
      </p:sp>
      <p:sp>
        <p:nvSpPr>
          <p:cNvPr id="10" name="Freeform: Shape 9">
            <a:extLst>
              <a:ext uri="{FF2B5EF4-FFF2-40B4-BE49-F238E27FC236}">
                <a16:creationId xmlns:a16="http://schemas.microsoft.com/office/drawing/2014/main" id="{47960257-7741-4B91-A14E-3789691ECA40}"/>
              </a:ext>
            </a:extLst>
          </p:cNvPr>
          <p:cNvSpPr/>
          <p:nvPr/>
        </p:nvSpPr>
        <p:spPr>
          <a:xfrm>
            <a:off x="8295649" y="2832160"/>
            <a:ext cx="1912739" cy="1147643"/>
          </a:xfrm>
          <a:custGeom>
            <a:avLst/>
            <a:gdLst>
              <a:gd name="connsiteX0" fmla="*/ 0 w 1912739"/>
              <a:gd name="connsiteY0" fmla="*/ 0 h 1147643"/>
              <a:gd name="connsiteX1" fmla="*/ 1912739 w 1912739"/>
              <a:gd name="connsiteY1" fmla="*/ 0 h 1147643"/>
              <a:gd name="connsiteX2" fmla="*/ 1912739 w 1912739"/>
              <a:gd name="connsiteY2" fmla="*/ 1147643 h 1147643"/>
              <a:gd name="connsiteX3" fmla="*/ 0 w 1912739"/>
              <a:gd name="connsiteY3" fmla="*/ 1147643 h 1147643"/>
              <a:gd name="connsiteX4" fmla="*/ 0 w 1912739"/>
              <a:gd name="connsiteY4" fmla="*/ 0 h 1147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39" h="1147643">
                <a:moveTo>
                  <a:pt x="0" y="0"/>
                </a:moveTo>
                <a:lnTo>
                  <a:pt x="1912739" y="0"/>
                </a:lnTo>
                <a:lnTo>
                  <a:pt x="1912739" y="1147643"/>
                </a:lnTo>
                <a:lnTo>
                  <a:pt x="0" y="114764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Comma operators</a:t>
            </a:r>
            <a:endParaRPr lang="en-US" sz="1900" kern="1200"/>
          </a:p>
        </p:txBody>
      </p:sp>
      <p:sp>
        <p:nvSpPr>
          <p:cNvPr id="11" name="Freeform: Shape 10">
            <a:extLst>
              <a:ext uri="{FF2B5EF4-FFF2-40B4-BE49-F238E27FC236}">
                <a16:creationId xmlns:a16="http://schemas.microsoft.com/office/drawing/2014/main" id="{4BDB2CD6-EEC0-4685-BB14-F4B1C9333284}"/>
              </a:ext>
            </a:extLst>
          </p:cNvPr>
          <p:cNvSpPr/>
          <p:nvPr/>
        </p:nvSpPr>
        <p:spPr>
          <a:xfrm>
            <a:off x="1983611" y="4171078"/>
            <a:ext cx="1912739" cy="1147643"/>
          </a:xfrm>
          <a:custGeom>
            <a:avLst/>
            <a:gdLst>
              <a:gd name="connsiteX0" fmla="*/ 0 w 1912739"/>
              <a:gd name="connsiteY0" fmla="*/ 0 h 1147643"/>
              <a:gd name="connsiteX1" fmla="*/ 1912739 w 1912739"/>
              <a:gd name="connsiteY1" fmla="*/ 0 h 1147643"/>
              <a:gd name="connsiteX2" fmla="*/ 1912739 w 1912739"/>
              <a:gd name="connsiteY2" fmla="*/ 1147643 h 1147643"/>
              <a:gd name="connsiteX3" fmla="*/ 0 w 1912739"/>
              <a:gd name="connsiteY3" fmla="*/ 1147643 h 1147643"/>
              <a:gd name="connsiteX4" fmla="*/ 0 w 1912739"/>
              <a:gd name="connsiteY4" fmla="*/ 0 h 1147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39" h="1147643">
                <a:moveTo>
                  <a:pt x="0" y="0"/>
                </a:moveTo>
                <a:lnTo>
                  <a:pt x="1912739" y="0"/>
                </a:lnTo>
                <a:lnTo>
                  <a:pt x="1912739" y="1147643"/>
                </a:lnTo>
                <a:lnTo>
                  <a:pt x="0" y="114764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Arithmetic expressions</a:t>
            </a:r>
            <a:endParaRPr lang="en-US" sz="1900" kern="1200"/>
          </a:p>
        </p:txBody>
      </p:sp>
      <p:sp>
        <p:nvSpPr>
          <p:cNvPr id="12" name="Freeform: Shape 11">
            <a:extLst>
              <a:ext uri="{FF2B5EF4-FFF2-40B4-BE49-F238E27FC236}">
                <a16:creationId xmlns:a16="http://schemas.microsoft.com/office/drawing/2014/main" id="{9A034B1E-9167-48E4-9E96-D8AFEDEA59F2}"/>
              </a:ext>
            </a:extLst>
          </p:cNvPr>
          <p:cNvSpPr/>
          <p:nvPr/>
        </p:nvSpPr>
        <p:spPr>
          <a:xfrm>
            <a:off x="4087623" y="4171078"/>
            <a:ext cx="1912739" cy="1147643"/>
          </a:xfrm>
          <a:custGeom>
            <a:avLst/>
            <a:gdLst>
              <a:gd name="connsiteX0" fmla="*/ 0 w 1912739"/>
              <a:gd name="connsiteY0" fmla="*/ 0 h 1147643"/>
              <a:gd name="connsiteX1" fmla="*/ 1912739 w 1912739"/>
              <a:gd name="connsiteY1" fmla="*/ 0 h 1147643"/>
              <a:gd name="connsiteX2" fmla="*/ 1912739 w 1912739"/>
              <a:gd name="connsiteY2" fmla="*/ 1147643 h 1147643"/>
              <a:gd name="connsiteX3" fmla="*/ 0 w 1912739"/>
              <a:gd name="connsiteY3" fmla="*/ 1147643 h 1147643"/>
              <a:gd name="connsiteX4" fmla="*/ 0 w 1912739"/>
              <a:gd name="connsiteY4" fmla="*/ 0 h 1147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39" h="1147643">
                <a:moveTo>
                  <a:pt x="0" y="0"/>
                </a:moveTo>
                <a:lnTo>
                  <a:pt x="1912739" y="0"/>
                </a:lnTo>
                <a:lnTo>
                  <a:pt x="1912739" y="1147643"/>
                </a:lnTo>
                <a:lnTo>
                  <a:pt x="0" y="114764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Evaluation of expressions	</a:t>
            </a:r>
            <a:endParaRPr lang="en-US" sz="1900" kern="1200" dirty="0"/>
          </a:p>
        </p:txBody>
      </p:sp>
      <p:sp>
        <p:nvSpPr>
          <p:cNvPr id="13" name="Freeform: Shape 12">
            <a:extLst>
              <a:ext uri="{FF2B5EF4-FFF2-40B4-BE49-F238E27FC236}">
                <a16:creationId xmlns:a16="http://schemas.microsoft.com/office/drawing/2014/main" id="{8C93DED9-B5B8-49D2-A4E8-3C8964FE8035}"/>
              </a:ext>
            </a:extLst>
          </p:cNvPr>
          <p:cNvSpPr/>
          <p:nvPr/>
        </p:nvSpPr>
        <p:spPr>
          <a:xfrm>
            <a:off x="6191636" y="4171078"/>
            <a:ext cx="1912739" cy="1147643"/>
          </a:xfrm>
          <a:custGeom>
            <a:avLst/>
            <a:gdLst>
              <a:gd name="connsiteX0" fmla="*/ 0 w 1912739"/>
              <a:gd name="connsiteY0" fmla="*/ 0 h 1147643"/>
              <a:gd name="connsiteX1" fmla="*/ 1912739 w 1912739"/>
              <a:gd name="connsiteY1" fmla="*/ 0 h 1147643"/>
              <a:gd name="connsiteX2" fmla="*/ 1912739 w 1912739"/>
              <a:gd name="connsiteY2" fmla="*/ 1147643 h 1147643"/>
              <a:gd name="connsiteX3" fmla="*/ 0 w 1912739"/>
              <a:gd name="connsiteY3" fmla="*/ 1147643 h 1147643"/>
              <a:gd name="connsiteX4" fmla="*/ 0 w 1912739"/>
              <a:gd name="connsiteY4" fmla="*/ 0 h 1147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39" h="1147643">
                <a:moveTo>
                  <a:pt x="0" y="0"/>
                </a:moveTo>
                <a:lnTo>
                  <a:pt x="1912739" y="0"/>
                </a:lnTo>
                <a:lnTo>
                  <a:pt x="1912739" y="1147643"/>
                </a:lnTo>
                <a:lnTo>
                  <a:pt x="0" y="114764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Operator precedence and associativity</a:t>
            </a:r>
            <a:endParaRPr lang="en-US" sz="1900" kern="1200"/>
          </a:p>
        </p:txBody>
      </p:sp>
      <p:sp>
        <p:nvSpPr>
          <p:cNvPr id="14" name="Freeform: Shape 13">
            <a:extLst>
              <a:ext uri="{FF2B5EF4-FFF2-40B4-BE49-F238E27FC236}">
                <a16:creationId xmlns:a16="http://schemas.microsoft.com/office/drawing/2014/main" id="{F90222DD-F353-4F74-99DB-391CC1264AAF}"/>
              </a:ext>
            </a:extLst>
          </p:cNvPr>
          <p:cNvSpPr/>
          <p:nvPr/>
        </p:nvSpPr>
        <p:spPr>
          <a:xfrm>
            <a:off x="8295649" y="4171078"/>
            <a:ext cx="1912739" cy="1147643"/>
          </a:xfrm>
          <a:custGeom>
            <a:avLst/>
            <a:gdLst>
              <a:gd name="connsiteX0" fmla="*/ 0 w 1912739"/>
              <a:gd name="connsiteY0" fmla="*/ 0 h 1147643"/>
              <a:gd name="connsiteX1" fmla="*/ 1912739 w 1912739"/>
              <a:gd name="connsiteY1" fmla="*/ 0 h 1147643"/>
              <a:gd name="connsiteX2" fmla="*/ 1912739 w 1912739"/>
              <a:gd name="connsiteY2" fmla="*/ 1147643 h 1147643"/>
              <a:gd name="connsiteX3" fmla="*/ 0 w 1912739"/>
              <a:gd name="connsiteY3" fmla="*/ 1147643 h 1147643"/>
              <a:gd name="connsiteX4" fmla="*/ 0 w 1912739"/>
              <a:gd name="connsiteY4" fmla="*/ 0 h 1147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2739" h="1147643">
                <a:moveTo>
                  <a:pt x="0" y="0"/>
                </a:moveTo>
                <a:lnTo>
                  <a:pt x="1912739" y="0"/>
                </a:lnTo>
                <a:lnTo>
                  <a:pt x="1912739" y="1147643"/>
                </a:lnTo>
                <a:lnTo>
                  <a:pt x="0" y="114764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Type conversions</a:t>
            </a:r>
            <a:endParaRPr lang="en-US" sz="1900" kern="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5"/>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6"/>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childTnLst>
                                    <p:set>
                                      <p:cBhvr>
                                        <p:cTn id="18" dur="1" fill="hold">
                                          <p:stCondLst>
                                            <p:cond delay="0"/>
                                          </p:stCondLst>
                                        </p:cTn>
                                        <p:tgtEl>
                                          <p:spTgt spid="7"/>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childTnLst>
                                    <p:set>
                                      <p:cBhvr>
                                        <p:cTn id="21" dur="1" fill="hold">
                                          <p:stCondLst>
                                            <p:cond delay="0"/>
                                          </p:stCondLst>
                                        </p:cTn>
                                        <p:tgtEl>
                                          <p:spTgt spid="8"/>
                                        </p:tgtEl>
                                        <p:attrNameLst>
                                          <p:attrName>style.visibility</p:attrName>
                                        </p:attrNameLst>
                                      </p:cBhvr>
                                      <p:to>
                                        <p:strVal val="visible"/>
                                      </p:to>
                                    </p:set>
                                  </p:childTnLst>
                                </p:cTn>
                              </p:par>
                            </p:childTnLst>
                          </p:cTn>
                        </p:par>
                        <p:par>
                          <p:cTn id="22" fill="hold">
                            <p:stCondLst>
                              <p:cond delay="2500"/>
                            </p:stCondLst>
                            <p:childTnLst>
                              <p:par>
                                <p:cTn id="23" presetID="1" presetClass="entr" presetSubtype="0" fill="hold" grpId="0" nodeType="afterEffect">
                                  <p:stCondLst>
                                    <p:cond delay="500"/>
                                  </p:stCondLst>
                                  <p:childTnLst>
                                    <p:set>
                                      <p:cBhvr>
                                        <p:cTn id="24" dur="1" fill="hold">
                                          <p:stCondLst>
                                            <p:cond delay="0"/>
                                          </p:stCondLst>
                                        </p:cTn>
                                        <p:tgtEl>
                                          <p:spTgt spid="9"/>
                                        </p:tgtEl>
                                        <p:attrNameLst>
                                          <p:attrName>style.visibility</p:attrName>
                                        </p:attrNameLst>
                                      </p:cBhvr>
                                      <p:to>
                                        <p:strVal val="visible"/>
                                      </p:to>
                                    </p:set>
                                  </p:childTnLst>
                                </p:cTn>
                              </p:par>
                            </p:childTnLst>
                          </p:cTn>
                        </p:par>
                        <p:par>
                          <p:cTn id="25" fill="hold">
                            <p:stCondLst>
                              <p:cond delay="3000"/>
                            </p:stCondLst>
                            <p:childTnLst>
                              <p:par>
                                <p:cTn id="26" presetID="1" presetClass="entr" presetSubtype="0" fill="hold" grpId="0" nodeType="afterEffect">
                                  <p:stCondLst>
                                    <p:cond delay="500"/>
                                  </p:stCondLst>
                                  <p:childTnLst>
                                    <p:set>
                                      <p:cBhvr>
                                        <p:cTn id="27" dur="1" fill="hold">
                                          <p:stCondLst>
                                            <p:cond delay="0"/>
                                          </p:stCondLst>
                                        </p:cTn>
                                        <p:tgtEl>
                                          <p:spTgt spid="10"/>
                                        </p:tgtEl>
                                        <p:attrNameLst>
                                          <p:attrName>style.visibility</p:attrName>
                                        </p:attrNameLst>
                                      </p:cBhvr>
                                      <p:to>
                                        <p:strVal val="visible"/>
                                      </p:to>
                                    </p:set>
                                  </p:childTnLst>
                                </p:cTn>
                              </p:par>
                            </p:childTnLst>
                          </p:cTn>
                        </p:par>
                        <p:par>
                          <p:cTn id="28" fill="hold">
                            <p:stCondLst>
                              <p:cond delay="3500"/>
                            </p:stCondLst>
                            <p:childTnLst>
                              <p:par>
                                <p:cTn id="29" presetID="1" presetClass="entr" presetSubtype="0" fill="hold" grpId="0" nodeType="afterEffect">
                                  <p:stCondLst>
                                    <p:cond delay="500"/>
                                  </p:stCondLst>
                                  <p:childTnLst>
                                    <p:set>
                                      <p:cBhvr>
                                        <p:cTn id="30" dur="1" fill="hold">
                                          <p:stCondLst>
                                            <p:cond delay="0"/>
                                          </p:stCondLst>
                                        </p:cTn>
                                        <p:tgtEl>
                                          <p:spTgt spid="11"/>
                                        </p:tgtEl>
                                        <p:attrNameLst>
                                          <p:attrName>style.visibility</p:attrName>
                                        </p:attrNameLst>
                                      </p:cBhvr>
                                      <p:to>
                                        <p:strVal val="visible"/>
                                      </p:to>
                                    </p:set>
                                  </p:childTnLst>
                                </p:cTn>
                              </p:par>
                            </p:childTnLst>
                          </p:cTn>
                        </p:par>
                        <p:par>
                          <p:cTn id="31" fill="hold">
                            <p:stCondLst>
                              <p:cond delay="4000"/>
                            </p:stCondLst>
                            <p:childTnLst>
                              <p:par>
                                <p:cTn id="32" presetID="1" presetClass="entr" presetSubtype="0" fill="hold" grpId="0" nodeType="afterEffect">
                                  <p:stCondLst>
                                    <p:cond delay="500"/>
                                  </p:stCondLst>
                                  <p:childTnLst>
                                    <p:set>
                                      <p:cBhvr>
                                        <p:cTn id="33" dur="1" fill="hold">
                                          <p:stCondLst>
                                            <p:cond delay="0"/>
                                          </p:stCondLst>
                                        </p:cTn>
                                        <p:tgtEl>
                                          <p:spTgt spid="12"/>
                                        </p:tgtEl>
                                        <p:attrNameLst>
                                          <p:attrName>style.visibility</p:attrName>
                                        </p:attrNameLst>
                                      </p:cBhvr>
                                      <p:to>
                                        <p:strVal val="visible"/>
                                      </p:to>
                                    </p:set>
                                  </p:childTnLst>
                                </p:cTn>
                              </p:par>
                            </p:childTnLst>
                          </p:cTn>
                        </p:par>
                        <p:par>
                          <p:cTn id="34" fill="hold">
                            <p:stCondLst>
                              <p:cond delay="4500"/>
                            </p:stCondLst>
                            <p:childTnLst>
                              <p:par>
                                <p:cTn id="35" presetID="1" presetClass="entr" presetSubtype="0" fill="hold" grpId="0" nodeType="afterEffect">
                                  <p:stCondLst>
                                    <p:cond delay="500"/>
                                  </p:stCondLst>
                                  <p:childTnLst>
                                    <p:set>
                                      <p:cBhvr>
                                        <p:cTn id="36" dur="1" fill="hold">
                                          <p:stCondLst>
                                            <p:cond delay="0"/>
                                          </p:stCondLst>
                                        </p:cTn>
                                        <p:tgtEl>
                                          <p:spTgt spid="13"/>
                                        </p:tgtEl>
                                        <p:attrNameLst>
                                          <p:attrName>style.visibility</p:attrName>
                                        </p:attrNameLst>
                                      </p:cBhvr>
                                      <p:to>
                                        <p:strVal val="visible"/>
                                      </p:to>
                                    </p:set>
                                  </p:childTnLst>
                                </p:cTn>
                              </p:par>
                            </p:childTnLst>
                          </p:cTn>
                        </p:par>
                        <p:par>
                          <p:cTn id="37" fill="hold">
                            <p:stCondLst>
                              <p:cond delay="5000"/>
                            </p:stCondLst>
                            <p:childTnLst>
                              <p:par>
                                <p:cTn id="38" presetID="1" presetClass="entr" presetSubtype="0" fill="hold" grpId="0" nodeType="afterEffect">
                                  <p:stCondLst>
                                    <p:cond delay="500"/>
                                  </p:stCondLst>
                                  <p:childTnLst>
                                    <p:set>
                                      <p:cBhvr>
                                        <p:cTn id="39"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9"/>
          <p:cNvSpPr txBox="1">
            <a:spLocks noChangeArrowheads="1"/>
          </p:cNvSpPr>
          <p:nvPr/>
        </p:nvSpPr>
        <p:spPr bwMode="ltGray">
          <a:xfrm>
            <a:off x="3677150" y="329625"/>
            <a:ext cx="6629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3200" b="1">
                <a:solidFill>
                  <a:srgbClr val="CC6600"/>
                </a:solidFill>
              </a:rPr>
              <a:t>Operators and Expressions</a:t>
            </a:r>
          </a:p>
        </p:txBody>
      </p:sp>
      <p:sp>
        <p:nvSpPr>
          <p:cNvPr id="3" name="Rectangle 2" descr="Programmer">
            <a:extLst>
              <a:ext uri="{FF2B5EF4-FFF2-40B4-BE49-F238E27FC236}">
                <a16:creationId xmlns:a16="http://schemas.microsoft.com/office/drawing/2014/main" id="{D0CB19C6-69D8-4812-A71F-FFA40394EC72}"/>
              </a:ext>
            </a:extLst>
          </p:cNvPr>
          <p:cNvSpPr/>
          <p:nvPr/>
        </p:nvSpPr>
        <p:spPr>
          <a:xfrm>
            <a:off x="228600" y="218940"/>
            <a:ext cx="695460" cy="695460"/>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4" name="Freeform: Shape 3">
            <a:extLst>
              <a:ext uri="{FF2B5EF4-FFF2-40B4-BE49-F238E27FC236}">
                <a16:creationId xmlns:a16="http://schemas.microsoft.com/office/drawing/2014/main" id="{22878BE2-47FD-46CE-89E4-99B2554C2EBD}"/>
              </a:ext>
            </a:extLst>
          </p:cNvPr>
          <p:cNvSpPr/>
          <p:nvPr/>
        </p:nvSpPr>
        <p:spPr>
          <a:xfrm>
            <a:off x="18288" y="3048000"/>
            <a:ext cx="5029199" cy="2544599"/>
          </a:xfrm>
          <a:custGeom>
            <a:avLst/>
            <a:gdLst>
              <a:gd name="connsiteX0" fmla="*/ 0 w 1987031"/>
              <a:gd name="connsiteY0" fmla="*/ 0 h 869113"/>
              <a:gd name="connsiteX1" fmla="*/ 1987031 w 1987031"/>
              <a:gd name="connsiteY1" fmla="*/ 0 h 869113"/>
              <a:gd name="connsiteX2" fmla="*/ 1987031 w 1987031"/>
              <a:gd name="connsiteY2" fmla="*/ 869113 h 869113"/>
              <a:gd name="connsiteX3" fmla="*/ 0 w 1987031"/>
              <a:gd name="connsiteY3" fmla="*/ 869113 h 869113"/>
              <a:gd name="connsiteX4" fmla="*/ 0 w 1987031"/>
              <a:gd name="connsiteY4" fmla="*/ 0 h 869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7031" h="869113">
                <a:moveTo>
                  <a:pt x="0" y="0"/>
                </a:moveTo>
                <a:lnTo>
                  <a:pt x="1987031" y="0"/>
                </a:lnTo>
                <a:lnTo>
                  <a:pt x="1987031" y="869113"/>
                </a:lnTo>
                <a:lnTo>
                  <a:pt x="0" y="8691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algn="ctr" defTabSz="622300">
              <a:spcBef>
                <a:spcPct val="0"/>
              </a:spcBef>
              <a:spcAft>
                <a:spcPct val="35000"/>
              </a:spcAft>
              <a:defRPr b="1"/>
            </a:pPr>
            <a:r>
              <a:rPr lang="en-US" sz="2800" b="1" kern="1200" dirty="0">
                <a:solidFill>
                  <a:srgbClr val="29AF8C"/>
                </a:solidFill>
              </a:rPr>
              <a:t>Operator </a:t>
            </a:r>
          </a:p>
          <a:p>
            <a:pPr algn="ctr" defTabSz="622300">
              <a:spcBef>
                <a:spcPct val="0"/>
              </a:spcBef>
              <a:spcAft>
                <a:spcPct val="35000"/>
              </a:spcAft>
              <a:defRPr b="1"/>
            </a:pPr>
            <a:r>
              <a:rPr lang="en-US" kern="1200" dirty="0"/>
              <a:t>Symbol that tells the computer to perform certain mathematical or logical manipulations.</a:t>
            </a:r>
          </a:p>
          <a:p>
            <a:pPr marL="0" lvl="0" indent="0" algn="ctr" defTabSz="622300">
              <a:lnSpc>
                <a:spcPct val="100000"/>
              </a:lnSpc>
              <a:spcBef>
                <a:spcPct val="0"/>
              </a:spcBef>
              <a:spcAft>
                <a:spcPct val="35000"/>
              </a:spcAft>
              <a:buNone/>
              <a:defRPr b="1"/>
            </a:pPr>
            <a:endParaRPr lang="en-US" kern="1200" dirty="0"/>
          </a:p>
        </p:txBody>
      </p:sp>
      <p:sp>
        <p:nvSpPr>
          <p:cNvPr id="6" name="Rectangle 5" descr="Mathematics">
            <a:extLst>
              <a:ext uri="{FF2B5EF4-FFF2-40B4-BE49-F238E27FC236}">
                <a16:creationId xmlns:a16="http://schemas.microsoft.com/office/drawing/2014/main" id="{8C61A43C-7C6C-412F-AF8A-084A33A2B977}"/>
              </a:ext>
            </a:extLst>
          </p:cNvPr>
          <p:cNvSpPr/>
          <p:nvPr/>
        </p:nvSpPr>
        <p:spPr>
          <a:xfrm>
            <a:off x="1903350" y="1585942"/>
            <a:ext cx="1259074" cy="1353235"/>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8" name="Rectangle 7">
            <a:extLst>
              <a:ext uri="{FF2B5EF4-FFF2-40B4-BE49-F238E27FC236}">
                <a16:creationId xmlns:a16="http://schemas.microsoft.com/office/drawing/2014/main" id="{6F31A985-B2E6-43A7-A48E-59586DD4AE72}"/>
              </a:ext>
            </a:extLst>
          </p:cNvPr>
          <p:cNvSpPr/>
          <p:nvPr/>
        </p:nvSpPr>
        <p:spPr>
          <a:xfrm>
            <a:off x="4011303" y="4165215"/>
            <a:ext cx="1987031" cy="75448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9" name="Rectangle 8" descr="Flowchart">
            <a:extLst>
              <a:ext uri="{FF2B5EF4-FFF2-40B4-BE49-F238E27FC236}">
                <a16:creationId xmlns:a16="http://schemas.microsoft.com/office/drawing/2014/main" id="{D57EA68A-F943-48E1-A849-878ABCEC1B37}"/>
              </a:ext>
            </a:extLst>
          </p:cNvPr>
          <p:cNvSpPr/>
          <p:nvPr/>
        </p:nvSpPr>
        <p:spPr>
          <a:xfrm>
            <a:off x="7788780" y="1585943"/>
            <a:ext cx="1259074" cy="1353234"/>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0" name="Freeform: Shape 9">
            <a:extLst>
              <a:ext uri="{FF2B5EF4-FFF2-40B4-BE49-F238E27FC236}">
                <a16:creationId xmlns:a16="http://schemas.microsoft.com/office/drawing/2014/main" id="{1011FBFB-F978-401B-985C-350628C3AF71}"/>
              </a:ext>
            </a:extLst>
          </p:cNvPr>
          <p:cNvSpPr/>
          <p:nvPr/>
        </p:nvSpPr>
        <p:spPr>
          <a:xfrm>
            <a:off x="5181600" y="3058130"/>
            <a:ext cx="6705600" cy="3162448"/>
          </a:xfrm>
          <a:custGeom>
            <a:avLst/>
            <a:gdLst>
              <a:gd name="connsiteX0" fmla="*/ 0 w 1987031"/>
              <a:gd name="connsiteY0" fmla="*/ 0 h 869113"/>
              <a:gd name="connsiteX1" fmla="*/ 1987031 w 1987031"/>
              <a:gd name="connsiteY1" fmla="*/ 0 h 869113"/>
              <a:gd name="connsiteX2" fmla="*/ 1987031 w 1987031"/>
              <a:gd name="connsiteY2" fmla="*/ 869113 h 869113"/>
              <a:gd name="connsiteX3" fmla="*/ 0 w 1987031"/>
              <a:gd name="connsiteY3" fmla="*/ 869113 h 869113"/>
              <a:gd name="connsiteX4" fmla="*/ 0 w 1987031"/>
              <a:gd name="connsiteY4" fmla="*/ 0 h 869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7031" h="869113">
                <a:moveTo>
                  <a:pt x="0" y="0"/>
                </a:moveTo>
                <a:lnTo>
                  <a:pt x="1987031" y="0"/>
                </a:lnTo>
                <a:lnTo>
                  <a:pt x="1987031" y="869113"/>
                </a:lnTo>
                <a:lnTo>
                  <a:pt x="0" y="8691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ctr" defTabSz="622300">
              <a:lnSpc>
                <a:spcPct val="100000"/>
              </a:lnSpc>
              <a:spcBef>
                <a:spcPct val="0"/>
              </a:spcBef>
              <a:spcAft>
                <a:spcPct val="35000"/>
              </a:spcAft>
              <a:buNone/>
              <a:defRPr b="1"/>
            </a:pPr>
            <a:r>
              <a:rPr lang="en-US" sz="2800" b="1" dirty="0">
                <a:solidFill>
                  <a:srgbClr val="29AF8C"/>
                </a:solidFill>
              </a:rPr>
              <a:t>Expression</a:t>
            </a:r>
          </a:p>
          <a:p>
            <a:pPr marL="285750" lvl="0" indent="-285750" algn="just" defTabSz="588963">
              <a:lnSpc>
                <a:spcPct val="100000"/>
              </a:lnSpc>
              <a:spcBef>
                <a:spcPct val="0"/>
              </a:spcBef>
              <a:spcAft>
                <a:spcPct val="35000"/>
              </a:spcAft>
              <a:buClr>
                <a:srgbClr val="29AF8C"/>
              </a:buClr>
              <a:buSzPct val="140000"/>
              <a:buFont typeface="Webdings" panose="05030102010509060703" pitchFamily="18" charset="2"/>
              <a:buChar char=""/>
              <a:defRPr b="1"/>
            </a:pPr>
            <a:r>
              <a:rPr lang="en-US" kern="1200" dirty="0"/>
              <a:t>Sequence of operands and operators that reduces to a single value.</a:t>
            </a:r>
          </a:p>
          <a:p>
            <a:pPr marL="742950" lvl="1" indent="-285750" algn="just" defTabSz="622300">
              <a:spcBef>
                <a:spcPct val="0"/>
              </a:spcBef>
              <a:spcAft>
                <a:spcPct val="35000"/>
              </a:spcAft>
              <a:buFont typeface="Arial" panose="020B0604020202020204" pitchFamily="34" charset="0"/>
              <a:buChar char="•"/>
              <a:defRPr b="1"/>
            </a:pPr>
            <a:r>
              <a:rPr lang="en-US" kern="1200" dirty="0"/>
              <a:t>Consists of a </a:t>
            </a:r>
            <a:r>
              <a:rPr lang="en-US" kern="1200" dirty="0">
                <a:solidFill>
                  <a:srgbClr val="BD5329"/>
                </a:solidFill>
              </a:rPr>
              <a:t>single entity, </a:t>
            </a:r>
            <a:r>
              <a:rPr lang="en-US" kern="1200" dirty="0"/>
              <a:t>such as a constant or a variable.</a:t>
            </a:r>
          </a:p>
          <a:p>
            <a:pPr marL="742950" lvl="1" indent="-285750" algn="just" defTabSz="622300">
              <a:spcBef>
                <a:spcPct val="0"/>
              </a:spcBef>
              <a:spcAft>
                <a:spcPct val="35000"/>
              </a:spcAft>
              <a:buFont typeface="Arial" panose="020B0604020202020204" pitchFamily="34" charset="0"/>
              <a:buChar char="•"/>
              <a:defRPr b="1"/>
            </a:pPr>
            <a:r>
              <a:rPr lang="en-US" kern="1200" dirty="0"/>
              <a:t>Consists of </a:t>
            </a:r>
            <a:r>
              <a:rPr lang="en-US" kern="1200" dirty="0">
                <a:solidFill>
                  <a:srgbClr val="BD5329"/>
                </a:solidFill>
              </a:rPr>
              <a:t>some combination of such entities</a:t>
            </a:r>
            <a:r>
              <a:rPr lang="en-US" kern="1200" dirty="0"/>
              <a:t>, interconnected by one or more operators.</a:t>
            </a:r>
            <a:endParaRPr lang="en-US" sz="1400" kern="1200" dirty="0"/>
          </a:p>
        </p:txBody>
      </p:sp>
      <p:sp>
        <p:nvSpPr>
          <p:cNvPr id="14" name="Rectangle 13">
            <a:extLst>
              <a:ext uri="{FF2B5EF4-FFF2-40B4-BE49-F238E27FC236}">
                <a16:creationId xmlns:a16="http://schemas.microsoft.com/office/drawing/2014/main" id="{16C30732-F4C4-4F48-8C3D-C6969C45E9E7}"/>
              </a:ext>
            </a:extLst>
          </p:cNvPr>
          <p:cNvSpPr/>
          <p:nvPr/>
        </p:nvSpPr>
        <p:spPr>
          <a:xfrm>
            <a:off x="8680826" y="4165215"/>
            <a:ext cx="1987031" cy="75448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p:txBody>
          <a:bodyPr/>
          <a:lstStyle/>
          <a:p>
            <a:r>
              <a:rPr lang="en-US" b="1" dirty="0">
                <a:solidFill>
                  <a:srgbClr val="CC6600"/>
                </a:solidFill>
              </a:rPr>
              <a:t>Operator Classification</a:t>
            </a:r>
            <a:endParaRPr lang="en-US" dirty="0"/>
          </a:p>
        </p:txBody>
      </p:sp>
      <p:sp>
        <p:nvSpPr>
          <p:cNvPr id="16388" name="Rectangle 3"/>
          <p:cNvSpPr>
            <a:spLocks noGrp="1" noChangeArrowheads="1"/>
          </p:cNvSpPr>
          <p:nvPr>
            <p:ph idx="1"/>
          </p:nvPr>
        </p:nvSpPr>
        <p:spPr/>
        <p:txBody>
          <a:bodyPr>
            <a:normAutofit fontScale="92500" lnSpcReduction="10000"/>
          </a:bodyPr>
          <a:lstStyle/>
          <a:p>
            <a:pPr eaLnBrk="1" hangingPunct="1">
              <a:lnSpc>
                <a:spcPct val="115000"/>
              </a:lnSpc>
            </a:pPr>
            <a:r>
              <a:rPr lang="en-US" sz="2400" dirty="0"/>
              <a:t>Arithmetic operators</a:t>
            </a:r>
          </a:p>
          <a:p>
            <a:pPr lvl="1" eaLnBrk="1" hangingPunct="1">
              <a:lnSpc>
                <a:spcPct val="115000"/>
              </a:lnSpc>
            </a:pPr>
            <a:r>
              <a:rPr lang="en-US" sz="2000" dirty="0"/>
              <a:t>Integer Arithmetic, Real Arithmetic, Mixed mode Arithmetic</a:t>
            </a:r>
          </a:p>
          <a:p>
            <a:pPr eaLnBrk="1" hangingPunct="1">
              <a:lnSpc>
                <a:spcPct val="115000"/>
              </a:lnSpc>
            </a:pPr>
            <a:r>
              <a:rPr lang="en-US" sz="2400" dirty="0"/>
              <a:t>Relational operators</a:t>
            </a:r>
          </a:p>
          <a:p>
            <a:pPr eaLnBrk="1" hangingPunct="1">
              <a:lnSpc>
                <a:spcPct val="115000"/>
              </a:lnSpc>
            </a:pPr>
            <a:r>
              <a:rPr lang="en-US" sz="2400" dirty="0"/>
              <a:t>Logical operators</a:t>
            </a:r>
          </a:p>
          <a:p>
            <a:pPr eaLnBrk="1" hangingPunct="1">
              <a:lnSpc>
                <a:spcPct val="115000"/>
              </a:lnSpc>
            </a:pPr>
            <a:r>
              <a:rPr lang="en-US" sz="2400" dirty="0"/>
              <a:t>Assignment operators</a:t>
            </a:r>
          </a:p>
          <a:p>
            <a:pPr eaLnBrk="1" hangingPunct="1">
              <a:lnSpc>
                <a:spcPct val="115000"/>
              </a:lnSpc>
            </a:pPr>
            <a:r>
              <a:rPr lang="en-US" sz="2400" dirty="0"/>
              <a:t>Increment and decrement operators</a:t>
            </a:r>
          </a:p>
          <a:p>
            <a:pPr eaLnBrk="1" hangingPunct="1">
              <a:lnSpc>
                <a:spcPct val="115000"/>
              </a:lnSpc>
            </a:pPr>
            <a:r>
              <a:rPr lang="en-US" sz="2400" dirty="0"/>
              <a:t>Conditional operators</a:t>
            </a:r>
          </a:p>
          <a:p>
            <a:pPr eaLnBrk="1" hangingPunct="1">
              <a:lnSpc>
                <a:spcPct val="115000"/>
              </a:lnSpc>
            </a:pPr>
            <a:r>
              <a:rPr lang="en-US" sz="2400" dirty="0"/>
              <a:t>Bit wise operators</a:t>
            </a:r>
          </a:p>
          <a:p>
            <a:pPr eaLnBrk="1" hangingPunct="1">
              <a:lnSpc>
                <a:spcPct val="115000"/>
              </a:lnSpc>
            </a:pPr>
            <a:r>
              <a:rPr lang="en-US" sz="2400" dirty="0"/>
              <a:t>Special operators: </a:t>
            </a:r>
            <a:r>
              <a:rPr lang="en-US" sz="2000" dirty="0"/>
              <a:t>Comma Operator, </a:t>
            </a:r>
            <a:r>
              <a:rPr lang="en-US" sz="2000" dirty="0" err="1"/>
              <a:t>sizeof</a:t>
            </a:r>
            <a:r>
              <a:rPr lang="en-US" sz="2000" dirty="0"/>
              <a:t> Operator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38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itle 1"/>
          <p:cNvSpPr>
            <a:spLocks noGrp="1"/>
          </p:cNvSpPr>
          <p:nvPr>
            <p:ph type="title"/>
          </p:nvPr>
        </p:nvSpPr>
        <p:spPr/>
        <p:txBody>
          <a:bodyPr/>
          <a:lstStyle/>
          <a:p>
            <a:r>
              <a:rPr lang="en-US" b="1" dirty="0">
                <a:solidFill>
                  <a:srgbClr val="CC6600"/>
                </a:solidFill>
              </a:rPr>
              <a:t>Arithmetic Operators</a:t>
            </a:r>
            <a:endParaRPr lang="en-US" dirty="0"/>
          </a:p>
        </p:txBody>
      </p:sp>
      <p:sp>
        <p:nvSpPr>
          <p:cNvPr id="17412" name="Rectangle 3"/>
          <p:cNvSpPr>
            <a:spLocks noGrp="1" noChangeArrowheads="1"/>
          </p:cNvSpPr>
          <p:nvPr>
            <p:ph idx="1"/>
          </p:nvPr>
        </p:nvSpPr>
        <p:spPr/>
        <p:txBody>
          <a:bodyPr/>
          <a:lstStyle/>
          <a:p>
            <a:pPr eaLnBrk="1" hangingPunct="1">
              <a:buFontTx/>
              <a:buNone/>
            </a:pPr>
            <a:r>
              <a:rPr lang="en-US" dirty="0"/>
              <a:t> </a:t>
            </a:r>
            <a:r>
              <a:rPr lang="en-US" dirty="0">
                <a:solidFill>
                  <a:schemeClr val="accent1"/>
                </a:solidFill>
              </a:rPr>
              <a:t> </a:t>
            </a:r>
            <a:r>
              <a:rPr lang="en-US" sz="2400" b="1" dirty="0">
                <a:solidFill>
                  <a:schemeClr val="accent1"/>
                </a:solidFill>
              </a:rPr>
              <a:t>Operator</a:t>
            </a:r>
            <a:r>
              <a:rPr lang="en-US" sz="2400" i="1" dirty="0">
                <a:solidFill>
                  <a:schemeClr val="accent1"/>
                </a:solidFill>
              </a:rPr>
              <a:t>               </a:t>
            </a:r>
            <a:r>
              <a:rPr lang="en-US" sz="2400" i="1" dirty="0">
                <a:solidFill>
                  <a:srgbClr val="006600"/>
                </a:solidFill>
              </a:rPr>
              <a:t>	</a:t>
            </a:r>
            <a:r>
              <a:rPr lang="en-US" sz="2400" i="1" dirty="0">
                <a:solidFill>
                  <a:schemeClr val="accent1"/>
                </a:solidFill>
              </a:rPr>
              <a:t> </a:t>
            </a:r>
            <a:r>
              <a:rPr lang="en-US" sz="2400" b="1" dirty="0">
                <a:solidFill>
                  <a:schemeClr val="accent1"/>
                </a:solidFill>
              </a:rPr>
              <a:t>Meaning</a:t>
            </a:r>
          </a:p>
          <a:p>
            <a:pPr eaLnBrk="1" hangingPunct="1">
              <a:buFontTx/>
              <a:buNone/>
            </a:pPr>
            <a:r>
              <a:rPr lang="en-US" dirty="0"/>
              <a:t> 	</a:t>
            </a:r>
            <a:r>
              <a:rPr lang="en-US" sz="2400" b="1" dirty="0">
                <a:solidFill>
                  <a:srgbClr val="BD5329"/>
                </a:solidFill>
              </a:rPr>
              <a:t>+</a:t>
            </a:r>
            <a:r>
              <a:rPr lang="en-US" sz="2400" dirty="0">
                <a:solidFill>
                  <a:srgbClr val="000066"/>
                </a:solidFill>
              </a:rPr>
              <a:t> </a:t>
            </a:r>
            <a:r>
              <a:rPr lang="en-US" sz="2400" dirty="0"/>
              <a:t>                                     Addition</a:t>
            </a:r>
          </a:p>
          <a:p>
            <a:pPr eaLnBrk="1" hangingPunct="1">
              <a:buFontTx/>
              <a:buNone/>
            </a:pPr>
            <a:r>
              <a:rPr lang="en-US" sz="2400" dirty="0"/>
              <a:t> 	</a:t>
            </a:r>
            <a:r>
              <a:rPr lang="en-US" sz="2400" b="1" dirty="0">
                <a:solidFill>
                  <a:srgbClr val="BD5329"/>
                </a:solidFill>
              </a:rPr>
              <a:t> -</a:t>
            </a:r>
            <a:r>
              <a:rPr lang="en-US" sz="2400" dirty="0"/>
              <a:t>                                      Subtraction or  unary minus  </a:t>
            </a:r>
          </a:p>
          <a:p>
            <a:pPr eaLnBrk="1" hangingPunct="1">
              <a:buFontTx/>
              <a:buNone/>
            </a:pPr>
            <a:r>
              <a:rPr lang="en-US" sz="2400" dirty="0"/>
              <a:t> </a:t>
            </a:r>
            <a:r>
              <a:rPr lang="en-US" sz="2400" dirty="0">
                <a:solidFill>
                  <a:srgbClr val="000066"/>
                </a:solidFill>
              </a:rPr>
              <a:t> 	</a:t>
            </a:r>
            <a:r>
              <a:rPr lang="en-US" sz="2400" b="1" dirty="0">
                <a:solidFill>
                  <a:srgbClr val="BD5329"/>
                </a:solidFill>
              </a:rPr>
              <a:t>* </a:t>
            </a:r>
            <a:r>
              <a:rPr lang="en-US" sz="2400" dirty="0"/>
              <a:t>                                      Multiplication</a:t>
            </a:r>
          </a:p>
          <a:p>
            <a:pPr eaLnBrk="1" hangingPunct="1">
              <a:buFontTx/>
              <a:buNone/>
            </a:pPr>
            <a:r>
              <a:rPr lang="en-US" sz="2400" dirty="0"/>
              <a:t> </a:t>
            </a:r>
            <a:r>
              <a:rPr lang="en-US" sz="2400" b="1" dirty="0">
                <a:solidFill>
                  <a:srgbClr val="BD5329"/>
                </a:solidFill>
              </a:rPr>
              <a:t>	 /                                      </a:t>
            </a:r>
            <a:r>
              <a:rPr lang="en-US" sz="2400" dirty="0"/>
              <a:t>Division</a:t>
            </a:r>
          </a:p>
          <a:p>
            <a:pPr eaLnBrk="1" hangingPunct="1">
              <a:buFontTx/>
              <a:buNone/>
            </a:pPr>
            <a:r>
              <a:rPr lang="en-US" sz="2400" dirty="0"/>
              <a:t> 	</a:t>
            </a:r>
            <a:r>
              <a:rPr lang="en-US" sz="2400" b="1" dirty="0">
                <a:solidFill>
                  <a:srgbClr val="BD5329"/>
                </a:solidFill>
              </a:rPr>
              <a:t>%</a:t>
            </a:r>
            <a:r>
              <a:rPr lang="en-US" sz="2400" dirty="0">
                <a:solidFill>
                  <a:srgbClr val="000066"/>
                </a:solidFill>
              </a:rPr>
              <a:t>  </a:t>
            </a:r>
            <a:r>
              <a:rPr lang="en-US" sz="2400" dirty="0"/>
              <a:t>                                   Modulo division</a:t>
            </a:r>
          </a:p>
          <a:p>
            <a:pPr eaLnBrk="1" hangingPunct="1">
              <a:buFontTx/>
              <a:buNone/>
            </a:pPr>
            <a:endParaRPr lang="en-US" sz="2400" dirty="0"/>
          </a:p>
          <a:p>
            <a:pPr algn="ctr" eaLnBrk="1" hangingPunct="1">
              <a:buFontTx/>
              <a:buNone/>
            </a:pPr>
            <a:r>
              <a:rPr lang="en-US" sz="2400" dirty="0">
                <a:solidFill>
                  <a:schemeClr val="accent1"/>
                </a:solidFill>
              </a:rPr>
              <a:t>Integer division </a:t>
            </a:r>
            <a:r>
              <a:rPr lang="en-US" sz="2400" b="1" dirty="0">
                <a:solidFill>
                  <a:schemeClr val="accent5"/>
                </a:solidFill>
              </a:rPr>
              <a:t>truncates</a:t>
            </a:r>
            <a:r>
              <a:rPr lang="en-US" sz="2400" dirty="0">
                <a:solidFill>
                  <a:schemeClr val="accent1"/>
                </a:solidFill>
              </a:rPr>
              <a:t> any fractional part</a:t>
            </a:r>
          </a:p>
          <a:p>
            <a:pPr algn="ctr" eaLnBrk="1" hangingPunct="1">
              <a:buFontTx/>
              <a:buNone/>
            </a:pPr>
            <a:r>
              <a:rPr lang="en-US" sz="2400" dirty="0">
                <a:solidFill>
                  <a:schemeClr val="accent1"/>
                </a:solidFill>
              </a:rPr>
              <a:t>Modulo division </a:t>
            </a:r>
            <a:r>
              <a:rPr lang="en-US" sz="2400" b="1" dirty="0">
                <a:solidFill>
                  <a:schemeClr val="accent5"/>
                </a:solidFill>
              </a:rPr>
              <a:t>produces the remainder </a:t>
            </a:r>
            <a:r>
              <a:rPr lang="en-US" sz="2400" dirty="0">
                <a:solidFill>
                  <a:schemeClr val="accent1"/>
                </a:solidFill>
              </a:rPr>
              <a:t>of an integer division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itle 1"/>
          <p:cNvSpPr>
            <a:spLocks noGrp="1"/>
          </p:cNvSpPr>
          <p:nvPr>
            <p:ph type="title"/>
          </p:nvPr>
        </p:nvSpPr>
        <p:spPr/>
        <p:txBody>
          <a:bodyPr/>
          <a:lstStyle/>
          <a:p>
            <a:pPr algn="ctr"/>
            <a:r>
              <a:rPr lang="en-US" b="1" i="1" dirty="0">
                <a:solidFill>
                  <a:srgbClr val="CC6600"/>
                </a:solidFill>
              </a:rPr>
              <a:t>Arithmetic </a:t>
            </a:r>
            <a:r>
              <a:rPr lang="en-US" b="1" dirty="0">
                <a:solidFill>
                  <a:srgbClr val="CC6600"/>
                </a:solidFill>
              </a:rPr>
              <a:t>Operators</a:t>
            </a:r>
            <a:r>
              <a:rPr lang="en-US" b="1" i="1" dirty="0">
                <a:solidFill>
                  <a:srgbClr val="CC6600"/>
                </a:solidFill>
              </a:rPr>
              <a:t> (contd.)</a:t>
            </a:r>
            <a:endParaRPr lang="en-US" dirty="0"/>
          </a:p>
        </p:txBody>
      </p:sp>
      <p:sp>
        <p:nvSpPr>
          <p:cNvPr id="18436" name="Rectangle 3"/>
          <p:cNvSpPr>
            <a:spLocks noGrp="1" noChangeArrowheads="1"/>
          </p:cNvSpPr>
          <p:nvPr>
            <p:ph idx="1"/>
          </p:nvPr>
        </p:nvSpPr>
        <p:spPr/>
        <p:txBody>
          <a:bodyPr/>
          <a:lstStyle/>
          <a:p>
            <a:pPr eaLnBrk="1" hangingPunct="1">
              <a:buFontTx/>
              <a:buNone/>
            </a:pPr>
            <a:r>
              <a:rPr lang="en-US" sz="2400" dirty="0"/>
              <a:t>   </a:t>
            </a:r>
            <a:r>
              <a:rPr lang="en-US" b="1" dirty="0"/>
              <a:t>Examples:</a:t>
            </a:r>
          </a:p>
          <a:p>
            <a:pPr lvl="1" eaLnBrk="1" hangingPunct="1">
              <a:lnSpc>
                <a:spcPct val="120000"/>
              </a:lnSpc>
              <a:buFontTx/>
              <a:buNone/>
            </a:pPr>
            <a:r>
              <a:rPr lang="en-US" sz="2800" dirty="0">
                <a:solidFill>
                  <a:schemeClr val="accent1"/>
                </a:solidFill>
              </a:rPr>
              <a:t>   a-b</a:t>
            </a:r>
          </a:p>
          <a:p>
            <a:pPr lvl="1" eaLnBrk="1" hangingPunct="1">
              <a:lnSpc>
                <a:spcPct val="120000"/>
              </a:lnSpc>
              <a:buFontTx/>
              <a:buNone/>
            </a:pPr>
            <a:r>
              <a:rPr lang="en-US" sz="2800" dirty="0">
                <a:solidFill>
                  <a:schemeClr val="accent1"/>
                </a:solidFill>
              </a:rPr>
              <a:t>   </a:t>
            </a:r>
            <a:r>
              <a:rPr lang="en-US" sz="2800" dirty="0" err="1">
                <a:solidFill>
                  <a:schemeClr val="accent1"/>
                </a:solidFill>
              </a:rPr>
              <a:t>a%b</a:t>
            </a:r>
            <a:endParaRPr lang="en-US" sz="2800" dirty="0">
              <a:solidFill>
                <a:schemeClr val="accent1"/>
              </a:solidFill>
            </a:endParaRPr>
          </a:p>
          <a:p>
            <a:pPr lvl="1" eaLnBrk="1" hangingPunct="1">
              <a:lnSpc>
                <a:spcPct val="120000"/>
              </a:lnSpc>
              <a:buFontTx/>
              <a:buNone/>
            </a:pPr>
            <a:r>
              <a:rPr lang="en-US" sz="2800" dirty="0">
                <a:solidFill>
                  <a:schemeClr val="accent1"/>
                </a:solidFill>
              </a:rPr>
              <a:t>  -a*b</a:t>
            </a:r>
          </a:p>
          <a:p>
            <a:pPr eaLnBrk="1" hangingPunct="1">
              <a:lnSpc>
                <a:spcPct val="120000"/>
              </a:lnSpc>
              <a:buFontTx/>
              <a:buNone/>
            </a:pPr>
            <a:r>
              <a:rPr lang="en-US" dirty="0"/>
              <a:t>  Here </a:t>
            </a:r>
            <a:r>
              <a:rPr lang="en-US" b="1" dirty="0"/>
              <a:t>a</a:t>
            </a:r>
            <a:r>
              <a:rPr lang="en-US" dirty="0"/>
              <a:t> and </a:t>
            </a:r>
            <a:r>
              <a:rPr lang="en-US" b="1" dirty="0"/>
              <a:t>b</a:t>
            </a:r>
            <a:r>
              <a:rPr lang="en-US" dirty="0"/>
              <a:t> are variables and are known as </a:t>
            </a:r>
            <a:r>
              <a:rPr lang="en-US" b="1" dirty="0"/>
              <a:t>operands</a:t>
            </a:r>
          </a:p>
          <a:p>
            <a:pPr eaLnBrk="1" hangingPunct="1">
              <a:lnSpc>
                <a:spcPct val="120000"/>
              </a:lnSpc>
              <a:buFontTx/>
              <a:buNone/>
            </a:pPr>
            <a:r>
              <a:rPr lang="en-US" dirty="0"/>
              <a:t>  No operator for exponentiation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43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6269E-9B21-410E-8BA1-6010F522D5AA}"/>
              </a:ext>
            </a:extLst>
          </p:cNvPr>
          <p:cNvSpPr>
            <a:spLocks noGrp="1"/>
          </p:cNvSpPr>
          <p:nvPr>
            <p:ph type="title"/>
          </p:nvPr>
        </p:nvSpPr>
        <p:spPr/>
        <p:txBody>
          <a:bodyPr/>
          <a:lstStyle/>
          <a:p>
            <a:r>
              <a:rPr lang="en-US" b="1" dirty="0">
                <a:solidFill>
                  <a:schemeClr val="accent1"/>
                </a:solidFill>
              </a:rPr>
              <a:t>Integer Arithmetic</a:t>
            </a:r>
          </a:p>
        </p:txBody>
      </p:sp>
      <p:sp>
        <p:nvSpPr>
          <p:cNvPr id="19459" name="Rectangle 3"/>
          <p:cNvSpPr>
            <a:spLocks noGrp="1" noChangeArrowheads="1"/>
          </p:cNvSpPr>
          <p:nvPr>
            <p:ph idx="1"/>
          </p:nvPr>
        </p:nvSpPr>
        <p:spPr>
          <a:xfrm>
            <a:off x="838200" y="1524000"/>
            <a:ext cx="10972800" cy="4968873"/>
          </a:xfrm>
        </p:spPr>
        <p:txBody>
          <a:bodyPr>
            <a:normAutofit/>
          </a:bodyPr>
          <a:lstStyle/>
          <a:p>
            <a:pPr eaLnBrk="1" hangingPunct="1"/>
            <a:r>
              <a:rPr lang="en-US" sz="2400" dirty="0"/>
              <a:t>When both the operands in a single arithmetic expression such as </a:t>
            </a:r>
            <a:r>
              <a:rPr lang="en-US" sz="2400" dirty="0" err="1"/>
              <a:t>a+b</a:t>
            </a:r>
            <a:r>
              <a:rPr lang="en-US" sz="2400" dirty="0"/>
              <a:t> are </a:t>
            </a:r>
            <a:r>
              <a:rPr lang="en-US" sz="2400" i="1" dirty="0"/>
              <a:t>integers</a:t>
            </a:r>
            <a:r>
              <a:rPr lang="en-US" sz="2400" dirty="0"/>
              <a:t>, the expression is called an </a:t>
            </a:r>
            <a:r>
              <a:rPr lang="en-US" sz="2400" b="1" dirty="0"/>
              <a:t>integer expression</a:t>
            </a:r>
            <a:r>
              <a:rPr lang="en-US" sz="2400" dirty="0"/>
              <a:t> and the operation is called </a:t>
            </a:r>
            <a:r>
              <a:rPr lang="en-US" sz="2400" b="1" dirty="0"/>
              <a:t>integer arithmetic</a:t>
            </a:r>
            <a:r>
              <a:rPr lang="en-US" sz="2400" dirty="0"/>
              <a:t>.</a:t>
            </a:r>
          </a:p>
          <a:p>
            <a:pPr eaLnBrk="1" hangingPunct="1">
              <a:buFontTx/>
              <a:buNone/>
            </a:pPr>
            <a:endParaRPr lang="en-US" sz="2400" dirty="0"/>
          </a:p>
          <a:p>
            <a:pPr eaLnBrk="1" hangingPunct="1"/>
            <a:r>
              <a:rPr lang="en-US" sz="2400" dirty="0"/>
              <a:t>Integer arithmetic always yields an integer value.</a:t>
            </a:r>
          </a:p>
          <a:p>
            <a:pPr eaLnBrk="1" hangingPunct="1"/>
            <a:endParaRPr lang="en-US" sz="2400" dirty="0"/>
          </a:p>
          <a:p>
            <a:pPr eaLnBrk="1" hangingPunct="1">
              <a:buFontTx/>
              <a:buNone/>
            </a:pPr>
            <a:r>
              <a:rPr lang="en-US" sz="2400" dirty="0"/>
              <a:t>Examples:  	Let   a=14  b=4</a:t>
            </a:r>
          </a:p>
          <a:p>
            <a:pPr lvl="1" eaLnBrk="1" hangingPunct="1">
              <a:buClr>
                <a:srgbClr val="800000"/>
              </a:buClr>
              <a:buFont typeface="Wingdings" pitchFamily="2" charset="2"/>
              <a:buNone/>
            </a:pPr>
            <a:r>
              <a:rPr lang="en-US" dirty="0"/>
              <a:t>			   a-b=10</a:t>
            </a:r>
          </a:p>
          <a:p>
            <a:pPr lvl="1" eaLnBrk="1" hangingPunct="1">
              <a:buClr>
                <a:srgbClr val="800000"/>
              </a:buClr>
              <a:buFont typeface="Wingdings" pitchFamily="2" charset="2"/>
              <a:buNone/>
            </a:pPr>
            <a:r>
              <a:rPr lang="en-US" dirty="0"/>
              <a:t>			   </a:t>
            </a:r>
            <a:r>
              <a:rPr lang="en-US" dirty="0" err="1"/>
              <a:t>a+b</a:t>
            </a:r>
            <a:r>
              <a:rPr lang="en-US" dirty="0"/>
              <a:t>=18</a:t>
            </a:r>
          </a:p>
          <a:p>
            <a:pPr lvl="1" eaLnBrk="1" hangingPunct="1">
              <a:buClr>
                <a:srgbClr val="800000"/>
              </a:buClr>
              <a:buFont typeface="Wingdings" pitchFamily="2" charset="2"/>
              <a:buNone/>
            </a:pPr>
            <a:r>
              <a:rPr lang="en-US" dirty="0"/>
              <a:t>			   a*b=56</a:t>
            </a:r>
          </a:p>
          <a:p>
            <a:pPr lvl="1" eaLnBrk="1" hangingPunct="1">
              <a:buClr>
                <a:srgbClr val="800000"/>
              </a:buClr>
              <a:buFont typeface="Wingdings" pitchFamily="2" charset="2"/>
              <a:buNone/>
            </a:pPr>
            <a:r>
              <a:rPr lang="en-US" dirty="0"/>
              <a:t>			   a/b=3 (decimal part truncated)</a:t>
            </a:r>
          </a:p>
          <a:p>
            <a:pPr lvl="1" eaLnBrk="1" hangingPunct="1">
              <a:buClr>
                <a:srgbClr val="800000"/>
              </a:buClr>
              <a:buFont typeface="Wingdings" pitchFamily="2" charset="2"/>
              <a:buNone/>
            </a:pPr>
            <a:r>
              <a:rPr lang="en-US" dirty="0"/>
              <a:t>			   </a:t>
            </a:r>
            <a:r>
              <a:rPr lang="en-US" dirty="0" err="1"/>
              <a:t>a%b</a:t>
            </a:r>
            <a:r>
              <a:rPr lang="en-US" dirty="0"/>
              <a:t>=2 (remainder of division)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A25A4-C0E4-46F3-A672-CDE96CAB2891}"/>
              </a:ext>
            </a:extLst>
          </p:cNvPr>
          <p:cNvSpPr>
            <a:spLocks noGrp="1"/>
          </p:cNvSpPr>
          <p:nvPr>
            <p:ph type="title"/>
          </p:nvPr>
        </p:nvSpPr>
        <p:spPr/>
        <p:txBody>
          <a:bodyPr/>
          <a:lstStyle/>
          <a:p>
            <a:r>
              <a:rPr lang="en-US" b="1" dirty="0">
                <a:solidFill>
                  <a:schemeClr val="accent1"/>
                </a:solidFill>
              </a:rPr>
              <a:t>Integer Arithmetic (contd.) </a:t>
            </a:r>
          </a:p>
        </p:txBody>
      </p:sp>
      <p:sp>
        <p:nvSpPr>
          <p:cNvPr id="20483" name="Rectangle 3"/>
          <p:cNvSpPr>
            <a:spLocks noGrp="1" noChangeArrowheads="1"/>
          </p:cNvSpPr>
          <p:nvPr>
            <p:ph idx="1"/>
          </p:nvPr>
        </p:nvSpPr>
        <p:spPr>
          <a:xfrm>
            <a:off x="838200" y="1825625"/>
            <a:ext cx="10896600" cy="4351338"/>
          </a:xfrm>
        </p:spPr>
        <p:txBody>
          <a:bodyPr/>
          <a:lstStyle/>
          <a:p>
            <a:pPr eaLnBrk="1" hangingPunct="1"/>
            <a:r>
              <a:rPr lang="en-US" sz="3200" b="1" dirty="0"/>
              <a:t>Integer Division:</a:t>
            </a:r>
            <a:r>
              <a:rPr lang="en-US" sz="3200" dirty="0"/>
              <a:t> The result is truncated towards zero. </a:t>
            </a:r>
          </a:p>
          <a:p>
            <a:pPr eaLnBrk="1" hangingPunct="1">
              <a:buFontTx/>
              <a:buNone/>
            </a:pPr>
            <a:r>
              <a:rPr lang="en-US" sz="3200" dirty="0">
                <a:solidFill>
                  <a:srgbClr val="CC3300"/>
                </a:solidFill>
              </a:rPr>
              <a:t>     </a:t>
            </a:r>
            <a:r>
              <a:rPr lang="en-US" sz="3200" b="1" dirty="0"/>
              <a:t>Examples:</a:t>
            </a:r>
          </a:p>
          <a:p>
            <a:pPr eaLnBrk="1" hangingPunct="1">
              <a:buFontTx/>
              <a:buNone/>
            </a:pPr>
            <a:r>
              <a:rPr lang="en-US" sz="3200" b="1" dirty="0"/>
              <a:t>     	 </a:t>
            </a:r>
            <a:r>
              <a:rPr lang="en-US" sz="3200" dirty="0"/>
              <a:t>6/7=0     -6/-7=0</a:t>
            </a:r>
          </a:p>
          <a:p>
            <a:pPr eaLnBrk="1" hangingPunct="1">
              <a:buFontTx/>
              <a:buNone/>
            </a:pPr>
            <a:r>
              <a:rPr lang="en-US" sz="3200" dirty="0"/>
              <a:t>  		-6/7 =0.</a:t>
            </a:r>
          </a:p>
          <a:p>
            <a:pPr eaLnBrk="1" hangingPunct="1"/>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F2BED-39F0-47BA-8531-DB82A14AAADE}"/>
              </a:ext>
            </a:extLst>
          </p:cNvPr>
          <p:cNvSpPr>
            <a:spLocks noGrp="1"/>
          </p:cNvSpPr>
          <p:nvPr>
            <p:ph type="title"/>
          </p:nvPr>
        </p:nvSpPr>
        <p:spPr/>
        <p:txBody>
          <a:bodyPr/>
          <a:lstStyle/>
          <a:p>
            <a:r>
              <a:rPr lang="en-US" dirty="0">
                <a:solidFill>
                  <a:schemeClr val="accent1"/>
                </a:solidFill>
              </a:rPr>
              <a:t>Integer Arithmetic (contd.) </a:t>
            </a:r>
          </a:p>
        </p:txBody>
      </p:sp>
      <p:sp>
        <p:nvSpPr>
          <p:cNvPr id="21507" name="Rectangle 3"/>
          <p:cNvSpPr>
            <a:spLocks noGrp="1" noChangeArrowheads="1"/>
          </p:cNvSpPr>
          <p:nvPr>
            <p:ph idx="1"/>
          </p:nvPr>
        </p:nvSpPr>
        <p:spPr/>
        <p:txBody>
          <a:bodyPr/>
          <a:lstStyle/>
          <a:p>
            <a:endParaRPr lang="en-US" dirty="0"/>
          </a:p>
          <a:p>
            <a:endParaRPr lang="en-US" dirty="0"/>
          </a:p>
          <a:p>
            <a:endParaRPr lang="en-US" dirty="0"/>
          </a:p>
          <a:p>
            <a:pPr lvl="2"/>
            <a:endParaRPr lang="en-US" dirty="0"/>
          </a:p>
        </p:txBody>
      </p:sp>
      <p:sp>
        <p:nvSpPr>
          <p:cNvPr id="10" name="TextBox 9">
            <a:extLst>
              <a:ext uri="{FF2B5EF4-FFF2-40B4-BE49-F238E27FC236}">
                <a16:creationId xmlns:a16="http://schemas.microsoft.com/office/drawing/2014/main" id="{B35F6BC3-C7E0-4F6A-886F-C0C0DE1AC587}"/>
              </a:ext>
            </a:extLst>
          </p:cNvPr>
          <p:cNvSpPr txBox="1"/>
          <p:nvPr/>
        </p:nvSpPr>
        <p:spPr>
          <a:xfrm>
            <a:off x="838200" y="1687515"/>
            <a:ext cx="10744200" cy="4955203"/>
          </a:xfrm>
          <a:prstGeom prst="rect">
            <a:avLst/>
          </a:prstGeom>
          <a:noFill/>
        </p:spPr>
        <p:txBody>
          <a:bodyPr wrap="square">
            <a:spAutoFit/>
          </a:bodyPr>
          <a:lstStyle/>
          <a:p>
            <a:r>
              <a:rPr lang="en-GB" sz="3200" b="1" dirty="0">
                <a:solidFill>
                  <a:schemeClr val="accent5"/>
                </a:solidFill>
              </a:rPr>
              <a:t>Modulo division</a:t>
            </a:r>
            <a:r>
              <a:rPr lang="en-GB" sz="3200" dirty="0"/>
              <a:t>: Sign of the result is always the sign of the first operand. (the dividend)</a:t>
            </a:r>
          </a:p>
          <a:p>
            <a:endParaRPr lang="en-GB" sz="3200" dirty="0"/>
          </a:p>
          <a:p>
            <a:r>
              <a:rPr lang="en-GB" sz="3200" dirty="0"/>
              <a:t>Examples:</a:t>
            </a:r>
          </a:p>
          <a:p>
            <a:r>
              <a:rPr lang="en-GB" sz="3200" dirty="0"/>
              <a:t>	-14%3 =  -2</a:t>
            </a:r>
          </a:p>
          <a:p>
            <a:r>
              <a:rPr lang="en-GB" sz="3200" dirty="0"/>
              <a:t>	-14%-3 = -2</a:t>
            </a:r>
          </a:p>
          <a:p>
            <a:r>
              <a:rPr lang="en-GB" sz="3200" dirty="0"/>
              <a:t>	 14%-3 =  2</a:t>
            </a:r>
          </a:p>
          <a:p>
            <a:endParaRPr lang="en-GB" sz="3200" dirty="0"/>
          </a:p>
          <a:p>
            <a:r>
              <a:rPr lang="en-GB" sz="3200" b="1" dirty="0">
                <a:solidFill>
                  <a:schemeClr val="accent5"/>
                </a:solidFill>
              </a:rPr>
              <a:t>Cannot be used on floating point data.</a:t>
            </a:r>
          </a:p>
          <a:p>
            <a:endParaRPr lang="en-GB"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4294967295"/>
          </p:nvPr>
        </p:nvSpPr>
        <p:spPr>
          <a:xfrm>
            <a:off x="152400" y="152400"/>
            <a:ext cx="7696200" cy="6705600"/>
          </a:xfrm>
        </p:spPr>
        <p:txBody>
          <a:bodyPr>
            <a:normAutofit/>
          </a:bodyPr>
          <a:lstStyle/>
          <a:p>
            <a:pPr eaLnBrk="1" hangingPunct="1">
              <a:lnSpc>
                <a:spcPct val="80000"/>
              </a:lnSpc>
              <a:buFontTx/>
              <a:buNone/>
            </a:pPr>
            <a:r>
              <a:rPr lang="en-US" sz="2400" dirty="0"/>
              <a:t>#include&lt;</a:t>
            </a:r>
            <a:r>
              <a:rPr lang="en-US" sz="2400" dirty="0" err="1"/>
              <a:t>iostream</a:t>
            </a:r>
            <a:r>
              <a:rPr lang="en-US" sz="2400" dirty="0"/>
              <a:t>&gt;</a:t>
            </a:r>
          </a:p>
          <a:p>
            <a:pPr eaLnBrk="1" hangingPunct="1">
              <a:lnSpc>
                <a:spcPct val="80000"/>
              </a:lnSpc>
              <a:buNone/>
            </a:pPr>
            <a:r>
              <a:rPr lang="en-US" sz="2400" dirty="0"/>
              <a:t>using namespace </a:t>
            </a:r>
            <a:r>
              <a:rPr lang="en-US" sz="2400" dirty="0" err="1"/>
              <a:t>std</a:t>
            </a:r>
            <a:r>
              <a:rPr lang="en-US" sz="2400" dirty="0"/>
              <a:t>;</a:t>
            </a:r>
          </a:p>
          <a:p>
            <a:pPr eaLnBrk="1" hangingPunct="1">
              <a:lnSpc>
                <a:spcPct val="80000"/>
              </a:lnSpc>
              <a:buFontTx/>
              <a:buNone/>
            </a:pPr>
            <a:endParaRPr lang="en-US" sz="2400" dirty="0"/>
          </a:p>
          <a:p>
            <a:pPr eaLnBrk="1" hangingPunct="1">
              <a:lnSpc>
                <a:spcPct val="80000"/>
              </a:lnSpc>
              <a:buFontTx/>
              <a:buNone/>
            </a:pPr>
            <a:r>
              <a:rPr lang="en-US" sz="2400" dirty="0" err="1"/>
              <a:t>int</a:t>
            </a:r>
            <a:r>
              <a:rPr lang="en-US" sz="2400" dirty="0"/>
              <a:t> main()</a:t>
            </a:r>
          </a:p>
          <a:p>
            <a:pPr eaLnBrk="1" hangingPunct="1">
              <a:lnSpc>
                <a:spcPct val="80000"/>
              </a:lnSpc>
              <a:buFontTx/>
              <a:buNone/>
            </a:pPr>
            <a:r>
              <a:rPr lang="en-US" sz="2400" dirty="0"/>
              <a:t>{</a:t>
            </a:r>
          </a:p>
          <a:p>
            <a:pPr eaLnBrk="1" hangingPunct="1">
              <a:lnSpc>
                <a:spcPct val="80000"/>
              </a:lnSpc>
              <a:buFontTx/>
              <a:buNone/>
            </a:pPr>
            <a:r>
              <a:rPr lang="en-US" sz="2400" dirty="0"/>
              <a:t>	</a:t>
            </a:r>
            <a:r>
              <a:rPr lang="en-US" sz="2400" dirty="0" err="1"/>
              <a:t>int</a:t>
            </a:r>
            <a:r>
              <a:rPr lang="en-US" sz="2400" dirty="0"/>
              <a:t> months, days;</a:t>
            </a:r>
          </a:p>
          <a:p>
            <a:pPr eaLnBrk="1" hangingPunct="1">
              <a:lnSpc>
                <a:spcPct val="80000"/>
              </a:lnSpc>
              <a:buFontTx/>
              <a:buNone/>
            </a:pPr>
            <a:r>
              <a:rPr lang="en-US" sz="2400" dirty="0"/>
              <a:t>    </a:t>
            </a:r>
            <a:r>
              <a:rPr lang="en-US" sz="2400" dirty="0" err="1"/>
              <a:t>cout</a:t>
            </a:r>
            <a:r>
              <a:rPr lang="en-US" sz="2400" dirty="0"/>
              <a:t>&lt;&lt;“Enter days”&lt;&lt;</a:t>
            </a:r>
            <a:r>
              <a:rPr lang="en-US" sz="2400" dirty="0" err="1"/>
              <a:t>endl</a:t>
            </a:r>
            <a:r>
              <a:rPr lang="en-US" sz="2400" dirty="0"/>
              <a:t>;</a:t>
            </a:r>
          </a:p>
          <a:p>
            <a:pPr eaLnBrk="1" hangingPunct="1">
              <a:lnSpc>
                <a:spcPct val="80000"/>
              </a:lnSpc>
              <a:buFontTx/>
              <a:buNone/>
            </a:pPr>
            <a:r>
              <a:rPr lang="en-US" sz="2400" dirty="0"/>
              <a:t>    </a:t>
            </a:r>
            <a:r>
              <a:rPr lang="en-US" sz="2400" dirty="0" err="1"/>
              <a:t>cin</a:t>
            </a:r>
            <a:r>
              <a:rPr lang="en-US" sz="2400" dirty="0"/>
              <a:t>&gt;&gt;days;</a:t>
            </a:r>
          </a:p>
          <a:p>
            <a:pPr eaLnBrk="1" hangingPunct="1">
              <a:lnSpc>
                <a:spcPct val="80000"/>
              </a:lnSpc>
              <a:buFontTx/>
              <a:buNone/>
            </a:pPr>
            <a:r>
              <a:rPr lang="en-US" sz="2400" dirty="0"/>
              <a:t>    months=days/30;</a:t>
            </a:r>
          </a:p>
          <a:p>
            <a:pPr eaLnBrk="1" hangingPunct="1">
              <a:lnSpc>
                <a:spcPct val="80000"/>
              </a:lnSpc>
              <a:buFontTx/>
              <a:buNone/>
            </a:pPr>
            <a:r>
              <a:rPr lang="en-US" sz="2400" dirty="0"/>
              <a:t>    days=days%30;</a:t>
            </a:r>
          </a:p>
          <a:p>
            <a:pPr eaLnBrk="1" hangingPunct="1">
              <a:lnSpc>
                <a:spcPct val="80000"/>
              </a:lnSpc>
              <a:buFontTx/>
              <a:buNone/>
            </a:pPr>
            <a:r>
              <a:rPr lang="en-US" sz="2400" dirty="0"/>
              <a:t>    </a:t>
            </a:r>
            <a:r>
              <a:rPr lang="en-US" sz="2400" dirty="0" err="1"/>
              <a:t>cout</a:t>
            </a:r>
            <a:r>
              <a:rPr lang="en-US" sz="2400" dirty="0"/>
              <a:t>&lt;&lt;“Months=“&lt;&lt;months&lt;&lt;</a:t>
            </a:r>
            <a:r>
              <a:rPr lang="en-US" sz="2400" dirty="0" err="1"/>
              <a:t>endl</a:t>
            </a:r>
            <a:r>
              <a:rPr lang="en-US" sz="2400" dirty="0"/>
              <a:t>;</a:t>
            </a:r>
          </a:p>
          <a:p>
            <a:pPr eaLnBrk="1" hangingPunct="1">
              <a:lnSpc>
                <a:spcPct val="80000"/>
              </a:lnSpc>
              <a:buFontTx/>
              <a:buNone/>
            </a:pPr>
            <a:r>
              <a:rPr lang="en-US" sz="2400" dirty="0"/>
              <a:t>    </a:t>
            </a:r>
            <a:r>
              <a:rPr lang="en-US" sz="2400" dirty="0" err="1"/>
              <a:t>cout</a:t>
            </a:r>
            <a:r>
              <a:rPr lang="en-US" sz="2400" dirty="0"/>
              <a:t>&lt;&lt;“Days=“&lt;&lt;days&lt;&lt;</a:t>
            </a:r>
            <a:r>
              <a:rPr lang="en-US" sz="2400" dirty="0" err="1"/>
              <a:t>endl</a:t>
            </a:r>
            <a:r>
              <a:rPr lang="en-US" sz="2400" dirty="0"/>
              <a:t>;</a:t>
            </a:r>
          </a:p>
          <a:p>
            <a:pPr eaLnBrk="1" hangingPunct="1">
              <a:lnSpc>
                <a:spcPct val="80000"/>
              </a:lnSpc>
              <a:buFontTx/>
              <a:buNone/>
            </a:pPr>
            <a:r>
              <a:rPr lang="en-US" sz="2400" dirty="0"/>
              <a:t>    return 0;</a:t>
            </a:r>
          </a:p>
          <a:p>
            <a:pPr eaLnBrk="1" hangingPunct="1">
              <a:lnSpc>
                <a:spcPct val="80000"/>
              </a:lnSpc>
              <a:buFontTx/>
              <a:buNone/>
            </a:pPr>
            <a:r>
              <a:rPr lang="en-US" sz="2400" dirty="0"/>
              <a:t>}</a:t>
            </a:r>
          </a:p>
        </p:txBody>
      </p:sp>
      <p:sp>
        <p:nvSpPr>
          <p:cNvPr id="7" name="Rectangle 3"/>
          <p:cNvSpPr txBox="1">
            <a:spLocks noChangeArrowheads="1"/>
          </p:cNvSpPr>
          <p:nvPr/>
        </p:nvSpPr>
        <p:spPr>
          <a:xfrm>
            <a:off x="8178452" y="1242218"/>
            <a:ext cx="2590800" cy="4525963"/>
          </a:xfrm>
          <a:prstGeom prst="rect">
            <a:avLst/>
          </a:prstGeom>
        </p:spPr>
        <p:txBody>
          <a:bodyPr/>
          <a:lstStyle/>
          <a:p>
            <a:pPr marL="660400" indent="-660400">
              <a:spcBef>
                <a:spcPct val="20000"/>
              </a:spcBef>
              <a:defRPr/>
            </a:pPr>
            <a:r>
              <a:rPr lang="en-US" sz="2400" kern="0" dirty="0"/>
              <a:t>        </a:t>
            </a:r>
            <a:r>
              <a:rPr lang="en-US" sz="2400" b="1" kern="0" dirty="0">
                <a:solidFill>
                  <a:srgbClr val="C00000"/>
                </a:solidFill>
              </a:rPr>
              <a:t>Output</a:t>
            </a:r>
          </a:p>
          <a:p>
            <a:pPr marL="660400" indent="-660400">
              <a:spcBef>
                <a:spcPct val="20000"/>
              </a:spcBef>
              <a:defRPr/>
            </a:pPr>
            <a:r>
              <a:rPr lang="en-US" sz="2400" kern="0" dirty="0"/>
              <a:t>Enter days</a:t>
            </a:r>
          </a:p>
          <a:p>
            <a:pPr marL="660400" indent="-660400">
              <a:spcBef>
                <a:spcPct val="20000"/>
              </a:spcBef>
              <a:defRPr/>
            </a:pPr>
            <a:r>
              <a:rPr lang="en-US" sz="2400" kern="0" dirty="0"/>
              <a:t>      </a:t>
            </a:r>
            <a:r>
              <a:rPr lang="en-US" sz="2400" b="1" kern="0" dirty="0"/>
              <a:t>265</a:t>
            </a:r>
          </a:p>
          <a:p>
            <a:pPr marL="660400" indent="-660400">
              <a:spcBef>
                <a:spcPct val="20000"/>
              </a:spcBef>
              <a:defRPr/>
            </a:pPr>
            <a:r>
              <a:rPr lang="en-US" sz="2400" kern="0" dirty="0"/>
              <a:t>      Months=8</a:t>
            </a:r>
          </a:p>
          <a:p>
            <a:pPr marL="660400" indent="-660400">
              <a:spcBef>
                <a:spcPct val="20000"/>
              </a:spcBef>
              <a:defRPr/>
            </a:pPr>
            <a:r>
              <a:rPr lang="en-US" sz="2400" kern="0" dirty="0"/>
              <a:t>      Days=25</a:t>
            </a:r>
          </a:p>
          <a:p>
            <a:pPr>
              <a:spcBef>
                <a:spcPct val="20000"/>
              </a:spcBef>
              <a:defRPr/>
            </a:pPr>
            <a:endParaRPr lang="en-US" sz="2400" kern="0" dirty="0"/>
          </a:p>
          <a:p>
            <a:pPr>
              <a:spcBef>
                <a:spcPct val="20000"/>
              </a:spcBef>
              <a:defRPr/>
            </a:pPr>
            <a:r>
              <a:rPr lang="en-US" sz="2400" kern="0" dirty="0"/>
              <a:t>Enter days</a:t>
            </a:r>
          </a:p>
          <a:p>
            <a:pPr marL="660400" indent="-660400">
              <a:spcBef>
                <a:spcPct val="20000"/>
              </a:spcBef>
              <a:defRPr/>
            </a:pPr>
            <a:r>
              <a:rPr lang="en-US" sz="2400" kern="0" dirty="0"/>
              <a:t>       </a:t>
            </a:r>
            <a:r>
              <a:rPr lang="en-US" sz="2400" b="1" kern="0" dirty="0"/>
              <a:t>364</a:t>
            </a:r>
          </a:p>
          <a:p>
            <a:pPr marL="660400" indent="-660400">
              <a:spcBef>
                <a:spcPct val="20000"/>
              </a:spcBef>
              <a:defRPr/>
            </a:pPr>
            <a:r>
              <a:rPr lang="en-US" sz="2400" kern="0" dirty="0"/>
              <a:t>       Months=12</a:t>
            </a:r>
          </a:p>
          <a:p>
            <a:pPr marL="660400" indent="-660400">
              <a:spcBef>
                <a:spcPct val="20000"/>
              </a:spcBef>
              <a:defRPr/>
            </a:pPr>
            <a:r>
              <a:rPr lang="en-US" sz="2400" kern="0" dirty="0"/>
              <a:t>       Days=4</a:t>
            </a:r>
          </a:p>
          <a:p>
            <a:pPr marL="660400" indent="-660400">
              <a:spcBef>
                <a:spcPct val="20000"/>
              </a:spcBef>
              <a:defRPr/>
            </a:pPr>
            <a:endParaRPr lang="en-US" sz="2400" kern="0" dirty="0"/>
          </a:p>
          <a:p>
            <a:pPr marL="660400" indent="-660400">
              <a:spcBef>
                <a:spcPct val="20000"/>
              </a:spcBef>
              <a:buFontTx/>
              <a:buChar char="•"/>
              <a:defRPr/>
            </a:pPr>
            <a:endParaRPr lang="en-US" sz="2400" kern="0" dirty="0"/>
          </a:p>
        </p:txBody>
      </p:sp>
      <p:sp>
        <p:nvSpPr>
          <p:cNvPr id="22533" name="Text Box 9"/>
          <p:cNvSpPr txBox="1">
            <a:spLocks noChangeArrowheads="1"/>
          </p:cNvSpPr>
          <p:nvPr/>
        </p:nvSpPr>
        <p:spPr bwMode="ltGray">
          <a:xfrm>
            <a:off x="5486400" y="228602"/>
            <a:ext cx="601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spcBef>
                <a:spcPct val="50000"/>
              </a:spcBef>
            </a:pPr>
            <a:r>
              <a:rPr lang="en-US" sz="2400" dirty="0">
                <a:solidFill>
                  <a:srgbClr val="CC6600"/>
                </a:solidFill>
              </a:rPr>
              <a:t>Program to illustrate integer  arithmetic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4E89-66D1-4F52-98A4-6CECD34EE1C1}"/>
              </a:ext>
            </a:extLst>
          </p:cNvPr>
          <p:cNvSpPr>
            <a:spLocks noGrp="1"/>
          </p:cNvSpPr>
          <p:nvPr>
            <p:ph type="title"/>
          </p:nvPr>
        </p:nvSpPr>
        <p:spPr>
          <a:xfrm>
            <a:off x="838200" y="365127"/>
            <a:ext cx="10515600" cy="854073"/>
          </a:xfrm>
        </p:spPr>
        <p:txBody>
          <a:bodyPr>
            <a:normAutofit/>
          </a:bodyPr>
          <a:lstStyle/>
          <a:p>
            <a:r>
              <a:rPr lang="en-US" sz="3600" b="1" dirty="0">
                <a:solidFill>
                  <a:schemeClr val="accent1"/>
                </a:solidFill>
              </a:rPr>
              <a:t>Real Arithmetic</a:t>
            </a:r>
          </a:p>
        </p:txBody>
      </p:sp>
      <p:sp>
        <p:nvSpPr>
          <p:cNvPr id="3" name="Content Placeholder 2">
            <a:extLst>
              <a:ext uri="{FF2B5EF4-FFF2-40B4-BE49-F238E27FC236}">
                <a16:creationId xmlns:a16="http://schemas.microsoft.com/office/drawing/2014/main" id="{BADE2F09-CDCD-482B-B86C-FED5845AA0B8}"/>
              </a:ext>
            </a:extLst>
          </p:cNvPr>
          <p:cNvSpPr>
            <a:spLocks noGrp="1"/>
          </p:cNvSpPr>
          <p:nvPr>
            <p:ph idx="1"/>
          </p:nvPr>
        </p:nvSpPr>
        <p:spPr>
          <a:xfrm>
            <a:off x="609600" y="1219200"/>
            <a:ext cx="11201400" cy="5638800"/>
          </a:xfrm>
        </p:spPr>
        <p:txBody>
          <a:bodyPr>
            <a:normAutofit fontScale="92500" lnSpcReduction="10000"/>
          </a:bodyPr>
          <a:lstStyle/>
          <a:p>
            <a:pPr algn="just">
              <a:lnSpc>
                <a:spcPct val="120000"/>
              </a:lnSpc>
            </a:pPr>
            <a:r>
              <a:rPr lang="en-US" dirty="0"/>
              <a:t>An  Arithmetic operation involving only real operands.</a:t>
            </a:r>
          </a:p>
          <a:p>
            <a:pPr algn="just">
              <a:lnSpc>
                <a:spcPct val="120000"/>
              </a:lnSpc>
            </a:pPr>
            <a:r>
              <a:rPr lang="en-US" dirty="0"/>
              <a:t> A real operand may assume values either in decimal or   exponential notation</a:t>
            </a:r>
          </a:p>
          <a:p>
            <a:pPr algn="just">
              <a:lnSpc>
                <a:spcPct val="120000"/>
              </a:lnSpc>
            </a:pPr>
            <a:r>
              <a:rPr lang="en-US" dirty="0"/>
              <a:t>Since floating point values are rounded to the number of significant digits permissible, final value is an approximation of the correct result.</a:t>
            </a:r>
          </a:p>
          <a:p>
            <a:pPr marL="0" indent="0" algn="just">
              <a:lnSpc>
                <a:spcPct val="120000"/>
              </a:lnSpc>
              <a:buNone/>
            </a:pPr>
            <a:r>
              <a:rPr lang="en-GB" dirty="0">
                <a:solidFill>
                  <a:schemeClr val="accent1"/>
                </a:solidFill>
              </a:rPr>
              <a:t>Examples: 		If x, y and z  are floats, then</a:t>
            </a:r>
          </a:p>
          <a:p>
            <a:pPr marL="0" indent="0" algn="just">
              <a:lnSpc>
                <a:spcPct val="120000"/>
              </a:lnSpc>
              <a:buNone/>
            </a:pPr>
            <a:r>
              <a:rPr lang="en-GB" dirty="0">
                <a:solidFill>
                  <a:schemeClr val="accent1"/>
                </a:solidFill>
              </a:rPr>
              <a:t>		    		x=6.0/7.0=0.857143</a:t>
            </a:r>
          </a:p>
          <a:p>
            <a:pPr marL="0" indent="0" algn="just">
              <a:lnSpc>
                <a:spcPct val="120000"/>
              </a:lnSpc>
              <a:buNone/>
            </a:pPr>
            <a:r>
              <a:rPr lang="en-GB" dirty="0">
                <a:solidFill>
                  <a:schemeClr val="accent1"/>
                </a:solidFill>
              </a:rPr>
              <a:t>		      		y=1.0/3.0=0.333333</a:t>
            </a:r>
          </a:p>
          <a:p>
            <a:pPr marL="0" indent="0" algn="just">
              <a:lnSpc>
                <a:spcPct val="120000"/>
              </a:lnSpc>
              <a:buNone/>
            </a:pPr>
            <a:r>
              <a:rPr lang="en-GB" dirty="0">
                <a:solidFill>
                  <a:schemeClr val="accent1"/>
                </a:solidFill>
              </a:rPr>
              <a:t>		       		z=-2.0/3.0=-0.666667</a:t>
            </a:r>
          </a:p>
          <a:p>
            <a:pPr marL="0" indent="0" algn="just">
              <a:lnSpc>
                <a:spcPct val="120000"/>
              </a:lnSpc>
              <a:buNone/>
            </a:pPr>
            <a:r>
              <a:rPr lang="en-US" sz="2800" b="1" u="sng" dirty="0"/>
              <a:t>Operator </a:t>
            </a:r>
            <a:r>
              <a:rPr lang="en-US" sz="2800" b="1" u="sng" dirty="0">
                <a:solidFill>
                  <a:schemeClr val="accent1"/>
                </a:solidFill>
              </a:rPr>
              <a:t>%</a:t>
            </a:r>
            <a:r>
              <a:rPr lang="en-US" sz="2800" b="1" u="sng" dirty="0"/>
              <a:t> cannot be used on real operands</a:t>
            </a:r>
          </a:p>
          <a:p>
            <a:pPr marL="0" indent="0" algn="just">
              <a:lnSpc>
                <a:spcPct val="120000"/>
              </a:lnSpc>
              <a:buNone/>
            </a:pPr>
            <a:endParaRPr lang="en-GB" dirty="0">
              <a:solidFill>
                <a:schemeClr val="accent1"/>
              </a:solidFill>
            </a:endParaRPr>
          </a:p>
          <a:p>
            <a:pPr marL="0" indent="0" algn="just">
              <a:lnSpc>
                <a:spcPct val="120000"/>
              </a:lnSpc>
              <a:buNone/>
            </a:pPr>
            <a:endParaRPr lang="en-GB" dirty="0">
              <a:solidFill>
                <a:schemeClr val="accent1"/>
              </a:solidFill>
            </a:endParaRPr>
          </a:p>
          <a:p>
            <a:pPr marL="0" indent="0" algn="just">
              <a:lnSpc>
                <a:spcPct val="120000"/>
              </a:lnSpc>
              <a:buNone/>
            </a:pPr>
            <a:endParaRPr lang="en-US" sz="2400" dirty="0"/>
          </a:p>
          <a:p>
            <a:pPr algn="just"/>
            <a:endParaRPr lang="en-US" sz="2400" dirty="0"/>
          </a:p>
        </p:txBody>
      </p:sp>
    </p:spTree>
    <p:extLst>
      <p:ext uri="{BB962C8B-B14F-4D97-AF65-F5344CB8AC3E}">
        <p14:creationId xmlns:p14="http://schemas.microsoft.com/office/powerpoint/2010/main" val="3609515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D7541-332D-4770-99BF-37164FB66C35}"/>
              </a:ext>
            </a:extLst>
          </p:cNvPr>
          <p:cNvSpPr>
            <a:spLocks noGrp="1"/>
          </p:cNvSpPr>
          <p:nvPr>
            <p:ph type="title"/>
          </p:nvPr>
        </p:nvSpPr>
        <p:spPr/>
        <p:txBody>
          <a:bodyPr/>
          <a:lstStyle/>
          <a:p>
            <a:r>
              <a:rPr lang="en-US" b="1" dirty="0">
                <a:solidFill>
                  <a:schemeClr val="accent1"/>
                </a:solidFill>
              </a:rPr>
              <a:t>Mixed mode Arithmetic</a:t>
            </a:r>
          </a:p>
        </p:txBody>
      </p:sp>
      <p:sp>
        <p:nvSpPr>
          <p:cNvPr id="3" name="Content Placeholder 2">
            <a:extLst>
              <a:ext uri="{FF2B5EF4-FFF2-40B4-BE49-F238E27FC236}">
                <a16:creationId xmlns:a16="http://schemas.microsoft.com/office/drawing/2014/main" id="{177FDA18-E92F-48B8-B1BA-C2C82BBDC166}"/>
              </a:ext>
            </a:extLst>
          </p:cNvPr>
          <p:cNvSpPr>
            <a:spLocks noGrp="1"/>
          </p:cNvSpPr>
          <p:nvPr>
            <p:ph idx="1"/>
          </p:nvPr>
        </p:nvSpPr>
        <p:spPr/>
        <p:txBody>
          <a:bodyPr/>
          <a:lstStyle/>
          <a:p>
            <a:pPr eaLnBrk="1" hangingPunct="1">
              <a:lnSpc>
                <a:spcPct val="120000"/>
              </a:lnSpc>
            </a:pPr>
            <a:r>
              <a:rPr lang="en-US" sz="2800" b="1" dirty="0">
                <a:solidFill>
                  <a:schemeClr val="accent1"/>
                </a:solidFill>
              </a:rPr>
              <a:t>One </a:t>
            </a:r>
            <a:r>
              <a:rPr lang="en-US" sz="2800" b="1" dirty="0"/>
              <a:t>of the operands is</a:t>
            </a:r>
            <a:r>
              <a:rPr lang="en-US" sz="2800" b="1" dirty="0">
                <a:solidFill>
                  <a:schemeClr val="accent1"/>
                </a:solidFill>
              </a:rPr>
              <a:t> real </a:t>
            </a:r>
            <a:r>
              <a:rPr lang="en-US" sz="2800" b="1" dirty="0"/>
              <a:t>and the </a:t>
            </a:r>
            <a:r>
              <a:rPr lang="en-US" sz="2800" b="1" dirty="0">
                <a:solidFill>
                  <a:schemeClr val="accent1"/>
                </a:solidFill>
              </a:rPr>
              <a:t>other</a:t>
            </a:r>
            <a:r>
              <a:rPr lang="en-US" sz="2800" b="1" dirty="0"/>
              <a:t> is </a:t>
            </a:r>
            <a:r>
              <a:rPr lang="en-US" sz="2800" b="1" dirty="0">
                <a:solidFill>
                  <a:schemeClr val="accent1"/>
                </a:solidFill>
              </a:rPr>
              <a:t>integer.</a:t>
            </a:r>
          </a:p>
          <a:p>
            <a:pPr eaLnBrk="1" hangingPunct="1">
              <a:lnSpc>
                <a:spcPct val="120000"/>
              </a:lnSpc>
            </a:pPr>
            <a:r>
              <a:rPr lang="en-US" sz="2800" dirty="0"/>
              <a:t>Only the real operation is performed and the result is always a real number.</a:t>
            </a:r>
          </a:p>
          <a:p>
            <a:pPr eaLnBrk="1" hangingPunct="1">
              <a:lnSpc>
                <a:spcPct val="120000"/>
              </a:lnSpc>
              <a:buFontTx/>
              <a:buNone/>
            </a:pPr>
            <a:r>
              <a:rPr lang="en-US" sz="2800" dirty="0"/>
              <a:t>  	</a:t>
            </a:r>
            <a:r>
              <a:rPr lang="en-US" sz="2800" b="1" dirty="0"/>
              <a:t>Examples</a:t>
            </a:r>
          </a:p>
          <a:p>
            <a:pPr eaLnBrk="1" hangingPunct="1">
              <a:lnSpc>
                <a:spcPct val="120000"/>
              </a:lnSpc>
              <a:buFontTx/>
              <a:buNone/>
            </a:pPr>
            <a:r>
              <a:rPr lang="en-US" sz="2800" dirty="0"/>
              <a:t>    			15/10.0=1.5</a:t>
            </a:r>
          </a:p>
          <a:p>
            <a:pPr eaLnBrk="1" hangingPunct="1">
              <a:lnSpc>
                <a:spcPct val="120000"/>
              </a:lnSpc>
              <a:buFontTx/>
              <a:buNone/>
            </a:pPr>
            <a:r>
              <a:rPr lang="en-US" sz="2800" dirty="0"/>
              <a:t>    			  15/10=1</a:t>
            </a:r>
          </a:p>
          <a:p>
            <a:endParaRPr lang="en-US" dirty="0"/>
          </a:p>
        </p:txBody>
      </p:sp>
    </p:spTree>
    <p:extLst>
      <p:ext uri="{BB962C8B-B14F-4D97-AF65-F5344CB8AC3E}">
        <p14:creationId xmlns:p14="http://schemas.microsoft.com/office/powerpoint/2010/main" val="153748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idx="4294967295"/>
          </p:nvPr>
        </p:nvSpPr>
        <p:spPr>
          <a:xfrm>
            <a:off x="1447800" y="2438400"/>
            <a:ext cx="10134600" cy="3733800"/>
          </a:xfrm>
        </p:spPr>
        <p:txBody>
          <a:bodyPr/>
          <a:lstStyle/>
          <a:p>
            <a:pPr eaLnBrk="1" hangingPunct="1">
              <a:buFontTx/>
              <a:buNone/>
            </a:pPr>
            <a:r>
              <a:rPr lang="en-US" sz="2400" dirty="0"/>
              <a:t>  </a:t>
            </a:r>
            <a:endParaRPr lang="en-US" sz="2400" dirty="0">
              <a:solidFill>
                <a:srgbClr val="660033"/>
              </a:solidFill>
            </a:endParaRPr>
          </a:p>
          <a:p>
            <a:pPr eaLnBrk="1" hangingPunct="1">
              <a:buFontTx/>
              <a:buNone/>
            </a:pPr>
            <a:r>
              <a:rPr lang="en-US" sz="2400" b="1" dirty="0">
                <a:solidFill>
                  <a:srgbClr val="BD5329"/>
                </a:solidFill>
              </a:rPr>
              <a:t>    </a:t>
            </a:r>
            <a:r>
              <a:rPr lang="en-US" sz="2400" b="1" u="sng" dirty="0">
                <a:solidFill>
                  <a:srgbClr val="BD5329"/>
                </a:solidFill>
              </a:rPr>
              <a:t>Operator	</a:t>
            </a:r>
            <a:r>
              <a:rPr lang="en-US" sz="2400" b="1" dirty="0">
                <a:solidFill>
                  <a:srgbClr val="BD5329"/>
                </a:solidFill>
              </a:rPr>
              <a:t>		   </a:t>
            </a:r>
            <a:r>
              <a:rPr lang="en-US" sz="2400" b="1" u="sng" dirty="0">
                <a:solidFill>
                  <a:srgbClr val="BD5329"/>
                </a:solidFill>
              </a:rPr>
              <a:t>Meaning</a:t>
            </a:r>
          </a:p>
          <a:p>
            <a:pPr eaLnBrk="1" hangingPunct="1">
              <a:buFontTx/>
              <a:buNone/>
            </a:pPr>
            <a:r>
              <a:rPr lang="en-US" dirty="0">
                <a:solidFill>
                  <a:srgbClr val="CC3300"/>
                </a:solidFill>
              </a:rPr>
              <a:t>		</a:t>
            </a:r>
            <a:r>
              <a:rPr lang="en-US" dirty="0"/>
              <a:t>&lt; 			</a:t>
            </a:r>
            <a:r>
              <a:rPr lang="en-US" sz="2400" dirty="0"/>
              <a:t>is less than</a:t>
            </a:r>
          </a:p>
          <a:p>
            <a:pPr eaLnBrk="1" hangingPunct="1">
              <a:buFontTx/>
              <a:buNone/>
            </a:pPr>
            <a:r>
              <a:rPr lang="en-US" sz="2400" dirty="0"/>
              <a:t>		&lt;=			is less than or equal to</a:t>
            </a:r>
          </a:p>
          <a:p>
            <a:pPr eaLnBrk="1" hangingPunct="1">
              <a:buFontTx/>
              <a:buNone/>
            </a:pPr>
            <a:r>
              <a:rPr lang="en-US" sz="2400" dirty="0"/>
              <a:t>		&gt;			is greater than</a:t>
            </a:r>
          </a:p>
          <a:p>
            <a:pPr eaLnBrk="1" hangingPunct="1">
              <a:buFontTx/>
              <a:buNone/>
            </a:pPr>
            <a:r>
              <a:rPr lang="en-US" sz="2400" dirty="0"/>
              <a:t>		&gt;=			is greater than or equal to</a:t>
            </a:r>
          </a:p>
          <a:p>
            <a:pPr eaLnBrk="1" hangingPunct="1">
              <a:buFontTx/>
              <a:buNone/>
            </a:pPr>
            <a:r>
              <a:rPr lang="en-US" sz="2400" dirty="0"/>
              <a:t>		==			is equal to</a:t>
            </a:r>
          </a:p>
          <a:p>
            <a:pPr eaLnBrk="1" hangingPunct="1">
              <a:buFontTx/>
              <a:buNone/>
            </a:pPr>
            <a:r>
              <a:rPr lang="en-US" sz="2400" dirty="0"/>
              <a:t>		!=			is not equal to</a:t>
            </a:r>
          </a:p>
        </p:txBody>
      </p:sp>
      <p:sp>
        <p:nvSpPr>
          <p:cNvPr id="25604" name="Text Box 9"/>
          <p:cNvSpPr txBox="1">
            <a:spLocks noChangeArrowheads="1"/>
          </p:cNvSpPr>
          <p:nvPr/>
        </p:nvSpPr>
        <p:spPr bwMode="ltGray">
          <a:xfrm>
            <a:off x="0" y="457200"/>
            <a:ext cx="11887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4000" b="1" dirty="0">
                <a:solidFill>
                  <a:srgbClr val="CC6600"/>
                </a:solidFill>
              </a:rPr>
              <a:t>Relational Operators</a:t>
            </a:r>
          </a:p>
        </p:txBody>
      </p:sp>
      <p:sp>
        <p:nvSpPr>
          <p:cNvPr id="6" name="TextBox 5">
            <a:extLst>
              <a:ext uri="{FF2B5EF4-FFF2-40B4-BE49-F238E27FC236}">
                <a16:creationId xmlns:a16="http://schemas.microsoft.com/office/drawing/2014/main" id="{34ED2D0C-98CF-46FE-88A2-509C488C8D81}"/>
              </a:ext>
            </a:extLst>
          </p:cNvPr>
          <p:cNvSpPr txBox="1"/>
          <p:nvPr/>
        </p:nvSpPr>
        <p:spPr>
          <a:xfrm>
            <a:off x="1447800" y="1622911"/>
            <a:ext cx="10134600" cy="523220"/>
          </a:xfrm>
          <a:prstGeom prst="rect">
            <a:avLst/>
          </a:prstGeom>
          <a:noFill/>
        </p:spPr>
        <p:txBody>
          <a:bodyPr wrap="square">
            <a:spAutoFit/>
          </a:bodyPr>
          <a:lstStyle/>
          <a:p>
            <a:pPr algn="ctr"/>
            <a:r>
              <a:rPr lang="en-US" sz="2800" dirty="0"/>
              <a:t>Used to compare two quantities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60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60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60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60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6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5"/>
          <p:cNvSpPr txBox="1">
            <a:spLocks noChangeArrowheads="1"/>
          </p:cNvSpPr>
          <p:nvPr/>
        </p:nvSpPr>
        <p:spPr bwMode="auto">
          <a:xfrm>
            <a:off x="762000" y="1447800"/>
            <a:ext cx="11125200" cy="4802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endParaRPr lang="en-US" sz="2400" dirty="0"/>
          </a:p>
          <a:p>
            <a:pPr algn="l" eaLnBrk="1" hangingPunct="1"/>
            <a:endParaRPr lang="en-US" sz="3200" dirty="0"/>
          </a:p>
          <a:p>
            <a:pPr algn="ctr" eaLnBrk="1" hangingPunct="1"/>
            <a:r>
              <a:rPr lang="en-US" sz="3200" dirty="0"/>
              <a:t>Each one is a complement of the other</a:t>
            </a:r>
          </a:p>
          <a:p>
            <a:pPr algn="l" eaLnBrk="1" hangingPunct="1"/>
            <a:endParaRPr lang="en-US" sz="3200" dirty="0"/>
          </a:p>
          <a:p>
            <a:pPr lvl="4" algn="ctr" eaLnBrk="1" hangingPunct="1">
              <a:lnSpc>
                <a:spcPct val="150000"/>
              </a:lnSpc>
            </a:pPr>
            <a:r>
              <a:rPr lang="en-US" sz="3200" b="1" dirty="0">
                <a:solidFill>
                  <a:schemeClr val="accent1"/>
                </a:solidFill>
              </a:rPr>
              <a:t>&gt;	 is a complement of 		&lt;=</a:t>
            </a:r>
          </a:p>
          <a:p>
            <a:pPr lvl="4" algn="ctr" eaLnBrk="1" hangingPunct="1">
              <a:lnSpc>
                <a:spcPct val="150000"/>
              </a:lnSpc>
            </a:pPr>
            <a:r>
              <a:rPr lang="en-US" sz="3200" b="1" dirty="0">
                <a:solidFill>
                  <a:schemeClr val="accent1"/>
                </a:solidFill>
              </a:rPr>
              <a:t>&lt;	 is a complement of 		&gt;=</a:t>
            </a:r>
          </a:p>
          <a:p>
            <a:pPr lvl="4" algn="ctr" eaLnBrk="1" hangingPunct="1">
              <a:lnSpc>
                <a:spcPct val="150000"/>
              </a:lnSpc>
            </a:pPr>
            <a:r>
              <a:rPr lang="en-US" sz="3200" b="1" dirty="0">
                <a:solidFill>
                  <a:schemeClr val="accent1"/>
                </a:solidFill>
              </a:rPr>
              <a:t>==	 is a complement of 		!=</a:t>
            </a:r>
          </a:p>
          <a:p>
            <a:pPr lvl="4" algn="ctr" eaLnBrk="1" hangingPunct="1">
              <a:lnSpc>
                <a:spcPct val="150000"/>
              </a:lnSpc>
            </a:pPr>
            <a:endParaRPr lang="en-US" sz="3200" b="1" dirty="0">
              <a:solidFill>
                <a:schemeClr val="accent1"/>
              </a:solidFill>
            </a:endParaRPr>
          </a:p>
        </p:txBody>
      </p:sp>
      <p:sp>
        <p:nvSpPr>
          <p:cNvPr id="26628" name="Text Box 9"/>
          <p:cNvSpPr txBox="1">
            <a:spLocks noChangeArrowheads="1"/>
          </p:cNvSpPr>
          <p:nvPr/>
        </p:nvSpPr>
        <p:spPr bwMode="ltGray">
          <a:xfrm>
            <a:off x="381000" y="484258"/>
            <a:ext cx="10972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4000" b="1" dirty="0">
                <a:solidFill>
                  <a:srgbClr val="CC6600"/>
                </a:solidFill>
              </a:rPr>
              <a:t>Relational</a:t>
            </a:r>
            <a:r>
              <a:rPr lang="en-US" sz="2400" b="1" i="1" dirty="0">
                <a:solidFill>
                  <a:srgbClr val="CC6600"/>
                </a:solidFill>
              </a:rPr>
              <a:t> </a:t>
            </a:r>
            <a:r>
              <a:rPr lang="en-US" sz="4000" b="1" dirty="0">
                <a:solidFill>
                  <a:srgbClr val="CC6600"/>
                </a:solidFill>
              </a:rPr>
              <a:t>Operators (contd.)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2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D780F0-0EBC-430F-8CA3-407DFF28B177}"/>
              </a:ext>
            </a:extLst>
          </p:cNvPr>
          <p:cNvSpPr>
            <a:spLocks noGrp="1"/>
          </p:cNvSpPr>
          <p:nvPr>
            <p:ph idx="1"/>
          </p:nvPr>
        </p:nvSpPr>
        <p:spPr/>
        <p:txBody>
          <a:bodyPr/>
          <a:lstStyle/>
          <a:p>
            <a:pPr algn="just"/>
            <a:r>
              <a:rPr lang="en-GB" b="1" dirty="0">
                <a:solidFill>
                  <a:schemeClr val="accent1"/>
                </a:solidFill>
              </a:rPr>
              <a:t>An expression such as a&lt;b containing a relational operator is called a relational expression.</a:t>
            </a:r>
          </a:p>
          <a:p>
            <a:pPr algn="just"/>
            <a:r>
              <a:rPr lang="en-GB" dirty="0"/>
              <a:t>Used in decision statements such as if and while to decide the course of action of a running program</a:t>
            </a:r>
          </a:p>
          <a:p>
            <a:pPr algn="just"/>
            <a:r>
              <a:rPr lang="en-GB" dirty="0"/>
              <a:t>The value of a relational expression is one, if the specified relation is true and zero if the relation is false.</a:t>
            </a:r>
          </a:p>
          <a:p>
            <a:pPr marL="0" indent="0">
              <a:buNone/>
            </a:pPr>
            <a:r>
              <a:rPr lang="en-GB" dirty="0"/>
              <a:t>Examples:</a:t>
            </a:r>
          </a:p>
          <a:p>
            <a:pPr marL="0" indent="0">
              <a:buNone/>
            </a:pPr>
            <a:r>
              <a:rPr lang="en-GB" dirty="0"/>
              <a:t>              10&lt;20 is true</a:t>
            </a:r>
          </a:p>
          <a:p>
            <a:pPr marL="0" indent="0">
              <a:buNone/>
            </a:pPr>
            <a:r>
              <a:rPr lang="en-GB" dirty="0"/>
              <a:t>               20&lt;10 is false</a:t>
            </a:r>
          </a:p>
          <a:p>
            <a:endParaRPr lang="en-US" dirty="0"/>
          </a:p>
        </p:txBody>
      </p:sp>
      <p:sp>
        <p:nvSpPr>
          <p:cNvPr id="4" name="Title 1">
            <a:extLst>
              <a:ext uri="{FF2B5EF4-FFF2-40B4-BE49-F238E27FC236}">
                <a16:creationId xmlns:a16="http://schemas.microsoft.com/office/drawing/2014/main" id="{BBD48131-AC9F-400C-9F2F-9E691F13BD75}"/>
              </a:ext>
            </a:extLst>
          </p:cNvPr>
          <p:cNvSpPr>
            <a:spLocks noGrp="1"/>
          </p:cNvSpPr>
          <p:nvPr>
            <p:ph type="title"/>
          </p:nvPr>
        </p:nvSpPr>
        <p:spPr>
          <a:xfrm>
            <a:off x="838200" y="365125"/>
            <a:ext cx="10515600" cy="1325563"/>
          </a:xfrm>
        </p:spPr>
        <p:txBody>
          <a:bodyPr/>
          <a:lstStyle/>
          <a:p>
            <a:r>
              <a:rPr lang="en-US" b="1" dirty="0">
                <a:solidFill>
                  <a:srgbClr val="CC6600"/>
                </a:solidFill>
              </a:rPr>
              <a:t>Relational Operators (contd.)</a:t>
            </a:r>
            <a:endParaRPr lang="en-US" dirty="0"/>
          </a:p>
        </p:txBody>
      </p:sp>
    </p:spTree>
    <p:extLst>
      <p:ext uri="{BB962C8B-B14F-4D97-AF65-F5344CB8AC3E}">
        <p14:creationId xmlns:p14="http://schemas.microsoft.com/office/powerpoint/2010/main" val="4030672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7A5D4-6CCA-4008-9850-EEC5359BD7F0}"/>
              </a:ext>
            </a:extLst>
          </p:cNvPr>
          <p:cNvSpPr>
            <a:spLocks noGrp="1"/>
          </p:cNvSpPr>
          <p:nvPr>
            <p:ph type="title"/>
          </p:nvPr>
        </p:nvSpPr>
        <p:spPr/>
        <p:txBody>
          <a:bodyPr/>
          <a:lstStyle/>
          <a:p>
            <a:r>
              <a:rPr lang="en-US" dirty="0">
                <a:solidFill>
                  <a:schemeClr val="accent1"/>
                </a:solidFill>
              </a:rPr>
              <a:t>Relational Operators (contd.)</a:t>
            </a:r>
          </a:p>
        </p:txBody>
      </p:sp>
      <p:sp>
        <p:nvSpPr>
          <p:cNvPr id="3" name="Content Placeholder 2">
            <a:extLst>
              <a:ext uri="{FF2B5EF4-FFF2-40B4-BE49-F238E27FC236}">
                <a16:creationId xmlns:a16="http://schemas.microsoft.com/office/drawing/2014/main" id="{037E6490-D4E5-4CC8-AF5D-B13B6898CEB0}"/>
              </a:ext>
            </a:extLst>
          </p:cNvPr>
          <p:cNvSpPr>
            <a:spLocks noGrp="1"/>
          </p:cNvSpPr>
          <p:nvPr>
            <p:ph idx="1"/>
          </p:nvPr>
        </p:nvSpPr>
        <p:spPr/>
        <p:txBody>
          <a:bodyPr/>
          <a:lstStyle/>
          <a:p>
            <a:pPr algn="just" eaLnBrk="1" hangingPunct="1">
              <a:lnSpc>
                <a:spcPct val="110000"/>
              </a:lnSpc>
            </a:pPr>
            <a:r>
              <a:rPr lang="en-US" sz="2800" dirty="0"/>
              <a:t>A simple relational expression contains only one relational operator and takes the following form.</a:t>
            </a:r>
          </a:p>
          <a:p>
            <a:pPr algn="l" eaLnBrk="1" hangingPunct="1">
              <a:lnSpc>
                <a:spcPct val="110000"/>
              </a:lnSpc>
              <a:buFont typeface="Arial" charset="0"/>
              <a:buChar char="•"/>
            </a:pPr>
            <a:endParaRPr lang="en-US" sz="2800" dirty="0"/>
          </a:p>
          <a:p>
            <a:pPr marL="0" indent="0" algn="ctr" eaLnBrk="1" hangingPunct="1">
              <a:lnSpc>
                <a:spcPct val="110000"/>
              </a:lnSpc>
              <a:buNone/>
            </a:pPr>
            <a:r>
              <a:rPr lang="en-US" sz="2800" b="1" dirty="0">
                <a:solidFill>
                  <a:schemeClr val="accent1"/>
                </a:solidFill>
              </a:rPr>
              <a:t>ae1</a:t>
            </a:r>
            <a:r>
              <a:rPr lang="en-US" sz="2800" dirty="0"/>
              <a:t> relational operator </a:t>
            </a:r>
            <a:r>
              <a:rPr lang="en-US" sz="2800" b="1" dirty="0">
                <a:solidFill>
                  <a:schemeClr val="accent1"/>
                </a:solidFill>
              </a:rPr>
              <a:t>ae2</a:t>
            </a:r>
          </a:p>
          <a:p>
            <a:pPr algn="l" eaLnBrk="1" hangingPunct="1">
              <a:lnSpc>
                <a:spcPct val="110000"/>
              </a:lnSpc>
              <a:buFont typeface="Arial" charset="0"/>
              <a:buChar char="•"/>
            </a:pPr>
            <a:endParaRPr lang="en-US" sz="2800" dirty="0"/>
          </a:p>
          <a:p>
            <a:pPr algn="just" eaLnBrk="1" hangingPunct="1">
              <a:lnSpc>
                <a:spcPct val="110000"/>
              </a:lnSpc>
            </a:pPr>
            <a:r>
              <a:rPr lang="en-US" b="1" dirty="0">
                <a:solidFill>
                  <a:schemeClr val="accent1"/>
                </a:solidFill>
              </a:rPr>
              <a:t>ae1</a:t>
            </a:r>
            <a:r>
              <a:rPr lang="en-US" sz="2800" dirty="0"/>
              <a:t> and</a:t>
            </a:r>
            <a:r>
              <a:rPr lang="en-US" sz="2800" dirty="0">
                <a:solidFill>
                  <a:schemeClr val="accent1"/>
                </a:solidFill>
              </a:rPr>
              <a:t> </a:t>
            </a:r>
            <a:r>
              <a:rPr lang="en-US" b="1" dirty="0">
                <a:solidFill>
                  <a:schemeClr val="accent1"/>
                </a:solidFill>
              </a:rPr>
              <a:t>ae2 </a:t>
            </a:r>
            <a:r>
              <a:rPr lang="en-US" sz="2800" dirty="0"/>
              <a:t>are arithmetic expressions, which may be simple constants, variables or combinations of them.</a:t>
            </a:r>
          </a:p>
          <a:p>
            <a:pPr algn="l" eaLnBrk="1" hangingPunct="1">
              <a:lnSpc>
                <a:spcPct val="110000"/>
              </a:lnSpc>
            </a:pPr>
            <a:endParaRPr lang="en-US" sz="2800" dirty="0"/>
          </a:p>
          <a:p>
            <a:endParaRPr lang="en-US" dirty="0"/>
          </a:p>
        </p:txBody>
      </p:sp>
    </p:spTree>
    <p:extLst>
      <p:ext uri="{BB962C8B-B14F-4D97-AF65-F5344CB8AC3E}">
        <p14:creationId xmlns:p14="http://schemas.microsoft.com/office/powerpoint/2010/main" val="2487030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9BC790BD-C341-4584-BDEF-97C84AEF4C5B}"/>
              </a:ext>
            </a:extLst>
          </p:cNvPr>
          <p:cNvGraphicFramePr>
            <a:graphicFrameLocks noGrp="1"/>
          </p:cNvGraphicFramePr>
          <p:nvPr>
            <p:ph idx="1"/>
            <p:extLst>
              <p:ext uri="{D42A27DB-BD31-4B8C-83A1-F6EECF244321}">
                <p14:modId xmlns:p14="http://schemas.microsoft.com/office/powerpoint/2010/main" val="440578062"/>
              </p:ext>
            </p:extLst>
          </p:nvPr>
        </p:nvGraphicFramePr>
        <p:xfrm>
          <a:off x="7819376" y="2291118"/>
          <a:ext cx="3505199" cy="2590800"/>
        </p:xfrm>
        <a:graphic>
          <a:graphicData uri="http://schemas.openxmlformats.org/drawingml/2006/table">
            <a:tbl>
              <a:tblPr firstRow="1" bandRow="1">
                <a:tableStyleId>{3C2FFA5D-87B4-456A-9821-1D502468CF0F}</a:tableStyleId>
              </a:tblPr>
              <a:tblGrid>
                <a:gridCol w="3505199">
                  <a:extLst>
                    <a:ext uri="{9D8B030D-6E8A-4147-A177-3AD203B41FA5}">
                      <a16:colId xmlns:a16="http://schemas.microsoft.com/office/drawing/2014/main" val="1624259484"/>
                    </a:ext>
                  </a:extLst>
                </a:gridCol>
              </a:tblGrid>
              <a:tr h="370840">
                <a:tc>
                  <a:txBody>
                    <a:bodyPr/>
                    <a:lstStyle/>
                    <a:p>
                      <a:pPr algn="ctr"/>
                      <a:r>
                        <a:rPr lang="en-US" sz="2800" dirty="0"/>
                        <a:t>1</a:t>
                      </a:r>
                    </a:p>
                  </a:txBody>
                  <a:tcPr anchor="ctr"/>
                </a:tc>
                <a:extLst>
                  <a:ext uri="{0D108BD9-81ED-4DB2-BD59-A6C34878D82A}">
                    <a16:rowId xmlns:a16="http://schemas.microsoft.com/office/drawing/2014/main" val="3404055626"/>
                  </a:ext>
                </a:extLst>
              </a:tr>
              <a:tr h="370840">
                <a:tc>
                  <a:txBody>
                    <a:bodyPr/>
                    <a:lstStyle/>
                    <a:p>
                      <a:pPr algn="ctr"/>
                      <a:r>
                        <a:rPr lang="en-US" sz="2800" dirty="0"/>
                        <a:t>1</a:t>
                      </a:r>
                    </a:p>
                  </a:txBody>
                  <a:tcPr anchor="ctr"/>
                </a:tc>
                <a:extLst>
                  <a:ext uri="{0D108BD9-81ED-4DB2-BD59-A6C34878D82A}">
                    <a16:rowId xmlns:a16="http://schemas.microsoft.com/office/drawing/2014/main" val="1234905203"/>
                  </a:ext>
                </a:extLst>
              </a:tr>
              <a:tr h="370840">
                <a:tc>
                  <a:txBody>
                    <a:bodyPr/>
                    <a:lstStyle/>
                    <a:p>
                      <a:pPr algn="ctr"/>
                      <a:r>
                        <a:rPr lang="en-US" sz="2800" dirty="0"/>
                        <a:t>0</a:t>
                      </a:r>
                    </a:p>
                  </a:txBody>
                  <a:tcPr anchor="ctr"/>
                </a:tc>
                <a:extLst>
                  <a:ext uri="{0D108BD9-81ED-4DB2-BD59-A6C34878D82A}">
                    <a16:rowId xmlns:a16="http://schemas.microsoft.com/office/drawing/2014/main" val="852289863"/>
                  </a:ext>
                </a:extLst>
              </a:tr>
              <a:tr h="370840">
                <a:tc>
                  <a:txBody>
                    <a:bodyPr/>
                    <a:lstStyle/>
                    <a:p>
                      <a:pPr algn="ctr"/>
                      <a:r>
                        <a:rPr lang="en-US" sz="2800" dirty="0"/>
                        <a:t>0</a:t>
                      </a:r>
                    </a:p>
                  </a:txBody>
                  <a:tcPr anchor="ctr"/>
                </a:tc>
                <a:extLst>
                  <a:ext uri="{0D108BD9-81ED-4DB2-BD59-A6C34878D82A}">
                    <a16:rowId xmlns:a16="http://schemas.microsoft.com/office/drawing/2014/main" val="3508597245"/>
                  </a:ext>
                </a:extLst>
              </a:tr>
              <a:tr h="359198">
                <a:tc>
                  <a:txBody>
                    <a:bodyPr/>
                    <a:lstStyle/>
                    <a:p>
                      <a:pPr algn="ctr"/>
                      <a:r>
                        <a:rPr lang="en-US" sz="2800" dirty="0"/>
                        <a:t>1</a:t>
                      </a:r>
                    </a:p>
                  </a:txBody>
                  <a:tcPr anchor="ctr"/>
                </a:tc>
                <a:extLst>
                  <a:ext uri="{0D108BD9-81ED-4DB2-BD59-A6C34878D82A}">
                    <a16:rowId xmlns:a16="http://schemas.microsoft.com/office/drawing/2014/main" val="39463488"/>
                  </a:ext>
                </a:extLst>
              </a:tr>
            </a:tbl>
          </a:graphicData>
        </a:graphic>
      </p:graphicFrame>
      <p:sp>
        <p:nvSpPr>
          <p:cNvPr id="2" name="Title 1">
            <a:extLst>
              <a:ext uri="{FF2B5EF4-FFF2-40B4-BE49-F238E27FC236}">
                <a16:creationId xmlns:a16="http://schemas.microsoft.com/office/drawing/2014/main" id="{1050C562-B69C-4345-A861-A157CAA7C899}"/>
              </a:ext>
            </a:extLst>
          </p:cNvPr>
          <p:cNvSpPr>
            <a:spLocks noGrp="1"/>
          </p:cNvSpPr>
          <p:nvPr>
            <p:ph type="title"/>
          </p:nvPr>
        </p:nvSpPr>
        <p:spPr>
          <a:xfrm>
            <a:off x="1600200" y="-217458"/>
            <a:ext cx="10515600" cy="946490"/>
          </a:xfrm>
        </p:spPr>
        <p:txBody>
          <a:bodyPr>
            <a:normAutofit/>
          </a:bodyPr>
          <a:lstStyle/>
          <a:p>
            <a:pPr algn="r"/>
            <a:r>
              <a:rPr lang="en-US" sz="3200" b="1" dirty="0">
                <a:solidFill>
                  <a:schemeClr val="accent1"/>
                </a:solidFill>
              </a:rPr>
              <a:t>Relational Operators</a:t>
            </a:r>
          </a:p>
        </p:txBody>
      </p:sp>
      <p:sp>
        <p:nvSpPr>
          <p:cNvPr id="6" name="TextBox 5">
            <a:extLst>
              <a:ext uri="{FF2B5EF4-FFF2-40B4-BE49-F238E27FC236}">
                <a16:creationId xmlns:a16="http://schemas.microsoft.com/office/drawing/2014/main" id="{F313F0C8-8ADC-4B81-A4EC-2462BEF3A358}"/>
              </a:ext>
            </a:extLst>
          </p:cNvPr>
          <p:cNvSpPr txBox="1"/>
          <p:nvPr/>
        </p:nvSpPr>
        <p:spPr>
          <a:xfrm>
            <a:off x="895610" y="817242"/>
            <a:ext cx="10515597" cy="523220"/>
          </a:xfrm>
          <a:prstGeom prst="rect">
            <a:avLst/>
          </a:prstGeom>
          <a:noFill/>
        </p:spPr>
        <p:txBody>
          <a:bodyPr wrap="square">
            <a:spAutoFit/>
          </a:bodyPr>
          <a:lstStyle/>
          <a:p>
            <a:pPr algn="l" eaLnBrk="1" hangingPunct="1"/>
            <a:r>
              <a:rPr lang="en-US" sz="2800" dirty="0"/>
              <a:t>Suppose I , j and k are integer variable: </a:t>
            </a:r>
            <a:r>
              <a:rPr lang="en-US" sz="2800" b="1" dirty="0" err="1"/>
              <a:t>i</a:t>
            </a:r>
            <a:r>
              <a:rPr lang="en-US" sz="2800" b="1" dirty="0"/>
              <a:t> =1, j = 2 and k = </a:t>
            </a:r>
            <a:r>
              <a:rPr lang="en-US" sz="2800" dirty="0"/>
              <a:t>3</a:t>
            </a:r>
          </a:p>
        </p:txBody>
      </p:sp>
      <p:sp>
        <p:nvSpPr>
          <p:cNvPr id="8" name="TextBox 7">
            <a:extLst>
              <a:ext uri="{FF2B5EF4-FFF2-40B4-BE49-F238E27FC236}">
                <a16:creationId xmlns:a16="http://schemas.microsoft.com/office/drawing/2014/main" id="{A93D4344-8180-49E1-AFED-49D7B7F10E01}"/>
              </a:ext>
            </a:extLst>
          </p:cNvPr>
          <p:cNvSpPr txBox="1"/>
          <p:nvPr/>
        </p:nvSpPr>
        <p:spPr>
          <a:xfrm>
            <a:off x="1066800" y="5240265"/>
            <a:ext cx="10688876" cy="1569660"/>
          </a:xfrm>
          <a:prstGeom prst="rect">
            <a:avLst/>
          </a:prstGeom>
          <a:noFill/>
        </p:spPr>
        <p:txBody>
          <a:bodyPr wrap="square">
            <a:spAutoFit/>
          </a:bodyPr>
          <a:lstStyle/>
          <a:p>
            <a:pPr algn="just" eaLnBrk="1" hangingPunct="1"/>
            <a:r>
              <a:rPr lang="en-US" sz="2400" dirty="0"/>
              <a:t>When arithmetic expressions are used on either side of a relational operator, arithmetic expressions will be evaluated first and then the results compared.  That is, </a:t>
            </a:r>
            <a:r>
              <a:rPr lang="en-US" sz="2400" b="1" dirty="0">
                <a:solidFill>
                  <a:schemeClr val="accent1"/>
                </a:solidFill>
              </a:rPr>
              <a:t>arithmetic operators have a higher priority over relational operators</a:t>
            </a:r>
            <a:r>
              <a:rPr lang="en-US" sz="2400" dirty="0"/>
              <a:t>.</a:t>
            </a:r>
          </a:p>
        </p:txBody>
      </p:sp>
      <p:graphicFrame>
        <p:nvGraphicFramePr>
          <p:cNvPr id="11" name="Table 10">
            <a:extLst>
              <a:ext uri="{FF2B5EF4-FFF2-40B4-BE49-F238E27FC236}">
                <a16:creationId xmlns:a16="http://schemas.microsoft.com/office/drawing/2014/main" id="{68E792BA-5319-4ACE-A6A6-824E80BEEE61}"/>
              </a:ext>
            </a:extLst>
          </p:cNvPr>
          <p:cNvGraphicFramePr>
            <a:graphicFrameLocks noGrp="1"/>
          </p:cNvGraphicFramePr>
          <p:nvPr>
            <p:extLst>
              <p:ext uri="{D42A27DB-BD31-4B8C-83A1-F6EECF244321}">
                <p14:modId xmlns:p14="http://schemas.microsoft.com/office/powerpoint/2010/main" val="4178404831"/>
              </p:ext>
            </p:extLst>
          </p:nvPr>
        </p:nvGraphicFramePr>
        <p:xfrm>
          <a:off x="838200" y="1556710"/>
          <a:ext cx="10515597" cy="518160"/>
        </p:xfrm>
        <a:graphic>
          <a:graphicData uri="http://schemas.openxmlformats.org/drawingml/2006/table">
            <a:tbl>
              <a:tblPr firstRow="1" bandRow="1">
                <a:tableStyleId>{3C2FFA5D-87B4-456A-9821-1D502468CF0F}</a:tableStyleId>
              </a:tblPr>
              <a:tblGrid>
                <a:gridCol w="3505199">
                  <a:extLst>
                    <a:ext uri="{9D8B030D-6E8A-4147-A177-3AD203B41FA5}">
                      <a16:colId xmlns:a16="http://schemas.microsoft.com/office/drawing/2014/main" val="2347257198"/>
                    </a:ext>
                  </a:extLst>
                </a:gridCol>
                <a:gridCol w="3505199">
                  <a:extLst>
                    <a:ext uri="{9D8B030D-6E8A-4147-A177-3AD203B41FA5}">
                      <a16:colId xmlns:a16="http://schemas.microsoft.com/office/drawing/2014/main" val="4153233108"/>
                    </a:ext>
                  </a:extLst>
                </a:gridCol>
                <a:gridCol w="3505199">
                  <a:extLst>
                    <a:ext uri="{9D8B030D-6E8A-4147-A177-3AD203B41FA5}">
                      <a16:colId xmlns:a16="http://schemas.microsoft.com/office/drawing/2014/main" val="699378913"/>
                    </a:ext>
                  </a:extLst>
                </a:gridCol>
              </a:tblGrid>
              <a:tr h="44606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solidFill>
                            <a:schemeClr val="tx1"/>
                          </a:solidFill>
                        </a:rPr>
                        <a:t>Expression</a:t>
                      </a:r>
                      <a:endParaRPr lang="en-US" sz="28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solidFill>
                            <a:schemeClr val="tx1"/>
                          </a:solidFill>
                        </a:rPr>
                        <a:t>Interpretation </a:t>
                      </a:r>
                      <a:endParaRPr lang="en-US" sz="2800" dirty="0">
                        <a:solidFill>
                          <a:schemeClr val="tx1"/>
                        </a:solidFill>
                      </a:endParaRPr>
                    </a:p>
                  </a:txBody>
                  <a:tcPr anchor="ctr"/>
                </a:tc>
                <a:tc>
                  <a:txBody>
                    <a:bodyPr/>
                    <a:lstStyle/>
                    <a:p>
                      <a:pPr algn="ctr"/>
                      <a:r>
                        <a:rPr lang="en-US" sz="2800" b="1" dirty="0">
                          <a:solidFill>
                            <a:schemeClr val="tx1"/>
                          </a:solidFill>
                        </a:rPr>
                        <a:t>Value</a:t>
                      </a:r>
                      <a:endParaRPr lang="en-US" sz="2800" dirty="0">
                        <a:solidFill>
                          <a:schemeClr val="tx1"/>
                        </a:solidFill>
                      </a:endParaRPr>
                    </a:p>
                  </a:txBody>
                  <a:tcPr anchor="ctr"/>
                </a:tc>
                <a:extLst>
                  <a:ext uri="{0D108BD9-81ED-4DB2-BD59-A6C34878D82A}">
                    <a16:rowId xmlns:a16="http://schemas.microsoft.com/office/drawing/2014/main" val="168451339"/>
                  </a:ext>
                </a:extLst>
              </a:tr>
            </a:tbl>
          </a:graphicData>
        </a:graphic>
      </p:graphicFrame>
      <p:graphicFrame>
        <p:nvGraphicFramePr>
          <p:cNvPr id="12" name="Table 11">
            <a:extLst>
              <a:ext uri="{FF2B5EF4-FFF2-40B4-BE49-F238E27FC236}">
                <a16:creationId xmlns:a16="http://schemas.microsoft.com/office/drawing/2014/main" id="{CB40356E-8DED-48BD-9E21-8602E4F80D8A}"/>
              </a:ext>
            </a:extLst>
          </p:cNvPr>
          <p:cNvGraphicFramePr>
            <a:graphicFrameLocks noGrp="1"/>
          </p:cNvGraphicFramePr>
          <p:nvPr>
            <p:extLst>
              <p:ext uri="{D42A27DB-BD31-4B8C-83A1-F6EECF244321}">
                <p14:modId xmlns:p14="http://schemas.microsoft.com/office/powerpoint/2010/main" val="247042279"/>
              </p:ext>
            </p:extLst>
          </p:nvPr>
        </p:nvGraphicFramePr>
        <p:xfrm>
          <a:off x="837156" y="2291118"/>
          <a:ext cx="3505199" cy="2590800"/>
        </p:xfrm>
        <a:graphic>
          <a:graphicData uri="http://schemas.openxmlformats.org/drawingml/2006/table">
            <a:tbl>
              <a:tblPr firstRow="1" bandRow="1">
                <a:tableStyleId>{3C2FFA5D-87B4-456A-9821-1D502468CF0F}</a:tableStyleId>
              </a:tblPr>
              <a:tblGrid>
                <a:gridCol w="3505199">
                  <a:extLst>
                    <a:ext uri="{9D8B030D-6E8A-4147-A177-3AD203B41FA5}">
                      <a16:colId xmlns:a16="http://schemas.microsoft.com/office/drawing/2014/main" val="2930570186"/>
                    </a:ext>
                  </a:extLst>
                </a:gridCol>
              </a:tblGrid>
              <a:tr h="370840">
                <a:tc>
                  <a:txBody>
                    <a:bodyPr/>
                    <a:lstStyle/>
                    <a:p>
                      <a:pPr algn="ctr"/>
                      <a:r>
                        <a:rPr lang="en-US" sz="2800" dirty="0" err="1"/>
                        <a:t>i</a:t>
                      </a:r>
                      <a:r>
                        <a:rPr lang="en-US" sz="2800" dirty="0"/>
                        <a:t> &lt; j </a:t>
                      </a:r>
                    </a:p>
                  </a:txBody>
                  <a:tcPr anchor="ctr"/>
                </a:tc>
                <a:extLst>
                  <a:ext uri="{0D108BD9-81ED-4DB2-BD59-A6C34878D82A}">
                    <a16:rowId xmlns:a16="http://schemas.microsoft.com/office/drawing/2014/main" val="2152439785"/>
                  </a:ext>
                </a:extLst>
              </a:tr>
              <a:tr h="370840">
                <a:tc>
                  <a:txBody>
                    <a:bodyPr/>
                    <a:lstStyle/>
                    <a:p>
                      <a:pPr algn="ctr"/>
                      <a:r>
                        <a:rPr lang="en-US" sz="2800" dirty="0"/>
                        <a:t>(</a:t>
                      </a:r>
                      <a:r>
                        <a:rPr lang="en-US" sz="2800" dirty="0" err="1"/>
                        <a:t>i</a:t>
                      </a:r>
                      <a:r>
                        <a:rPr lang="en-US" sz="2800" dirty="0"/>
                        <a:t> + j) &gt;= k </a:t>
                      </a:r>
                    </a:p>
                  </a:txBody>
                  <a:tcPr anchor="ctr"/>
                </a:tc>
                <a:extLst>
                  <a:ext uri="{0D108BD9-81ED-4DB2-BD59-A6C34878D82A}">
                    <a16:rowId xmlns:a16="http://schemas.microsoft.com/office/drawing/2014/main" val="1548195522"/>
                  </a:ext>
                </a:extLst>
              </a:tr>
              <a:tr h="370840">
                <a:tc>
                  <a:txBody>
                    <a:bodyPr/>
                    <a:lstStyle/>
                    <a:p>
                      <a:pPr algn="ctr"/>
                      <a:r>
                        <a:rPr lang="en-US" sz="2800" dirty="0"/>
                        <a:t>(j + k) &gt;(</a:t>
                      </a:r>
                      <a:r>
                        <a:rPr lang="en-US" sz="2800" dirty="0" err="1"/>
                        <a:t>i</a:t>
                      </a:r>
                      <a:r>
                        <a:rPr lang="en-US" sz="2800" dirty="0"/>
                        <a:t> + 5) </a:t>
                      </a:r>
                    </a:p>
                  </a:txBody>
                  <a:tcPr anchor="ctr"/>
                </a:tc>
                <a:extLst>
                  <a:ext uri="{0D108BD9-81ED-4DB2-BD59-A6C34878D82A}">
                    <a16:rowId xmlns:a16="http://schemas.microsoft.com/office/drawing/2014/main" val="1298028815"/>
                  </a:ext>
                </a:extLst>
              </a:tr>
              <a:tr h="370840">
                <a:tc>
                  <a:txBody>
                    <a:bodyPr/>
                    <a:lstStyle/>
                    <a:p>
                      <a:pPr algn="ctr"/>
                      <a:r>
                        <a:rPr lang="en-US" sz="2800" dirty="0"/>
                        <a:t>k != 3 </a:t>
                      </a:r>
                    </a:p>
                  </a:txBody>
                  <a:tcPr anchor="ctr"/>
                </a:tc>
                <a:extLst>
                  <a:ext uri="{0D108BD9-81ED-4DB2-BD59-A6C34878D82A}">
                    <a16:rowId xmlns:a16="http://schemas.microsoft.com/office/drawing/2014/main" val="2796589833"/>
                  </a:ext>
                </a:extLst>
              </a:tr>
              <a:tr h="359198">
                <a:tc>
                  <a:txBody>
                    <a:bodyPr/>
                    <a:lstStyle/>
                    <a:p>
                      <a:pPr algn="ctr"/>
                      <a:r>
                        <a:rPr lang="en-US" sz="2800" dirty="0"/>
                        <a:t>j == 2 </a:t>
                      </a:r>
                    </a:p>
                  </a:txBody>
                  <a:tcPr anchor="ctr"/>
                </a:tc>
                <a:extLst>
                  <a:ext uri="{0D108BD9-81ED-4DB2-BD59-A6C34878D82A}">
                    <a16:rowId xmlns:a16="http://schemas.microsoft.com/office/drawing/2014/main" val="3620125000"/>
                  </a:ext>
                </a:extLst>
              </a:tr>
            </a:tbl>
          </a:graphicData>
        </a:graphic>
      </p:graphicFrame>
      <p:graphicFrame>
        <p:nvGraphicFramePr>
          <p:cNvPr id="13" name="Table 12">
            <a:extLst>
              <a:ext uri="{FF2B5EF4-FFF2-40B4-BE49-F238E27FC236}">
                <a16:creationId xmlns:a16="http://schemas.microsoft.com/office/drawing/2014/main" id="{4A5CE019-1A6E-45EC-A75C-3D8FECECE399}"/>
              </a:ext>
            </a:extLst>
          </p:cNvPr>
          <p:cNvGraphicFramePr>
            <a:graphicFrameLocks noGrp="1"/>
          </p:cNvGraphicFramePr>
          <p:nvPr>
            <p:extLst>
              <p:ext uri="{D42A27DB-BD31-4B8C-83A1-F6EECF244321}">
                <p14:modId xmlns:p14="http://schemas.microsoft.com/office/powerpoint/2010/main" val="402286670"/>
              </p:ext>
            </p:extLst>
          </p:nvPr>
        </p:nvGraphicFramePr>
        <p:xfrm>
          <a:off x="4334005" y="2291118"/>
          <a:ext cx="3505199" cy="2590800"/>
        </p:xfrm>
        <a:graphic>
          <a:graphicData uri="http://schemas.openxmlformats.org/drawingml/2006/table">
            <a:tbl>
              <a:tblPr firstRow="1" bandRow="1">
                <a:tableStyleId>{3C2FFA5D-87B4-456A-9821-1D502468CF0F}</a:tableStyleId>
              </a:tblPr>
              <a:tblGrid>
                <a:gridCol w="3505199">
                  <a:extLst>
                    <a:ext uri="{9D8B030D-6E8A-4147-A177-3AD203B41FA5}">
                      <a16:colId xmlns:a16="http://schemas.microsoft.com/office/drawing/2014/main" val="4067045051"/>
                    </a:ext>
                  </a:extLst>
                </a:gridCol>
              </a:tblGrid>
              <a:tr h="370840">
                <a:tc>
                  <a:txBody>
                    <a:bodyPr/>
                    <a:lstStyle/>
                    <a:p>
                      <a:pPr algn="ctr"/>
                      <a:r>
                        <a:rPr lang="en-US" sz="2800" dirty="0"/>
                        <a:t>True</a:t>
                      </a:r>
                    </a:p>
                  </a:txBody>
                  <a:tcPr anchor="ctr"/>
                </a:tc>
                <a:extLst>
                  <a:ext uri="{0D108BD9-81ED-4DB2-BD59-A6C34878D82A}">
                    <a16:rowId xmlns:a16="http://schemas.microsoft.com/office/drawing/2014/main" val="174902016"/>
                  </a:ext>
                </a:extLst>
              </a:tr>
              <a:tr h="370840">
                <a:tc>
                  <a:txBody>
                    <a:bodyPr/>
                    <a:lstStyle/>
                    <a:p>
                      <a:pPr algn="ctr"/>
                      <a:r>
                        <a:rPr lang="en-US" sz="2800" dirty="0"/>
                        <a:t>True</a:t>
                      </a:r>
                    </a:p>
                  </a:txBody>
                  <a:tcPr anchor="ctr"/>
                </a:tc>
                <a:extLst>
                  <a:ext uri="{0D108BD9-81ED-4DB2-BD59-A6C34878D82A}">
                    <a16:rowId xmlns:a16="http://schemas.microsoft.com/office/drawing/2014/main" val="1479744996"/>
                  </a:ext>
                </a:extLst>
              </a:tr>
              <a:tr h="370840">
                <a:tc>
                  <a:txBody>
                    <a:bodyPr/>
                    <a:lstStyle/>
                    <a:p>
                      <a:pPr algn="ctr"/>
                      <a:r>
                        <a:rPr lang="en-US" sz="2800" dirty="0"/>
                        <a:t>False</a:t>
                      </a:r>
                    </a:p>
                  </a:txBody>
                  <a:tcPr anchor="ctr"/>
                </a:tc>
                <a:extLst>
                  <a:ext uri="{0D108BD9-81ED-4DB2-BD59-A6C34878D82A}">
                    <a16:rowId xmlns:a16="http://schemas.microsoft.com/office/drawing/2014/main" val="722364440"/>
                  </a:ext>
                </a:extLst>
              </a:tr>
              <a:tr h="370840">
                <a:tc>
                  <a:txBody>
                    <a:bodyPr/>
                    <a:lstStyle/>
                    <a:p>
                      <a:pPr algn="ctr"/>
                      <a:r>
                        <a:rPr lang="en-US" sz="2800" dirty="0"/>
                        <a:t>False</a:t>
                      </a:r>
                    </a:p>
                  </a:txBody>
                  <a:tcPr anchor="ctr"/>
                </a:tc>
                <a:extLst>
                  <a:ext uri="{0D108BD9-81ED-4DB2-BD59-A6C34878D82A}">
                    <a16:rowId xmlns:a16="http://schemas.microsoft.com/office/drawing/2014/main" val="3071748811"/>
                  </a:ext>
                </a:extLst>
              </a:tr>
              <a:tr h="359198">
                <a:tc>
                  <a:txBody>
                    <a:bodyPr/>
                    <a:lstStyle/>
                    <a:p>
                      <a:pPr algn="ctr"/>
                      <a:r>
                        <a:rPr lang="en-US" sz="2800" dirty="0"/>
                        <a:t>True</a:t>
                      </a:r>
                    </a:p>
                  </a:txBody>
                  <a:tcPr anchor="ctr"/>
                </a:tc>
                <a:extLst>
                  <a:ext uri="{0D108BD9-81ED-4DB2-BD59-A6C34878D82A}">
                    <a16:rowId xmlns:a16="http://schemas.microsoft.com/office/drawing/2014/main" val="2024103290"/>
                  </a:ext>
                </a:extLst>
              </a:tr>
            </a:tbl>
          </a:graphicData>
        </a:graphic>
      </p:graphicFrame>
    </p:spTree>
    <p:extLst>
      <p:ext uri="{BB962C8B-B14F-4D97-AF65-F5344CB8AC3E}">
        <p14:creationId xmlns:p14="http://schemas.microsoft.com/office/powerpoint/2010/main" val="1566576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body" idx="4294967295"/>
          </p:nvPr>
        </p:nvSpPr>
        <p:spPr>
          <a:xfrm>
            <a:off x="304800" y="1057275"/>
            <a:ext cx="11734800" cy="5562600"/>
          </a:xfrm>
        </p:spPr>
        <p:txBody>
          <a:bodyPr>
            <a:normAutofit/>
          </a:bodyPr>
          <a:lstStyle/>
          <a:p>
            <a:pPr algn="just" eaLnBrk="1" hangingPunct="1">
              <a:lnSpc>
                <a:spcPct val="90000"/>
              </a:lnSpc>
              <a:buFontTx/>
              <a:buNone/>
            </a:pPr>
            <a:r>
              <a:rPr lang="en-US" sz="2400" dirty="0"/>
              <a:t>			</a:t>
            </a:r>
            <a:r>
              <a:rPr lang="en-US" sz="2400" b="1" u="sng" dirty="0">
                <a:solidFill>
                  <a:srgbClr val="BD5329"/>
                </a:solidFill>
              </a:rPr>
              <a:t>Operator</a:t>
            </a:r>
            <a:r>
              <a:rPr lang="en-US" sz="2400" b="1" dirty="0">
                <a:solidFill>
                  <a:srgbClr val="BD5329"/>
                </a:solidFill>
              </a:rPr>
              <a:t>		    </a:t>
            </a:r>
            <a:r>
              <a:rPr lang="en-US" sz="2400" b="1" u="sng" dirty="0">
                <a:solidFill>
                  <a:srgbClr val="BD5329"/>
                </a:solidFill>
              </a:rPr>
              <a:t>Meaning</a:t>
            </a:r>
          </a:p>
          <a:p>
            <a:pPr lvl="4" algn="just" eaLnBrk="1" hangingPunct="1">
              <a:lnSpc>
                <a:spcPct val="90000"/>
              </a:lnSpc>
              <a:buFontTx/>
              <a:buNone/>
            </a:pPr>
            <a:r>
              <a:rPr lang="en-US" sz="2400" dirty="0"/>
              <a:t>	&amp;&amp;                   	 logical AND</a:t>
            </a:r>
          </a:p>
          <a:p>
            <a:pPr lvl="4" algn="just" eaLnBrk="1" hangingPunct="1">
              <a:lnSpc>
                <a:spcPct val="90000"/>
              </a:lnSpc>
              <a:buFontTx/>
              <a:buNone/>
            </a:pPr>
            <a:endParaRPr lang="en-US" sz="2400" dirty="0"/>
          </a:p>
          <a:p>
            <a:pPr lvl="4" algn="just" eaLnBrk="1" hangingPunct="1">
              <a:lnSpc>
                <a:spcPct val="90000"/>
              </a:lnSpc>
              <a:buFontTx/>
              <a:buNone/>
            </a:pPr>
            <a:r>
              <a:rPr lang="en-US" sz="2400" dirty="0">
                <a:cs typeface="Arial" charset="0"/>
              </a:rPr>
              <a:t>	 ||    	                	 logical OR</a:t>
            </a:r>
          </a:p>
          <a:p>
            <a:pPr lvl="4" algn="just" eaLnBrk="1" hangingPunct="1">
              <a:lnSpc>
                <a:spcPct val="90000"/>
              </a:lnSpc>
              <a:buFontTx/>
              <a:buNone/>
            </a:pPr>
            <a:endParaRPr lang="en-US" sz="2400" dirty="0">
              <a:cs typeface="Arial" charset="0"/>
            </a:endParaRPr>
          </a:p>
          <a:p>
            <a:pPr lvl="4" algn="just" eaLnBrk="1" hangingPunct="1">
              <a:lnSpc>
                <a:spcPct val="90000"/>
              </a:lnSpc>
              <a:buFontTx/>
              <a:buNone/>
            </a:pPr>
            <a:r>
              <a:rPr lang="en-US" sz="2400" dirty="0">
                <a:cs typeface="Arial" charset="0"/>
              </a:rPr>
              <a:t> 	 !                      	 logical NOT</a:t>
            </a:r>
          </a:p>
          <a:p>
            <a:pPr lvl="4" algn="just" eaLnBrk="1" hangingPunct="1">
              <a:lnSpc>
                <a:spcPct val="90000"/>
              </a:lnSpc>
              <a:buFontTx/>
              <a:buNone/>
            </a:pPr>
            <a:endParaRPr lang="en-US" sz="2400" dirty="0">
              <a:cs typeface="Arial" charset="0"/>
            </a:endParaRPr>
          </a:p>
          <a:p>
            <a:pPr algn="just" eaLnBrk="1" hangingPunct="1">
              <a:lnSpc>
                <a:spcPct val="90000"/>
              </a:lnSpc>
            </a:pPr>
            <a:r>
              <a:rPr lang="en-US" sz="2400" dirty="0"/>
              <a:t>The logical operators  AND </a:t>
            </a:r>
            <a:r>
              <a:rPr lang="en-US" sz="2400" dirty="0" err="1"/>
              <a:t>and</a:t>
            </a:r>
            <a:r>
              <a:rPr lang="en-US" sz="2400" dirty="0"/>
              <a:t> OR are used when we want to test more than one condition and make decisions.</a:t>
            </a:r>
          </a:p>
          <a:p>
            <a:pPr algn="just" eaLnBrk="1" hangingPunct="1">
              <a:lnSpc>
                <a:spcPct val="90000"/>
              </a:lnSpc>
              <a:buFontTx/>
              <a:buNone/>
            </a:pPr>
            <a:r>
              <a:rPr lang="en-US" sz="2400" dirty="0"/>
              <a:t>       </a:t>
            </a:r>
            <a:r>
              <a:rPr lang="en-US" sz="2400" b="1" dirty="0">
                <a:cs typeface="Arial" charset="0"/>
              </a:rPr>
              <a:t>Example:     </a:t>
            </a:r>
            <a:r>
              <a:rPr lang="en-US" sz="2400" dirty="0">
                <a:cs typeface="Arial" charset="0"/>
              </a:rPr>
              <a:t>(</a:t>
            </a:r>
            <a:r>
              <a:rPr lang="en-US" sz="2400" dirty="0">
                <a:cs typeface="Arial" charset="0"/>
                <a:sym typeface="Wingdings" pitchFamily="2" charset="2"/>
              </a:rPr>
              <a:t>a&gt;b) &amp;&amp; (x==10)</a:t>
            </a:r>
            <a:endParaRPr lang="en-US" sz="2400" b="1" dirty="0">
              <a:cs typeface="Arial" charset="0"/>
              <a:sym typeface="Wingdings" pitchFamily="2" charset="2"/>
            </a:endParaRPr>
          </a:p>
          <a:p>
            <a:pPr algn="just" eaLnBrk="1" hangingPunct="1">
              <a:lnSpc>
                <a:spcPct val="90000"/>
              </a:lnSpc>
            </a:pPr>
            <a:r>
              <a:rPr lang="en-US" sz="2400" dirty="0">
                <a:sym typeface="Wingdings" pitchFamily="2" charset="2"/>
              </a:rPr>
              <a:t>An expression of this kind which combines two or more relational expressions is termed as a </a:t>
            </a:r>
            <a:r>
              <a:rPr lang="en-US" sz="2400" b="1" dirty="0">
                <a:sym typeface="Wingdings" pitchFamily="2" charset="2"/>
              </a:rPr>
              <a:t>logical expression</a:t>
            </a:r>
            <a:r>
              <a:rPr lang="en-US" sz="2400" dirty="0">
                <a:sym typeface="Wingdings" pitchFamily="2" charset="2"/>
              </a:rPr>
              <a:t> or a </a:t>
            </a:r>
            <a:r>
              <a:rPr lang="en-US" sz="2400" b="1" dirty="0">
                <a:sym typeface="Wingdings" pitchFamily="2" charset="2"/>
              </a:rPr>
              <a:t>compound relational expression y</a:t>
            </a:r>
            <a:r>
              <a:rPr lang="en-US" sz="2400" dirty="0">
                <a:sym typeface="Wingdings" pitchFamily="2" charset="2"/>
              </a:rPr>
              <a:t>ields a value of one or zero.</a:t>
            </a:r>
          </a:p>
        </p:txBody>
      </p:sp>
      <p:sp>
        <p:nvSpPr>
          <p:cNvPr id="30724" name="Text Box 9"/>
          <p:cNvSpPr txBox="1">
            <a:spLocks noChangeArrowheads="1"/>
          </p:cNvSpPr>
          <p:nvPr/>
        </p:nvSpPr>
        <p:spPr bwMode="ltGray">
          <a:xfrm>
            <a:off x="0" y="152400"/>
            <a:ext cx="6019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3200" b="1" dirty="0">
                <a:solidFill>
                  <a:srgbClr val="CC6600"/>
                </a:solidFill>
              </a:rPr>
              <a:t>Logical Operators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2F5EF0-CCF7-44EC-8859-FA564D371C21}"/>
              </a:ext>
            </a:extLst>
          </p:cNvPr>
          <p:cNvSpPr/>
          <p:nvPr/>
        </p:nvSpPr>
        <p:spPr>
          <a:xfrm>
            <a:off x="1087677" y="3208615"/>
            <a:ext cx="9829800" cy="3293210"/>
          </a:xfrm>
          <a:prstGeom prst="rect">
            <a:avLst/>
          </a:prstGeom>
          <a:solidFill>
            <a:schemeClr val="accent1">
              <a:alpha val="46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7" name="Rectangle 3"/>
          <p:cNvSpPr>
            <a:spLocks noGrp="1" noChangeArrowheads="1"/>
          </p:cNvSpPr>
          <p:nvPr>
            <p:ph type="body" idx="4294967295"/>
          </p:nvPr>
        </p:nvSpPr>
        <p:spPr>
          <a:xfrm>
            <a:off x="762000" y="1524000"/>
            <a:ext cx="11049000" cy="4495800"/>
          </a:xfrm>
        </p:spPr>
        <p:txBody>
          <a:bodyPr/>
          <a:lstStyle/>
          <a:p>
            <a:pPr algn="ctr" eaLnBrk="1" hangingPunct="1">
              <a:buFontTx/>
              <a:buNone/>
            </a:pPr>
            <a:r>
              <a:rPr lang="en-US" sz="2400" b="1" dirty="0">
                <a:solidFill>
                  <a:srgbClr val="BD5329"/>
                </a:solidFill>
              </a:rPr>
              <a:t>Truth Table</a:t>
            </a:r>
          </a:p>
        </p:txBody>
      </p:sp>
      <p:sp>
        <p:nvSpPr>
          <p:cNvPr id="31748" name="Text Box 4"/>
          <p:cNvSpPr txBox="1">
            <a:spLocks noChangeArrowheads="1"/>
          </p:cNvSpPr>
          <p:nvPr/>
        </p:nvSpPr>
        <p:spPr bwMode="auto">
          <a:xfrm>
            <a:off x="1087677" y="2157234"/>
            <a:ext cx="1018992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en-US" sz="2400" b="1" dirty="0">
                <a:solidFill>
                  <a:schemeClr val="accent1"/>
                </a:solidFill>
              </a:rPr>
              <a:t>op-1           op-2                                       value of expression</a:t>
            </a:r>
          </a:p>
          <a:p>
            <a:pPr algn="l" eaLnBrk="1" hangingPunct="1"/>
            <a:r>
              <a:rPr lang="en-US" sz="2400" b="1" dirty="0">
                <a:solidFill>
                  <a:schemeClr val="accent1"/>
                </a:solidFill>
              </a:rPr>
              <a:t>                                                              op-1&amp;&amp;op-2                 op-1||</a:t>
            </a:r>
            <a:r>
              <a:rPr lang="en-US" sz="2400" b="1" dirty="0">
                <a:solidFill>
                  <a:schemeClr val="accent1"/>
                </a:solidFill>
                <a:cs typeface="Arial" charset="0"/>
              </a:rPr>
              <a:t>op-</a:t>
            </a:r>
            <a:r>
              <a:rPr lang="en-US" sz="2000" b="1" dirty="0">
                <a:solidFill>
                  <a:schemeClr val="accent1"/>
                </a:solidFill>
                <a:cs typeface="Arial" charset="0"/>
              </a:rPr>
              <a:t>2</a:t>
            </a:r>
          </a:p>
        </p:txBody>
      </p:sp>
      <p:sp>
        <p:nvSpPr>
          <p:cNvPr id="31750" name="Text Box 13"/>
          <p:cNvSpPr txBox="1">
            <a:spLocks noChangeArrowheads="1"/>
          </p:cNvSpPr>
          <p:nvPr/>
        </p:nvSpPr>
        <p:spPr bwMode="auto">
          <a:xfrm>
            <a:off x="1426923" y="3429000"/>
            <a:ext cx="9677400" cy="2597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lnSpc>
                <a:spcPct val="150000"/>
              </a:lnSpc>
            </a:pPr>
            <a:r>
              <a:rPr lang="en-US" sz="2800" b="1" dirty="0"/>
              <a:t>Non-zero     </a:t>
            </a:r>
            <a:r>
              <a:rPr lang="en-US" sz="2800" b="1" dirty="0" err="1"/>
              <a:t>Non-zero</a:t>
            </a:r>
            <a:r>
              <a:rPr lang="en-US" sz="2800" b="1" dirty="0"/>
              <a:t>                             1                    1</a:t>
            </a:r>
          </a:p>
          <a:p>
            <a:pPr algn="l" eaLnBrk="1" hangingPunct="1">
              <a:lnSpc>
                <a:spcPct val="150000"/>
              </a:lnSpc>
            </a:pPr>
            <a:r>
              <a:rPr lang="en-US" sz="2800" b="1" dirty="0"/>
              <a:t>Non-zero         0                                       0                    1</a:t>
            </a:r>
          </a:p>
          <a:p>
            <a:pPr algn="l" eaLnBrk="1" hangingPunct="1">
              <a:lnSpc>
                <a:spcPct val="150000"/>
              </a:lnSpc>
            </a:pPr>
            <a:r>
              <a:rPr lang="en-US" sz="2800" b="1" dirty="0"/>
              <a:t>0                  Non-zero                              0                    1</a:t>
            </a:r>
          </a:p>
          <a:p>
            <a:pPr algn="l" eaLnBrk="1" hangingPunct="1">
              <a:lnSpc>
                <a:spcPct val="150000"/>
              </a:lnSpc>
            </a:pPr>
            <a:r>
              <a:rPr lang="en-US" sz="2800" b="1" dirty="0"/>
              <a:t>0                       0                                       0                    0</a:t>
            </a:r>
          </a:p>
        </p:txBody>
      </p:sp>
      <p:sp>
        <p:nvSpPr>
          <p:cNvPr id="31751" name="Text Box 9"/>
          <p:cNvSpPr txBox="1">
            <a:spLocks noChangeArrowheads="1"/>
          </p:cNvSpPr>
          <p:nvPr/>
        </p:nvSpPr>
        <p:spPr bwMode="ltGray">
          <a:xfrm>
            <a:off x="2971800" y="457200"/>
            <a:ext cx="6019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3200" b="1">
                <a:solidFill>
                  <a:srgbClr val="CC6600"/>
                </a:solidFill>
              </a:rPr>
              <a:t>Logical Operators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7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1747" grpId="0" build="p"/>
      <p:bldP spid="31748" grpId="0"/>
      <p:bldP spid="3175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body" idx="4294967295"/>
          </p:nvPr>
        </p:nvSpPr>
        <p:spPr>
          <a:xfrm>
            <a:off x="33403" y="487099"/>
            <a:ext cx="8229600" cy="1366679"/>
          </a:xfrm>
        </p:spPr>
        <p:txBody>
          <a:bodyPr/>
          <a:lstStyle/>
          <a:p>
            <a:pPr eaLnBrk="1" hangingPunct="1">
              <a:buFontTx/>
              <a:buNone/>
            </a:pPr>
            <a:r>
              <a:rPr lang="en-US" sz="2400" b="1" dirty="0"/>
              <a:t>Example:     </a:t>
            </a:r>
            <a:r>
              <a:rPr lang="en-US" sz="2400" dirty="0"/>
              <a:t>Suppose  int </a:t>
            </a:r>
            <a:r>
              <a:rPr lang="en-US" sz="2400" dirty="0" err="1"/>
              <a:t>i</a:t>
            </a:r>
            <a:r>
              <a:rPr lang="en-US" sz="2400" dirty="0"/>
              <a:t>=7;</a:t>
            </a:r>
          </a:p>
          <a:p>
            <a:pPr eaLnBrk="1" hangingPunct="1">
              <a:buFontTx/>
              <a:buNone/>
            </a:pPr>
            <a:r>
              <a:rPr lang="en-US" sz="2400" dirty="0"/>
              <a:t> 		           float f= 5.5;</a:t>
            </a:r>
          </a:p>
          <a:p>
            <a:pPr eaLnBrk="1" hangingPunct="1">
              <a:buFontTx/>
              <a:buNone/>
            </a:pPr>
            <a:r>
              <a:rPr lang="en-US" sz="2400" dirty="0"/>
              <a:t>		           char c= ‘w’;</a:t>
            </a:r>
          </a:p>
        </p:txBody>
      </p:sp>
      <p:sp>
        <p:nvSpPr>
          <p:cNvPr id="32771" name="Text Box 5"/>
          <p:cNvSpPr txBox="1">
            <a:spLocks noChangeArrowheads="1"/>
          </p:cNvSpPr>
          <p:nvPr/>
        </p:nvSpPr>
        <p:spPr bwMode="auto">
          <a:xfrm>
            <a:off x="495300" y="1911561"/>
            <a:ext cx="10744200"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en-US" sz="2800" b="1" dirty="0">
                <a:solidFill>
                  <a:schemeClr val="accent1"/>
                </a:solidFill>
              </a:rPr>
              <a:t>Expression                             Interpretation                  Value</a:t>
            </a:r>
            <a:r>
              <a:rPr lang="en-US" sz="2800" dirty="0">
                <a:solidFill>
                  <a:schemeClr val="accent1"/>
                </a:solidFill>
              </a:rPr>
              <a:t> </a:t>
            </a:r>
            <a:endParaRPr lang="en-US" sz="2800" b="1" dirty="0">
              <a:solidFill>
                <a:schemeClr val="accent1"/>
              </a:solidFill>
            </a:endParaRPr>
          </a:p>
          <a:p>
            <a:pPr algn="l" eaLnBrk="1" hangingPunct="1"/>
            <a:r>
              <a:rPr lang="en-US" sz="2800" b="1" dirty="0"/>
              <a:t>(i &gt;= 6) &amp;&amp; (c == ‘w’)                    </a:t>
            </a:r>
          </a:p>
          <a:p>
            <a:pPr algn="l" eaLnBrk="1" hangingPunct="1"/>
            <a:r>
              <a:rPr lang="en-US" sz="2800" b="1" dirty="0"/>
              <a:t>(i &gt;= 6) || (c == ‘w’)    	</a:t>
            </a:r>
          </a:p>
          <a:p>
            <a:pPr algn="l" eaLnBrk="1" hangingPunct="1"/>
            <a:r>
              <a:rPr lang="en-US" sz="2800" b="1" dirty="0"/>
              <a:t>(f  &lt; 11) &amp;&amp; ( i &gt; 100)</a:t>
            </a:r>
          </a:p>
          <a:p>
            <a:pPr algn="l" eaLnBrk="1" hangingPunct="1"/>
            <a:r>
              <a:rPr lang="en-US" sz="2800" b="1" dirty="0"/>
              <a:t>f &gt; 5</a:t>
            </a:r>
          </a:p>
          <a:p>
            <a:pPr algn="l" eaLnBrk="1" hangingPunct="1"/>
            <a:r>
              <a:rPr lang="en-US" sz="2800" b="1" dirty="0"/>
              <a:t>!(f &gt; 5)</a:t>
            </a:r>
          </a:p>
          <a:p>
            <a:pPr algn="l" eaLnBrk="1" hangingPunct="1"/>
            <a:r>
              <a:rPr lang="en-US" sz="2800" b="1" dirty="0"/>
              <a:t>i &lt;= 3</a:t>
            </a:r>
          </a:p>
          <a:p>
            <a:pPr algn="l" eaLnBrk="1" hangingPunct="1"/>
            <a:r>
              <a:rPr lang="en-US" sz="2800" b="1" dirty="0"/>
              <a:t>!(i &lt;= 3)</a:t>
            </a:r>
          </a:p>
          <a:p>
            <a:pPr algn="l" eaLnBrk="1" hangingPunct="1"/>
            <a:r>
              <a:rPr lang="en-US" sz="2800" b="1" dirty="0"/>
              <a:t>i &gt; (f+1)</a:t>
            </a:r>
          </a:p>
          <a:p>
            <a:pPr algn="l" eaLnBrk="1" hangingPunct="1"/>
            <a:r>
              <a:rPr lang="en-US" sz="2800" b="1" dirty="0"/>
              <a:t>!(i &gt; (f+1))                              			</a:t>
            </a:r>
            <a:r>
              <a:rPr lang="en-US" sz="2800" dirty="0"/>
              <a:t>		</a:t>
            </a:r>
          </a:p>
          <a:p>
            <a:pPr algn="l" eaLnBrk="1" hangingPunct="1"/>
            <a:r>
              <a:rPr lang="en-US" sz="2800" dirty="0"/>
              <a:t>         </a:t>
            </a:r>
          </a:p>
        </p:txBody>
      </p:sp>
      <p:sp>
        <p:nvSpPr>
          <p:cNvPr id="32772" name="Text Box 9"/>
          <p:cNvSpPr txBox="1">
            <a:spLocks noChangeArrowheads="1"/>
          </p:cNvSpPr>
          <p:nvPr/>
        </p:nvSpPr>
        <p:spPr bwMode="ltGray">
          <a:xfrm>
            <a:off x="5867400" y="194712"/>
            <a:ext cx="6019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spcBef>
                <a:spcPct val="50000"/>
              </a:spcBef>
            </a:pPr>
            <a:r>
              <a:rPr lang="en-US" sz="3200" b="1" dirty="0">
                <a:solidFill>
                  <a:srgbClr val="CC6600"/>
                </a:solidFill>
              </a:rPr>
              <a:t>Logical Operators </a:t>
            </a:r>
          </a:p>
        </p:txBody>
      </p:sp>
      <p:sp>
        <p:nvSpPr>
          <p:cNvPr id="2" name="TextBox 1"/>
          <p:cNvSpPr txBox="1"/>
          <p:nvPr/>
        </p:nvSpPr>
        <p:spPr>
          <a:xfrm>
            <a:off x="5334000" y="2434225"/>
            <a:ext cx="6553200" cy="4832092"/>
          </a:xfrm>
          <a:prstGeom prst="rect">
            <a:avLst/>
          </a:prstGeom>
          <a:noFill/>
        </p:spPr>
        <p:txBody>
          <a:bodyPr wrap="square" rtlCol="0">
            <a:spAutoFit/>
          </a:bodyPr>
          <a:lstStyle/>
          <a:p>
            <a:pPr algn="l" eaLnBrk="1" hangingPunct="1"/>
            <a:r>
              <a:rPr lang="en-US" sz="2800" b="1" dirty="0"/>
              <a:t>true                              	    1</a:t>
            </a:r>
          </a:p>
          <a:p>
            <a:pPr algn="l" eaLnBrk="1" hangingPunct="1"/>
            <a:r>
              <a:rPr lang="en-US" sz="2800" b="1" dirty="0"/>
              <a:t>true                            	    1  </a:t>
            </a:r>
          </a:p>
          <a:p>
            <a:pPr algn="l" eaLnBrk="1" hangingPunct="1"/>
            <a:r>
              <a:rPr lang="en-US" sz="2800" b="1" dirty="0"/>
              <a:t>false                          	    0</a:t>
            </a:r>
          </a:p>
          <a:p>
            <a:pPr algn="l" eaLnBrk="1" hangingPunct="1"/>
            <a:r>
              <a:rPr lang="en-US" sz="2800" b="1" dirty="0"/>
              <a:t>true                           	    1                         </a:t>
            </a:r>
          </a:p>
          <a:p>
            <a:pPr algn="l" eaLnBrk="1" hangingPunct="1"/>
            <a:r>
              <a:rPr lang="en-US" sz="2800" b="1" dirty="0"/>
              <a:t>false                         	    0</a:t>
            </a:r>
          </a:p>
          <a:p>
            <a:pPr algn="l" eaLnBrk="1" hangingPunct="1"/>
            <a:r>
              <a:rPr lang="en-US" sz="2800" b="1" dirty="0"/>
              <a:t>false                       	   		0</a:t>
            </a:r>
          </a:p>
          <a:p>
            <a:pPr algn="l" eaLnBrk="1" hangingPunct="1"/>
            <a:r>
              <a:rPr lang="en-US" sz="2800" b="1" dirty="0"/>
              <a:t>true                        	   		1</a:t>
            </a:r>
          </a:p>
          <a:p>
            <a:pPr algn="l" eaLnBrk="1" hangingPunct="1"/>
            <a:r>
              <a:rPr lang="en-US" sz="2800" b="1" dirty="0"/>
              <a:t>true                         	 	    1</a:t>
            </a:r>
          </a:p>
          <a:p>
            <a:pPr algn="l" eaLnBrk="1" hangingPunct="1"/>
            <a:r>
              <a:rPr lang="en-US" sz="2800" b="1" dirty="0"/>
              <a:t>false                      	 	    0</a:t>
            </a:r>
          </a:p>
          <a:p>
            <a:pPr algn="l" eaLnBrk="1" hangingPunct="1"/>
            <a:r>
              <a:rPr lang="en-US" sz="2800" b="1" dirty="0"/>
              <a:t>                                   			</a:t>
            </a:r>
            <a:r>
              <a:rPr lang="en-US" sz="2800" dirty="0"/>
              <a:t>		</a:t>
            </a:r>
          </a:p>
          <a:p>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7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ext Box 7"/>
          <p:cNvSpPr txBox="1">
            <a:spLocks noChangeArrowheads="1"/>
          </p:cNvSpPr>
          <p:nvPr/>
        </p:nvSpPr>
        <p:spPr bwMode="auto">
          <a:xfrm>
            <a:off x="1905000" y="39624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endParaRPr lang="en-US"/>
          </a:p>
        </p:txBody>
      </p:sp>
      <p:sp>
        <p:nvSpPr>
          <p:cNvPr id="2" name="Title 1">
            <a:extLst>
              <a:ext uri="{FF2B5EF4-FFF2-40B4-BE49-F238E27FC236}">
                <a16:creationId xmlns:a16="http://schemas.microsoft.com/office/drawing/2014/main" id="{59F5C23F-1811-45D1-8713-33BB9F195530}"/>
              </a:ext>
            </a:extLst>
          </p:cNvPr>
          <p:cNvSpPr>
            <a:spLocks noGrp="1"/>
          </p:cNvSpPr>
          <p:nvPr>
            <p:ph type="title"/>
          </p:nvPr>
        </p:nvSpPr>
        <p:spPr>
          <a:xfrm>
            <a:off x="838200" y="337196"/>
            <a:ext cx="10515600" cy="1325563"/>
          </a:xfrm>
        </p:spPr>
        <p:txBody>
          <a:bodyPr/>
          <a:lstStyle/>
          <a:p>
            <a:r>
              <a:rPr lang="en-US" sz="4400" b="1" dirty="0">
                <a:solidFill>
                  <a:srgbClr val="CC6600"/>
                </a:solidFill>
              </a:rPr>
              <a:t>Assignment  Operator </a:t>
            </a:r>
            <a:endParaRPr lang="en-US" dirty="0"/>
          </a:p>
        </p:txBody>
      </p:sp>
      <p:sp>
        <p:nvSpPr>
          <p:cNvPr id="3" name="Content Placeholder 2">
            <a:extLst>
              <a:ext uri="{FF2B5EF4-FFF2-40B4-BE49-F238E27FC236}">
                <a16:creationId xmlns:a16="http://schemas.microsoft.com/office/drawing/2014/main" id="{F31A5850-AA85-4DF7-A849-8003D7181AE6}"/>
              </a:ext>
            </a:extLst>
          </p:cNvPr>
          <p:cNvSpPr>
            <a:spLocks noGrp="1"/>
          </p:cNvSpPr>
          <p:nvPr>
            <p:ph idx="1"/>
          </p:nvPr>
        </p:nvSpPr>
        <p:spPr>
          <a:xfrm>
            <a:off x="854901" y="1524000"/>
            <a:ext cx="10515600" cy="4996804"/>
          </a:xfrm>
        </p:spPr>
        <p:txBody>
          <a:bodyPr>
            <a:normAutofit/>
          </a:bodyPr>
          <a:lstStyle/>
          <a:p>
            <a:pPr algn="just" eaLnBrk="1" hangingPunct="1">
              <a:lnSpc>
                <a:spcPct val="135000"/>
              </a:lnSpc>
            </a:pPr>
            <a:r>
              <a:rPr lang="en-US" sz="2800" dirty="0"/>
              <a:t>Assignment operator is used to assign the result of an expression to a variable.</a:t>
            </a:r>
          </a:p>
          <a:p>
            <a:pPr marL="0" indent="0" algn="ctr" eaLnBrk="1" hangingPunct="1">
              <a:lnSpc>
                <a:spcPct val="135000"/>
              </a:lnSpc>
              <a:buNone/>
            </a:pPr>
            <a:r>
              <a:rPr lang="en-US" sz="2800" b="1" dirty="0">
                <a:solidFill>
                  <a:schemeClr val="accent1"/>
                </a:solidFill>
              </a:rPr>
              <a:t> identifier = expression</a:t>
            </a:r>
          </a:p>
          <a:p>
            <a:pPr algn="just" eaLnBrk="1" hangingPunct="1">
              <a:lnSpc>
                <a:spcPct val="135000"/>
              </a:lnSpc>
            </a:pPr>
            <a:r>
              <a:rPr lang="en-US" sz="2800" dirty="0"/>
              <a:t>Where </a:t>
            </a:r>
            <a:r>
              <a:rPr lang="en-US" sz="2800" b="1" dirty="0">
                <a:solidFill>
                  <a:schemeClr val="accent1"/>
                </a:solidFill>
              </a:rPr>
              <a:t>identifier</a:t>
            </a:r>
            <a:r>
              <a:rPr lang="en-US" sz="2800" dirty="0"/>
              <a:t> represents a variable, and </a:t>
            </a:r>
            <a:r>
              <a:rPr lang="en-US" sz="2800" b="1" dirty="0">
                <a:solidFill>
                  <a:schemeClr val="accent1"/>
                </a:solidFill>
              </a:rPr>
              <a:t>expression</a:t>
            </a:r>
            <a:r>
              <a:rPr lang="en-US" sz="2800" dirty="0"/>
              <a:t> represents a constant, a variable or a more complex expression. The variable on the L.H.S is called the target variable.</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4"/>
          <p:cNvSpPr>
            <a:spLocks noGrp="1" noChangeArrowheads="1"/>
          </p:cNvSpPr>
          <p:nvPr>
            <p:ph type="body" idx="4294967295"/>
          </p:nvPr>
        </p:nvSpPr>
        <p:spPr>
          <a:xfrm>
            <a:off x="229644" y="1176336"/>
            <a:ext cx="11657556" cy="5300663"/>
          </a:xfrm>
        </p:spPr>
        <p:txBody>
          <a:bodyPr>
            <a:normAutofit/>
          </a:bodyPr>
          <a:lstStyle/>
          <a:p>
            <a:pPr eaLnBrk="1" hangingPunct="1">
              <a:lnSpc>
                <a:spcPct val="80000"/>
              </a:lnSpc>
              <a:buFontTx/>
              <a:buNone/>
            </a:pPr>
            <a:r>
              <a:rPr lang="en-US" sz="3200" dirty="0"/>
              <a:t>   </a:t>
            </a:r>
            <a:r>
              <a:rPr lang="en-US" sz="3200" b="1" dirty="0"/>
              <a:t>Example:  	  	</a:t>
            </a:r>
            <a:r>
              <a:rPr lang="en-US" sz="3200" dirty="0"/>
              <a:t>a = 3;</a:t>
            </a:r>
          </a:p>
          <a:p>
            <a:pPr eaLnBrk="1" hangingPunct="1">
              <a:lnSpc>
                <a:spcPct val="80000"/>
              </a:lnSpc>
              <a:buFontTx/>
              <a:buNone/>
            </a:pPr>
            <a:r>
              <a:rPr lang="en-US" sz="3200" dirty="0"/>
              <a:t>            			x = y + 1;</a:t>
            </a:r>
          </a:p>
          <a:p>
            <a:pPr eaLnBrk="1" hangingPunct="1">
              <a:lnSpc>
                <a:spcPct val="80000"/>
              </a:lnSpc>
              <a:buFontTx/>
              <a:buNone/>
            </a:pPr>
            <a:r>
              <a:rPr lang="en-US" sz="3200" dirty="0"/>
              <a:t>            			area = length * width;</a:t>
            </a:r>
          </a:p>
          <a:p>
            <a:pPr eaLnBrk="1" hangingPunct="1">
              <a:lnSpc>
                <a:spcPct val="80000"/>
              </a:lnSpc>
            </a:pPr>
            <a:r>
              <a:rPr lang="en-US" sz="3200" dirty="0"/>
              <a:t>The </a:t>
            </a:r>
            <a:r>
              <a:rPr lang="en-US" sz="3200" b="1" dirty="0">
                <a:solidFill>
                  <a:schemeClr val="accent1"/>
                </a:solidFill>
              </a:rPr>
              <a:t>assignment operator = </a:t>
            </a:r>
            <a:r>
              <a:rPr lang="en-US" sz="3200" dirty="0"/>
              <a:t>and the </a:t>
            </a:r>
            <a:r>
              <a:rPr lang="en-US" sz="3200" b="1" dirty="0">
                <a:solidFill>
                  <a:schemeClr val="accent1"/>
                </a:solidFill>
              </a:rPr>
              <a:t>equality operator == </a:t>
            </a:r>
            <a:r>
              <a:rPr lang="en-US" sz="3200" dirty="0"/>
              <a:t>are different</a:t>
            </a:r>
          </a:p>
          <a:p>
            <a:pPr algn="ctr" eaLnBrk="1" hangingPunct="1">
              <a:lnSpc>
                <a:spcPct val="80000"/>
              </a:lnSpc>
              <a:buFontTx/>
              <a:buNone/>
            </a:pPr>
            <a:r>
              <a:rPr lang="en-US" sz="3200" dirty="0"/>
              <a:t>   </a:t>
            </a:r>
            <a:r>
              <a:rPr lang="en-US" sz="3200" b="1" dirty="0">
                <a:solidFill>
                  <a:schemeClr val="accent1"/>
                </a:solidFill>
              </a:rPr>
              <a:t>Example    a=2 is not the same as a==2</a:t>
            </a:r>
          </a:p>
          <a:p>
            <a:pPr algn="just" eaLnBrk="1" hangingPunct="1">
              <a:lnSpc>
                <a:spcPct val="80000"/>
              </a:lnSpc>
            </a:pPr>
            <a:r>
              <a:rPr lang="en-US" sz="3200" dirty="0"/>
              <a:t>If the two operands in an assignment  expression are of different types, then the value of the expression on the right will automatically be converted to the type of the identifier on the left.</a:t>
            </a:r>
          </a:p>
          <a:p>
            <a:pPr algn="just" eaLnBrk="1" hangingPunct="1">
              <a:lnSpc>
                <a:spcPct val="80000"/>
              </a:lnSpc>
            </a:pPr>
            <a:r>
              <a:rPr lang="en-US" sz="3200" dirty="0"/>
              <a:t>Truncation will result when real value is assigned to an integer</a:t>
            </a:r>
          </a:p>
        </p:txBody>
      </p:sp>
      <p:sp>
        <p:nvSpPr>
          <p:cNvPr id="34820" name="Text Box 9"/>
          <p:cNvSpPr txBox="1">
            <a:spLocks noChangeArrowheads="1"/>
          </p:cNvSpPr>
          <p:nvPr/>
        </p:nvSpPr>
        <p:spPr bwMode="ltGray">
          <a:xfrm>
            <a:off x="3352800" y="42863"/>
            <a:ext cx="6019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3200" b="1" dirty="0">
                <a:solidFill>
                  <a:srgbClr val="CC6600"/>
                </a:solidFill>
              </a:rPr>
              <a:t>Assignment  Operator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1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1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81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81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8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type="body" idx="4294967295"/>
          </p:nvPr>
        </p:nvSpPr>
        <p:spPr>
          <a:xfrm>
            <a:off x="0" y="914400"/>
            <a:ext cx="12344400" cy="5867400"/>
          </a:xfrm>
        </p:spPr>
        <p:txBody>
          <a:bodyPr>
            <a:normAutofit/>
          </a:bodyPr>
          <a:lstStyle/>
          <a:p>
            <a:pPr eaLnBrk="1" hangingPunct="1">
              <a:lnSpc>
                <a:spcPct val="90000"/>
              </a:lnSpc>
              <a:buFontTx/>
              <a:buNone/>
            </a:pPr>
            <a:r>
              <a:rPr lang="en-US" dirty="0"/>
              <a:t>   </a:t>
            </a:r>
            <a:r>
              <a:rPr lang="en-US" b="1" dirty="0"/>
              <a:t>Example:</a:t>
            </a:r>
            <a:r>
              <a:rPr lang="en-US" dirty="0"/>
              <a:t> Suppose </a:t>
            </a:r>
            <a:r>
              <a:rPr lang="en-US" dirty="0" err="1"/>
              <a:t>i</a:t>
            </a:r>
            <a:r>
              <a:rPr lang="en-US" dirty="0"/>
              <a:t> is an integer type variable</a:t>
            </a:r>
          </a:p>
          <a:p>
            <a:pPr eaLnBrk="1" hangingPunct="1">
              <a:lnSpc>
                <a:spcPct val="90000"/>
              </a:lnSpc>
              <a:buFontTx/>
              <a:buNone/>
            </a:pPr>
            <a:r>
              <a:rPr lang="en-US" b="1" dirty="0">
                <a:solidFill>
                  <a:srgbClr val="BD5329"/>
                </a:solidFill>
              </a:rPr>
              <a:t>   Expression                  Value of </a:t>
            </a:r>
            <a:r>
              <a:rPr lang="en-US" b="1" dirty="0" err="1">
                <a:solidFill>
                  <a:srgbClr val="BD5329"/>
                </a:solidFill>
              </a:rPr>
              <a:t>i</a:t>
            </a:r>
            <a:endParaRPr lang="en-US" b="1" dirty="0">
              <a:solidFill>
                <a:srgbClr val="BD5329"/>
              </a:solidFill>
            </a:endParaRPr>
          </a:p>
          <a:p>
            <a:pPr eaLnBrk="1" hangingPunct="1">
              <a:lnSpc>
                <a:spcPct val="90000"/>
              </a:lnSpc>
              <a:buFontTx/>
              <a:buNone/>
            </a:pPr>
            <a:r>
              <a:rPr lang="en-US" dirty="0"/>
              <a:t>   </a:t>
            </a:r>
            <a:r>
              <a:rPr lang="en-US" dirty="0" err="1"/>
              <a:t>i</a:t>
            </a:r>
            <a:r>
              <a:rPr lang="en-US" dirty="0"/>
              <a:t> = 3.9                                  3</a:t>
            </a:r>
          </a:p>
          <a:p>
            <a:pPr eaLnBrk="1" hangingPunct="1">
              <a:lnSpc>
                <a:spcPct val="90000"/>
              </a:lnSpc>
              <a:buFontTx/>
              <a:buNone/>
            </a:pPr>
            <a:r>
              <a:rPr lang="en-US" dirty="0"/>
              <a:t>   </a:t>
            </a:r>
            <a:r>
              <a:rPr lang="en-US" dirty="0" err="1"/>
              <a:t>i</a:t>
            </a:r>
            <a:r>
              <a:rPr lang="en-US" dirty="0"/>
              <a:t> = -3.9                                -3</a:t>
            </a:r>
          </a:p>
          <a:p>
            <a:pPr eaLnBrk="1" hangingPunct="1">
              <a:lnSpc>
                <a:spcPct val="90000"/>
              </a:lnSpc>
              <a:buFontTx/>
              <a:buNone/>
            </a:pPr>
            <a:endParaRPr lang="en-US" dirty="0"/>
          </a:p>
          <a:p>
            <a:pPr eaLnBrk="1" hangingPunct="1">
              <a:lnSpc>
                <a:spcPct val="90000"/>
              </a:lnSpc>
            </a:pPr>
            <a:r>
              <a:rPr lang="en-US" dirty="0"/>
              <a:t>Multiple assignments of the form</a:t>
            </a:r>
          </a:p>
          <a:p>
            <a:pPr eaLnBrk="1" hangingPunct="1">
              <a:lnSpc>
                <a:spcPct val="90000"/>
              </a:lnSpc>
              <a:buFontTx/>
              <a:buNone/>
            </a:pPr>
            <a:r>
              <a:rPr lang="en-US" dirty="0"/>
              <a:t>      identifier1 = identfier2= . . . = expression are permitted. </a:t>
            </a:r>
          </a:p>
          <a:p>
            <a:pPr eaLnBrk="1" hangingPunct="1">
              <a:lnSpc>
                <a:spcPct val="90000"/>
              </a:lnSpc>
            </a:pPr>
            <a:r>
              <a:rPr lang="en-US" dirty="0"/>
              <a:t>In such situations, the assignments are carried out from right to left.</a:t>
            </a:r>
          </a:p>
          <a:p>
            <a:pPr eaLnBrk="1" hangingPunct="1">
              <a:lnSpc>
                <a:spcPct val="90000"/>
              </a:lnSpc>
              <a:buFontTx/>
              <a:buNone/>
            </a:pPr>
            <a:r>
              <a:rPr lang="en-US" dirty="0"/>
              <a:t>     </a:t>
            </a:r>
            <a:r>
              <a:rPr lang="en-US" b="1" dirty="0"/>
              <a:t>Ex:</a:t>
            </a:r>
            <a:r>
              <a:rPr lang="en-US" dirty="0"/>
              <a:t> Suppose </a:t>
            </a:r>
            <a:r>
              <a:rPr lang="en-US" dirty="0" err="1"/>
              <a:t>i</a:t>
            </a:r>
            <a:r>
              <a:rPr lang="en-US" dirty="0"/>
              <a:t>, j and k are integer variables.</a:t>
            </a:r>
          </a:p>
          <a:p>
            <a:pPr eaLnBrk="1" hangingPunct="1">
              <a:lnSpc>
                <a:spcPct val="90000"/>
              </a:lnSpc>
              <a:buFontTx/>
              <a:buNone/>
            </a:pPr>
            <a:r>
              <a:rPr lang="en-US" dirty="0"/>
              <a:t>          </a:t>
            </a:r>
            <a:r>
              <a:rPr lang="en-US" dirty="0" err="1"/>
              <a:t>i</a:t>
            </a:r>
            <a:r>
              <a:rPr lang="en-US" dirty="0"/>
              <a:t> = j = k = 5;</a:t>
            </a:r>
          </a:p>
          <a:p>
            <a:pPr eaLnBrk="1" hangingPunct="1">
              <a:lnSpc>
                <a:spcPct val="90000"/>
              </a:lnSpc>
              <a:buFontTx/>
              <a:buNone/>
            </a:pPr>
            <a:r>
              <a:rPr lang="en-US" dirty="0"/>
              <a:t>         k is assigned value 5 first followed by j and </a:t>
            </a:r>
            <a:r>
              <a:rPr lang="en-US" dirty="0" err="1"/>
              <a:t>i</a:t>
            </a:r>
            <a:r>
              <a:rPr lang="en-US" dirty="0"/>
              <a:t>.</a:t>
            </a:r>
          </a:p>
        </p:txBody>
      </p:sp>
      <p:sp>
        <p:nvSpPr>
          <p:cNvPr id="35844" name="Text Box 9"/>
          <p:cNvSpPr txBox="1">
            <a:spLocks noChangeArrowheads="1"/>
          </p:cNvSpPr>
          <p:nvPr/>
        </p:nvSpPr>
        <p:spPr bwMode="ltGray">
          <a:xfrm>
            <a:off x="5791200" y="76200"/>
            <a:ext cx="601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spcBef>
                <a:spcPct val="50000"/>
              </a:spcBef>
            </a:pPr>
            <a:r>
              <a:rPr lang="en-US" sz="2400" b="1" dirty="0">
                <a:solidFill>
                  <a:srgbClr val="CC6600"/>
                </a:solidFill>
              </a:rPr>
              <a:t>Assignment  Operators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8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84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84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84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84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584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584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body" idx="4294967295"/>
          </p:nvPr>
        </p:nvSpPr>
        <p:spPr>
          <a:xfrm>
            <a:off x="685800" y="1244600"/>
            <a:ext cx="10896600" cy="5461000"/>
          </a:xfrm>
        </p:spPr>
        <p:txBody>
          <a:bodyPr>
            <a:normAutofit fontScale="92500" lnSpcReduction="20000"/>
          </a:bodyPr>
          <a:lstStyle/>
          <a:p>
            <a:pPr algn="ctr" eaLnBrk="1" hangingPunct="1">
              <a:lnSpc>
                <a:spcPct val="110000"/>
              </a:lnSpc>
              <a:buFontTx/>
              <a:buNone/>
            </a:pPr>
            <a:r>
              <a:rPr lang="en-US" sz="3000" b="1" i="1" dirty="0">
                <a:solidFill>
                  <a:schemeClr val="accent1"/>
                </a:solidFill>
              </a:rPr>
              <a:t>     v</a:t>
            </a:r>
            <a:r>
              <a:rPr lang="en-US" sz="3000" b="1" dirty="0">
                <a:solidFill>
                  <a:schemeClr val="accent1"/>
                </a:solidFill>
              </a:rPr>
              <a:t>  op = exp;</a:t>
            </a:r>
          </a:p>
          <a:p>
            <a:pPr eaLnBrk="1" hangingPunct="1">
              <a:lnSpc>
                <a:spcPct val="110000"/>
              </a:lnSpc>
            </a:pPr>
            <a:r>
              <a:rPr lang="en-US" sz="3000" dirty="0"/>
              <a:t>Where v is a variable, op is a binary arithmetic operator and exp is an expression.</a:t>
            </a:r>
          </a:p>
          <a:p>
            <a:pPr marL="0" indent="0" algn="ctr" eaLnBrk="1" hangingPunct="1">
              <a:lnSpc>
                <a:spcPct val="110000"/>
              </a:lnSpc>
              <a:buNone/>
            </a:pPr>
            <a:r>
              <a:rPr lang="en-US" sz="3000" dirty="0">
                <a:solidFill>
                  <a:schemeClr val="accent1"/>
                </a:solidFill>
              </a:rPr>
              <a:t>v  op = exp; </a:t>
            </a:r>
          </a:p>
          <a:p>
            <a:pPr marL="0" indent="0" algn="ctr" eaLnBrk="1" hangingPunct="1">
              <a:lnSpc>
                <a:spcPct val="110000"/>
              </a:lnSpc>
              <a:buNone/>
            </a:pPr>
            <a:r>
              <a:rPr lang="en-US" sz="3000" dirty="0">
                <a:solidFill>
                  <a:schemeClr val="accent1"/>
                </a:solidFill>
              </a:rPr>
              <a:t>is equivalent to v=v op (exp);</a:t>
            </a:r>
          </a:p>
          <a:p>
            <a:pPr eaLnBrk="1" hangingPunct="1">
              <a:lnSpc>
                <a:spcPct val="110000"/>
              </a:lnSpc>
            </a:pPr>
            <a:endParaRPr lang="en-US" sz="3000" dirty="0"/>
          </a:p>
          <a:p>
            <a:pPr eaLnBrk="1" hangingPunct="1">
              <a:lnSpc>
                <a:spcPct val="110000"/>
              </a:lnSpc>
            </a:pPr>
            <a:r>
              <a:rPr lang="en-US" sz="3000" dirty="0"/>
              <a:t>Shorthand operators have the following advantage</a:t>
            </a:r>
          </a:p>
          <a:p>
            <a:pPr lvl="1" eaLnBrk="1" hangingPunct="1">
              <a:lnSpc>
                <a:spcPct val="110000"/>
              </a:lnSpc>
            </a:pPr>
            <a:r>
              <a:rPr lang="en-US" sz="3000" dirty="0"/>
              <a:t>What appears on the left side need not be repeated and becomes easier to write</a:t>
            </a:r>
          </a:p>
          <a:p>
            <a:pPr lvl="1" eaLnBrk="1" hangingPunct="1">
              <a:lnSpc>
                <a:spcPct val="110000"/>
              </a:lnSpc>
            </a:pPr>
            <a:r>
              <a:rPr lang="en-US" sz="3000" dirty="0"/>
              <a:t>Statement is more concise and easier to read</a:t>
            </a:r>
          </a:p>
          <a:p>
            <a:pPr lvl="1" eaLnBrk="1" hangingPunct="1">
              <a:lnSpc>
                <a:spcPct val="110000"/>
              </a:lnSpc>
            </a:pPr>
            <a:r>
              <a:rPr lang="en-US" sz="3000" dirty="0"/>
              <a:t>Statement is more efficient</a:t>
            </a:r>
            <a:endParaRPr lang="en-US" sz="2400" dirty="0"/>
          </a:p>
        </p:txBody>
      </p:sp>
      <p:sp>
        <p:nvSpPr>
          <p:cNvPr id="36868" name="Text Box 9"/>
          <p:cNvSpPr txBox="1">
            <a:spLocks noChangeArrowheads="1"/>
          </p:cNvSpPr>
          <p:nvPr/>
        </p:nvSpPr>
        <p:spPr bwMode="ltGray">
          <a:xfrm>
            <a:off x="76200" y="257827"/>
            <a:ext cx="11887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3200" b="1" dirty="0">
                <a:solidFill>
                  <a:srgbClr val="BD5329"/>
                </a:solidFill>
              </a:rPr>
              <a:t>Shorthand assignment operator</a:t>
            </a:r>
            <a:endParaRPr lang="en-US" sz="3200" b="1" i="1" dirty="0">
              <a:solidFill>
                <a:srgbClr val="CC66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86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86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8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idx="4294967295"/>
          </p:nvPr>
        </p:nvSpPr>
        <p:spPr>
          <a:xfrm>
            <a:off x="3962400" y="228600"/>
            <a:ext cx="8229600" cy="1143000"/>
          </a:xfrm>
        </p:spPr>
        <p:txBody>
          <a:bodyPr/>
          <a:lstStyle/>
          <a:p>
            <a:pPr eaLnBrk="1" hangingPunct="1"/>
            <a:br>
              <a:rPr lang="en-US" sz="2400" b="1"/>
            </a:br>
            <a:endParaRPr lang="en-US" sz="2400" b="1"/>
          </a:p>
        </p:txBody>
      </p:sp>
      <p:sp>
        <p:nvSpPr>
          <p:cNvPr id="37892" name="Rectangle 3"/>
          <p:cNvSpPr>
            <a:spLocks noGrp="1" noChangeArrowheads="1"/>
          </p:cNvSpPr>
          <p:nvPr>
            <p:ph type="body" idx="4294967295"/>
          </p:nvPr>
        </p:nvSpPr>
        <p:spPr>
          <a:xfrm>
            <a:off x="533400" y="1066800"/>
            <a:ext cx="11201400" cy="5029199"/>
          </a:xfrm>
        </p:spPr>
        <p:txBody>
          <a:bodyPr/>
          <a:lstStyle/>
          <a:p>
            <a:pPr eaLnBrk="1" hangingPunct="1">
              <a:buFontTx/>
              <a:buNone/>
            </a:pPr>
            <a:r>
              <a:rPr lang="en-US" sz="2400" b="1" dirty="0"/>
              <a:t>Example:  </a:t>
            </a:r>
          </a:p>
          <a:p>
            <a:pPr algn="ctr" eaLnBrk="1" hangingPunct="1">
              <a:buFontTx/>
              <a:buNone/>
            </a:pPr>
            <a:r>
              <a:rPr lang="en-US" sz="2400" dirty="0"/>
              <a:t>Suppose </a:t>
            </a:r>
            <a:r>
              <a:rPr lang="en-US" sz="2400" dirty="0" err="1"/>
              <a:t>i</a:t>
            </a:r>
            <a:r>
              <a:rPr lang="en-US" sz="2400" dirty="0"/>
              <a:t> = 5,  j = 7, f = 5.5, and g = -3.25;   </a:t>
            </a:r>
          </a:p>
          <a:p>
            <a:pPr algn="ctr" eaLnBrk="1" hangingPunct="1">
              <a:buFontTx/>
              <a:buNone/>
            </a:pPr>
            <a:r>
              <a:rPr lang="en-US" sz="2400" dirty="0" err="1"/>
              <a:t>i</a:t>
            </a:r>
            <a:r>
              <a:rPr lang="en-US" sz="2400" dirty="0"/>
              <a:t>, j are integers, f and g are floating point numbers </a:t>
            </a:r>
          </a:p>
          <a:p>
            <a:pPr eaLnBrk="1" hangingPunct="1">
              <a:buFontTx/>
              <a:buNone/>
            </a:pPr>
            <a:endParaRPr lang="en-US" sz="2400" b="1" dirty="0"/>
          </a:p>
          <a:p>
            <a:pPr eaLnBrk="1" hangingPunct="1">
              <a:buFontTx/>
              <a:buNone/>
            </a:pPr>
            <a:r>
              <a:rPr lang="en-US" sz="2400" b="1" dirty="0">
                <a:solidFill>
                  <a:srgbClr val="BD5329"/>
                </a:solidFill>
              </a:rPr>
              <a:t>Expression             Equivalent Expression           Final Value</a:t>
            </a:r>
          </a:p>
          <a:p>
            <a:pPr eaLnBrk="1" hangingPunct="1">
              <a:buFontTx/>
              <a:buNone/>
            </a:pPr>
            <a:endParaRPr lang="en-US" sz="2400" b="1" dirty="0"/>
          </a:p>
          <a:p>
            <a:pPr eaLnBrk="1" hangingPunct="1">
              <a:buFontTx/>
              <a:buNone/>
            </a:pPr>
            <a:r>
              <a:rPr lang="en-US" sz="2400" b="1" dirty="0" err="1"/>
              <a:t>i</a:t>
            </a:r>
            <a:r>
              <a:rPr lang="en-US" sz="2400" b="1" dirty="0"/>
              <a:t> += 5 				</a:t>
            </a:r>
            <a:r>
              <a:rPr lang="en-US" sz="2400" b="1" dirty="0" err="1"/>
              <a:t>i</a:t>
            </a:r>
            <a:r>
              <a:rPr lang="en-US" sz="2400" b="1" dirty="0"/>
              <a:t>=i+5				10</a:t>
            </a:r>
          </a:p>
          <a:p>
            <a:pPr eaLnBrk="1" hangingPunct="1">
              <a:buFontTx/>
              <a:buNone/>
            </a:pPr>
            <a:r>
              <a:rPr lang="en-US" sz="2400" b="1" dirty="0"/>
              <a:t>f -= g				f=f-g				8.75</a:t>
            </a:r>
          </a:p>
          <a:p>
            <a:pPr eaLnBrk="1" hangingPunct="1">
              <a:buFontTx/>
              <a:buNone/>
            </a:pPr>
            <a:r>
              <a:rPr lang="en-US" sz="2400" b="1" dirty="0"/>
              <a:t>j *= (i-3)			j=j*(i-3)			14</a:t>
            </a:r>
          </a:p>
          <a:p>
            <a:pPr eaLnBrk="1" hangingPunct="1">
              <a:buFontTx/>
              <a:buNone/>
            </a:pPr>
            <a:r>
              <a:rPr lang="en-US" sz="2400" b="1" dirty="0"/>
              <a:t>f /= 3 				f=f/3			    1.833333</a:t>
            </a:r>
          </a:p>
          <a:p>
            <a:pPr eaLnBrk="1" hangingPunct="1">
              <a:buFontTx/>
              <a:buNone/>
            </a:pPr>
            <a:r>
              <a:rPr lang="en-US" sz="2400" b="1" dirty="0" err="1"/>
              <a:t>i</a:t>
            </a:r>
            <a:r>
              <a:rPr lang="en-US" sz="2400" b="1" dirty="0"/>
              <a:t> %= (j-2)			</a:t>
            </a:r>
            <a:r>
              <a:rPr lang="en-US" sz="2400" b="1" dirty="0" err="1"/>
              <a:t>i</a:t>
            </a:r>
            <a:r>
              <a:rPr lang="en-US" sz="2400" b="1" dirty="0"/>
              <a:t>=</a:t>
            </a:r>
            <a:r>
              <a:rPr lang="en-US" sz="2400" b="1" dirty="0" err="1"/>
              <a:t>i</a:t>
            </a:r>
            <a:r>
              <a:rPr lang="en-US" sz="2400" b="1" dirty="0"/>
              <a:t>%(j-2)			0</a:t>
            </a:r>
          </a:p>
        </p:txBody>
      </p:sp>
      <p:sp>
        <p:nvSpPr>
          <p:cNvPr id="37893" name="Text Box 9"/>
          <p:cNvSpPr txBox="1">
            <a:spLocks noChangeArrowheads="1"/>
          </p:cNvSpPr>
          <p:nvPr/>
        </p:nvSpPr>
        <p:spPr bwMode="ltGray">
          <a:xfrm>
            <a:off x="76200" y="114300"/>
            <a:ext cx="601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800" b="1" dirty="0">
                <a:solidFill>
                  <a:srgbClr val="CC6600"/>
                </a:solidFill>
              </a:rPr>
              <a:t>Assignment  Operators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89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89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89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89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89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89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body" idx="4294967295"/>
          </p:nvPr>
        </p:nvSpPr>
        <p:spPr>
          <a:xfrm>
            <a:off x="685800" y="1143000"/>
            <a:ext cx="10896600" cy="5257800"/>
          </a:xfrm>
        </p:spPr>
        <p:txBody>
          <a:bodyPr anchor="ctr">
            <a:normAutofit/>
          </a:bodyPr>
          <a:lstStyle/>
          <a:p>
            <a:pPr eaLnBrk="1" hangingPunct="1">
              <a:lnSpc>
                <a:spcPct val="120000"/>
              </a:lnSpc>
            </a:pPr>
            <a:r>
              <a:rPr lang="en-US" dirty="0"/>
              <a:t>The operator</a:t>
            </a:r>
            <a:r>
              <a:rPr lang="en-US" b="1" dirty="0"/>
              <a:t> </a:t>
            </a:r>
            <a:r>
              <a:rPr lang="en-US" b="1" dirty="0">
                <a:solidFill>
                  <a:schemeClr val="accent1"/>
                </a:solidFill>
              </a:rPr>
              <a:t>++</a:t>
            </a:r>
            <a:r>
              <a:rPr lang="en-US" b="1" dirty="0"/>
              <a:t> </a:t>
            </a:r>
            <a:r>
              <a:rPr lang="en-US" dirty="0"/>
              <a:t>adds 1 to the operand.</a:t>
            </a:r>
          </a:p>
          <a:p>
            <a:pPr eaLnBrk="1" hangingPunct="1">
              <a:lnSpc>
                <a:spcPct val="120000"/>
              </a:lnSpc>
            </a:pPr>
            <a:r>
              <a:rPr lang="en-US" dirty="0"/>
              <a:t>The operator </a:t>
            </a:r>
            <a:r>
              <a:rPr lang="en-US" b="1" dirty="0">
                <a:solidFill>
                  <a:schemeClr val="accent1"/>
                </a:solidFill>
              </a:rPr>
              <a:t>-- </a:t>
            </a:r>
            <a:r>
              <a:rPr lang="en-US" dirty="0"/>
              <a:t>subtracts 1 from the operand.</a:t>
            </a:r>
          </a:p>
          <a:p>
            <a:pPr eaLnBrk="1" hangingPunct="1">
              <a:lnSpc>
                <a:spcPct val="120000"/>
              </a:lnSpc>
            </a:pPr>
            <a:r>
              <a:rPr lang="en-US" dirty="0"/>
              <a:t>Both are unary operators and requires variables as their operands</a:t>
            </a:r>
          </a:p>
          <a:p>
            <a:pPr eaLnBrk="1" hangingPunct="1">
              <a:lnSpc>
                <a:spcPct val="120000"/>
              </a:lnSpc>
            </a:pPr>
            <a:r>
              <a:rPr lang="en-US" b="1" dirty="0">
                <a:solidFill>
                  <a:schemeClr val="accent1"/>
                </a:solidFill>
              </a:rPr>
              <a:t>++</a:t>
            </a:r>
            <a:r>
              <a:rPr lang="en-US" b="1" dirty="0" err="1">
                <a:solidFill>
                  <a:schemeClr val="accent1"/>
                </a:solidFill>
              </a:rPr>
              <a:t>i</a:t>
            </a:r>
            <a:r>
              <a:rPr lang="en-US" b="1" dirty="0">
                <a:solidFill>
                  <a:schemeClr val="accent1"/>
                </a:solidFill>
              </a:rPr>
              <a:t> or </a:t>
            </a:r>
            <a:r>
              <a:rPr lang="en-US" b="1" dirty="0" err="1">
                <a:solidFill>
                  <a:schemeClr val="accent1"/>
                </a:solidFill>
              </a:rPr>
              <a:t>i</a:t>
            </a:r>
            <a:r>
              <a:rPr lang="en-US" b="1" dirty="0">
                <a:solidFill>
                  <a:schemeClr val="accent1"/>
                </a:solidFill>
              </a:rPr>
              <a:t>++ is equivalent to </a:t>
            </a:r>
            <a:r>
              <a:rPr lang="en-US" b="1" dirty="0" err="1">
                <a:solidFill>
                  <a:schemeClr val="accent1"/>
                </a:solidFill>
              </a:rPr>
              <a:t>i</a:t>
            </a:r>
            <a:r>
              <a:rPr lang="en-US" b="1" dirty="0">
                <a:solidFill>
                  <a:schemeClr val="accent1"/>
                </a:solidFill>
              </a:rPr>
              <a:t>=i+1</a:t>
            </a:r>
          </a:p>
          <a:p>
            <a:pPr eaLnBrk="1" hangingPunct="1">
              <a:lnSpc>
                <a:spcPct val="120000"/>
              </a:lnSpc>
            </a:pPr>
            <a:r>
              <a:rPr lang="en-US" dirty="0"/>
              <a:t>They are normally used in </a:t>
            </a:r>
            <a:r>
              <a:rPr lang="en-US" i="1" dirty="0"/>
              <a:t>for</a:t>
            </a:r>
            <a:r>
              <a:rPr lang="en-US" dirty="0"/>
              <a:t> and </a:t>
            </a:r>
            <a:r>
              <a:rPr lang="en-US" i="1" dirty="0"/>
              <a:t>while</a:t>
            </a:r>
            <a:r>
              <a:rPr lang="en-US" dirty="0"/>
              <a:t> loops</a:t>
            </a:r>
          </a:p>
          <a:p>
            <a:pPr eaLnBrk="1" hangingPunct="1">
              <a:lnSpc>
                <a:spcPct val="120000"/>
              </a:lnSpc>
            </a:pPr>
            <a:r>
              <a:rPr lang="en-US" dirty="0"/>
              <a:t>They behave differently when they are used in expressions on the R.H.S of an assignment statement.</a:t>
            </a:r>
          </a:p>
        </p:txBody>
      </p:sp>
      <p:sp>
        <p:nvSpPr>
          <p:cNvPr id="38916" name="Text Box 9"/>
          <p:cNvSpPr txBox="1">
            <a:spLocks noChangeArrowheads="1"/>
          </p:cNvSpPr>
          <p:nvPr/>
        </p:nvSpPr>
        <p:spPr bwMode="ltGray">
          <a:xfrm>
            <a:off x="0" y="381000"/>
            <a:ext cx="11430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3200" b="1" dirty="0">
                <a:solidFill>
                  <a:srgbClr val="CC6600"/>
                </a:solidFill>
              </a:rPr>
              <a:t>Increment  (++) and Decrement (--) Operators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9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body" idx="4294967295"/>
          </p:nvPr>
        </p:nvSpPr>
        <p:spPr>
          <a:xfrm>
            <a:off x="381000" y="1600200"/>
            <a:ext cx="11506200" cy="4343400"/>
          </a:xfrm>
        </p:spPr>
        <p:txBody>
          <a:bodyPr anchor="ctr">
            <a:normAutofit/>
          </a:bodyPr>
          <a:lstStyle/>
          <a:p>
            <a:pPr algn="just" eaLnBrk="1" hangingPunct="1">
              <a:lnSpc>
                <a:spcPct val="120000"/>
              </a:lnSpc>
            </a:pPr>
            <a:r>
              <a:rPr lang="en-US" dirty="0"/>
              <a:t>When postfix (++ or --) is used with a variable in an expression, the expression is evaluated first using the original value of the variable and then the variable is incremented or decremented by one.</a:t>
            </a:r>
          </a:p>
          <a:p>
            <a:pPr algn="just" eaLnBrk="1" hangingPunct="1">
              <a:lnSpc>
                <a:spcPct val="120000"/>
              </a:lnSpc>
            </a:pPr>
            <a:endParaRPr lang="en-US" dirty="0"/>
          </a:p>
          <a:p>
            <a:pPr algn="just" eaLnBrk="1" hangingPunct="1">
              <a:lnSpc>
                <a:spcPct val="120000"/>
              </a:lnSpc>
            </a:pPr>
            <a:r>
              <a:rPr lang="en-US" dirty="0"/>
              <a:t>When prefix (++ or --) is used with a variable in an expression, variable is incremented or decremented first and then the  expression is evaluated  using the new value of the variable.</a:t>
            </a:r>
          </a:p>
        </p:txBody>
      </p:sp>
      <p:sp>
        <p:nvSpPr>
          <p:cNvPr id="39940" name="Text Box 9"/>
          <p:cNvSpPr txBox="1">
            <a:spLocks noChangeArrowheads="1"/>
          </p:cNvSpPr>
          <p:nvPr/>
        </p:nvSpPr>
        <p:spPr bwMode="ltGray">
          <a:xfrm>
            <a:off x="1524000" y="381000"/>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3600" b="1" dirty="0">
                <a:solidFill>
                  <a:schemeClr val="accent1"/>
                </a:solidFill>
              </a:rPr>
              <a:t>Increment  and Decrement Operators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5"/>
          <p:cNvSpPr txBox="1">
            <a:spLocks noChangeArrowheads="1"/>
          </p:cNvSpPr>
          <p:nvPr/>
        </p:nvSpPr>
        <p:spPr bwMode="auto">
          <a:xfrm>
            <a:off x="533400" y="1905000"/>
            <a:ext cx="10972800" cy="4174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lnSpc>
                <a:spcPct val="120000"/>
              </a:lnSpc>
            </a:pPr>
            <a:r>
              <a:rPr lang="en-US" sz="3200" b="1" dirty="0"/>
              <a:t>Examples:</a:t>
            </a:r>
          </a:p>
          <a:p>
            <a:pPr algn="ctr" eaLnBrk="1" hangingPunct="1">
              <a:lnSpc>
                <a:spcPct val="120000"/>
              </a:lnSpc>
            </a:pPr>
            <a:r>
              <a:rPr lang="en-US" sz="3200" b="1" dirty="0"/>
              <a:t>  	</a:t>
            </a:r>
            <a:r>
              <a:rPr lang="en-US" sz="3200" dirty="0"/>
              <a:t>m = 5;</a:t>
            </a:r>
          </a:p>
          <a:p>
            <a:pPr algn="ctr" eaLnBrk="1" hangingPunct="1">
              <a:lnSpc>
                <a:spcPct val="120000"/>
              </a:lnSpc>
            </a:pPr>
            <a:r>
              <a:rPr lang="en-US" sz="3200" dirty="0"/>
              <a:t>	y = ++m;</a:t>
            </a:r>
          </a:p>
          <a:p>
            <a:pPr algn="ctr" eaLnBrk="1" hangingPunct="1">
              <a:lnSpc>
                <a:spcPct val="120000"/>
              </a:lnSpc>
            </a:pPr>
            <a:r>
              <a:rPr lang="en-US" sz="3200" b="1" dirty="0">
                <a:solidFill>
                  <a:schemeClr val="accent1"/>
                </a:solidFill>
              </a:rPr>
              <a:t>In this case, the value of y and m would be 6.</a:t>
            </a:r>
          </a:p>
          <a:p>
            <a:pPr algn="ctr" eaLnBrk="1" hangingPunct="1">
              <a:lnSpc>
                <a:spcPct val="120000"/>
              </a:lnSpc>
            </a:pPr>
            <a:r>
              <a:rPr lang="en-US" sz="3200" dirty="0"/>
              <a:t>	m = 5;</a:t>
            </a:r>
          </a:p>
          <a:p>
            <a:pPr algn="ctr" eaLnBrk="1" hangingPunct="1">
              <a:lnSpc>
                <a:spcPct val="120000"/>
              </a:lnSpc>
            </a:pPr>
            <a:r>
              <a:rPr lang="en-US" sz="3200" dirty="0"/>
              <a:t>	y = m++;</a:t>
            </a:r>
          </a:p>
          <a:p>
            <a:pPr algn="ctr" eaLnBrk="1" hangingPunct="1">
              <a:lnSpc>
                <a:spcPct val="120000"/>
              </a:lnSpc>
            </a:pPr>
            <a:r>
              <a:rPr lang="en-US" sz="3200" b="1" dirty="0">
                <a:solidFill>
                  <a:schemeClr val="accent1"/>
                </a:solidFill>
              </a:rPr>
              <a:t>Here y continues to be 5. Only m changes to 6.</a:t>
            </a:r>
          </a:p>
        </p:txBody>
      </p:sp>
      <p:sp>
        <p:nvSpPr>
          <p:cNvPr id="40965" name="Text Box 9"/>
          <p:cNvSpPr txBox="1">
            <a:spLocks noChangeArrowheads="1"/>
          </p:cNvSpPr>
          <p:nvPr/>
        </p:nvSpPr>
        <p:spPr bwMode="ltGray">
          <a:xfrm>
            <a:off x="533400" y="457200"/>
            <a:ext cx="11506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3600" b="1" dirty="0">
                <a:solidFill>
                  <a:srgbClr val="CC6600"/>
                </a:solidFill>
              </a:rPr>
              <a:t>Increment  and Decrement Operators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6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6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6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96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09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body" idx="4294967295"/>
          </p:nvPr>
        </p:nvSpPr>
        <p:spPr>
          <a:xfrm>
            <a:off x="495300" y="1447800"/>
            <a:ext cx="11201400" cy="4876800"/>
          </a:xfrm>
        </p:spPr>
        <p:txBody>
          <a:bodyPr anchor="ctr">
            <a:normAutofit/>
          </a:bodyPr>
          <a:lstStyle/>
          <a:p>
            <a:pPr marL="0" indent="0" algn="ctr" eaLnBrk="1" hangingPunct="1">
              <a:lnSpc>
                <a:spcPct val="80000"/>
              </a:lnSpc>
              <a:buNone/>
            </a:pPr>
            <a:r>
              <a:rPr lang="en-US" sz="2400" dirty="0"/>
              <a:t>ternary  operator pair “? : ” of the form</a:t>
            </a:r>
          </a:p>
          <a:p>
            <a:pPr marL="0" indent="0" algn="ctr">
              <a:lnSpc>
                <a:spcPct val="80000"/>
              </a:lnSpc>
              <a:buNone/>
            </a:pPr>
            <a:r>
              <a:rPr lang="en-US" sz="2400" b="1" dirty="0">
                <a:solidFill>
                  <a:schemeClr val="accent1"/>
                </a:solidFill>
              </a:rPr>
              <a:t>                  exp1 ? exp2 :exp3</a:t>
            </a:r>
          </a:p>
          <a:p>
            <a:pPr marL="0" indent="0" algn="ctr">
              <a:lnSpc>
                <a:spcPct val="80000"/>
              </a:lnSpc>
              <a:buNone/>
            </a:pPr>
            <a:r>
              <a:rPr lang="en-US" sz="2400" dirty="0"/>
              <a:t>   where exp1, exp2, exp3 are expressions</a:t>
            </a:r>
          </a:p>
          <a:p>
            <a:pPr eaLnBrk="1" hangingPunct="1">
              <a:lnSpc>
                <a:spcPct val="80000"/>
              </a:lnSpc>
              <a:buFontTx/>
              <a:buNone/>
            </a:pPr>
            <a:endParaRPr lang="en-US" sz="2400" dirty="0"/>
          </a:p>
          <a:p>
            <a:pPr algn="just" eaLnBrk="1" hangingPunct="1">
              <a:lnSpc>
                <a:spcPct val="150000"/>
              </a:lnSpc>
            </a:pPr>
            <a:r>
              <a:rPr lang="en-US" sz="2400" dirty="0"/>
              <a:t>exp1 is evaluated first. If it is nonzero (true), then the expression exp2 is evaluated and becomes the value of the expression. </a:t>
            </a:r>
          </a:p>
          <a:p>
            <a:pPr algn="just" eaLnBrk="1" hangingPunct="1">
              <a:lnSpc>
                <a:spcPct val="150000"/>
              </a:lnSpc>
            </a:pPr>
            <a:r>
              <a:rPr lang="en-US" sz="2400" dirty="0"/>
              <a:t>If exp1 is false, exp3 is evaluated and its value becomes the value of the expression.</a:t>
            </a:r>
          </a:p>
          <a:p>
            <a:pPr algn="just" eaLnBrk="1" hangingPunct="1">
              <a:lnSpc>
                <a:spcPct val="150000"/>
              </a:lnSpc>
            </a:pPr>
            <a:r>
              <a:rPr lang="en-US" sz="2400" dirty="0"/>
              <a:t>Only one of the expressions (either exp2 or exp3) is evaluated</a:t>
            </a:r>
          </a:p>
        </p:txBody>
      </p:sp>
      <p:sp>
        <p:nvSpPr>
          <p:cNvPr id="41988" name="Text Box 9"/>
          <p:cNvSpPr txBox="1">
            <a:spLocks noChangeArrowheads="1"/>
          </p:cNvSpPr>
          <p:nvPr/>
        </p:nvSpPr>
        <p:spPr bwMode="ltGray">
          <a:xfrm>
            <a:off x="2286000" y="304800"/>
            <a:ext cx="7162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spcBef>
                <a:spcPct val="50000"/>
              </a:spcBef>
              <a:defRPr sz="3600" b="1">
                <a:solidFill>
                  <a:schemeClr val="accent1"/>
                </a:solidFill>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algn="ctr" eaLnBrk="0" fontAlgn="base" hangingPunct="0">
              <a:spcBef>
                <a:spcPct val="0"/>
              </a:spcBef>
              <a:spcAft>
                <a:spcPct val="0"/>
              </a:spcAft>
              <a:defRPr>
                <a:latin typeface="Arial" charset="0"/>
              </a:defRPr>
            </a:lvl6pPr>
            <a:lvl7pPr marL="2971800" indent="-228600" algn="ctr" eaLnBrk="0" fontAlgn="base" hangingPunct="0">
              <a:spcBef>
                <a:spcPct val="0"/>
              </a:spcBef>
              <a:spcAft>
                <a:spcPct val="0"/>
              </a:spcAft>
              <a:defRPr>
                <a:latin typeface="Arial" charset="0"/>
              </a:defRPr>
            </a:lvl7pPr>
            <a:lvl8pPr marL="3429000" indent="-228600" algn="ctr" eaLnBrk="0" fontAlgn="base" hangingPunct="0">
              <a:spcBef>
                <a:spcPct val="0"/>
              </a:spcBef>
              <a:spcAft>
                <a:spcPct val="0"/>
              </a:spcAft>
              <a:defRPr>
                <a:latin typeface="Arial" charset="0"/>
              </a:defRPr>
            </a:lvl8pPr>
            <a:lvl9pPr marL="3886200" indent="-228600" algn="ctr" eaLnBrk="0" fontAlgn="base" hangingPunct="0">
              <a:spcBef>
                <a:spcPct val="0"/>
              </a:spcBef>
              <a:spcAft>
                <a:spcPct val="0"/>
              </a:spcAft>
              <a:defRPr>
                <a:latin typeface="Arial" charset="0"/>
              </a:defRPr>
            </a:lvl9pPr>
          </a:lstStyle>
          <a:p>
            <a:r>
              <a:rPr lang="en-US" dirty="0"/>
              <a:t>Conditional Operator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type="body" idx="4294967295"/>
          </p:nvPr>
        </p:nvSpPr>
        <p:spPr>
          <a:xfrm>
            <a:off x="228600" y="990600"/>
            <a:ext cx="11963400" cy="5867400"/>
          </a:xfrm>
        </p:spPr>
        <p:txBody>
          <a:bodyPr anchor="ctr"/>
          <a:lstStyle/>
          <a:p>
            <a:pPr eaLnBrk="1" hangingPunct="1">
              <a:buFontTx/>
              <a:buNone/>
            </a:pPr>
            <a:endParaRPr lang="en-US" sz="2400" b="1" dirty="0"/>
          </a:p>
          <a:p>
            <a:pPr eaLnBrk="1" hangingPunct="1">
              <a:buFontTx/>
              <a:buNone/>
            </a:pPr>
            <a:r>
              <a:rPr lang="en-US" b="1" dirty="0"/>
              <a:t>Examples</a:t>
            </a:r>
            <a:r>
              <a:rPr lang="en-US" dirty="0"/>
              <a:t>.:     	a=10;</a:t>
            </a:r>
          </a:p>
          <a:p>
            <a:pPr eaLnBrk="1" hangingPunct="1">
              <a:buFontTx/>
              <a:buNone/>
            </a:pPr>
            <a:r>
              <a:rPr lang="en-US" dirty="0"/>
              <a:t>				b=15;</a:t>
            </a:r>
          </a:p>
          <a:p>
            <a:pPr eaLnBrk="1" hangingPunct="1">
              <a:buFontTx/>
              <a:buNone/>
            </a:pPr>
            <a:r>
              <a:rPr lang="en-US" dirty="0"/>
              <a:t>				x=(a&gt;b) ? a : b;</a:t>
            </a:r>
          </a:p>
          <a:p>
            <a:pPr algn="ctr" eaLnBrk="1" hangingPunct="1">
              <a:buFontTx/>
              <a:buNone/>
            </a:pPr>
            <a:r>
              <a:rPr lang="en-US" b="1" dirty="0">
                <a:solidFill>
                  <a:schemeClr val="accent1"/>
                </a:solidFill>
              </a:rPr>
              <a:t>In this example  x will be assigned the value of b.</a:t>
            </a:r>
          </a:p>
          <a:p>
            <a:pPr algn="ctr" eaLnBrk="1" hangingPunct="1">
              <a:buFontTx/>
              <a:buNone/>
            </a:pPr>
            <a:endParaRPr lang="en-US" b="1" dirty="0">
              <a:solidFill>
                <a:schemeClr val="accent1"/>
              </a:solidFill>
            </a:endParaRPr>
          </a:p>
          <a:p>
            <a:pPr lvl="1">
              <a:buNone/>
            </a:pPr>
            <a:r>
              <a:rPr lang="en-US" sz="2800" b="1" dirty="0"/>
              <a:t>The above expression is equivalent to </a:t>
            </a:r>
          </a:p>
          <a:p>
            <a:pPr lvl="1">
              <a:buNone/>
            </a:pPr>
            <a:r>
              <a:rPr lang="en-US" sz="2800" b="1" dirty="0"/>
              <a:t>  if (a&gt;b) </a:t>
            </a:r>
          </a:p>
          <a:p>
            <a:pPr lvl="1">
              <a:buNone/>
            </a:pPr>
            <a:r>
              <a:rPr lang="en-US" sz="2800" b="1" dirty="0"/>
              <a:t>			x=a;</a:t>
            </a:r>
          </a:p>
          <a:p>
            <a:pPr lvl="1">
              <a:buNone/>
            </a:pPr>
            <a:r>
              <a:rPr lang="en-US" sz="2800" b="1" dirty="0"/>
              <a:t> 			      else</a:t>
            </a:r>
          </a:p>
          <a:p>
            <a:pPr lvl="1">
              <a:buNone/>
            </a:pPr>
            <a:r>
              <a:rPr lang="en-US" sz="2800" b="1" dirty="0"/>
              <a:t>				   x=b;</a:t>
            </a:r>
          </a:p>
          <a:p>
            <a:pPr eaLnBrk="1" hangingPunct="1">
              <a:buFontTx/>
              <a:buNone/>
            </a:pPr>
            <a:endParaRPr lang="en-US" sz="2400" dirty="0"/>
          </a:p>
        </p:txBody>
      </p:sp>
      <p:sp>
        <p:nvSpPr>
          <p:cNvPr id="43012" name="Text Box 9"/>
          <p:cNvSpPr>
            <a:spLocks noGrp="1" noChangeArrowheads="1"/>
          </p:cNvSpPr>
          <p:nvPr>
            <p:ph type="title" idx="4294967295"/>
          </p:nvPr>
        </p:nvSpPr>
        <p:spPr bwMode="ltGray">
          <a:xfrm>
            <a:off x="0" y="315352"/>
            <a:ext cx="12192000" cy="646331"/>
          </a:xfrm>
        </p:spPr>
        <p:txBody>
          <a:bodyPr wrap="square">
            <a:spAutoFit/>
          </a:bodyPr>
          <a:lstStyle/>
          <a:p>
            <a:pPr algn="ctr" eaLnBrk="1" hangingPunct="1">
              <a:spcBef>
                <a:spcPct val="50000"/>
              </a:spcBef>
            </a:pPr>
            <a:r>
              <a:rPr lang="en-US" sz="4000" b="1" dirty="0">
                <a:solidFill>
                  <a:srgbClr val="CC6600"/>
                </a:solidFill>
              </a:rPr>
              <a:t>Conditional Operator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0">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0">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10">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010">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010">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01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body" idx="4294967295"/>
          </p:nvPr>
        </p:nvSpPr>
        <p:spPr>
          <a:xfrm>
            <a:off x="457200" y="823118"/>
            <a:ext cx="11582400" cy="5349082"/>
          </a:xfrm>
        </p:spPr>
        <p:txBody>
          <a:bodyPr anchor="ctr">
            <a:normAutofit/>
          </a:bodyPr>
          <a:lstStyle/>
          <a:p>
            <a:pPr eaLnBrk="1" hangingPunct="1">
              <a:lnSpc>
                <a:spcPct val="200000"/>
              </a:lnSpc>
            </a:pPr>
            <a:r>
              <a:rPr lang="en-US" sz="3200" dirty="0"/>
              <a:t>Used for manipulation of data at bit level.</a:t>
            </a:r>
          </a:p>
          <a:p>
            <a:pPr eaLnBrk="1" hangingPunct="1">
              <a:lnSpc>
                <a:spcPct val="200000"/>
              </a:lnSpc>
            </a:pPr>
            <a:r>
              <a:rPr lang="en-US" sz="3200" dirty="0"/>
              <a:t>Used for testing bits or shifting them left or right.</a:t>
            </a:r>
          </a:p>
          <a:p>
            <a:pPr eaLnBrk="1" hangingPunct="1">
              <a:lnSpc>
                <a:spcPct val="200000"/>
              </a:lnSpc>
            </a:pPr>
            <a:r>
              <a:rPr lang="en-US" sz="3200" dirty="0"/>
              <a:t>Cannot be applied to float or double</a:t>
            </a:r>
          </a:p>
        </p:txBody>
      </p:sp>
      <p:sp>
        <p:nvSpPr>
          <p:cNvPr id="44036" name="Text Box 9"/>
          <p:cNvSpPr>
            <a:spLocks noGrp="1" noChangeArrowheads="1"/>
          </p:cNvSpPr>
          <p:nvPr>
            <p:ph type="title" idx="4294967295"/>
          </p:nvPr>
        </p:nvSpPr>
        <p:spPr bwMode="ltGray">
          <a:xfrm>
            <a:off x="609600" y="274218"/>
            <a:ext cx="7086600" cy="590931"/>
          </a:xfrm>
        </p:spPr>
        <p:txBody>
          <a:bodyPr>
            <a:spAutoFit/>
          </a:bodyPr>
          <a:lstStyle/>
          <a:p>
            <a:pPr eaLnBrk="1" hangingPunct="1">
              <a:spcBef>
                <a:spcPct val="50000"/>
              </a:spcBef>
            </a:pPr>
            <a:r>
              <a:rPr lang="en-US" sz="3600" b="1" dirty="0">
                <a:solidFill>
                  <a:srgbClr val="CC6600"/>
                </a:solidFill>
              </a:rPr>
              <a:t>Bitwise operators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type="body" idx="4294967295"/>
          </p:nvPr>
        </p:nvSpPr>
        <p:spPr>
          <a:xfrm>
            <a:off x="3200400" y="1255902"/>
            <a:ext cx="6781800" cy="5211763"/>
          </a:xfrm>
        </p:spPr>
        <p:txBody>
          <a:bodyPr/>
          <a:lstStyle/>
          <a:p>
            <a:pPr eaLnBrk="1" hangingPunct="1"/>
            <a:endParaRPr lang="en-US" dirty="0"/>
          </a:p>
          <a:p>
            <a:pPr eaLnBrk="1" hangingPunct="1">
              <a:buFontTx/>
              <a:buNone/>
            </a:pPr>
            <a:r>
              <a:rPr lang="en-US" sz="2400" b="1" dirty="0">
                <a:solidFill>
                  <a:srgbClr val="BD5329"/>
                </a:solidFill>
              </a:rPr>
              <a:t>Operator            		Meaning</a:t>
            </a:r>
          </a:p>
          <a:p>
            <a:pPr eaLnBrk="1" hangingPunct="1">
              <a:buFontTx/>
              <a:buNone/>
            </a:pPr>
            <a:r>
              <a:rPr lang="en-US" sz="2400" dirty="0"/>
              <a:t>	&amp;				bitwise AND</a:t>
            </a:r>
          </a:p>
          <a:p>
            <a:pPr eaLnBrk="1" hangingPunct="1">
              <a:buFontTx/>
              <a:buNone/>
            </a:pPr>
            <a:endParaRPr lang="en-US" sz="2400" dirty="0"/>
          </a:p>
          <a:p>
            <a:pPr eaLnBrk="1" hangingPunct="1">
              <a:buFontTx/>
              <a:buNone/>
            </a:pPr>
            <a:r>
              <a:rPr lang="en-US" sz="2400" dirty="0"/>
              <a:t>	|				bitwise OR</a:t>
            </a:r>
          </a:p>
          <a:p>
            <a:pPr eaLnBrk="1" hangingPunct="1">
              <a:buFontTx/>
              <a:buNone/>
            </a:pPr>
            <a:endParaRPr lang="en-US" sz="2400" dirty="0"/>
          </a:p>
          <a:p>
            <a:pPr eaLnBrk="1" hangingPunct="1">
              <a:buFontTx/>
              <a:buNone/>
            </a:pPr>
            <a:r>
              <a:rPr lang="en-US" sz="2400" dirty="0"/>
              <a:t>	^				bitwise exclusive OR</a:t>
            </a:r>
          </a:p>
          <a:p>
            <a:pPr eaLnBrk="1" hangingPunct="1">
              <a:buFontTx/>
              <a:buNone/>
            </a:pPr>
            <a:endParaRPr lang="en-US" sz="2400" dirty="0"/>
          </a:p>
          <a:p>
            <a:pPr eaLnBrk="1" hangingPunct="1">
              <a:buFontTx/>
              <a:buNone/>
            </a:pPr>
            <a:r>
              <a:rPr lang="en-US" sz="2400" dirty="0"/>
              <a:t>	&lt;&lt;				shift left</a:t>
            </a:r>
          </a:p>
          <a:p>
            <a:pPr eaLnBrk="1" hangingPunct="1">
              <a:buFontTx/>
              <a:buNone/>
            </a:pPr>
            <a:endParaRPr lang="en-US" sz="2400" dirty="0"/>
          </a:p>
          <a:p>
            <a:pPr eaLnBrk="1" hangingPunct="1">
              <a:buFontTx/>
              <a:buNone/>
            </a:pPr>
            <a:r>
              <a:rPr lang="en-US" sz="2400" dirty="0"/>
              <a:t>	&gt;&gt;				shift right</a:t>
            </a:r>
          </a:p>
          <a:p>
            <a:pPr eaLnBrk="1" hangingPunct="1"/>
            <a:endParaRPr lang="en-US" sz="2400" dirty="0"/>
          </a:p>
        </p:txBody>
      </p:sp>
      <p:sp>
        <p:nvSpPr>
          <p:cNvPr id="45060" name="Text Box 9"/>
          <p:cNvSpPr>
            <a:spLocks noGrp="1" noChangeArrowheads="1"/>
          </p:cNvSpPr>
          <p:nvPr>
            <p:ph type="title" idx="4294967295"/>
          </p:nvPr>
        </p:nvSpPr>
        <p:spPr bwMode="ltGray">
          <a:xfrm>
            <a:off x="0" y="390335"/>
            <a:ext cx="11963400" cy="590931"/>
          </a:xfrm>
        </p:spPr>
        <p:txBody>
          <a:bodyPr vert="horz" wrap="square" lIns="91440" tIns="45720" rIns="91440" bIns="45720" rtlCol="0" anchor="ctr">
            <a:spAutoFit/>
          </a:bodyPr>
          <a:lstStyle/>
          <a:p>
            <a:pPr algn="ctr">
              <a:spcBef>
                <a:spcPct val="50000"/>
              </a:spcBef>
            </a:pPr>
            <a:r>
              <a:rPr lang="en-US" sz="3600" b="1" dirty="0">
                <a:solidFill>
                  <a:srgbClr val="CC6600"/>
                </a:solidFill>
              </a:rPr>
              <a:t>Bitwise operators</a:t>
            </a:r>
          </a:p>
        </p:txBody>
      </p:sp>
      <p:sp>
        <p:nvSpPr>
          <p:cNvPr id="45059" name="Slide Number Placeholder 5"/>
          <p:cNvSpPr txBox="1">
            <a:spLocks noGrp="1"/>
          </p:cNvSpPr>
          <p:nvPr/>
        </p:nvSpPr>
        <p:spPr bwMode="auto">
          <a:xfrm>
            <a:off x="8153400" y="661987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E423F25B-0F95-4116-B107-151EC2F2D3C8}" type="slidenum">
              <a:rPr lang="en-US" sz="1400"/>
              <a:pPr algn="r" eaLnBrk="1" hangingPunct="1"/>
              <a:t>32</a:t>
            </a:fld>
            <a:endParaRPr lang="en-US" sz="1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2208" y="5219"/>
            <a:ext cx="11312047" cy="1325563"/>
          </a:xfrm>
        </p:spPr>
        <p:txBody>
          <a:bodyPr/>
          <a:lstStyle/>
          <a:p>
            <a:pPr algn="r"/>
            <a:r>
              <a:rPr lang="en-US" sz="3600" b="1" dirty="0">
                <a:solidFill>
                  <a:srgbClr val="CC6600"/>
                </a:solidFill>
              </a:rPr>
              <a:t>Example for Bitwise operators</a:t>
            </a:r>
          </a:p>
        </p:txBody>
      </p:sp>
      <p:sp>
        <p:nvSpPr>
          <p:cNvPr id="3" name="Content Placeholder 2"/>
          <p:cNvSpPr>
            <a:spLocks noGrp="1"/>
          </p:cNvSpPr>
          <p:nvPr>
            <p:ph idx="1"/>
          </p:nvPr>
        </p:nvSpPr>
        <p:spPr>
          <a:xfrm>
            <a:off x="-5219" y="114300"/>
            <a:ext cx="11277599" cy="6629400"/>
          </a:xfrm>
        </p:spPr>
        <p:txBody>
          <a:bodyPr>
            <a:normAutofit/>
          </a:bodyPr>
          <a:lstStyle/>
          <a:p>
            <a:pPr marL="0" indent="0">
              <a:buNone/>
            </a:pPr>
            <a:r>
              <a:rPr lang="en-US" dirty="0"/>
              <a:t>#include&lt;</a:t>
            </a:r>
            <a:r>
              <a:rPr lang="en-US" dirty="0" err="1"/>
              <a:t>iostream</a:t>
            </a:r>
            <a:r>
              <a:rPr lang="en-US" dirty="0"/>
              <a:t>&gt;</a:t>
            </a:r>
          </a:p>
          <a:p>
            <a:pPr marL="0" indent="0">
              <a:buNone/>
            </a:pPr>
            <a:r>
              <a:rPr lang="en-US" dirty="0"/>
              <a:t>using namespace </a:t>
            </a:r>
            <a:r>
              <a:rPr lang="en-US" dirty="0" err="1"/>
              <a:t>std</a:t>
            </a:r>
            <a:r>
              <a:rPr lang="en-US" dirty="0"/>
              <a:t>;</a:t>
            </a:r>
          </a:p>
          <a:p>
            <a:pPr marL="0" indent="0">
              <a:buNone/>
            </a:pPr>
            <a:r>
              <a:rPr lang="en-US" dirty="0" err="1"/>
              <a:t>int</a:t>
            </a:r>
            <a:r>
              <a:rPr lang="en-US" dirty="0"/>
              <a:t> main()</a:t>
            </a:r>
          </a:p>
          <a:p>
            <a:pPr marL="0" indent="0">
              <a:buNone/>
            </a:pPr>
            <a:r>
              <a:rPr lang="en-US" dirty="0"/>
              <a:t>{</a:t>
            </a:r>
          </a:p>
          <a:p>
            <a:pPr marL="0" indent="0">
              <a:buNone/>
            </a:pPr>
            <a:r>
              <a:rPr lang="en-US" dirty="0"/>
              <a:t>	long </a:t>
            </a:r>
            <a:r>
              <a:rPr lang="en-US" dirty="0" err="1"/>
              <a:t>int</a:t>
            </a:r>
            <a:r>
              <a:rPr lang="en-US" dirty="0"/>
              <a:t> a=2, b=4;</a:t>
            </a:r>
          </a:p>
          <a:p>
            <a:pPr marL="0" indent="0">
              <a:buNone/>
            </a:pPr>
            <a:r>
              <a:rPr lang="en-US" dirty="0"/>
              <a:t>	</a:t>
            </a:r>
            <a:r>
              <a:rPr lang="en-US" dirty="0" err="1"/>
              <a:t>cout</a:t>
            </a:r>
            <a:r>
              <a:rPr lang="en-US" dirty="0"/>
              <a:t>&lt;&lt;“a= ” &lt;&lt;a&lt;&lt;“\</a:t>
            </a:r>
            <a:r>
              <a:rPr lang="en-US" dirty="0" err="1"/>
              <a:t>tb</a:t>
            </a:r>
            <a:r>
              <a:rPr lang="en-US" dirty="0"/>
              <a:t>= ”&lt;&lt;b;</a:t>
            </a:r>
          </a:p>
          <a:p>
            <a:pPr marL="0" indent="0">
              <a:buNone/>
            </a:pPr>
            <a:r>
              <a:rPr lang="en-US" dirty="0"/>
              <a:t>	</a:t>
            </a:r>
            <a:r>
              <a:rPr lang="en-US" dirty="0" err="1"/>
              <a:t>cout</a:t>
            </a:r>
            <a:r>
              <a:rPr lang="en-US" dirty="0"/>
              <a:t>&lt;&lt;“\n a AND b= ”&lt;&lt;(</a:t>
            </a:r>
            <a:r>
              <a:rPr lang="en-US" dirty="0" err="1"/>
              <a:t>a&amp;b</a:t>
            </a:r>
            <a:r>
              <a:rPr lang="en-US" dirty="0"/>
              <a:t>);</a:t>
            </a:r>
          </a:p>
          <a:p>
            <a:pPr marL="0" indent="0">
              <a:buNone/>
            </a:pPr>
            <a:r>
              <a:rPr lang="en-US" dirty="0"/>
              <a:t>	</a:t>
            </a:r>
            <a:r>
              <a:rPr lang="en-US" dirty="0" err="1"/>
              <a:t>cout</a:t>
            </a:r>
            <a:r>
              <a:rPr lang="en-US" dirty="0"/>
              <a:t>&lt;&lt;“\n a OR b=   ”&lt;&lt;(</a:t>
            </a:r>
            <a:r>
              <a:rPr lang="en-US" dirty="0" err="1"/>
              <a:t>aIb</a:t>
            </a:r>
            <a:r>
              <a:rPr lang="en-US" dirty="0"/>
              <a:t>);</a:t>
            </a:r>
          </a:p>
          <a:p>
            <a:pPr marL="0" indent="0">
              <a:buNone/>
            </a:pPr>
            <a:r>
              <a:rPr lang="en-US" dirty="0"/>
              <a:t>	</a:t>
            </a:r>
            <a:r>
              <a:rPr lang="en-US" dirty="0" err="1"/>
              <a:t>cout</a:t>
            </a:r>
            <a:r>
              <a:rPr lang="en-US" dirty="0"/>
              <a:t>&lt;&lt;“\n a XOR b= ”&lt;&lt;(</a:t>
            </a:r>
            <a:r>
              <a:rPr lang="en-US" dirty="0" err="1"/>
              <a:t>a^b</a:t>
            </a:r>
            <a:r>
              <a:rPr lang="en-US" dirty="0"/>
              <a:t>);</a:t>
            </a:r>
          </a:p>
          <a:p>
            <a:pPr marL="0" indent="0">
              <a:buNone/>
            </a:pPr>
            <a:r>
              <a:rPr lang="en-US" dirty="0"/>
              <a:t>	a=1;</a:t>
            </a:r>
          </a:p>
          <a:p>
            <a:pPr marL="0" indent="0">
              <a:buNone/>
            </a:pPr>
            <a:r>
              <a:rPr lang="en-US" dirty="0"/>
              <a:t>	</a:t>
            </a:r>
            <a:r>
              <a:rPr lang="en-US" dirty="0" err="1"/>
              <a:t>cout</a:t>
            </a:r>
            <a:r>
              <a:rPr lang="en-US" dirty="0"/>
              <a:t>&lt;&lt;“\n NOT of a = ”&lt;&lt;!(a);</a:t>
            </a:r>
          </a:p>
          <a:p>
            <a:pPr marL="0" indent="0">
              <a:buNone/>
            </a:pPr>
            <a:r>
              <a:rPr lang="en-US" dirty="0"/>
              <a:t>	return 0;</a:t>
            </a:r>
          </a:p>
          <a:p>
            <a:pPr marL="0" indent="0">
              <a:buNone/>
            </a:pPr>
            <a:r>
              <a:rPr lang="en-US" dirty="0"/>
              <a:t>}</a:t>
            </a:r>
          </a:p>
        </p:txBody>
      </p:sp>
      <p:pic>
        <p:nvPicPr>
          <p:cNvPr id="4" name="Picture 3">
            <a:extLst>
              <a:ext uri="{FF2B5EF4-FFF2-40B4-BE49-F238E27FC236}">
                <a16:creationId xmlns:a16="http://schemas.microsoft.com/office/drawing/2014/main" id="{D7F5163E-FD98-4FCA-879B-AB01FF47F2E1}"/>
              </a:ext>
            </a:extLst>
          </p:cNvPr>
          <p:cNvPicPr>
            <a:picLocks noChangeAspect="1"/>
          </p:cNvPicPr>
          <p:nvPr/>
        </p:nvPicPr>
        <p:blipFill>
          <a:blip r:embed="rId2"/>
          <a:stretch>
            <a:fillRect/>
          </a:stretch>
        </p:blipFill>
        <p:spPr>
          <a:xfrm>
            <a:off x="8534400" y="2099138"/>
            <a:ext cx="3509963" cy="2659724"/>
          </a:xfrm>
          <a:prstGeom prst="rect">
            <a:avLst/>
          </a:prstGeom>
        </p:spPr>
      </p:pic>
      <p:sp>
        <p:nvSpPr>
          <p:cNvPr id="5" name="TextBox 4">
            <a:extLst>
              <a:ext uri="{FF2B5EF4-FFF2-40B4-BE49-F238E27FC236}">
                <a16:creationId xmlns:a16="http://schemas.microsoft.com/office/drawing/2014/main" id="{B44E07B2-1F46-4CCF-80C1-182C3AF2B0E1}"/>
              </a:ext>
            </a:extLst>
          </p:cNvPr>
          <p:cNvSpPr txBox="1"/>
          <p:nvPr/>
        </p:nvSpPr>
        <p:spPr>
          <a:xfrm>
            <a:off x="8738992" y="1169039"/>
            <a:ext cx="2590800" cy="769441"/>
          </a:xfrm>
          <a:prstGeom prst="rect">
            <a:avLst/>
          </a:prstGeom>
          <a:noFill/>
        </p:spPr>
        <p:txBody>
          <a:bodyPr wrap="square" rtlCol="0">
            <a:spAutoFit/>
          </a:bodyPr>
          <a:lstStyle/>
          <a:p>
            <a:r>
              <a:rPr lang="en-US" sz="4400" b="1" dirty="0"/>
              <a:t>Output</a:t>
            </a:r>
            <a:endParaRPr lang="en-IN" sz="4400" b="1" dirty="0"/>
          </a:p>
        </p:txBody>
      </p:sp>
    </p:spTree>
    <p:extLst>
      <p:ext uri="{BB962C8B-B14F-4D97-AF65-F5344CB8AC3E}">
        <p14:creationId xmlns:p14="http://schemas.microsoft.com/office/powerpoint/2010/main" val="3243602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5"/>
                                        </p:tgtEl>
                                        <p:attrNameLst>
                                          <p:attrName>style.visibility</p:attrName>
                                        </p:attrNameLst>
                                      </p:cBhvr>
                                      <p:to>
                                        <p:strVal val="visible"/>
                                      </p:to>
                                    </p:set>
                                    <p:anim calcmode="lin" valueType="num">
                                      <p:cBhvr additive="base">
                                        <p:cTn id="59" dur="500" fill="hold"/>
                                        <p:tgtEl>
                                          <p:spTgt spid="5"/>
                                        </p:tgtEl>
                                        <p:attrNameLst>
                                          <p:attrName>ppt_x</p:attrName>
                                        </p:attrNameLst>
                                      </p:cBhvr>
                                      <p:tavLst>
                                        <p:tav tm="0">
                                          <p:val>
                                            <p:strVal val="#ppt_x"/>
                                          </p:val>
                                        </p:tav>
                                        <p:tav tm="100000">
                                          <p:val>
                                            <p:strVal val="#ppt_x"/>
                                          </p:val>
                                        </p:tav>
                                      </p:tavLst>
                                    </p:anim>
                                    <p:anim calcmode="lin" valueType="num">
                                      <p:cBhvr additive="base">
                                        <p:cTn id="60" dur="500" fill="hold"/>
                                        <p:tgtEl>
                                          <p:spTgt spid="5"/>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4"/>
                                        </p:tgtEl>
                                        <p:attrNameLst>
                                          <p:attrName>style.visibility</p:attrName>
                                        </p:attrNameLst>
                                      </p:cBhvr>
                                      <p:to>
                                        <p:strVal val="visible"/>
                                      </p:to>
                                    </p:set>
                                    <p:anim calcmode="lin" valueType="num">
                                      <p:cBhvr additive="base">
                                        <p:cTn id="63" dur="500" fill="hold"/>
                                        <p:tgtEl>
                                          <p:spTgt spid="4"/>
                                        </p:tgtEl>
                                        <p:attrNameLst>
                                          <p:attrName>ppt_x</p:attrName>
                                        </p:attrNameLst>
                                      </p:cBhvr>
                                      <p:tavLst>
                                        <p:tav tm="0">
                                          <p:val>
                                            <p:strVal val="#ppt_x"/>
                                          </p:val>
                                        </p:tav>
                                        <p:tav tm="100000">
                                          <p:val>
                                            <p:strVal val="#ppt_x"/>
                                          </p:val>
                                        </p:tav>
                                      </p:tavLst>
                                    </p:anim>
                                    <p:anim calcmode="lin" valueType="num">
                                      <p:cBhvr additive="base">
                                        <p:cTn id="6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04814EFE-97FF-4F50-9630-9DC926F609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73984"/>
            <a:ext cx="9372600" cy="6510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7937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type="body" idx="4294967295"/>
          </p:nvPr>
        </p:nvSpPr>
        <p:spPr>
          <a:xfrm>
            <a:off x="533400" y="1295400"/>
            <a:ext cx="11506200" cy="5211763"/>
          </a:xfrm>
        </p:spPr>
        <p:txBody>
          <a:bodyPr anchor="ctr"/>
          <a:lstStyle/>
          <a:p>
            <a:pPr eaLnBrk="1" hangingPunct="1"/>
            <a:endParaRPr lang="en-US" sz="2400" dirty="0"/>
          </a:p>
          <a:p>
            <a:pPr algn="just" eaLnBrk="1" hangingPunct="1">
              <a:lnSpc>
                <a:spcPct val="150000"/>
              </a:lnSpc>
            </a:pPr>
            <a:r>
              <a:rPr lang="en-US" sz="3200" dirty="0"/>
              <a:t>It is used to link related expressions together</a:t>
            </a:r>
          </a:p>
          <a:p>
            <a:pPr algn="just" eaLnBrk="1" hangingPunct="1">
              <a:lnSpc>
                <a:spcPct val="150000"/>
              </a:lnSpc>
            </a:pPr>
            <a:r>
              <a:rPr lang="en-US" sz="3200" dirty="0"/>
              <a:t>Comma-linked list of expressions are evaluated left to right and the value of right-most expression is the value of the combined expression</a:t>
            </a:r>
          </a:p>
          <a:p>
            <a:pPr algn="just" eaLnBrk="1" hangingPunct="1">
              <a:lnSpc>
                <a:spcPct val="150000"/>
              </a:lnSpc>
            </a:pPr>
            <a:r>
              <a:rPr lang="en-US" sz="3200" dirty="0"/>
              <a:t>Comma has the lowest precedence of all operators and hence parenthesis is necessary</a:t>
            </a:r>
          </a:p>
          <a:p>
            <a:pPr eaLnBrk="1" hangingPunct="1"/>
            <a:endParaRPr lang="en-US" sz="2400" dirty="0"/>
          </a:p>
        </p:txBody>
      </p:sp>
      <p:sp>
        <p:nvSpPr>
          <p:cNvPr id="46084" name="Text Box 9"/>
          <p:cNvSpPr>
            <a:spLocks noGrp="1" noChangeArrowheads="1"/>
          </p:cNvSpPr>
          <p:nvPr>
            <p:ph type="title" idx="4294967295"/>
          </p:nvPr>
        </p:nvSpPr>
        <p:spPr bwMode="ltGray">
          <a:xfrm>
            <a:off x="228600" y="228600"/>
            <a:ext cx="11811000" cy="731837"/>
          </a:xfrm>
        </p:spPr>
        <p:txBody>
          <a:bodyPr vert="horz" lIns="91440" tIns="45720" rIns="91440" bIns="45720" rtlCol="0" anchor="ctr">
            <a:normAutofit/>
          </a:bodyPr>
          <a:lstStyle/>
          <a:p>
            <a:pPr algn="ctr"/>
            <a:r>
              <a:rPr lang="en-US" sz="3600" b="1" dirty="0">
                <a:solidFill>
                  <a:srgbClr val="CC6600"/>
                </a:solidFill>
              </a:rPr>
              <a:t>Comma Operator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body" idx="4294967295"/>
          </p:nvPr>
        </p:nvSpPr>
        <p:spPr>
          <a:xfrm>
            <a:off x="35490" y="586636"/>
            <a:ext cx="11775510" cy="6271364"/>
          </a:xfrm>
        </p:spPr>
        <p:txBody>
          <a:bodyPr anchor="ctr"/>
          <a:lstStyle/>
          <a:p>
            <a:pPr eaLnBrk="1" hangingPunct="1">
              <a:buFontTx/>
              <a:buNone/>
            </a:pPr>
            <a:r>
              <a:rPr lang="en-US" sz="2400" dirty="0"/>
              <a:t>	</a:t>
            </a:r>
          </a:p>
          <a:p>
            <a:pPr eaLnBrk="1" hangingPunct="1">
              <a:buFontTx/>
              <a:buNone/>
            </a:pPr>
            <a:r>
              <a:rPr lang="en-US" sz="2400" b="1" dirty="0"/>
              <a:t>     </a:t>
            </a:r>
            <a:r>
              <a:rPr lang="en-US" sz="3200" b="1" dirty="0"/>
              <a:t>Example:</a:t>
            </a:r>
          </a:p>
          <a:p>
            <a:pPr lvl="1" algn="ctr" eaLnBrk="1" hangingPunct="1">
              <a:buFontTx/>
              <a:buNone/>
            </a:pPr>
            <a:r>
              <a:rPr lang="en-US" sz="3200" b="1" dirty="0">
                <a:solidFill>
                  <a:schemeClr val="accent1"/>
                </a:solidFill>
              </a:rPr>
              <a:t>value = (x=10, y=5, </a:t>
            </a:r>
            <a:r>
              <a:rPr lang="en-US" sz="3200" b="1" dirty="0" err="1">
                <a:solidFill>
                  <a:schemeClr val="accent1"/>
                </a:solidFill>
              </a:rPr>
              <a:t>x+y</a:t>
            </a:r>
            <a:r>
              <a:rPr lang="en-US" sz="3200" b="1" dirty="0">
                <a:solidFill>
                  <a:schemeClr val="accent1"/>
                </a:solidFill>
              </a:rPr>
              <a:t>);</a:t>
            </a:r>
          </a:p>
          <a:p>
            <a:pPr lvl="1" algn="ctr" eaLnBrk="1" hangingPunct="1">
              <a:buFontTx/>
              <a:buNone/>
            </a:pPr>
            <a:r>
              <a:rPr lang="en-US" sz="3200" dirty="0"/>
              <a:t>The statement first assigns 10 to x, 5 to y, and </a:t>
            </a:r>
          </a:p>
          <a:p>
            <a:pPr lvl="1" algn="ctr" eaLnBrk="1" hangingPunct="1">
              <a:buFontTx/>
              <a:buNone/>
            </a:pPr>
            <a:r>
              <a:rPr lang="en-US" sz="3200" dirty="0"/>
              <a:t>                   then 15 (10+5=15) to value</a:t>
            </a:r>
          </a:p>
          <a:p>
            <a:pPr lvl="1" eaLnBrk="1" hangingPunct="1">
              <a:buFontTx/>
              <a:buNone/>
            </a:pPr>
            <a:r>
              <a:rPr lang="en-US" sz="3200" b="1" dirty="0"/>
              <a:t>Example:</a:t>
            </a:r>
          </a:p>
          <a:p>
            <a:pPr lvl="1" algn="ctr" eaLnBrk="1" hangingPunct="1">
              <a:buFontTx/>
              <a:buNone/>
            </a:pPr>
            <a:r>
              <a:rPr lang="en-US" sz="3200" dirty="0">
                <a:solidFill>
                  <a:schemeClr val="accent1"/>
                </a:solidFill>
              </a:rPr>
              <a:t>  </a:t>
            </a:r>
            <a:r>
              <a:rPr lang="en-US" sz="3200" b="1" dirty="0">
                <a:solidFill>
                  <a:schemeClr val="accent1"/>
                </a:solidFill>
              </a:rPr>
              <a:t>for ( n=1, m=10; n&lt;=m; n++,m++)</a:t>
            </a:r>
            <a:r>
              <a:rPr lang="en-US" sz="3200" b="1" dirty="0"/>
              <a:t>	</a:t>
            </a:r>
          </a:p>
          <a:p>
            <a:pPr lvl="1" eaLnBrk="1" hangingPunct="1">
              <a:buFontTx/>
              <a:buNone/>
            </a:pPr>
            <a:r>
              <a:rPr lang="en-US" sz="3200" b="1" dirty="0"/>
              <a:t>Example:</a:t>
            </a:r>
            <a:endParaRPr lang="en-US" sz="3200" b="1" dirty="0">
              <a:solidFill>
                <a:schemeClr val="accent1"/>
              </a:solidFill>
            </a:endParaRPr>
          </a:p>
          <a:p>
            <a:pPr lvl="1" algn="ctr" eaLnBrk="1" hangingPunct="1">
              <a:buFontTx/>
              <a:buNone/>
            </a:pPr>
            <a:r>
              <a:rPr lang="en-US" sz="3200" dirty="0">
                <a:solidFill>
                  <a:schemeClr val="accent1"/>
                </a:solidFill>
              </a:rPr>
              <a:t>   </a:t>
            </a:r>
            <a:r>
              <a:rPr lang="en-US" sz="3200" b="1" dirty="0">
                <a:solidFill>
                  <a:schemeClr val="accent1"/>
                </a:solidFill>
              </a:rPr>
              <a:t>while  (c=</a:t>
            </a:r>
            <a:r>
              <a:rPr lang="en-US" sz="3200" b="1" dirty="0" err="1">
                <a:solidFill>
                  <a:schemeClr val="accent1"/>
                </a:solidFill>
              </a:rPr>
              <a:t>getchar</a:t>
            </a:r>
            <a:r>
              <a:rPr lang="en-US" sz="3200" b="1" dirty="0">
                <a:solidFill>
                  <a:schemeClr val="accent1"/>
                </a:solidFill>
              </a:rPr>
              <a:t>(), c!= ‘10’)</a:t>
            </a:r>
          </a:p>
          <a:p>
            <a:pPr lvl="1" eaLnBrk="1" hangingPunct="1">
              <a:buFontTx/>
              <a:buNone/>
            </a:pPr>
            <a:endParaRPr lang="en-US" dirty="0"/>
          </a:p>
          <a:p>
            <a:pPr lvl="1" eaLnBrk="1" hangingPunct="1"/>
            <a:endParaRPr lang="en-US" dirty="0"/>
          </a:p>
        </p:txBody>
      </p:sp>
      <p:sp>
        <p:nvSpPr>
          <p:cNvPr id="47108" name="Text Box 9"/>
          <p:cNvSpPr>
            <a:spLocks noGrp="1" noChangeArrowheads="1"/>
          </p:cNvSpPr>
          <p:nvPr>
            <p:ph type="title" idx="4294967295"/>
          </p:nvPr>
        </p:nvSpPr>
        <p:spPr bwMode="ltGray">
          <a:xfrm>
            <a:off x="4648200" y="64836"/>
            <a:ext cx="7543800" cy="1089529"/>
          </a:xfrm>
        </p:spPr>
        <p:txBody>
          <a:bodyPr vert="horz" lIns="91440" tIns="45720" rIns="91440" bIns="45720" rtlCol="0" anchor="ctr">
            <a:normAutofit/>
          </a:bodyPr>
          <a:lstStyle/>
          <a:p>
            <a:pPr algn="ctr"/>
            <a:r>
              <a:rPr lang="en-US" sz="3600" b="1" dirty="0">
                <a:solidFill>
                  <a:srgbClr val="CC6600"/>
                </a:solidFill>
              </a:rPr>
              <a:t>Comma Operator(contd.)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0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10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8131" name="Text Box 9"/>
          <p:cNvSpPr txBox="1">
            <a:spLocks noChangeArrowheads="1"/>
          </p:cNvSpPr>
          <p:nvPr/>
        </p:nvSpPr>
        <p:spPr bwMode="auto">
          <a:xfrm>
            <a:off x="1058862" y="1481211"/>
            <a:ext cx="10980738" cy="5123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en-US" sz="2800" b="1" dirty="0">
                <a:solidFill>
                  <a:schemeClr val="accent5"/>
                </a:solidFill>
              </a:rPr>
              <a:t>Algebraic expression 			     C++ expression</a:t>
            </a:r>
          </a:p>
          <a:p>
            <a:pPr algn="l" eaLnBrk="1" hangingPunct="1"/>
            <a:endParaRPr lang="en-US" b="1" dirty="0">
              <a:solidFill>
                <a:schemeClr val="bg1"/>
              </a:solidFill>
            </a:endParaRPr>
          </a:p>
          <a:p>
            <a:pPr algn="l" eaLnBrk="1" hangingPunct="1">
              <a:lnSpc>
                <a:spcPct val="200000"/>
              </a:lnSpc>
            </a:pPr>
            <a:r>
              <a:rPr lang="en-US" sz="2800" b="1" dirty="0">
                <a:solidFill>
                  <a:schemeClr val="bg1"/>
                </a:solidFill>
              </a:rPr>
              <a:t>    a X b –c					 				a * b – c</a:t>
            </a:r>
          </a:p>
          <a:p>
            <a:pPr algn="l" eaLnBrk="1" hangingPunct="1">
              <a:lnSpc>
                <a:spcPct val="200000"/>
              </a:lnSpc>
            </a:pPr>
            <a:r>
              <a:rPr lang="en-US" sz="2800" b="1" dirty="0">
                <a:solidFill>
                  <a:schemeClr val="bg1"/>
                </a:solidFill>
              </a:rPr>
              <a:t>(m + n) (x + y)							(m + n) * (x +y)</a:t>
            </a:r>
          </a:p>
          <a:p>
            <a:pPr algn="l" eaLnBrk="1" hangingPunct="1">
              <a:lnSpc>
                <a:spcPct val="200000"/>
              </a:lnSpc>
            </a:pPr>
            <a:r>
              <a:rPr lang="en-US" sz="2800" b="1" dirty="0">
                <a:solidFill>
                  <a:schemeClr val="bg1"/>
                </a:solidFill>
              </a:rPr>
              <a:t>												a*b / c     </a:t>
            </a:r>
          </a:p>
          <a:p>
            <a:pPr algn="l" eaLnBrk="1" hangingPunct="1">
              <a:lnSpc>
                <a:spcPct val="200000"/>
              </a:lnSpc>
            </a:pPr>
            <a:r>
              <a:rPr lang="en-US" sz="2800" b="1" dirty="0">
                <a:solidFill>
                  <a:schemeClr val="bg1"/>
                </a:solidFill>
              </a:rPr>
              <a:t>												x/y + c</a:t>
            </a:r>
          </a:p>
          <a:p>
            <a:pPr algn="l" eaLnBrk="1" hangingPunct="1">
              <a:lnSpc>
                <a:spcPct val="200000"/>
              </a:lnSpc>
            </a:pPr>
            <a:r>
              <a:rPr lang="en-US" sz="2800" b="1" dirty="0">
                <a:solidFill>
                  <a:schemeClr val="bg1"/>
                </a:solidFill>
              </a:rPr>
              <a:t>                                                        3*x*x+2*x+1</a:t>
            </a:r>
          </a:p>
        </p:txBody>
      </p:sp>
      <p:sp>
        <p:nvSpPr>
          <p:cNvPr id="48135" name="Text Box 9"/>
          <p:cNvSpPr txBox="1">
            <a:spLocks noChangeArrowheads="1"/>
          </p:cNvSpPr>
          <p:nvPr/>
        </p:nvSpPr>
        <p:spPr bwMode="ltGray">
          <a:xfrm>
            <a:off x="0" y="228600"/>
            <a:ext cx="12573000" cy="1089529"/>
          </a:xfrm>
          <a:prstGeom prst="rect">
            <a:avLst/>
          </a:prstGeom>
        </p:spPr>
        <p:txBody>
          <a:bodyPr vert="horz" lIns="91440" tIns="45720" rIns="91440" bIns="45720" rtlCol="0" anchor="ctr">
            <a:normAutofit/>
          </a:bodyPr>
          <a:lstStyle>
            <a:lvl1pPr algn="ctr" defTabSz="914400">
              <a:lnSpc>
                <a:spcPct val="90000"/>
              </a:lnSpc>
              <a:spcBef>
                <a:spcPct val="0"/>
              </a:spcBef>
              <a:buNone/>
              <a:defRPr sz="3600" b="1">
                <a:solidFill>
                  <a:srgbClr val="CC6600"/>
                </a:solidFill>
                <a:latin typeface="+mj-lt"/>
                <a:ea typeface="+mj-ea"/>
                <a:cs typeface="+mj-cs"/>
              </a:defRPr>
            </a:lvl1pPr>
          </a:lstStyle>
          <a:p>
            <a:r>
              <a:rPr lang="en-US" dirty="0"/>
              <a:t>Examples of expressions</a:t>
            </a:r>
          </a:p>
        </p:txBody>
      </p:sp>
      <p:graphicFrame>
        <p:nvGraphicFramePr>
          <p:cNvPr id="11" name="Object 10">
            <a:extLst>
              <a:ext uri="{FF2B5EF4-FFF2-40B4-BE49-F238E27FC236}">
                <a16:creationId xmlns:a16="http://schemas.microsoft.com/office/drawing/2014/main" id="{7C617580-15E9-467A-8765-6DE3DCC88D52}"/>
              </a:ext>
            </a:extLst>
          </p:cNvPr>
          <p:cNvGraphicFramePr>
            <a:graphicFrameLocks noChangeAspect="1"/>
          </p:cNvGraphicFramePr>
          <p:nvPr>
            <p:extLst>
              <p:ext uri="{D42A27DB-BD31-4B8C-83A1-F6EECF244321}">
                <p14:modId xmlns:p14="http://schemas.microsoft.com/office/powerpoint/2010/main" val="812208005"/>
              </p:ext>
            </p:extLst>
          </p:nvPr>
        </p:nvGraphicFramePr>
        <p:xfrm>
          <a:off x="1905000" y="3906435"/>
          <a:ext cx="990600" cy="838200"/>
        </p:xfrm>
        <a:graphic>
          <a:graphicData uri="http://schemas.openxmlformats.org/presentationml/2006/ole">
            <mc:AlternateContent xmlns:mc="http://schemas.openxmlformats.org/markup-compatibility/2006">
              <mc:Choice xmlns:v="urn:schemas-microsoft-com:vml" Requires="v">
                <p:oleObj spid="_x0000_s1068" name="Equation" r:id="rId4" imgW="228501" imgH="393529" progId="Equation.3">
                  <p:embed/>
                </p:oleObj>
              </mc:Choice>
              <mc:Fallback>
                <p:oleObj name="Equation" r:id="rId4" imgW="228501" imgH="393529" progId="Equation.3">
                  <p:embed/>
                  <p:pic>
                    <p:nvPicPr>
                      <p:cNvPr id="48132"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3906435"/>
                        <a:ext cx="990600" cy="838200"/>
                      </a:xfrm>
                      <a:prstGeom prst="rect">
                        <a:avLst/>
                      </a:prstGeom>
                      <a:noFill/>
                      <a:ln>
                        <a:noFill/>
                      </a:ln>
                      <a:effectLst/>
                    </p:spPr>
                  </p:pic>
                </p:oleObj>
              </mc:Fallback>
            </mc:AlternateContent>
          </a:graphicData>
        </a:graphic>
      </p:graphicFrame>
      <p:graphicFrame>
        <p:nvGraphicFramePr>
          <p:cNvPr id="12" name="Object 12">
            <a:extLst>
              <a:ext uri="{FF2B5EF4-FFF2-40B4-BE49-F238E27FC236}">
                <a16:creationId xmlns:a16="http://schemas.microsoft.com/office/drawing/2014/main" id="{AD4DA293-AAD6-4428-B257-FC778B1D0221}"/>
              </a:ext>
            </a:extLst>
          </p:cNvPr>
          <p:cNvGraphicFramePr>
            <a:graphicFrameLocks noChangeAspect="1"/>
          </p:cNvGraphicFramePr>
          <p:nvPr>
            <p:extLst>
              <p:ext uri="{D42A27DB-BD31-4B8C-83A1-F6EECF244321}">
                <p14:modId xmlns:p14="http://schemas.microsoft.com/office/powerpoint/2010/main" val="1901516423"/>
              </p:ext>
            </p:extLst>
          </p:nvPr>
        </p:nvGraphicFramePr>
        <p:xfrm>
          <a:off x="1883078" y="4820834"/>
          <a:ext cx="1012521" cy="1152179"/>
        </p:xfrm>
        <a:graphic>
          <a:graphicData uri="http://schemas.openxmlformats.org/presentationml/2006/ole">
            <mc:AlternateContent xmlns:mc="http://schemas.openxmlformats.org/markup-compatibility/2006">
              <mc:Choice xmlns:v="urn:schemas-microsoft-com:vml" Requires="v">
                <p:oleObj spid="_x0000_s1069" name="Equation" r:id="rId6" imgW="368300" imgH="419100" progId="Equation.3">
                  <p:embed/>
                </p:oleObj>
              </mc:Choice>
              <mc:Fallback>
                <p:oleObj name="Equation" r:id="rId6" imgW="368300" imgH="419100" progId="Equation.3">
                  <p:embed/>
                  <p:pic>
                    <p:nvPicPr>
                      <p:cNvPr id="48133"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3078" y="4820834"/>
                        <a:ext cx="1012521" cy="1152179"/>
                      </a:xfrm>
                      <a:prstGeom prst="rect">
                        <a:avLst/>
                      </a:prstGeom>
                      <a:noFill/>
                      <a:ln>
                        <a:noFill/>
                      </a:ln>
                      <a:effectLst/>
                    </p:spPr>
                  </p:pic>
                </p:oleObj>
              </mc:Fallback>
            </mc:AlternateContent>
          </a:graphicData>
        </a:graphic>
      </p:graphicFrame>
      <p:graphicFrame>
        <p:nvGraphicFramePr>
          <p:cNvPr id="13" name="Object 15">
            <a:extLst>
              <a:ext uri="{FF2B5EF4-FFF2-40B4-BE49-F238E27FC236}">
                <a16:creationId xmlns:a16="http://schemas.microsoft.com/office/drawing/2014/main" id="{1C800EC0-7293-417B-BEE4-279896D5988A}"/>
              </a:ext>
            </a:extLst>
          </p:cNvPr>
          <p:cNvGraphicFramePr>
            <a:graphicFrameLocks noChangeAspect="1"/>
          </p:cNvGraphicFramePr>
          <p:nvPr>
            <p:extLst>
              <p:ext uri="{D42A27DB-BD31-4B8C-83A1-F6EECF244321}">
                <p14:modId xmlns:p14="http://schemas.microsoft.com/office/powerpoint/2010/main" val="1015446774"/>
              </p:ext>
            </p:extLst>
          </p:nvPr>
        </p:nvGraphicFramePr>
        <p:xfrm>
          <a:off x="1219200" y="6016011"/>
          <a:ext cx="2133600" cy="588247"/>
        </p:xfrm>
        <a:graphic>
          <a:graphicData uri="http://schemas.openxmlformats.org/presentationml/2006/ole">
            <mc:AlternateContent xmlns:mc="http://schemas.openxmlformats.org/markup-compatibility/2006">
              <mc:Choice xmlns:v="urn:schemas-microsoft-com:vml" Requires="v">
                <p:oleObj spid="_x0000_s1070" name="Equation" r:id="rId8" imgW="736600" imgH="203200" progId="Equation.3">
                  <p:embed/>
                </p:oleObj>
              </mc:Choice>
              <mc:Fallback>
                <p:oleObj name="Equation" r:id="rId8" imgW="736600" imgH="203200" progId="Equation.3">
                  <p:embed/>
                  <p:pic>
                    <p:nvPicPr>
                      <p:cNvPr id="48134"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19200" y="6016011"/>
                        <a:ext cx="2133600" cy="588247"/>
                      </a:xfrm>
                      <a:prstGeom prst="rect">
                        <a:avLst/>
                      </a:prstGeom>
                      <a:noFill/>
                      <a:ln>
                        <a:noFill/>
                      </a:ln>
                      <a:effec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txBox="1">
            <a:spLocks noGrp="1"/>
          </p:cNvSpPr>
          <p:nvPr/>
        </p:nvSpPr>
        <p:spPr bwMode="auto">
          <a:xfrm>
            <a:off x="8077200" y="661987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31D1EE75-E63F-4817-9DEC-5A3C6CD1E9B6}" type="slidenum">
              <a:rPr lang="en-US" sz="1400"/>
              <a:pPr algn="r" eaLnBrk="1" hangingPunct="1"/>
              <a:t>38</a:t>
            </a:fld>
            <a:endParaRPr lang="en-US" sz="1400"/>
          </a:p>
        </p:txBody>
      </p:sp>
      <p:sp>
        <p:nvSpPr>
          <p:cNvPr id="49155" name="Rectangle 3"/>
          <p:cNvSpPr>
            <a:spLocks noGrp="1" noChangeArrowheads="1"/>
          </p:cNvSpPr>
          <p:nvPr>
            <p:ph type="body" idx="4294967295"/>
          </p:nvPr>
        </p:nvSpPr>
        <p:spPr>
          <a:xfrm>
            <a:off x="609600" y="1318129"/>
            <a:ext cx="11277600" cy="4953000"/>
          </a:xfrm>
        </p:spPr>
        <p:txBody>
          <a:bodyPr anchor="ctr">
            <a:normAutofit lnSpcReduction="10000"/>
          </a:bodyPr>
          <a:lstStyle/>
          <a:p>
            <a:pPr eaLnBrk="1" hangingPunct="1">
              <a:lnSpc>
                <a:spcPct val="170000"/>
              </a:lnSpc>
            </a:pPr>
            <a:r>
              <a:rPr lang="en-US" sz="2400" dirty="0"/>
              <a:t> Expressions are evaluated using assignment statement  of the form</a:t>
            </a:r>
          </a:p>
          <a:p>
            <a:pPr marL="0" indent="0" algn="ctr" eaLnBrk="1" hangingPunct="1">
              <a:lnSpc>
                <a:spcPct val="170000"/>
              </a:lnSpc>
              <a:buNone/>
            </a:pPr>
            <a:r>
              <a:rPr lang="en-US" sz="3200" b="1" dirty="0">
                <a:solidFill>
                  <a:schemeClr val="accent1"/>
                </a:solidFill>
              </a:rPr>
              <a:t>variable=expression;</a:t>
            </a:r>
          </a:p>
          <a:p>
            <a:pPr eaLnBrk="1" hangingPunct="1">
              <a:lnSpc>
                <a:spcPct val="170000"/>
              </a:lnSpc>
            </a:pPr>
            <a:r>
              <a:rPr lang="en-US" sz="2400" dirty="0"/>
              <a:t>Variable is any valid C++ variable name</a:t>
            </a:r>
          </a:p>
          <a:p>
            <a:pPr eaLnBrk="1" hangingPunct="1">
              <a:lnSpc>
                <a:spcPct val="170000"/>
              </a:lnSpc>
            </a:pPr>
            <a:r>
              <a:rPr lang="en-US" sz="2400" dirty="0"/>
              <a:t>When statement is encountered the expression is evaluated first and the result then replaces the previous value of the variable on the left hand side</a:t>
            </a:r>
          </a:p>
          <a:p>
            <a:pPr eaLnBrk="1" hangingPunct="1">
              <a:lnSpc>
                <a:spcPct val="170000"/>
              </a:lnSpc>
            </a:pPr>
            <a:r>
              <a:rPr lang="en-US" sz="2400" dirty="0"/>
              <a:t>All variables used in the expression must be assigned values before evaluation is attempted.</a:t>
            </a:r>
            <a:endParaRPr lang="en-US" sz="2400" dirty="0">
              <a:solidFill>
                <a:srgbClr val="000066"/>
              </a:solidFill>
            </a:endParaRPr>
          </a:p>
        </p:txBody>
      </p:sp>
      <p:sp>
        <p:nvSpPr>
          <p:cNvPr id="49156" name="Text Box 9"/>
          <p:cNvSpPr txBox="1">
            <a:spLocks noChangeArrowheads="1"/>
          </p:cNvSpPr>
          <p:nvPr/>
        </p:nvSpPr>
        <p:spPr bwMode="ltGray">
          <a:xfrm>
            <a:off x="1143000" y="228600"/>
            <a:ext cx="10210800" cy="1089529"/>
          </a:xfrm>
          <a:prstGeom prst="rect">
            <a:avLst/>
          </a:prstGeom>
        </p:spPr>
        <p:txBody>
          <a:bodyPr vert="horz" lIns="91440" tIns="45720" rIns="91440" bIns="45720" rtlCol="0" anchor="ctr">
            <a:normAutofit/>
          </a:bodyPr>
          <a:lstStyle>
            <a:lvl1pPr algn="ctr" defTabSz="914400">
              <a:lnSpc>
                <a:spcPct val="90000"/>
              </a:lnSpc>
              <a:spcBef>
                <a:spcPct val="0"/>
              </a:spcBef>
              <a:buNone/>
              <a:defRPr sz="3600" b="1">
                <a:solidFill>
                  <a:srgbClr val="CC6600"/>
                </a:solidFill>
                <a:latin typeface="+mj-lt"/>
                <a:ea typeface="+mj-ea"/>
                <a:cs typeface="+mj-cs"/>
              </a:defRPr>
            </a:lvl1pPr>
          </a:lstStyle>
          <a:p>
            <a:r>
              <a:rPr lang="en-US" dirty="0"/>
              <a:t>Evaluation of expressions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1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1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 Box 6"/>
          <p:cNvSpPr txBox="1">
            <a:spLocks noChangeArrowheads="1"/>
          </p:cNvSpPr>
          <p:nvPr/>
        </p:nvSpPr>
        <p:spPr bwMode="auto">
          <a:xfrm>
            <a:off x="1625564" y="1349432"/>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endParaRPr lang="en-US"/>
          </a:p>
        </p:txBody>
      </p:sp>
      <p:sp>
        <p:nvSpPr>
          <p:cNvPr id="56324" name="Text Box 7"/>
          <p:cNvSpPr txBox="1">
            <a:spLocks noChangeArrowheads="1"/>
          </p:cNvSpPr>
          <p:nvPr/>
        </p:nvSpPr>
        <p:spPr bwMode="auto">
          <a:xfrm>
            <a:off x="2438402" y="457201"/>
            <a:ext cx="7664448" cy="5906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endParaRPr lang="en-US" sz="2000" dirty="0"/>
          </a:p>
          <a:p>
            <a:pPr algn="l" eaLnBrk="1" hangingPunct="1">
              <a:lnSpc>
                <a:spcPct val="120000"/>
              </a:lnSpc>
            </a:pPr>
            <a:r>
              <a:rPr lang="en-US" sz="2000" b="1" dirty="0">
                <a:solidFill>
                  <a:srgbClr val="BD5329"/>
                </a:solidFill>
              </a:rPr>
              <a:t>Operator Category          Operators                Associativity </a:t>
            </a:r>
          </a:p>
          <a:p>
            <a:pPr algn="l" eaLnBrk="1" hangingPunct="1">
              <a:lnSpc>
                <a:spcPct val="120000"/>
              </a:lnSpc>
            </a:pPr>
            <a:r>
              <a:rPr lang="en-US" sz="2000" dirty="0"/>
              <a:t>Unary operators				+  -  + +  - -  !		R</a:t>
            </a:r>
            <a:r>
              <a:rPr lang="en-US" sz="2000" dirty="0">
                <a:cs typeface="Arial" charset="0"/>
              </a:rPr>
              <a:t>→L</a:t>
            </a:r>
          </a:p>
          <a:p>
            <a:pPr algn="l" eaLnBrk="1" hangingPunct="1">
              <a:lnSpc>
                <a:spcPct val="120000"/>
              </a:lnSpc>
            </a:pPr>
            <a:r>
              <a:rPr lang="en-US" sz="2000" dirty="0">
                <a:cs typeface="Arial" charset="0"/>
              </a:rPr>
              <a:t>Arithmetic operators				* / %			L→R</a:t>
            </a:r>
          </a:p>
          <a:p>
            <a:pPr algn="l" eaLnBrk="1" hangingPunct="1">
              <a:lnSpc>
                <a:spcPct val="120000"/>
              </a:lnSpc>
            </a:pPr>
            <a:r>
              <a:rPr lang="en-US" sz="2000" dirty="0">
                <a:cs typeface="Arial" charset="0"/>
              </a:rPr>
              <a:t>Arithmetic Operators				+ -</a:t>
            </a:r>
            <a:r>
              <a:rPr lang="en-US" sz="2000" dirty="0"/>
              <a:t> 			L→R</a:t>
            </a:r>
          </a:p>
          <a:p>
            <a:pPr algn="l" eaLnBrk="1" hangingPunct="1">
              <a:lnSpc>
                <a:spcPct val="120000"/>
              </a:lnSpc>
            </a:pPr>
            <a:r>
              <a:rPr lang="en-US" sz="2000" dirty="0"/>
              <a:t>Shift Operators					&lt;&lt;  &gt;&gt;			L</a:t>
            </a:r>
            <a:r>
              <a:rPr lang="en-US" sz="2000" dirty="0">
                <a:sym typeface="Wingdings" pitchFamily="2" charset="2"/>
              </a:rPr>
              <a:t>R</a:t>
            </a:r>
            <a:endParaRPr lang="en-US" sz="2000" dirty="0"/>
          </a:p>
          <a:p>
            <a:pPr algn="l" eaLnBrk="1" hangingPunct="1">
              <a:lnSpc>
                <a:spcPct val="120000"/>
              </a:lnSpc>
            </a:pPr>
            <a:r>
              <a:rPr lang="en-US" sz="2000" dirty="0"/>
              <a:t>Relational operators				&lt;  </a:t>
            </a:r>
            <a:r>
              <a:rPr lang="en-US" sz="2000" dirty="0">
                <a:sym typeface="Wingdings" pitchFamily="2" charset="2"/>
              </a:rPr>
              <a:t>&lt;=  &gt;  &gt;=		</a:t>
            </a:r>
            <a:r>
              <a:rPr lang="en-US" sz="2000" dirty="0"/>
              <a:t>L→R</a:t>
            </a:r>
          </a:p>
          <a:p>
            <a:pPr algn="l" eaLnBrk="1" hangingPunct="1">
              <a:lnSpc>
                <a:spcPct val="120000"/>
              </a:lnSpc>
            </a:pPr>
            <a:r>
              <a:rPr lang="en-US" sz="2000" dirty="0"/>
              <a:t>Equality operators				==  !=			L→R</a:t>
            </a:r>
          </a:p>
          <a:p>
            <a:pPr algn="l" eaLnBrk="1" hangingPunct="1">
              <a:lnSpc>
                <a:spcPct val="120000"/>
              </a:lnSpc>
            </a:pPr>
            <a:r>
              <a:rPr lang="en-US" sz="2000" dirty="0"/>
              <a:t>Bitwise AND						&amp;			L</a:t>
            </a:r>
            <a:r>
              <a:rPr lang="en-US" sz="2000" dirty="0">
                <a:sym typeface="Wingdings" pitchFamily="2" charset="2"/>
              </a:rPr>
              <a:t>R</a:t>
            </a:r>
          </a:p>
          <a:p>
            <a:pPr algn="l" eaLnBrk="1" hangingPunct="1">
              <a:lnSpc>
                <a:spcPct val="120000"/>
              </a:lnSpc>
            </a:pPr>
            <a:r>
              <a:rPr lang="en-US" sz="2000" dirty="0">
                <a:sym typeface="Wingdings" pitchFamily="2" charset="2"/>
              </a:rPr>
              <a:t>Bitwise XOR						^			</a:t>
            </a:r>
            <a:r>
              <a:rPr lang="en-US" sz="2000" dirty="0"/>
              <a:t>L</a:t>
            </a:r>
            <a:r>
              <a:rPr lang="en-US" sz="2000" dirty="0">
                <a:sym typeface="Wingdings" pitchFamily="2" charset="2"/>
              </a:rPr>
              <a:t>R</a:t>
            </a:r>
          </a:p>
          <a:p>
            <a:pPr algn="l" eaLnBrk="1" hangingPunct="1">
              <a:lnSpc>
                <a:spcPct val="120000"/>
              </a:lnSpc>
            </a:pPr>
            <a:r>
              <a:rPr lang="en-US" sz="2000" dirty="0">
                <a:sym typeface="Wingdings" pitchFamily="2" charset="2"/>
              </a:rPr>
              <a:t>Bitwise OR							|			</a:t>
            </a:r>
            <a:r>
              <a:rPr lang="en-US" sz="2000" dirty="0"/>
              <a:t>L</a:t>
            </a:r>
            <a:r>
              <a:rPr lang="en-US" sz="2000" dirty="0">
                <a:sym typeface="Wingdings" pitchFamily="2" charset="2"/>
              </a:rPr>
              <a:t>R</a:t>
            </a:r>
            <a:endParaRPr lang="en-US" sz="2000" dirty="0"/>
          </a:p>
          <a:p>
            <a:pPr algn="l" eaLnBrk="1" hangingPunct="1">
              <a:lnSpc>
                <a:spcPct val="120000"/>
              </a:lnSpc>
            </a:pPr>
            <a:r>
              <a:rPr lang="en-US" sz="2000" dirty="0"/>
              <a:t>Logical AND						&amp;&amp;			L→R</a:t>
            </a:r>
          </a:p>
          <a:p>
            <a:pPr algn="l" eaLnBrk="1" hangingPunct="1">
              <a:lnSpc>
                <a:spcPct val="120000"/>
              </a:lnSpc>
            </a:pPr>
            <a:r>
              <a:rPr lang="en-US" sz="2000" dirty="0"/>
              <a:t>Logical OR							||</a:t>
            </a:r>
            <a:r>
              <a:rPr lang="en-US" sz="2000" dirty="0">
                <a:cs typeface="Arial" charset="0"/>
              </a:rPr>
              <a:t>			</a:t>
            </a:r>
            <a:r>
              <a:rPr lang="en-US" sz="2000" dirty="0"/>
              <a:t>L→R</a:t>
            </a:r>
          </a:p>
          <a:p>
            <a:pPr algn="l" eaLnBrk="1" hangingPunct="1">
              <a:lnSpc>
                <a:spcPct val="120000"/>
              </a:lnSpc>
            </a:pPr>
            <a:r>
              <a:rPr lang="en-US" sz="2000" dirty="0"/>
              <a:t>Conditional expression   			? :                R</a:t>
            </a:r>
            <a:r>
              <a:rPr lang="en-US" sz="2000" dirty="0">
                <a:sym typeface="Wingdings" pitchFamily="2" charset="2"/>
              </a:rPr>
              <a:t>L</a:t>
            </a:r>
            <a:endParaRPr lang="en-US" sz="2000" dirty="0"/>
          </a:p>
          <a:p>
            <a:pPr algn="l" eaLnBrk="1" hangingPunct="1">
              <a:lnSpc>
                <a:spcPct val="120000"/>
              </a:lnSpc>
            </a:pPr>
            <a:r>
              <a:rPr lang="en-US" sz="2000" dirty="0"/>
              <a:t>Assignment operator		=  +=  -=  *=  /=  %= 	R→L</a:t>
            </a:r>
          </a:p>
          <a:p>
            <a:pPr algn="l" eaLnBrk="1" hangingPunct="1">
              <a:lnSpc>
                <a:spcPct val="120000"/>
              </a:lnSpc>
            </a:pPr>
            <a:r>
              <a:rPr lang="en-US" sz="2000" dirty="0"/>
              <a:t>Comma Operator         				 , 			L</a:t>
            </a:r>
            <a:r>
              <a:rPr lang="en-US" sz="2000" dirty="0">
                <a:sym typeface="Wingdings" pitchFamily="2" charset="2"/>
              </a:rPr>
              <a:t>R</a:t>
            </a:r>
            <a:endParaRPr lang="en-US" sz="2000" dirty="0"/>
          </a:p>
        </p:txBody>
      </p:sp>
      <p:sp>
        <p:nvSpPr>
          <p:cNvPr id="56325" name="Text Box 9"/>
          <p:cNvSpPr txBox="1">
            <a:spLocks noChangeArrowheads="1"/>
          </p:cNvSpPr>
          <p:nvPr/>
        </p:nvSpPr>
        <p:spPr bwMode="ltGray">
          <a:xfrm>
            <a:off x="4876800" y="117477"/>
            <a:ext cx="716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spcBef>
                <a:spcPct val="50000"/>
              </a:spcBef>
            </a:pPr>
            <a:r>
              <a:rPr lang="en-US" sz="2400" b="1" i="1" dirty="0">
                <a:solidFill>
                  <a:schemeClr val="accent1"/>
                </a:solidFill>
              </a:rPr>
              <a:t>Operator precedence Groups</a:t>
            </a:r>
          </a:p>
        </p:txBody>
      </p:sp>
      <p:cxnSp>
        <p:nvCxnSpPr>
          <p:cNvPr id="3" name="Straight Arrow Connector 2"/>
          <p:cNvCxnSpPr/>
          <p:nvPr/>
        </p:nvCxnSpPr>
        <p:spPr bwMode="auto">
          <a:xfrm flipV="1">
            <a:off x="1260439" y="1084319"/>
            <a:ext cx="0" cy="4876800"/>
          </a:xfrm>
          <a:prstGeom prst="straightConnector1">
            <a:avLst/>
          </a:prstGeom>
          <a:solidFill>
            <a:schemeClr val="accent1"/>
          </a:solidFill>
          <a:ln w="57150" cap="flat" cmpd="sng" algn="ctr">
            <a:solidFill>
              <a:srgbClr val="BD5329"/>
            </a:solidFill>
            <a:prstDash val="solid"/>
            <a:round/>
            <a:headEnd type="none" w="med" len="med"/>
            <a:tailEnd type="arrow"/>
          </a:ln>
          <a:effectLst/>
        </p:spPr>
      </p:cxnSp>
      <p:sp>
        <p:nvSpPr>
          <p:cNvPr id="5" name="TextBox 4"/>
          <p:cNvSpPr txBox="1"/>
          <p:nvPr/>
        </p:nvSpPr>
        <p:spPr>
          <a:xfrm>
            <a:off x="696643" y="703319"/>
            <a:ext cx="1005403" cy="369332"/>
          </a:xfrm>
          <a:prstGeom prst="rect">
            <a:avLst/>
          </a:prstGeom>
          <a:noFill/>
        </p:spPr>
        <p:txBody>
          <a:bodyPr wrap="none" rtlCol="0">
            <a:spAutoFit/>
          </a:bodyPr>
          <a:lstStyle/>
          <a:p>
            <a:r>
              <a:rPr lang="en-US" b="1" dirty="0">
                <a:solidFill>
                  <a:schemeClr val="accent1"/>
                </a:solidFill>
              </a:rPr>
              <a:t>highest</a:t>
            </a:r>
          </a:p>
        </p:txBody>
      </p:sp>
      <p:sp>
        <p:nvSpPr>
          <p:cNvPr id="10" name="TextBox 9"/>
          <p:cNvSpPr txBox="1"/>
          <p:nvPr/>
        </p:nvSpPr>
        <p:spPr>
          <a:xfrm>
            <a:off x="762000" y="5994101"/>
            <a:ext cx="902811" cy="369332"/>
          </a:xfrm>
          <a:prstGeom prst="rect">
            <a:avLst/>
          </a:prstGeom>
          <a:noFill/>
        </p:spPr>
        <p:txBody>
          <a:bodyPr wrap="none" rtlCol="0">
            <a:spAutoFit/>
          </a:bodyPr>
          <a:lstStyle/>
          <a:p>
            <a:r>
              <a:rPr lang="en-US" b="1" dirty="0">
                <a:solidFill>
                  <a:schemeClr val="accent1"/>
                </a:solidFill>
              </a:rPr>
              <a:t>lowest</a:t>
            </a:r>
          </a:p>
        </p:txBody>
      </p:sp>
    </p:spTree>
    <p:extLst>
      <p:ext uri="{BB962C8B-B14F-4D97-AF65-F5344CB8AC3E}">
        <p14:creationId xmlns:p14="http://schemas.microsoft.com/office/powerpoint/2010/main" val="510920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32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32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32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632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632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632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632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632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6324">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6324">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6324">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6324">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632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type="body" idx="4294967295"/>
          </p:nvPr>
        </p:nvSpPr>
        <p:spPr>
          <a:xfrm>
            <a:off x="304800" y="1237456"/>
            <a:ext cx="11353800" cy="5239544"/>
          </a:xfrm>
        </p:spPr>
        <p:txBody>
          <a:bodyPr>
            <a:normAutofit/>
          </a:bodyPr>
          <a:lstStyle/>
          <a:p>
            <a:pPr algn="just" eaLnBrk="1" hangingPunct="1">
              <a:lnSpc>
                <a:spcPct val="150000"/>
              </a:lnSpc>
            </a:pPr>
            <a:r>
              <a:rPr lang="en-US" sz="2400" dirty="0"/>
              <a:t>Each operator has a precedence associated with it</a:t>
            </a:r>
          </a:p>
          <a:p>
            <a:pPr algn="just" eaLnBrk="1" hangingPunct="1">
              <a:lnSpc>
                <a:spcPct val="150000"/>
              </a:lnSpc>
            </a:pPr>
            <a:r>
              <a:rPr lang="en-US" sz="2400" b="1" i="1" dirty="0">
                <a:solidFill>
                  <a:schemeClr val="accent1"/>
                </a:solidFill>
              </a:rPr>
              <a:t>Precedence is used to determine how an expression involving more than one operator is evaluated</a:t>
            </a:r>
          </a:p>
          <a:p>
            <a:pPr algn="just" eaLnBrk="1" hangingPunct="1">
              <a:lnSpc>
                <a:spcPct val="150000"/>
              </a:lnSpc>
            </a:pPr>
            <a:r>
              <a:rPr lang="en-US" sz="2400" dirty="0"/>
              <a:t>There are distinct levels of precedence and an operator may belong to one of these levels</a:t>
            </a:r>
          </a:p>
          <a:p>
            <a:pPr algn="just" eaLnBrk="1" hangingPunct="1">
              <a:lnSpc>
                <a:spcPct val="150000"/>
              </a:lnSpc>
            </a:pPr>
            <a:r>
              <a:rPr lang="en-US" sz="2400" dirty="0"/>
              <a:t>Precedence rule is applied in determining the order of application of operators in evaluating sub-expressions</a:t>
            </a:r>
          </a:p>
          <a:p>
            <a:pPr algn="just" eaLnBrk="1" hangingPunct="1">
              <a:lnSpc>
                <a:spcPct val="150000"/>
              </a:lnSpc>
            </a:pPr>
            <a:r>
              <a:rPr lang="en-US" sz="2400" b="1" i="1" dirty="0">
                <a:solidFill>
                  <a:schemeClr val="accent1"/>
                </a:solidFill>
              </a:rPr>
              <a:t>Operators at a higher level of precedence are evaluated first</a:t>
            </a:r>
          </a:p>
          <a:p>
            <a:pPr algn="just" eaLnBrk="1" hangingPunct="1">
              <a:lnSpc>
                <a:spcPct val="150000"/>
              </a:lnSpc>
            </a:pPr>
            <a:endParaRPr lang="en-US" sz="2400" dirty="0"/>
          </a:p>
        </p:txBody>
      </p:sp>
      <p:sp>
        <p:nvSpPr>
          <p:cNvPr id="51204" name="Text Box 9"/>
          <p:cNvSpPr txBox="1">
            <a:spLocks noChangeArrowheads="1"/>
          </p:cNvSpPr>
          <p:nvPr/>
        </p:nvSpPr>
        <p:spPr bwMode="ltGray">
          <a:xfrm>
            <a:off x="0" y="381000"/>
            <a:ext cx="12192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3200" b="1" dirty="0">
                <a:solidFill>
                  <a:srgbClr val="CC6600"/>
                </a:solidFill>
              </a:rPr>
              <a:t>Operator precedence and associativity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type="body" idx="4294967295"/>
          </p:nvPr>
        </p:nvSpPr>
        <p:spPr>
          <a:xfrm>
            <a:off x="228600" y="1191833"/>
            <a:ext cx="11734800" cy="4876800"/>
          </a:xfrm>
        </p:spPr>
        <p:txBody>
          <a:bodyPr anchor="ctr">
            <a:normAutofit/>
          </a:bodyPr>
          <a:lstStyle/>
          <a:p>
            <a:pPr algn="just" eaLnBrk="1" hangingPunct="1"/>
            <a:r>
              <a:rPr lang="en-US" sz="2400" dirty="0"/>
              <a:t>Operators of same precedence are evaluated either form ‘left to right’ or from ‘right to left’ depending on the list of operators, their precedence levels, and their rules of association</a:t>
            </a:r>
          </a:p>
          <a:p>
            <a:pPr algn="just" eaLnBrk="1" hangingPunct="1"/>
            <a:r>
              <a:rPr lang="en-US" sz="2400" b="1" dirty="0">
                <a:solidFill>
                  <a:schemeClr val="accent1"/>
                </a:solidFill>
              </a:rPr>
              <a:t>The order in which operators at the same precedence level are evaluated is known as Associativity.</a:t>
            </a:r>
          </a:p>
          <a:p>
            <a:pPr algn="just" eaLnBrk="1" hangingPunct="1"/>
            <a:r>
              <a:rPr lang="en-US" sz="2400" dirty="0"/>
              <a:t>Associativity rule is applied when two or more operators of same precedence level appear in a sub-expression</a:t>
            </a:r>
          </a:p>
          <a:p>
            <a:pPr algn="just" eaLnBrk="1" hangingPunct="1">
              <a:lnSpc>
                <a:spcPct val="150000"/>
              </a:lnSpc>
            </a:pPr>
            <a:r>
              <a:rPr lang="en-US" sz="2400" dirty="0"/>
              <a:t>Associativity may be from ‘left to right’ or from ‘right to left’  depending on the precedence level.</a:t>
            </a:r>
          </a:p>
        </p:txBody>
      </p:sp>
      <p:sp>
        <p:nvSpPr>
          <p:cNvPr id="52228" name="Text Box 9"/>
          <p:cNvSpPr txBox="1">
            <a:spLocks noChangeArrowheads="1"/>
          </p:cNvSpPr>
          <p:nvPr/>
        </p:nvSpPr>
        <p:spPr bwMode="ltGray">
          <a:xfrm>
            <a:off x="228600" y="381000"/>
            <a:ext cx="11734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3200" b="1" dirty="0">
                <a:solidFill>
                  <a:srgbClr val="CC6600"/>
                </a:solidFill>
              </a:rPr>
              <a:t>Operator precedence and associativity(contd.)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2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type="body" idx="4294967295"/>
          </p:nvPr>
        </p:nvSpPr>
        <p:spPr>
          <a:xfrm>
            <a:off x="0" y="0"/>
            <a:ext cx="12192000" cy="6858000"/>
          </a:xfrm>
        </p:spPr>
        <p:txBody>
          <a:bodyPr>
            <a:normAutofit fontScale="85000" lnSpcReduction="20000"/>
          </a:bodyPr>
          <a:lstStyle/>
          <a:p>
            <a:pPr eaLnBrk="1" hangingPunct="1">
              <a:lnSpc>
                <a:spcPct val="90000"/>
              </a:lnSpc>
              <a:buFontTx/>
              <a:buNone/>
            </a:pPr>
            <a:endParaRPr lang="en-US" sz="2600" b="1" dirty="0"/>
          </a:p>
          <a:p>
            <a:pPr eaLnBrk="1" hangingPunct="1">
              <a:lnSpc>
                <a:spcPct val="90000"/>
              </a:lnSpc>
              <a:buFontTx/>
              <a:buNone/>
            </a:pPr>
            <a:r>
              <a:rPr lang="en-US" sz="2600" b="1" dirty="0" err="1"/>
              <a:t>int</a:t>
            </a:r>
            <a:r>
              <a:rPr lang="en-US" sz="2600" b="1" dirty="0"/>
              <a:t> main()</a:t>
            </a:r>
          </a:p>
          <a:p>
            <a:pPr eaLnBrk="1" hangingPunct="1">
              <a:lnSpc>
                <a:spcPct val="90000"/>
              </a:lnSpc>
              <a:buFontTx/>
              <a:buNone/>
            </a:pPr>
            <a:r>
              <a:rPr lang="en-US" sz="2600" b="1" dirty="0"/>
              <a:t>{</a:t>
            </a:r>
          </a:p>
          <a:p>
            <a:pPr marL="514350" indent="-514350" eaLnBrk="1" hangingPunct="1">
              <a:lnSpc>
                <a:spcPct val="90000"/>
              </a:lnSpc>
              <a:buFont typeface="+mj-lt"/>
              <a:buAutoNum type="arabicPeriod"/>
            </a:pPr>
            <a:r>
              <a:rPr lang="en-US" sz="2600" b="1" dirty="0"/>
              <a:t>   float a, b, c, x, y, z, f;</a:t>
            </a:r>
          </a:p>
          <a:p>
            <a:pPr marL="514350" indent="-514350" eaLnBrk="1" hangingPunct="1">
              <a:lnSpc>
                <a:spcPct val="90000"/>
              </a:lnSpc>
              <a:buFont typeface="+mj-lt"/>
              <a:buAutoNum type="arabicPeriod"/>
            </a:pPr>
            <a:r>
              <a:rPr lang="en-US" sz="2600" b="1" dirty="0"/>
              <a:t>   </a:t>
            </a:r>
            <a:r>
              <a:rPr lang="en-US" sz="2600" b="1" dirty="0" err="1"/>
              <a:t>int</a:t>
            </a:r>
            <a:r>
              <a:rPr lang="en-US" sz="2600" b="1" dirty="0"/>
              <a:t> d=5;</a:t>
            </a:r>
          </a:p>
          <a:p>
            <a:pPr marL="514350" indent="-514350" eaLnBrk="1" hangingPunct="1">
              <a:lnSpc>
                <a:spcPct val="90000"/>
              </a:lnSpc>
              <a:buFont typeface="+mj-lt"/>
              <a:buAutoNum type="arabicPeriod"/>
            </a:pPr>
            <a:r>
              <a:rPr lang="en-US" sz="2600" b="1" dirty="0"/>
              <a:t>   a = 9;  f = 7/2;</a:t>
            </a:r>
          </a:p>
          <a:p>
            <a:pPr marL="514350" indent="-514350" eaLnBrk="1" hangingPunct="1">
              <a:lnSpc>
                <a:spcPct val="90000"/>
              </a:lnSpc>
              <a:buFont typeface="+mj-lt"/>
              <a:buAutoNum type="arabicPeriod"/>
            </a:pPr>
            <a:r>
              <a:rPr lang="en-US" sz="2600" b="1" dirty="0"/>
              <a:t>  </a:t>
            </a:r>
            <a:r>
              <a:rPr lang="en-US" sz="2600" b="1" dirty="0" err="1"/>
              <a:t>cout</a:t>
            </a:r>
            <a:r>
              <a:rPr lang="en-US" sz="2600" b="1" dirty="0"/>
              <a:t> &lt;&lt; a &lt;&lt; </a:t>
            </a:r>
            <a:r>
              <a:rPr lang="en-US" sz="2600" b="1" dirty="0" err="1"/>
              <a:t>endl</a:t>
            </a:r>
            <a:r>
              <a:rPr lang="en-US" sz="2600" b="1" dirty="0"/>
              <a:t> &lt;&lt; f &lt;&lt;  </a:t>
            </a:r>
            <a:r>
              <a:rPr lang="en-US" sz="2600" b="1" dirty="0" err="1"/>
              <a:t>endl</a:t>
            </a:r>
            <a:r>
              <a:rPr lang="en-US" sz="2600" b="1" dirty="0"/>
              <a:t>;</a:t>
            </a:r>
          </a:p>
          <a:p>
            <a:pPr marL="514350" indent="-514350" eaLnBrk="1" hangingPunct="1">
              <a:lnSpc>
                <a:spcPct val="90000"/>
              </a:lnSpc>
              <a:buFont typeface="+mj-lt"/>
              <a:buAutoNum type="arabicPeriod"/>
            </a:pPr>
            <a:r>
              <a:rPr lang="en-US" sz="2600" b="1" dirty="0"/>
              <a:t>  b  = 12.0;  c = 3.0;</a:t>
            </a:r>
          </a:p>
          <a:p>
            <a:pPr marL="514350" indent="-514350" eaLnBrk="1" hangingPunct="1">
              <a:lnSpc>
                <a:spcPct val="90000"/>
              </a:lnSpc>
              <a:buFont typeface="+mj-lt"/>
              <a:buAutoNum type="arabicPeriod"/>
            </a:pPr>
            <a:r>
              <a:rPr lang="en-US" sz="2600" b="1" dirty="0"/>
              <a:t>  x = a – b / 3 + c * 2 - 1;</a:t>
            </a:r>
          </a:p>
          <a:p>
            <a:pPr marL="514350" indent="-514350" eaLnBrk="1" hangingPunct="1">
              <a:lnSpc>
                <a:spcPct val="90000"/>
              </a:lnSpc>
              <a:buFont typeface="+mj-lt"/>
              <a:buAutoNum type="arabicPeriod"/>
            </a:pPr>
            <a:r>
              <a:rPr lang="en-US" sz="2600" b="1" dirty="0"/>
              <a:t>  y = a – b / (3 + c) * (2 - 1);</a:t>
            </a:r>
          </a:p>
          <a:p>
            <a:pPr marL="514350" indent="-514350" eaLnBrk="1" hangingPunct="1">
              <a:lnSpc>
                <a:spcPct val="90000"/>
              </a:lnSpc>
              <a:buFont typeface="+mj-lt"/>
              <a:buAutoNum type="arabicPeriod"/>
            </a:pPr>
            <a:r>
              <a:rPr lang="en-US" sz="2600" b="1" dirty="0"/>
              <a:t>  z = a - (b / (3 + c) * 2) - 1;</a:t>
            </a:r>
          </a:p>
          <a:p>
            <a:pPr marL="514350" indent="-514350" eaLnBrk="1" hangingPunct="1">
              <a:lnSpc>
                <a:spcPct val="90000"/>
              </a:lnSpc>
              <a:buFont typeface="+mj-lt"/>
              <a:buAutoNum type="arabicPeriod"/>
            </a:pPr>
            <a:r>
              <a:rPr lang="en-US" sz="2600" b="1" dirty="0"/>
              <a:t>  c = a &lt; 5; d = b &gt; d; </a:t>
            </a:r>
          </a:p>
          <a:p>
            <a:pPr marL="514350" indent="-514350" eaLnBrk="1" hangingPunct="1">
              <a:lnSpc>
                <a:spcPct val="90000"/>
              </a:lnSpc>
              <a:buFont typeface="+mj-lt"/>
              <a:buAutoNum type="arabicPeriod"/>
            </a:pPr>
            <a:r>
              <a:rPr lang="en-US" sz="2600" b="1" dirty="0"/>
              <a:t>  </a:t>
            </a:r>
            <a:r>
              <a:rPr lang="en-US" sz="2600" b="1" dirty="0" err="1"/>
              <a:t>cout</a:t>
            </a:r>
            <a:r>
              <a:rPr lang="en-US" sz="2600" b="1" dirty="0"/>
              <a:t> &lt;&lt; “x = “ &lt;&lt; x &lt;&lt; </a:t>
            </a:r>
            <a:r>
              <a:rPr lang="en-US" sz="2600" b="1" dirty="0" err="1"/>
              <a:t>endl</a:t>
            </a:r>
            <a:r>
              <a:rPr lang="en-US" sz="2600" b="1" dirty="0"/>
              <a:t>;</a:t>
            </a:r>
          </a:p>
          <a:p>
            <a:pPr marL="514350" indent="-514350" eaLnBrk="1" hangingPunct="1">
              <a:lnSpc>
                <a:spcPct val="90000"/>
              </a:lnSpc>
              <a:buFont typeface="+mj-lt"/>
              <a:buAutoNum type="arabicPeriod"/>
            </a:pPr>
            <a:r>
              <a:rPr lang="en-US" sz="2600" b="1" dirty="0"/>
              <a:t>  </a:t>
            </a:r>
            <a:r>
              <a:rPr lang="en-US" sz="2600" b="1" dirty="0" err="1"/>
              <a:t>cout</a:t>
            </a:r>
            <a:r>
              <a:rPr lang="en-US" sz="2600" b="1" dirty="0"/>
              <a:t> &lt;&lt; “y = “ &lt;&lt; y &lt;&lt; </a:t>
            </a:r>
            <a:r>
              <a:rPr lang="en-US" sz="2600" b="1" dirty="0" err="1"/>
              <a:t>endl</a:t>
            </a:r>
            <a:r>
              <a:rPr lang="en-US" sz="2600" b="1" dirty="0"/>
              <a:t>; </a:t>
            </a:r>
          </a:p>
          <a:p>
            <a:pPr marL="514350" indent="-514350" eaLnBrk="1" hangingPunct="1">
              <a:lnSpc>
                <a:spcPct val="90000"/>
              </a:lnSpc>
              <a:buFont typeface="+mj-lt"/>
              <a:buAutoNum type="arabicPeriod"/>
            </a:pPr>
            <a:r>
              <a:rPr lang="en-US" sz="2600" b="1" dirty="0"/>
              <a:t>  </a:t>
            </a:r>
            <a:r>
              <a:rPr lang="en-US" sz="2600" b="1" dirty="0" err="1"/>
              <a:t>cout</a:t>
            </a:r>
            <a:r>
              <a:rPr lang="en-US" sz="2600" b="1" dirty="0"/>
              <a:t> &lt;&lt; “z = “ &lt;&lt; z &lt;&lt; </a:t>
            </a:r>
            <a:r>
              <a:rPr lang="en-US" sz="2600" b="1" dirty="0" err="1"/>
              <a:t>endl</a:t>
            </a:r>
            <a:r>
              <a:rPr lang="en-US" sz="2600" b="1" dirty="0"/>
              <a:t>;</a:t>
            </a:r>
          </a:p>
          <a:p>
            <a:pPr marL="514350" indent="-514350" eaLnBrk="1" hangingPunct="1">
              <a:lnSpc>
                <a:spcPct val="90000"/>
              </a:lnSpc>
              <a:buFont typeface="+mj-lt"/>
              <a:buAutoNum type="arabicPeriod"/>
            </a:pPr>
            <a:r>
              <a:rPr lang="en-US" sz="2600" b="1" dirty="0"/>
              <a:t>  </a:t>
            </a:r>
            <a:r>
              <a:rPr lang="en-US" sz="2600" b="1" dirty="0" err="1"/>
              <a:t>cout</a:t>
            </a:r>
            <a:r>
              <a:rPr lang="en-US" sz="2600" b="1" dirty="0"/>
              <a:t> &lt;&lt; c &lt;&lt; </a:t>
            </a:r>
            <a:r>
              <a:rPr lang="en-US" sz="2600" b="1" dirty="0" err="1"/>
              <a:t>endl</a:t>
            </a:r>
            <a:r>
              <a:rPr lang="en-US" sz="2600" b="1" dirty="0"/>
              <a:t> &lt;&lt; d; </a:t>
            </a:r>
          </a:p>
          <a:p>
            <a:pPr marL="514350" indent="-514350" eaLnBrk="1" hangingPunct="1">
              <a:lnSpc>
                <a:spcPct val="90000"/>
              </a:lnSpc>
              <a:buFont typeface="+mj-lt"/>
              <a:buAutoNum type="arabicPeriod"/>
            </a:pPr>
            <a:r>
              <a:rPr lang="en-US" sz="2600" b="1" dirty="0"/>
              <a:t>  return 0;</a:t>
            </a:r>
          </a:p>
          <a:p>
            <a:pPr eaLnBrk="1" hangingPunct="1">
              <a:lnSpc>
                <a:spcPct val="90000"/>
              </a:lnSpc>
              <a:buFontTx/>
              <a:buNone/>
            </a:pPr>
            <a:r>
              <a:rPr lang="en-US" sz="2600" b="1" dirty="0"/>
              <a:t>}</a:t>
            </a:r>
          </a:p>
          <a:p>
            <a:pPr eaLnBrk="1" hangingPunct="1">
              <a:lnSpc>
                <a:spcPct val="90000"/>
              </a:lnSpc>
              <a:buFontTx/>
              <a:buNone/>
            </a:pPr>
            <a:endParaRPr lang="en-US" sz="2000" b="1" dirty="0">
              <a:solidFill>
                <a:srgbClr val="000066"/>
              </a:solidFill>
            </a:endParaRPr>
          </a:p>
        </p:txBody>
      </p:sp>
      <p:sp>
        <p:nvSpPr>
          <p:cNvPr id="54277" name="Text Box 5"/>
          <p:cNvSpPr txBox="1">
            <a:spLocks noChangeArrowheads="1"/>
          </p:cNvSpPr>
          <p:nvPr/>
        </p:nvSpPr>
        <p:spPr bwMode="auto">
          <a:xfrm>
            <a:off x="9492456" y="2135981"/>
            <a:ext cx="979488"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r>
              <a:rPr lang="en-US" b="1" u="sng" dirty="0">
                <a:solidFill>
                  <a:srgbClr val="0070C0"/>
                </a:solidFill>
              </a:rPr>
              <a:t>output:</a:t>
            </a:r>
          </a:p>
          <a:p>
            <a:pPr algn="l" eaLnBrk="1" hangingPunct="1"/>
            <a:endParaRPr lang="en-US" b="1" dirty="0"/>
          </a:p>
          <a:p>
            <a:pPr algn="l" eaLnBrk="1" hangingPunct="1"/>
            <a:r>
              <a:rPr lang="en-US" b="1" dirty="0"/>
              <a:t>9</a:t>
            </a:r>
          </a:p>
          <a:p>
            <a:pPr algn="l" eaLnBrk="1" hangingPunct="1"/>
            <a:r>
              <a:rPr lang="en-US" b="1" dirty="0"/>
              <a:t>3</a:t>
            </a:r>
          </a:p>
          <a:p>
            <a:pPr algn="l" eaLnBrk="1" hangingPunct="1"/>
            <a:r>
              <a:rPr lang="en-US" b="1" dirty="0"/>
              <a:t>x=10</a:t>
            </a:r>
          </a:p>
          <a:p>
            <a:pPr algn="l" eaLnBrk="1" hangingPunct="1"/>
            <a:r>
              <a:rPr lang="en-US" b="1" dirty="0"/>
              <a:t>y=7</a:t>
            </a:r>
          </a:p>
          <a:p>
            <a:pPr algn="l" eaLnBrk="1" hangingPunct="1"/>
            <a:r>
              <a:rPr lang="en-US" b="1" dirty="0"/>
              <a:t>z=4</a:t>
            </a:r>
          </a:p>
          <a:p>
            <a:pPr algn="l" eaLnBrk="1" hangingPunct="1"/>
            <a:r>
              <a:rPr lang="en-US" b="1" dirty="0"/>
              <a:t>0</a:t>
            </a:r>
          </a:p>
          <a:p>
            <a:pPr algn="l" eaLnBrk="1" hangingPunct="1"/>
            <a:r>
              <a:rPr lang="en-US" b="1" dirty="0"/>
              <a:t>1</a:t>
            </a:r>
          </a:p>
        </p:txBody>
      </p:sp>
      <p:sp>
        <p:nvSpPr>
          <p:cNvPr id="50181" name="Text Box 9"/>
          <p:cNvSpPr txBox="1">
            <a:spLocks noChangeArrowheads="1"/>
          </p:cNvSpPr>
          <p:nvPr/>
        </p:nvSpPr>
        <p:spPr bwMode="ltGray">
          <a:xfrm>
            <a:off x="5791200" y="206682"/>
            <a:ext cx="5943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spcBef>
                <a:spcPct val="50000"/>
              </a:spcBef>
            </a:pPr>
            <a:r>
              <a:rPr lang="en-US" sz="2800" b="1" dirty="0">
                <a:solidFill>
                  <a:srgbClr val="CC6600"/>
                </a:solidFill>
              </a:rPr>
              <a:t>Program to illustrate evaluation of </a:t>
            </a:r>
            <a:r>
              <a:rPr lang="en-US" sz="2400" b="1" dirty="0">
                <a:solidFill>
                  <a:srgbClr val="CC6600"/>
                </a:solidFill>
              </a:rPr>
              <a:t>expressions</a:t>
            </a:r>
            <a:r>
              <a:rPr lang="en-US" sz="2800" b="1" dirty="0">
                <a:solidFill>
                  <a:srgbClr val="CC6600"/>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4277"/>
                                        </p:tgtEl>
                                        <p:attrNameLst>
                                          <p:attrName>style.visibility</p:attrName>
                                        </p:attrNameLst>
                                      </p:cBhvr>
                                      <p:to>
                                        <p:strVal val="visible"/>
                                      </p:to>
                                    </p:set>
                                    <p:animEffect transition="in" filter="box(in)">
                                      <p:cBhvr>
                                        <p:cTn id="7" dur="500"/>
                                        <p:tgtEl>
                                          <p:spTgt spid="54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3250" name="Slide Number Placeholder 7"/>
          <p:cNvSpPr txBox="1">
            <a:spLocks noGrp="1"/>
          </p:cNvSpPr>
          <p:nvPr/>
        </p:nvSpPr>
        <p:spPr bwMode="auto">
          <a:xfrm>
            <a:off x="8153400" y="661987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r" eaLnBrk="1" hangingPunct="1"/>
            <a:fld id="{311BFBDD-0D62-4A6E-9DA2-69DC009B42DE}" type="slidenum">
              <a:rPr lang="en-US" sz="1400"/>
              <a:pPr algn="r" eaLnBrk="1" hangingPunct="1"/>
              <a:t>43</a:t>
            </a:fld>
            <a:endParaRPr lang="en-US" sz="1400"/>
          </a:p>
        </p:txBody>
      </p:sp>
      <p:sp>
        <p:nvSpPr>
          <p:cNvPr id="53251" name="Rectangle 3"/>
          <p:cNvSpPr>
            <a:spLocks noGrp="1" noChangeArrowheads="1"/>
          </p:cNvSpPr>
          <p:nvPr>
            <p:ph type="body" sz="half" idx="4294967295"/>
          </p:nvPr>
        </p:nvSpPr>
        <p:spPr>
          <a:xfrm>
            <a:off x="685800" y="1345626"/>
            <a:ext cx="11201400" cy="2083374"/>
          </a:xfrm>
        </p:spPr>
        <p:txBody>
          <a:bodyPr>
            <a:normAutofit/>
          </a:bodyPr>
          <a:lstStyle/>
          <a:p>
            <a:pPr eaLnBrk="1" hangingPunct="1"/>
            <a:r>
              <a:rPr lang="en-US" dirty="0">
                <a:solidFill>
                  <a:schemeClr val="bg1"/>
                </a:solidFill>
              </a:rPr>
              <a:t>Two distinct priority levels of arithmetic operators </a:t>
            </a:r>
          </a:p>
          <a:p>
            <a:pPr eaLnBrk="1" hangingPunct="1"/>
            <a:r>
              <a:rPr lang="en-US" dirty="0">
                <a:solidFill>
                  <a:schemeClr val="bg1"/>
                </a:solidFill>
              </a:rPr>
              <a:t>High priority operators   *  /  %</a:t>
            </a:r>
          </a:p>
          <a:p>
            <a:pPr eaLnBrk="1" hangingPunct="1"/>
            <a:r>
              <a:rPr lang="en-US" dirty="0">
                <a:solidFill>
                  <a:schemeClr val="bg1"/>
                </a:solidFill>
              </a:rPr>
              <a:t>Low priority operators   +  -</a:t>
            </a:r>
          </a:p>
          <a:p>
            <a:pPr eaLnBrk="1" hangingPunct="1">
              <a:buFontTx/>
              <a:buNone/>
            </a:pPr>
            <a:r>
              <a:rPr lang="en-US" b="1" dirty="0">
                <a:solidFill>
                  <a:schemeClr val="bg1"/>
                </a:solidFill>
              </a:rPr>
              <a:t>Ex.:  </a:t>
            </a:r>
            <a:r>
              <a:rPr lang="en-US" i="1" dirty="0">
                <a:solidFill>
                  <a:schemeClr val="bg1"/>
                </a:solidFill>
              </a:rPr>
              <a:t>a –b/c*d</a:t>
            </a:r>
            <a:r>
              <a:rPr lang="en-US" dirty="0">
                <a:solidFill>
                  <a:schemeClr val="bg1"/>
                </a:solidFill>
              </a:rPr>
              <a:t>    is equivalent to the algebraic   formula</a:t>
            </a:r>
          </a:p>
        </p:txBody>
      </p:sp>
      <p:graphicFrame>
        <p:nvGraphicFramePr>
          <p:cNvPr id="53252" name="Object 5"/>
          <p:cNvGraphicFramePr>
            <a:graphicFrameLocks noGrp="1" noChangeAspect="1"/>
          </p:cNvGraphicFramePr>
          <p:nvPr>
            <p:ph sz="quarter" idx="4294967295"/>
            <p:extLst>
              <p:ext uri="{D42A27DB-BD31-4B8C-83A1-F6EECF244321}">
                <p14:modId xmlns:p14="http://schemas.microsoft.com/office/powerpoint/2010/main" val="226342099"/>
              </p:ext>
            </p:extLst>
          </p:nvPr>
        </p:nvGraphicFramePr>
        <p:xfrm>
          <a:off x="3200400" y="3477607"/>
          <a:ext cx="3657600" cy="1181966"/>
        </p:xfrm>
        <a:graphic>
          <a:graphicData uri="http://schemas.openxmlformats.org/presentationml/2006/ole">
            <mc:AlternateContent xmlns:mc="http://schemas.openxmlformats.org/markup-compatibility/2006">
              <mc:Choice xmlns:v="urn:schemas-microsoft-com:vml" Requires="v">
                <p:oleObj spid="_x0000_s2092" name="Equation" r:id="rId4" imgW="761669" imgH="393529" progId="Equation.3">
                  <p:embed/>
                </p:oleObj>
              </mc:Choice>
              <mc:Fallback>
                <p:oleObj name="Equation" r:id="rId4" imgW="761669" imgH="393529"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3477607"/>
                        <a:ext cx="3657600" cy="1181966"/>
                      </a:xfrm>
                      <a:prstGeom prst="rect">
                        <a:avLst/>
                      </a:prstGeom>
                      <a:noFill/>
                      <a:ln>
                        <a:noFill/>
                      </a:ln>
                      <a:effectLst/>
                    </p:spPr>
                  </p:pic>
                </p:oleObj>
              </mc:Fallback>
            </mc:AlternateContent>
          </a:graphicData>
        </a:graphic>
      </p:graphicFrame>
      <p:graphicFrame>
        <p:nvGraphicFramePr>
          <p:cNvPr id="53253" name="Object 9"/>
          <p:cNvGraphicFramePr>
            <a:graphicFrameLocks noGrp="1" noChangeAspect="1"/>
          </p:cNvGraphicFramePr>
          <p:nvPr>
            <p:ph sz="quarter" idx="4294967295"/>
            <p:extLst>
              <p:ext uri="{D42A27DB-BD31-4B8C-83A1-F6EECF244321}">
                <p14:modId xmlns:p14="http://schemas.microsoft.com/office/powerpoint/2010/main" val="1794458112"/>
              </p:ext>
            </p:extLst>
          </p:nvPr>
        </p:nvGraphicFramePr>
        <p:xfrm>
          <a:off x="2367489" y="5389462"/>
          <a:ext cx="3187124" cy="1176436"/>
        </p:xfrm>
        <a:graphic>
          <a:graphicData uri="http://schemas.openxmlformats.org/presentationml/2006/ole">
            <mc:AlternateContent xmlns:mc="http://schemas.openxmlformats.org/markup-compatibility/2006">
              <mc:Choice xmlns:v="urn:schemas-microsoft-com:vml" Requires="v">
                <p:oleObj spid="_x0000_s2093" name="Equation" r:id="rId6" imgW="1066680" imgH="393480" progId="Equation.3">
                  <p:embed/>
                </p:oleObj>
              </mc:Choice>
              <mc:Fallback>
                <p:oleObj name="Equation" r:id="rId6" imgW="1066680" imgH="393480" progId="Equation.3">
                  <p:embed/>
                  <p:pic>
                    <p:nvPicPr>
                      <p:cNvPr id="0" name="Object 9"/>
                      <p:cNvPicPr>
                        <a:picLocks noChangeAspect="1" noChangeArrowheads="1"/>
                      </p:cNvPicPr>
                      <p:nvPr/>
                    </p:nvPicPr>
                    <p:blipFill>
                      <a:blip r:embed="rId7"/>
                      <a:srcRect/>
                      <a:stretch>
                        <a:fillRect/>
                      </a:stretch>
                    </p:blipFill>
                    <p:spPr bwMode="auto">
                      <a:xfrm>
                        <a:off x="2367489" y="5389462"/>
                        <a:ext cx="3187124" cy="1176436"/>
                      </a:xfrm>
                      <a:prstGeom prst="rect">
                        <a:avLst/>
                      </a:prstGeom>
                      <a:noFill/>
                      <a:ln>
                        <a:noFill/>
                      </a:ln>
                      <a:effectLst/>
                    </p:spPr>
                  </p:pic>
                </p:oleObj>
              </mc:Fallback>
            </mc:AlternateContent>
          </a:graphicData>
        </a:graphic>
      </p:graphicFrame>
      <p:sp>
        <p:nvSpPr>
          <p:cNvPr id="53254" name="Text Box 8"/>
          <p:cNvSpPr txBox="1">
            <a:spLocks noChangeArrowheads="1"/>
          </p:cNvSpPr>
          <p:nvPr/>
        </p:nvSpPr>
        <p:spPr bwMode="auto">
          <a:xfrm>
            <a:off x="304800" y="4745963"/>
            <a:ext cx="115823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r>
              <a:rPr lang="en-US" sz="3200" b="1" dirty="0">
                <a:solidFill>
                  <a:schemeClr val="accent1"/>
                </a:solidFill>
              </a:rPr>
              <a:t>If a =1.0, b = 2.0, c = 3.0 and d = 4.0 then the value is</a:t>
            </a:r>
          </a:p>
        </p:txBody>
      </p:sp>
      <p:sp>
        <p:nvSpPr>
          <p:cNvPr id="53255" name="Text Box 9"/>
          <p:cNvSpPr txBox="1">
            <a:spLocks noChangeArrowheads="1"/>
          </p:cNvSpPr>
          <p:nvPr/>
        </p:nvSpPr>
        <p:spPr bwMode="ltGray">
          <a:xfrm>
            <a:off x="-228600" y="304800"/>
            <a:ext cx="12420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spcBef>
                <a:spcPct val="50000"/>
              </a:spcBef>
              <a:defRPr sz="3200" b="1">
                <a:solidFill>
                  <a:srgbClr val="CC6600"/>
                </a:solidFill>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algn="ctr" eaLnBrk="0" fontAlgn="base" hangingPunct="0">
              <a:spcBef>
                <a:spcPct val="0"/>
              </a:spcBef>
              <a:spcAft>
                <a:spcPct val="0"/>
              </a:spcAft>
              <a:defRPr>
                <a:latin typeface="Arial" charset="0"/>
              </a:defRPr>
            </a:lvl6pPr>
            <a:lvl7pPr marL="2971800" indent="-228600" algn="ctr" eaLnBrk="0" fontAlgn="base" hangingPunct="0">
              <a:spcBef>
                <a:spcPct val="0"/>
              </a:spcBef>
              <a:spcAft>
                <a:spcPct val="0"/>
              </a:spcAft>
              <a:defRPr>
                <a:latin typeface="Arial" charset="0"/>
              </a:defRPr>
            </a:lvl7pPr>
            <a:lvl8pPr marL="3429000" indent="-228600" algn="ctr" eaLnBrk="0" fontAlgn="base" hangingPunct="0">
              <a:spcBef>
                <a:spcPct val="0"/>
              </a:spcBef>
              <a:spcAft>
                <a:spcPct val="0"/>
              </a:spcAft>
              <a:defRPr>
                <a:latin typeface="Arial" charset="0"/>
              </a:defRPr>
            </a:lvl8pPr>
            <a:lvl9pPr marL="3886200" indent="-228600" algn="ctr" eaLnBrk="0" fontAlgn="base" hangingPunct="0">
              <a:spcBef>
                <a:spcPct val="0"/>
              </a:spcBef>
              <a:spcAft>
                <a:spcPct val="0"/>
              </a:spcAft>
              <a:defRPr>
                <a:latin typeface="Arial" charset="0"/>
              </a:defRPr>
            </a:lvl9pPr>
          </a:lstStyle>
          <a:p>
            <a:r>
              <a:rPr lang="en-US" dirty="0"/>
              <a:t>Operator precedence and associativity(contd.) </a:t>
            </a:r>
          </a:p>
        </p:txBody>
      </p:sp>
      <p:graphicFrame>
        <p:nvGraphicFramePr>
          <p:cNvPr id="3" name="Object 2"/>
          <p:cNvGraphicFramePr>
            <a:graphicFrameLocks noChangeAspect="1"/>
          </p:cNvGraphicFramePr>
          <p:nvPr>
            <p:extLst>
              <p:ext uri="{D42A27DB-BD31-4B8C-83A1-F6EECF244321}">
                <p14:modId xmlns:p14="http://schemas.microsoft.com/office/powerpoint/2010/main" val="3090000084"/>
              </p:ext>
            </p:extLst>
          </p:nvPr>
        </p:nvGraphicFramePr>
        <p:xfrm>
          <a:off x="5521210" y="5675633"/>
          <a:ext cx="3052011" cy="601805"/>
        </p:xfrm>
        <a:graphic>
          <a:graphicData uri="http://schemas.openxmlformats.org/presentationml/2006/ole">
            <mc:AlternateContent xmlns:mc="http://schemas.openxmlformats.org/markup-compatibility/2006">
              <mc:Choice xmlns:v="urn:schemas-microsoft-com:vml" Requires="v">
                <p:oleObj spid="_x0000_s2094" name="Equation" r:id="rId8" imgW="901440" imgH="177480" progId="Equation.3">
                  <p:embed/>
                </p:oleObj>
              </mc:Choice>
              <mc:Fallback>
                <p:oleObj name="Equation" r:id="rId8" imgW="901440" imgH="177480" progId="Equation.3">
                  <p:embed/>
                  <p:pic>
                    <p:nvPicPr>
                      <p:cNvPr id="0" name=""/>
                      <p:cNvPicPr/>
                      <p:nvPr/>
                    </p:nvPicPr>
                    <p:blipFill>
                      <a:blip r:embed="rId9"/>
                      <a:stretch>
                        <a:fillRect/>
                      </a:stretch>
                    </p:blipFill>
                    <p:spPr>
                      <a:xfrm>
                        <a:off x="5521210" y="5675633"/>
                        <a:ext cx="3052011" cy="60180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2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25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2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325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body" sz="half" idx="4294967295"/>
          </p:nvPr>
        </p:nvSpPr>
        <p:spPr>
          <a:xfrm>
            <a:off x="420666" y="1676400"/>
            <a:ext cx="11201400" cy="3886200"/>
          </a:xfrm>
        </p:spPr>
        <p:txBody>
          <a:bodyPr anchor="ctr">
            <a:normAutofit lnSpcReduction="10000"/>
          </a:bodyPr>
          <a:lstStyle/>
          <a:p>
            <a:pPr algn="just" eaLnBrk="1" hangingPunct="1">
              <a:lnSpc>
                <a:spcPct val="150000"/>
              </a:lnSpc>
            </a:pPr>
            <a:r>
              <a:rPr lang="en-US" dirty="0"/>
              <a:t>Basic evaluation procedure involves two left-to-right passes through the expression.</a:t>
            </a:r>
          </a:p>
          <a:p>
            <a:pPr algn="just" eaLnBrk="1" hangingPunct="1">
              <a:lnSpc>
                <a:spcPct val="150000"/>
              </a:lnSpc>
            </a:pPr>
            <a:r>
              <a:rPr lang="en-US" dirty="0"/>
              <a:t>During first pass, high priority operators are applied as they are encountered </a:t>
            </a:r>
          </a:p>
          <a:p>
            <a:pPr algn="just" eaLnBrk="1" hangingPunct="1">
              <a:lnSpc>
                <a:spcPct val="150000"/>
              </a:lnSpc>
            </a:pPr>
            <a:r>
              <a:rPr lang="en-US" dirty="0"/>
              <a:t>During second pass, low priority operators are applied as they are encountered</a:t>
            </a:r>
          </a:p>
        </p:txBody>
      </p:sp>
      <p:sp>
        <p:nvSpPr>
          <p:cNvPr id="54276" name="Text Box 9"/>
          <p:cNvSpPr txBox="1">
            <a:spLocks noChangeArrowheads="1"/>
          </p:cNvSpPr>
          <p:nvPr/>
        </p:nvSpPr>
        <p:spPr bwMode="ltGray">
          <a:xfrm>
            <a:off x="685800" y="457200"/>
            <a:ext cx="1093626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3600" b="1" dirty="0">
                <a:solidFill>
                  <a:srgbClr val="CC6600"/>
                </a:solidFill>
              </a:rPr>
              <a:t>Operator precedence and associativity(contd.)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2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5299" name="Rectangle 3"/>
          <p:cNvSpPr>
            <a:spLocks noGrp="1" noChangeArrowheads="1"/>
          </p:cNvSpPr>
          <p:nvPr>
            <p:ph type="body" sz="half" idx="4294967295"/>
          </p:nvPr>
        </p:nvSpPr>
        <p:spPr>
          <a:xfrm>
            <a:off x="304800" y="1066800"/>
            <a:ext cx="11811000" cy="5791200"/>
          </a:xfrm>
        </p:spPr>
        <p:txBody>
          <a:bodyPr>
            <a:normAutofit/>
          </a:bodyPr>
          <a:lstStyle/>
          <a:p>
            <a:pPr eaLnBrk="1" hangingPunct="1">
              <a:lnSpc>
                <a:spcPct val="125000"/>
              </a:lnSpc>
            </a:pPr>
            <a:r>
              <a:rPr lang="en-US" sz="2000" b="1" dirty="0">
                <a:solidFill>
                  <a:schemeClr val="accent1"/>
                </a:solidFill>
              </a:rPr>
              <a:t>The natural precedence of operations can be altered through the use of parentheses</a:t>
            </a:r>
          </a:p>
          <a:p>
            <a:pPr eaLnBrk="1" hangingPunct="1">
              <a:lnSpc>
                <a:spcPct val="125000"/>
              </a:lnSpc>
            </a:pPr>
            <a:r>
              <a:rPr lang="en-US" sz="2000" dirty="0">
                <a:solidFill>
                  <a:schemeClr val="bg1"/>
                </a:solidFill>
              </a:rPr>
              <a:t>It can also be used to improve the understandability of the program</a:t>
            </a:r>
          </a:p>
          <a:p>
            <a:pPr eaLnBrk="1" hangingPunct="1">
              <a:lnSpc>
                <a:spcPct val="125000"/>
              </a:lnSpc>
            </a:pPr>
            <a:r>
              <a:rPr lang="en-US" sz="2000" b="1" dirty="0">
                <a:solidFill>
                  <a:schemeClr val="accent1"/>
                </a:solidFill>
              </a:rPr>
              <a:t>Expression within the parentheses assume highest priority</a:t>
            </a:r>
          </a:p>
          <a:p>
            <a:pPr eaLnBrk="1" hangingPunct="1">
              <a:lnSpc>
                <a:spcPct val="125000"/>
              </a:lnSpc>
            </a:pPr>
            <a:r>
              <a:rPr lang="en-US" sz="2000" dirty="0">
                <a:solidFill>
                  <a:schemeClr val="bg1"/>
                </a:solidFill>
              </a:rPr>
              <a:t>With two or more set of parentheses the expression contained in the leftmost set is evaluated first and the rightmost in the last.</a:t>
            </a:r>
          </a:p>
          <a:p>
            <a:pPr eaLnBrk="1" hangingPunct="1">
              <a:lnSpc>
                <a:spcPct val="125000"/>
              </a:lnSpc>
              <a:buFontTx/>
              <a:buNone/>
            </a:pPr>
            <a:r>
              <a:rPr lang="en-US" sz="2000" dirty="0">
                <a:solidFill>
                  <a:schemeClr val="bg1"/>
                </a:solidFill>
              </a:rPr>
              <a:t>    ex:(</a:t>
            </a:r>
            <a:r>
              <a:rPr lang="en-US" sz="2000" dirty="0">
                <a:solidFill>
                  <a:schemeClr val="bg1"/>
                </a:solidFill>
                <a:sym typeface="Wingdings" pitchFamily="2" charset="2"/>
              </a:rPr>
              <a:t>a-b)/(c*d) is equivalent to the algebraic formula (a-b)/(c </a:t>
            </a:r>
            <a:r>
              <a:rPr lang="en-US" sz="2000" dirty="0">
                <a:solidFill>
                  <a:schemeClr val="bg1"/>
                </a:solidFill>
                <a:cs typeface="Arial" charset="0"/>
                <a:sym typeface="Wingdings" pitchFamily="2" charset="2"/>
              </a:rPr>
              <a:t>x d)</a:t>
            </a:r>
          </a:p>
          <a:p>
            <a:pPr eaLnBrk="1" hangingPunct="1">
              <a:lnSpc>
                <a:spcPct val="125000"/>
              </a:lnSpc>
            </a:pPr>
            <a:r>
              <a:rPr lang="en-US" sz="2000" dirty="0">
                <a:solidFill>
                  <a:schemeClr val="bg1"/>
                </a:solidFill>
                <a:cs typeface="Arial" charset="0"/>
                <a:sym typeface="Wingdings" pitchFamily="2" charset="2"/>
              </a:rPr>
              <a:t>Parentheses can be nested, one pair within the other.</a:t>
            </a:r>
          </a:p>
          <a:p>
            <a:pPr eaLnBrk="1" hangingPunct="1">
              <a:lnSpc>
                <a:spcPct val="125000"/>
              </a:lnSpc>
            </a:pPr>
            <a:r>
              <a:rPr lang="en-US" sz="2000" dirty="0">
                <a:solidFill>
                  <a:schemeClr val="bg1"/>
                </a:solidFill>
              </a:rPr>
              <a:t>The innermost sub-expression is evaluated first, then the next innermost sub-expression, and so on.</a:t>
            </a:r>
            <a:endParaRPr lang="en-US" sz="2000" dirty="0">
              <a:solidFill>
                <a:schemeClr val="bg1"/>
              </a:solidFill>
              <a:cs typeface="Arial" charset="0"/>
              <a:sym typeface="Wingdings" pitchFamily="2" charset="2"/>
            </a:endParaRPr>
          </a:p>
          <a:p>
            <a:pPr eaLnBrk="1" hangingPunct="1">
              <a:lnSpc>
                <a:spcPct val="125000"/>
              </a:lnSpc>
              <a:buFontTx/>
              <a:buNone/>
            </a:pPr>
            <a:r>
              <a:rPr lang="en-US" sz="2000" b="1" dirty="0">
                <a:solidFill>
                  <a:schemeClr val="bg1"/>
                </a:solidFill>
                <a:cs typeface="Arial" charset="0"/>
                <a:sym typeface="Wingdings" pitchFamily="2" charset="2"/>
              </a:rPr>
              <a:t>    Example:</a:t>
            </a:r>
          </a:p>
          <a:p>
            <a:pPr eaLnBrk="1" hangingPunct="1">
              <a:lnSpc>
                <a:spcPct val="125000"/>
              </a:lnSpc>
              <a:buFontTx/>
              <a:buNone/>
            </a:pPr>
            <a:r>
              <a:rPr lang="en-US" sz="2000" dirty="0">
                <a:solidFill>
                  <a:schemeClr val="bg1"/>
                </a:solidFill>
                <a:cs typeface="Arial" charset="0"/>
                <a:sym typeface="Wingdings" pitchFamily="2" charset="2"/>
              </a:rPr>
              <a:t>                                                                       is equivalent to  </a:t>
            </a:r>
            <a:r>
              <a:rPr lang="en-US" sz="2000" dirty="0">
                <a:solidFill>
                  <a:schemeClr val="bg1"/>
                </a:solidFill>
              </a:rPr>
              <a:t>((a + b) * (c + d)) / (e + f)</a:t>
            </a:r>
            <a:endParaRPr lang="en-US" sz="2000" dirty="0">
              <a:solidFill>
                <a:schemeClr val="bg1"/>
              </a:solidFill>
              <a:cs typeface="Arial" charset="0"/>
            </a:endParaRPr>
          </a:p>
        </p:txBody>
      </p:sp>
      <p:graphicFrame>
        <p:nvGraphicFramePr>
          <p:cNvPr id="55300" name="Object 5"/>
          <p:cNvGraphicFramePr>
            <a:graphicFrameLocks noGrp="1" noChangeAspect="1"/>
          </p:cNvGraphicFramePr>
          <p:nvPr>
            <p:ph sz="half" idx="4294967295"/>
            <p:extLst>
              <p:ext uri="{D42A27DB-BD31-4B8C-83A1-F6EECF244321}">
                <p14:modId xmlns:p14="http://schemas.microsoft.com/office/powerpoint/2010/main" val="1222346313"/>
              </p:ext>
            </p:extLst>
          </p:nvPr>
        </p:nvGraphicFramePr>
        <p:xfrm>
          <a:off x="2743200" y="5791200"/>
          <a:ext cx="2057400" cy="838200"/>
        </p:xfrm>
        <a:graphic>
          <a:graphicData uri="http://schemas.openxmlformats.org/presentationml/2006/ole">
            <mc:AlternateContent xmlns:mc="http://schemas.openxmlformats.org/markup-compatibility/2006">
              <mc:Choice xmlns:v="urn:schemas-microsoft-com:vml" Requires="v">
                <p:oleObj spid="_x0000_s3088" name="Equation" r:id="rId4" imgW="876300" imgH="419100" progId="Equation.3">
                  <p:embed/>
                </p:oleObj>
              </mc:Choice>
              <mc:Fallback>
                <p:oleObj name="Equation" r:id="rId4" imgW="876300" imgH="4191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5791200"/>
                        <a:ext cx="20574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2" name="Text Box 9"/>
          <p:cNvSpPr txBox="1">
            <a:spLocks noChangeArrowheads="1"/>
          </p:cNvSpPr>
          <p:nvPr/>
        </p:nvSpPr>
        <p:spPr bwMode="ltGray">
          <a:xfrm>
            <a:off x="76200" y="85635"/>
            <a:ext cx="12115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spcBef>
                <a:spcPct val="50000"/>
              </a:spcBef>
              <a:defRPr sz="3600" b="1">
                <a:solidFill>
                  <a:srgbClr val="CC6600"/>
                </a:solidFill>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algn="ctr" eaLnBrk="0" fontAlgn="base" hangingPunct="0">
              <a:spcBef>
                <a:spcPct val="0"/>
              </a:spcBef>
              <a:spcAft>
                <a:spcPct val="0"/>
              </a:spcAft>
              <a:defRPr>
                <a:latin typeface="Arial" charset="0"/>
              </a:defRPr>
            </a:lvl6pPr>
            <a:lvl7pPr marL="2971800" indent="-228600" algn="ctr" eaLnBrk="0" fontAlgn="base" hangingPunct="0">
              <a:spcBef>
                <a:spcPct val="0"/>
              </a:spcBef>
              <a:spcAft>
                <a:spcPct val="0"/>
              </a:spcAft>
              <a:defRPr>
                <a:latin typeface="Arial" charset="0"/>
              </a:defRPr>
            </a:lvl7pPr>
            <a:lvl8pPr marL="3429000" indent="-228600" algn="ctr" eaLnBrk="0" fontAlgn="base" hangingPunct="0">
              <a:spcBef>
                <a:spcPct val="0"/>
              </a:spcBef>
              <a:spcAft>
                <a:spcPct val="0"/>
              </a:spcAft>
              <a:defRPr>
                <a:latin typeface="Arial" charset="0"/>
              </a:defRPr>
            </a:lvl8pPr>
            <a:lvl9pPr marL="3886200" indent="-228600" algn="ctr" eaLnBrk="0" fontAlgn="base" hangingPunct="0">
              <a:spcBef>
                <a:spcPct val="0"/>
              </a:spcBef>
              <a:spcAft>
                <a:spcPct val="0"/>
              </a:spcAft>
              <a:defRPr>
                <a:latin typeface="Arial" charset="0"/>
              </a:defRPr>
            </a:lvl9pPr>
          </a:lstStyle>
          <a:p>
            <a:r>
              <a:rPr lang="en-US"/>
              <a:t>Operator precedence and associativity(contd.)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type="body" idx="4294967295"/>
          </p:nvPr>
        </p:nvSpPr>
        <p:spPr>
          <a:xfrm>
            <a:off x="609600" y="1166018"/>
            <a:ext cx="11506200" cy="5082382"/>
          </a:xfrm>
        </p:spPr>
        <p:txBody>
          <a:bodyPr>
            <a:normAutofit/>
          </a:bodyPr>
          <a:lstStyle/>
          <a:p>
            <a:pPr eaLnBrk="1" hangingPunct="1">
              <a:lnSpc>
                <a:spcPct val="120000"/>
              </a:lnSpc>
              <a:buFontTx/>
              <a:buNone/>
            </a:pPr>
            <a:r>
              <a:rPr lang="en-US" sz="2400" b="1" dirty="0"/>
              <a:t>Ex</a:t>
            </a:r>
            <a:r>
              <a:rPr lang="en-US" sz="2400" b="1" dirty="0">
                <a:sym typeface="Wingdings" pitchFamily="2" charset="2"/>
              </a:rPr>
              <a:t>: </a:t>
            </a:r>
          </a:p>
          <a:p>
            <a:pPr eaLnBrk="1" hangingPunct="1">
              <a:lnSpc>
                <a:spcPct val="120000"/>
              </a:lnSpc>
              <a:buFontTx/>
              <a:buNone/>
            </a:pPr>
            <a:r>
              <a:rPr lang="en-US" sz="2400" dirty="0">
                <a:sym typeface="Wingdings" pitchFamily="2" charset="2"/>
              </a:rPr>
              <a:t>     (x==10 +15 &amp;&amp; y&lt;10)</a:t>
            </a:r>
          </a:p>
          <a:p>
            <a:pPr eaLnBrk="1" hangingPunct="1">
              <a:lnSpc>
                <a:spcPct val="120000"/>
              </a:lnSpc>
              <a:buFontTx/>
              <a:buNone/>
            </a:pPr>
            <a:r>
              <a:rPr lang="en-US" sz="2400" dirty="0">
                <a:sym typeface="Wingdings" pitchFamily="2" charset="2"/>
              </a:rPr>
              <a:t>     Assume x=20 and y=5</a:t>
            </a:r>
          </a:p>
          <a:p>
            <a:pPr eaLnBrk="1" hangingPunct="1">
              <a:lnSpc>
                <a:spcPct val="120000"/>
              </a:lnSpc>
              <a:buFontTx/>
              <a:buNone/>
            </a:pPr>
            <a:endParaRPr lang="en-US" sz="2400" dirty="0">
              <a:sym typeface="Wingdings" pitchFamily="2" charset="2"/>
            </a:endParaRPr>
          </a:p>
          <a:p>
            <a:pPr eaLnBrk="1" hangingPunct="1">
              <a:lnSpc>
                <a:spcPct val="120000"/>
              </a:lnSpc>
              <a:buFontTx/>
              <a:buNone/>
            </a:pPr>
            <a:r>
              <a:rPr lang="en-US" sz="2400" dirty="0">
                <a:sym typeface="Wingdings" pitchFamily="2" charset="2"/>
              </a:rPr>
              <a:t>Evaluation:</a:t>
            </a:r>
          </a:p>
          <a:p>
            <a:pPr eaLnBrk="1" hangingPunct="1">
              <a:lnSpc>
                <a:spcPct val="120000"/>
              </a:lnSpc>
              <a:buFontTx/>
              <a:buNone/>
            </a:pPr>
            <a:r>
              <a:rPr lang="en-US" sz="2400" dirty="0">
                <a:sym typeface="Wingdings" pitchFamily="2" charset="2"/>
              </a:rPr>
              <a:t>	Step 1:Addition     (x==25 &amp;&amp; y&lt;10)</a:t>
            </a:r>
          </a:p>
          <a:p>
            <a:pPr eaLnBrk="1" hangingPunct="1">
              <a:lnSpc>
                <a:spcPct val="120000"/>
              </a:lnSpc>
              <a:buFontTx/>
              <a:buNone/>
            </a:pPr>
            <a:r>
              <a:rPr lang="en-US" sz="2400" dirty="0">
                <a:sym typeface="Wingdings" pitchFamily="2" charset="2"/>
              </a:rPr>
              <a:t>	Step 2: &lt;                (x==25 &amp;&amp; true)</a:t>
            </a:r>
          </a:p>
          <a:p>
            <a:pPr eaLnBrk="1" hangingPunct="1">
              <a:lnSpc>
                <a:spcPct val="120000"/>
              </a:lnSpc>
              <a:buFontTx/>
              <a:buNone/>
            </a:pPr>
            <a:r>
              <a:rPr lang="en-US" sz="2400" dirty="0">
                <a:sym typeface="Wingdings" pitchFamily="2" charset="2"/>
              </a:rPr>
              <a:t>	Step 3: ==              (False &amp;&amp; true)</a:t>
            </a:r>
          </a:p>
          <a:p>
            <a:pPr eaLnBrk="1" hangingPunct="1">
              <a:lnSpc>
                <a:spcPct val="120000"/>
              </a:lnSpc>
              <a:buFontTx/>
              <a:buNone/>
            </a:pPr>
            <a:r>
              <a:rPr lang="en-US" sz="2400" dirty="0">
                <a:sym typeface="Wingdings" pitchFamily="2" charset="2"/>
              </a:rPr>
              <a:t>	Step 4: &amp;&amp;              (False)</a:t>
            </a:r>
          </a:p>
          <a:p>
            <a:pPr eaLnBrk="1" hangingPunct="1">
              <a:lnSpc>
                <a:spcPct val="120000"/>
              </a:lnSpc>
              <a:buFontTx/>
              <a:buNone/>
            </a:pPr>
            <a:endParaRPr lang="en-US" sz="2400" dirty="0"/>
          </a:p>
        </p:txBody>
      </p:sp>
      <p:sp>
        <p:nvSpPr>
          <p:cNvPr id="57348" name="Text Box 9"/>
          <p:cNvSpPr txBox="1">
            <a:spLocks noChangeArrowheads="1"/>
          </p:cNvSpPr>
          <p:nvPr/>
        </p:nvSpPr>
        <p:spPr bwMode="ltGray">
          <a:xfrm>
            <a:off x="2286000" y="304800"/>
            <a:ext cx="716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2400" b="1" i="1">
                <a:solidFill>
                  <a:srgbClr val="CC6600"/>
                </a:solidFill>
              </a:rPr>
              <a:t>Operator precedence and associativity (contd.)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4294967295"/>
          </p:nvPr>
        </p:nvSpPr>
        <p:spPr>
          <a:xfrm>
            <a:off x="609600" y="1066800"/>
            <a:ext cx="11430000" cy="5562600"/>
          </a:xfrm>
        </p:spPr>
        <p:txBody>
          <a:bodyPr>
            <a:normAutofit/>
          </a:bodyPr>
          <a:lstStyle/>
          <a:p>
            <a:pPr eaLnBrk="1" hangingPunct="1">
              <a:lnSpc>
                <a:spcPct val="90000"/>
              </a:lnSpc>
            </a:pPr>
            <a:r>
              <a:rPr lang="en-US" sz="2400" dirty="0"/>
              <a:t>C++ permits mixing of constants and variables of different types in an expression, but during evaluation it adheres to very strict rules of type conversion.  </a:t>
            </a:r>
          </a:p>
          <a:p>
            <a:pPr eaLnBrk="1" hangingPunct="1">
              <a:lnSpc>
                <a:spcPct val="90000"/>
              </a:lnSpc>
            </a:pPr>
            <a:endParaRPr lang="en-US" sz="2400" b="1" dirty="0"/>
          </a:p>
          <a:p>
            <a:pPr eaLnBrk="1" hangingPunct="1">
              <a:lnSpc>
                <a:spcPct val="90000"/>
              </a:lnSpc>
            </a:pPr>
            <a:r>
              <a:rPr lang="en-US" sz="2400" dirty="0"/>
              <a:t>If the operands are of different types, the ‘lower’ type is automatically converted to the ‘higher’ type before the operation proceeds. The result is of higher type.</a:t>
            </a:r>
          </a:p>
          <a:p>
            <a:pPr eaLnBrk="1" hangingPunct="1">
              <a:lnSpc>
                <a:spcPct val="90000"/>
              </a:lnSpc>
            </a:pPr>
            <a:endParaRPr lang="en-US" sz="2400" dirty="0"/>
          </a:p>
          <a:p>
            <a:pPr eaLnBrk="1" hangingPunct="1">
              <a:lnSpc>
                <a:spcPct val="90000"/>
              </a:lnSpc>
            </a:pPr>
            <a:r>
              <a:rPr lang="en-US" sz="2400" dirty="0"/>
              <a:t>The automatic conversion is known as </a:t>
            </a:r>
            <a:r>
              <a:rPr lang="en-US" sz="2400" i="1" dirty="0"/>
              <a:t>implicit type conversion</a:t>
            </a:r>
          </a:p>
          <a:p>
            <a:pPr eaLnBrk="1" hangingPunct="1">
              <a:lnSpc>
                <a:spcPct val="90000"/>
              </a:lnSpc>
            </a:pPr>
            <a:endParaRPr lang="en-US" sz="2400" dirty="0"/>
          </a:p>
          <a:p>
            <a:pPr eaLnBrk="1" hangingPunct="1">
              <a:lnSpc>
                <a:spcPct val="90000"/>
              </a:lnSpc>
            </a:pPr>
            <a:r>
              <a:rPr lang="en-US" dirty="0">
                <a:solidFill>
                  <a:schemeClr val="accent1"/>
                </a:solidFill>
              </a:rPr>
              <a:t>Conversion Hierarchy</a:t>
            </a:r>
          </a:p>
          <a:p>
            <a:pPr algn="ctr" eaLnBrk="1" hangingPunct="1">
              <a:lnSpc>
                <a:spcPct val="90000"/>
              </a:lnSpc>
              <a:buFontTx/>
              <a:buNone/>
            </a:pPr>
            <a:r>
              <a:rPr lang="en-US" dirty="0">
                <a:solidFill>
                  <a:schemeClr val="accent1"/>
                </a:solidFill>
              </a:rPr>
              <a:t>   short/char </a:t>
            </a:r>
            <a:r>
              <a:rPr lang="en-US" dirty="0">
                <a:solidFill>
                  <a:schemeClr val="accent1"/>
                </a:solidFill>
                <a:sym typeface="Wingdings" pitchFamily="2" charset="2"/>
              </a:rPr>
              <a:t> int  unsigned int  long int  unsigned long </a:t>
            </a:r>
          </a:p>
          <a:p>
            <a:pPr algn="ctr" eaLnBrk="1" hangingPunct="1">
              <a:lnSpc>
                <a:spcPct val="90000"/>
              </a:lnSpc>
              <a:buFontTx/>
              <a:buNone/>
            </a:pPr>
            <a:r>
              <a:rPr lang="en-US" dirty="0">
                <a:solidFill>
                  <a:schemeClr val="accent1"/>
                </a:solidFill>
                <a:sym typeface="Wingdings" pitchFamily="2" charset="2"/>
              </a:rPr>
              <a:t>int  float  double  long double</a:t>
            </a:r>
            <a:endParaRPr lang="en-US" dirty="0">
              <a:solidFill>
                <a:schemeClr val="accent1"/>
              </a:solidFill>
            </a:endParaRPr>
          </a:p>
          <a:p>
            <a:pPr eaLnBrk="1" hangingPunct="1">
              <a:lnSpc>
                <a:spcPct val="90000"/>
              </a:lnSpc>
            </a:pPr>
            <a:endParaRPr lang="en-US" sz="2400" i="1" dirty="0">
              <a:solidFill>
                <a:srgbClr val="FF0000"/>
              </a:solidFill>
            </a:endParaRPr>
          </a:p>
        </p:txBody>
      </p:sp>
      <p:sp>
        <p:nvSpPr>
          <p:cNvPr id="58372" name="Text Box 4"/>
          <p:cNvSpPr txBox="1">
            <a:spLocks noChangeArrowheads="1"/>
          </p:cNvSpPr>
          <p:nvPr/>
        </p:nvSpPr>
        <p:spPr bwMode="auto">
          <a:xfrm>
            <a:off x="2895600" y="1600201"/>
            <a:ext cx="533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l" eaLnBrk="1" hangingPunct="1">
              <a:spcBef>
                <a:spcPct val="50000"/>
              </a:spcBef>
            </a:pPr>
            <a:endParaRPr lang="en-US"/>
          </a:p>
        </p:txBody>
      </p:sp>
      <p:sp>
        <p:nvSpPr>
          <p:cNvPr id="58373" name="Text Box 9"/>
          <p:cNvSpPr txBox="1">
            <a:spLocks noChangeArrowheads="1"/>
          </p:cNvSpPr>
          <p:nvPr/>
        </p:nvSpPr>
        <p:spPr bwMode="ltGray">
          <a:xfrm>
            <a:off x="2209800" y="304800"/>
            <a:ext cx="716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2400" b="1" dirty="0">
                <a:solidFill>
                  <a:srgbClr val="CC6600"/>
                </a:solidFill>
              </a:rPr>
              <a:t>Type conversion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37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37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371">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3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4294967295"/>
          </p:nvPr>
        </p:nvSpPr>
        <p:spPr>
          <a:xfrm>
            <a:off x="647700" y="1600200"/>
            <a:ext cx="10896600" cy="4572000"/>
          </a:xfrm>
        </p:spPr>
        <p:txBody>
          <a:bodyPr anchor="ctr">
            <a:noAutofit/>
          </a:bodyPr>
          <a:lstStyle/>
          <a:p>
            <a:pPr eaLnBrk="1" hangingPunct="1">
              <a:lnSpc>
                <a:spcPct val="150000"/>
              </a:lnSpc>
            </a:pPr>
            <a:r>
              <a:rPr lang="en-US" sz="3200" dirty="0"/>
              <a:t>Finally result of an expression is converted to the type of the variable on the left of the assignment sign.</a:t>
            </a:r>
          </a:p>
          <a:p>
            <a:pPr eaLnBrk="1" hangingPunct="1">
              <a:lnSpc>
                <a:spcPct val="150000"/>
              </a:lnSpc>
            </a:pPr>
            <a:r>
              <a:rPr lang="en-US" sz="3200" b="1" dirty="0">
                <a:solidFill>
                  <a:schemeClr val="accent1"/>
                </a:solidFill>
              </a:rPr>
              <a:t>float</a:t>
            </a:r>
            <a:r>
              <a:rPr lang="en-US" sz="3200" dirty="0">
                <a:solidFill>
                  <a:schemeClr val="accent1"/>
                </a:solidFill>
              </a:rPr>
              <a:t> to </a:t>
            </a:r>
            <a:r>
              <a:rPr lang="en-US" sz="3200" b="1" dirty="0">
                <a:solidFill>
                  <a:schemeClr val="accent1"/>
                </a:solidFill>
              </a:rPr>
              <a:t>int</a:t>
            </a:r>
            <a:r>
              <a:rPr lang="en-US" sz="3200" dirty="0">
                <a:solidFill>
                  <a:schemeClr val="accent1"/>
                </a:solidFill>
              </a:rPr>
              <a:t> causes truncation of the fractional part</a:t>
            </a:r>
          </a:p>
          <a:p>
            <a:pPr eaLnBrk="1" hangingPunct="1">
              <a:lnSpc>
                <a:spcPct val="150000"/>
              </a:lnSpc>
            </a:pPr>
            <a:r>
              <a:rPr lang="en-US" sz="3200" b="1" dirty="0">
                <a:solidFill>
                  <a:schemeClr val="accent1"/>
                </a:solidFill>
              </a:rPr>
              <a:t>double</a:t>
            </a:r>
            <a:r>
              <a:rPr lang="en-US" sz="3200" dirty="0">
                <a:solidFill>
                  <a:schemeClr val="accent1"/>
                </a:solidFill>
              </a:rPr>
              <a:t> to </a:t>
            </a:r>
            <a:r>
              <a:rPr lang="en-US" sz="3200" b="1" dirty="0">
                <a:solidFill>
                  <a:schemeClr val="accent1"/>
                </a:solidFill>
              </a:rPr>
              <a:t>float</a:t>
            </a:r>
            <a:r>
              <a:rPr lang="en-US" sz="3200" dirty="0">
                <a:solidFill>
                  <a:schemeClr val="accent1"/>
                </a:solidFill>
              </a:rPr>
              <a:t> causes rounding of digits</a:t>
            </a:r>
          </a:p>
          <a:p>
            <a:pPr eaLnBrk="1" hangingPunct="1">
              <a:lnSpc>
                <a:spcPct val="150000"/>
              </a:lnSpc>
            </a:pPr>
            <a:r>
              <a:rPr lang="en-US" sz="3200" b="1" dirty="0">
                <a:solidFill>
                  <a:schemeClr val="accent1"/>
                </a:solidFill>
              </a:rPr>
              <a:t>long int</a:t>
            </a:r>
            <a:r>
              <a:rPr lang="en-US" sz="3200" dirty="0">
                <a:solidFill>
                  <a:schemeClr val="accent1"/>
                </a:solidFill>
              </a:rPr>
              <a:t> to </a:t>
            </a:r>
            <a:r>
              <a:rPr lang="en-US" sz="3200" b="1" dirty="0">
                <a:solidFill>
                  <a:schemeClr val="accent1"/>
                </a:solidFill>
              </a:rPr>
              <a:t>int </a:t>
            </a:r>
            <a:r>
              <a:rPr lang="en-US" sz="3200" dirty="0">
                <a:solidFill>
                  <a:schemeClr val="accent1"/>
                </a:solidFill>
              </a:rPr>
              <a:t>causes dropping of the excess higher order bits</a:t>
            </a:r>
          </a:p>
        </p:txBody>
      </p:sp>
      <p:sp>
        <p:nvSpPr>
          <p:cNvPr id="59397" name="Text Box 9"/>
          <p:cNvSpPr txBox="1">
            <a:spLocks noChangeArrowheads="1"/>
          </p:cNvSpPr>
          <p:nvPr/>
        </p:nvSpPr>
        <p:spPr bwMode="ltGray">
          <a:xfrm>
            <a:off x="29227" y="457200"/>
            <a:ext cx="12192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spcBef>
                <a:spcPct val="50000"/>
              </a:spcBef>
              <a:defRPr sz="4000" b="1">
                <a:solidFill>
                  <a:srgbClr val="CC6600"/>
                </a:solidFill>
                <a:latin typeface="Arial"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algn="ctr" eaLnBrk="0" fontAlgn="base" hangingPunct="0">
              <a:spcBef>
                <a:spcPct val="0"/>
              </a:spcBef>
              <a:spcAft>
                <a:spcPct val="0"/>
              </a:spcAft>
              <a:defRPr>
                <a:latin typeface="Arial" charset="0"/>
              </a:defRPr>
            </a:lvl6pPr>
            <a:lvl7pPr marL="2971800" indent="-228600" algn="ctr" eaLnBrk="0" fontAlgn="base" hangingPunct="0">
              <a:spcBef>
                <a:spcPct val="0"/>
              </a:spcBef>
              <a:spcAft>
                <a:spcPct val="0"/>
              </a:spcAft>
              <a:defRPr>
                <a:latin typeface="Arial" charset="0"/>
              </a:defRPr>
            </a:lvl7pPr>
            <a:lvl8pPr marL="3429000" indent="-228600" algn="ctr" eaLnBrk="0" fontAlgn="base" hangingPunct="0">
              <a:spcBef>
                <a:spcPct val="0"/>
              </a:spcBef>
              <a:spcAft>
                <a:spcPct val="0"/>
              </a:spcAft>
              <a:defRPr>
                <a:latin typeface="Arial" charset="0"/>
              </a:defRPr>
            </a:lvl8pPr>
            <a:lvl9pPr marL="3886200" indent="-228600" algn="ctr" eaLnBrk="0" fontAlgn="base" hangingPunct="0">
              <a:spcBef>
                <a:spcPct val="0"/>
              </a:spcBef>
              <a:spcAft>
                <a:spcPct val="0"/>
              </a:spcAft>
              <a:defRPr>
                <a:latin typeface="Arial" charset="0"/>
              </a:defRPr>
            </a:lvl9pPr>
          </a:lstStyle>
          <a:p>
            <a:r>
              <a:rPr lang="en-US" dirty="0"/>
              <a:t>Type conversion(contd.)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3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Title 1"/>
          <p:cNvSpPr>
            <a:spLocks noGrp="1"/>
          </p:cNvSpPr>
          <p:nvPr>
            <p:ph type="title"/>
          </p:nvPr>
        </p:nvSpPr>
        <p:spPr>
          <a:xfrm>
            <a:off x="-76200" y="553135"/>
            <a:ext cx="12268200" cy="6463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457200">
              <a:spcBef>
                <a:spcPct val="50000"/>
              </a:spcBef>
            </a:pPr>
            <a:r>
              <a:rPr lang="en-US" sz="4000" b="1" dirty="0">
                <a:solidFill>
                  <a:srgbClr val="CC6600"/>
                </a:solidFill>
                <a:latin typeface="Arial" charset="0"/>
                <a:ea typeface="+mn-ea"/>
                <a:cs typeface="+mn-cs"/>
              </a:rPr>
              <a:t>Type conversion(contd.)</a:t>
            </a:r>
          </a:p>
        </p:txBody>
      </p:sp>
      <p:sp>
        <p:nvSpPr>
          <p:cNvPr id="3" name="Content Placeholder 2"/>
          <p:cNvSpPr>
            <a:spLocks noGrp="1"/>
          </p:cNvSpPr>
          <p:nvPr>
            <p:ph idx="1"/>
          </p:nvPr>
        </p:nvSpPr>
        <p:spPr>
          <a:xfrm>
            <a:off x="685800" y="1418089"/>
            <a:ext cx="11049000" cy="4983163"/>
          </a:xfrm>
        </p:spPr>
        <p:txBody>
          <a:bodyPr>
            <a:normAutofit fontScale="92500" lnSpcReduction="10000"/>
          </a:bodyPr>
          <a:lstStyle/>
          <a:p>
            <a:pPr algn="just">
              <a:lnSpc>
                <a:spcPct val="125000"/>
              </a:lnSpc>
              <a:defRPr/>
            </a:pPr>
            <a:r>
              <a:rPr lang="en-US" altLang="ja-JP" dirty="0">
                <a:ea typeface="ＭＳ Ｐゴシック" charset="-128"/>
              </a:rPr>
              <a:t>There are instances when we want to force a type conversion in a way that is different from the automatic conversion.</a:t>
            </a:r>
          </a:p>
          <a:p>
            <a:pPr algn="just">
              <a:lnSpc>
                <a:spcPct val="125000"/>
              </a:lnSpc>
              <a:buFont typeface="Arial" charset="0"/>
              <a:buChar char="•"/>
              <a:defRPr/>
            </a:pPr>
            <a:r>
              <a:rPr lang="en-US" altLang="ja-JP" dirty="0">
                <a:ea typeface="ＭＳ Ｐゴシック" charset="-128"/>
              </a:rPr>
              <a:t>Process of local conversion is known as </a:t>
            </a:r>
            <a:r>
              <a:rPr lang="en-US" altLang="ja-JP" i="1" dirty="0">
                <a:ea typeface="ＭＳ Ｐゴシック" charset="-128"/>
              </a:rPr>
              <a:t>explicit conversion </a:t>
            </a:r>
            <a:r>
              <a:rPr lang="en-US" altLang="ja-JP" dirty="0">
                <a:ea typeface="ＭＳ Ｐゴシック" charset="-128"/>
              </a:rPr>
              <a:t>or </a:t>
            </a:r>
            <a:r>
              <a:rPr lang="en-US" altLang="ja-JP" i="1" dirty="0">
                <a:ea typeface="ＭＳ Ｐゴシック" charset="-128"/>
              </a:rPr>
              <a:t>casting a value </a:t>
            </a:r>
          </a:p>
          <a:p>
            <a:pPr marL="0" indent="0" algn="just">
              <a:lnSpc>
                <a:spcPct val="125000"/>
              </a:lnSpc>
              <a:buNone/>
              <a:defRPr/>
            </a:pPr>
            <a:r>
              <a:rPr lang="en-US" altLang="ja-JP" dirty="0">
                <a:ea typeface="ＭＳ Ｐゴシック" charset="-128"/>
              </a:rPr>
              <a:t>General form is </a:t>
            </a:r>
          </a:p>
          <a:p>
            <a:pPr marL="0" indent="0" algn="ctr">
              <a:lnSpc>
                <a:spcPct val="125000"/>
              </a:lnSpc>
              <a:buNone/>
              <a:defRPr/>
            </a:pPr>
            <a:r>
              <a:rPr lang="en-US" dirty="0">
                <a:solidFill>
                  <a:srgbClr val="FF0000"/>
                </a:solidFill>
              </a:rPr>
              <a:t> 	 </a:t>
            </a:r>
            <a:r>
              <a:rPr lang="en-US" b="1" dirty="0">
                <a:solidFill>
                  <a:schemeClr val="accent1"/>
                </a:solidFill>
              </a:rPr>
              <a:t>type-name (expression)  // C++ notation</a:t>
            </a:r>
          </a:p>
          <a:p>
            <a:pPr algn="just">
              <a:lnSpc>
                <a:spcPct val="120000"/>
              </a:lnSpc>
              <a:defRPr/>
            </a:pPr>
            <a:r>
              <a:rPr lang="en-US" dirty="0"/>
              <a:t>where type-name is one of the standard C++ data type. and expression may be a constant, variable or an expression </a:t>
            </a:r>
          </a:p>
          <a:p>
            <a:pPr marL="0" indent="0" algn="ctr">
              <a:lnSpc>
                <a:spcPct val="120000"/>
              </a:lnSpc>
              <a:buNone/>
              <a:defRPr/>
            </a:pPr>
            <a:r>
              <a:rPr lang="en-US" b="1" dirty="0">
                <a:solidFill>
                  <a:schemeClr val="accent1"/>
                </a:solidFill>
              </a:rPr>
              <a:t>Example: average = sum/ float (</a:t>
            </a:r>
            <a:r>
              <a:rPr lang="en-US" b="1" dirty="0" err="1">
                <a:solidFill>
                  <a:schemeClr val="accent1"/>
                </a:solidFill>
              </a:rPr>
              <a:t>i</a:t>
            </a:r>
            <a:r>
              <a:rPr lang="en-US" b="1" dirty="0">
                <a:solidFill>
                  <a:schemeClr val="accent1"/>
                </a:solidFill>
              </a:rPr>
              <a:t>);</a:t>
            </a:r>
            <a:endParaRPr lang="en-US" altLang="ja-JP" b="1" dirty="0">
              <a:solidFill>
                <a:schemeClr val="accent1"/>
              </a:solidFill>
              <a:ea typeface="ＭＳ Ｐゴシック"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1198</TotalTime>
  <Words>3773</Words>
  <Application>Microsoft Office PowerPoint</Application>
  <PresentationFormat>Widescreen</PresentationFormat>
  <Paragraphs>542</Paragraphs>
  <Slides>49</Slides>
  <Notes>35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6" baseType="lpstr">
      <vt:lpstr>ＭＳ Ｐゴシック</vt:lpstr>
      <vt:lpstr>Arial</vt:lpstr>
      <vt:lpstr>Calibri</vt:lpstr>
      <vt:lpstr>Webdings</vt:lpstr>
      <vt:lpstr>Wingdings</vt:lpstr>
      <vt:lpstr>Office Theme</vt:lpstr>
      <vt:lpstr>Equation</vt:lpstr>
      <vt:lpstr>Operators and Expressions</vt:lpstr>
      <vt:lpstr>Operators and Expressions</vt:lpstr>
      <vt:lpstr>PowerPoint Presentation</vt:lpstr>
      <vt:lpstr>Operator Classification</vt:lpstr>
      <vt:lpstr>Arithmetic Operators</vt:lpstr>
      <vt:lpstr>Arithmetic Operators (contd.)</vt:lpstr>
      <vt:lpstr>Integer Arithmetic</vt:lpstr>
      <vt:lpstr>Integer Arithmetic (contd.) </vt:lpstr>
      <vt:lpstr>Integer Arithmetic (contd.) </vt:lpstr>
      <vt:lpstr>PowerPoint Presentation</vt:lpstr>
      <vt:lpstr>Real Arithmetic</vt:lpstr>
      <vt:lpstr>Mixed mode Arithmetic</vt:lpstr>
      <vt:lpstr>PowerPoint Presentation</vt:lpstr>
      <vt:lpstr>PowerPoint Presentation</vt:lpstr>
      <vt:lpstr>Relational Operators (contd.)</vt:lpstr>
      <vt:lpstr>Relational Operators (contd.)</vt:lpstr>
      <vt:lpstr>Relational Operators</vt:lpstr>
      <vt:lpstr>PowerPoint Presentation</vt:lpstr>
      <vt:lpstr>PowerPoint Presentation</vt:lpstr>
      <vt:lpstr>PowerPoint Presentation</vt:lpstr>
      <vt:lpstr>Assignment  Operator </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Conditional Operator</vt:lpstr>
      <vt:lpstr>Bitwise operators </vt:lpstr>
      <vt:lpstr>Bitwise operators</vt:lpstr>
      <vt:lpstr>Example for Bitwise operators</vt:lpstr>
      <vt:lpstr>PowerPoint Presentation</vt:lpstr>
      <vt:lpstr>Comma Operator </vt:lpstr>
      <vt:lpstr>Comma Operator(contd.)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 conversion(contd.)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mahe</dc:creator>
  <cp:lastModifiedBy>Linda Varghese [MAHE-MIT]</cp:lastModifiedBy>
  <cp:revision>141</cp:revision>
  <dcterms:created xsi:type="dcterms:W3CDTF">2009-12-17T04:50:25Z</dcterms:created>
  <dcterms:modified xsi:type="dcterms:W3CDTF">2023-08-10T10:43:52Z</dcterms:modified>
</cp:coreProperties>
</file>